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Before we talk to anyone, we write down the one decision we need evidence for, and the three things we are currently assuming.
THE CORE ARGUMENT
1. The research objective is deliberately narrow: not whether the problem is real (Assignment 1 answered that), but whether Segment A is the right priority user and exactly where in their journey the gap bites hardest.
2. Each assumption carries a “wrong if” statement, so an interview can genuinely overturn it rather than just confirm what we already believe.
3. Assumption 3 is what the journey map on slide 5 is built to test: we flag our current guess there, and the real map should move it if the evidence disagrees.
THE TRANSITION
With the plan set, slide 2 reports what research we actually completed and the evidence that stood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This slide is a highlight reel, not the transcript — the full notes live in the evidence log.
THE CORE ARGUMENT
1. The four tiles report what research actually happened: how many interviews and observations against the Assignment 3 minimum of three interviews and one observation, how many participants genuinely fit Segment A, and over what dates.
2. The table pulls one standout piece of evidence per participant plus the observation, each with enough context to show why it matters — not a full quote dump.
3. Assignment 3 explicitly asks us to keep full interview notes separate from the presentation; this slide is the bridge between that log and the synthesis on the next slide.
THE TRANSITION
Next we step back from individual conversations and look for what repeats across all of them.
BEFORE PRESENTING: fill every tile and row from the evidence log,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Three slots, not three requirements — Assignment 3 asks for two to three key insights, so the third card can stay empty if the evidence only supports two.
THE CORE ARGUMENT
1. We deliberately separate pattern from insight. A pattern just says what repeated; an insight says why it matters and what tension or motivation sits underneath it — that is the bar the assignment sets.
2. Each insight must trace back to specific participants, which the “evidence from” tag enforces, so nothing here can be a guess dressed up as a finding.
3. These insights are exactly what the persona and journey map on the next two slides are built from — nothing on those slides should appear here for the first time.
THE TRANSITION
The strongest insight becomes the backbone of the persona we build next.
BEFORE PRESENTING: fill every orange box from your evidence log, delete any unused third card,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If any row here cannot be traced to a participant, it is a guess, not a persona — and the assignment is explicit that guesses do not belong here.
THE CORE ARGUMENT
1. Every field mirrors the assignment’s persona table exactly, so nothing is added and nothing is missing: who they are, their goal, behaviours, needs and pain points on the left; alternatives, motivations, constraints, a real quote and the key insight on the right.
2. We have deliberately left out age, hobbies, lifestyle and other decorative detail unless the research shows it materially changes the problem — Segment A was already chosen in Assignment 2, so this persona only adds what the interviews actually revealed about them.
3. The representative quote and key insight should usually come straight from slide 3’s strongest pattern and insight, not be written fresh here.
THE TRANSITION
A persona says who. The journey map, next, says where in their day the problem actually happens.
BEFORE PRESENTING: fill every orange box from your evidence log and synthesis,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Five stages, five columns, one honest rule: nothing here is the app — only what the persona does, thinks and feels today, before the tool exists.
THE CORE ARGUMENT
1. The stages run from planning the shop through to shopping and reflecting afterward, giving six evidence fields per stage: action, thought and feeling, touchpoint, pain point and workaround, the evidence it rests on, and the opportunity it points to.
2. Stage 3, evaluating a specific product, carries our assumption-3 hypothesis as the likely peak-friction moment — the evidence should confirm or move that flag, not just illustrate it.
3. This slide is necessarily compressed; the full nine-column worksheet (adding emotion as its own field) lives in the separate evidence pack for the detailed write-up.
THE TRANSITION
From the moments of friction, we now name the three strongest opportunities and what is still uncertain about each.
BEFORE PRESENTING: fill every orange box from the evidence log; re-order or rename stages if participants described a different flow;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We end on opportunities, not solutions — naming where the evidence points without jumping ahead to what to build.
THE CORE ARGUMENT
1. Each opportunity area states the evidence-backed problem, why it matters, the insight underneath it, and what remains uncertain — exactly the four questions Assignment 3 asks us to answer, so the team knows what is settled and what still needs validation.
2. The remaining-questions band is deliberately separate from the three cards: these are gaps in the research itself, not gaps within a single opportunity, including the payer question carried over unresolved from Assignment 2.
3. Nothing on this slide should propose a feature. The brief is explicit that opportunity areas come before design, not after it.
THE TRANSITION
That closes the evidence chain from research through to opportunity. The next step is deciding, with the team, which opportunity to design against first.
BEFORE PRESENTING: name each opportunity, fill every orange box, and replace or remove the blank remaining-question chips.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3 · RESEARCH TO PERSONA &amp; JOURNEY MAP · STEP 1</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One venture decision, three things we currently assume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Prepared before interviews, so each assumption can be confirmed or contradicted by real evidence — not adjusted to fit it.</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 / 6</a:t>
            </a:r>
            <a:endParaRPr lang="en-US" sz="900" dirty="0"/>
          </a:p>
        </p:txBody>
      </p:sp>
      <p:sp>
        <p:nvSpPr>
          <p:cNvPr id="12" name="Shape 10"/>
          <p:cNvSpPr/>
          <p:nvPr/>
        </p:nvSpPr>
        <p:spPr>
          <a:xfrm>
            <a:off x="548640" y="1508760"/>
            <a:ext cx="11091672" cy="1188720"/>
          </a:xfrm>
          <a:prstGeom prst="roundRect">
            <a:avLst>
              <a:gd name="adj" fmla="val 6154"/>
            </a:avLst>
          </a:prstGeom>
          <a:solidFill>
            <a:srgbClr val="154B36"/>
          </a:solidFill>
          <a:ln/>
        </p:spPr>
      </p:sp>
      <p:sp>
        <p:nvSpPr>
          <p:cNvPr id="13" name="Text 11"/>
          <p:cNvSpPr txBox="1"/>
          <p:nvPr/>
        </p:nvSpPr>
        <p:spPr>
          <a:xfrm>
            <a:off x="777240" y="1645920"/>
            <a:ext cx="45720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RESEARCH OBJECTIVE</a:t>
            </a:r>
            <a:endParaRPr lang="en-US" sz="1000" dirty="0"/>
          </a:p>
        </p:txBody>
      </p:sp>
      <p:sp>
        <p:nvSpPr>
          <p:cNvPr id="14" name="Text 12"/>
          <p:cNvSpPr txBox="1"/>
          <p:nvPr/>
        </p:nvSpPr>
        <p:spPr>
          <a:xfrm>
            <a:off x="777240" y="1810512"/>
            <a:ext cx="10607040" cy="822960"/>
          </a:xfrm>
          <a:prstGeom prst="rect">
            <a:avLst/>
          </a:prstGeom>
          <a:noFill/>
          <a:ln/>
        </p:spPr>
        <p:txBody>
          <a:bodyPr wrap="square" lIns="0" tIns="0" rIns="0" bIns="0" rtlCol="0" anchor="t"/>
          <a:lstStyle/>
          <a:p>
            <a:pPr indent="0" marL="0">
              <a:lnSpc>
                <a:spcPct val="108000"/>
              </a:lnSpc>
              <a:buNone/>
            </a:pPr>
            <a:r>
              <a:rPr lang="en-US" sz="1300" dirty="0">
                <a:solidFill>
                  <a:srgbClr val="FFFFFF"/>
                </a:solidFill>
                <a:latin typeface="Calibri" pitchFamily="34" charset="0"/>
                <a:ea typeface="Calibri" pitchFamily="34" charset="-122"/>
                <a:cs typeface="Calibri" pitchFamily="34" charset="-120"/>
              </a:rPr>
              <a:t>Confirm that shoppers already managing a diet-sensitive condition (Segment A) are the right priority user, and find the exact moment in their current online shop where the missing nutrition signal causes the most frustration — so the tool is built to intervene there first.</a:t>
            </a:r>
            <a:endParaRPr lang="en-US" sz="1300" dirty="0"/>
          </a:p>
        </p:txBody>
      </p:sp>
      <p:sp>
        <p:nvSpPr>
          <p:cNvPr id="15" name="Shape 13"/>
          <p:cNvSpPr/>
          <p:nvPr/>
        </p:nvSpPr>
        <p:spPr>
          <a:xfrm>
            <a:off x="548640" y="2834640"/>
            <a:ext cx="3566160" cy="2880360"/>
          </a:xfrm>
          <a:prstGeom prst="roundRect">
            <a:avLst>
              <a:gd name="adj" fmla="val 2540"/>
            </a:avLst>
          </a:prstGeom>
          <a:solidFill>
            <a:srgbClr val="FFFFFF"/>
          </a:solidFill>
          <a:ln w="9525">
            <a:solidFill>
              <a:srgbClr val="C9D5CE"/>
            </a:solidFill>
            <a:prstDash val="solid"/>
          </a:ln>
        </p:spPr>
      </p:sp>
      <p:sp>
        <p:nvSpPr>
          <p:cNvPr id="16" name="Shape 14"/>
          <p:cNvSpPr/>
          <p:nvPr/>
        </p:nvSpPr>
        <p:spPr>
          <a:xfrm>
            <a:off x="777240" y="3035808"/>
            <a:ext cx="457200" cy="457200"/>
          </a:xfrm>
          <a:prstGeom prst="ellipse">
            <a:avLst/>
          </a:prstGeom>
          <a:solidFill>
            <a:srgbClr val="154B36"/>
          </a:solidFill>
          <a:ln/>
        </p:spPr>
      </p:sp>
      <p:sp>
        <p:nvSpPr>
          <p:cNvPr id="17" name="Text 15"/>
          <p:cNvSpPr txBox="1"/>
          <p:nvPr/>
        </p:nvSpPr>
        <p:spPr>
          <a:xfrm>
            <a:off x="777240" y="3035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8" name="Text 16"/>
          <p:cNvSpPr txBox="1"/>
          <p:nvPr/>
        </p:nvSpPr>
        <p:spPr>
          <a:xfrm>
            <a:off x="1371600" y="3035808"/>
            <a:ext cx="2560320" cy="457200"/>
          </a:xfrm>
          <a:prstGeom prst="rect">
            <a:avLst/>
          </a:prstGeom>
          <a:noFill/>
          <a:ln/>
        </p:spPr>
        <p:txBody>
          <a:bodyPr wrap="square" lIns="0" tIns="0" rIns="0" bIns="0" rtlCol="0" anchor="ctr"/>
          <a:lstStyle/>
          <a:p>
            <a:pPr indent="0" marL="0">
              <a:buNone/>
            </a:pPr>
            <a:r>
              <a:rPr lang="en-US" sz="1400" b="1" dirty="0">
                <a:solidFill>
                  <a:srgbClr val="154B36"/>
                </a:solidFill>
                <a:latin typeface="Cambria" pitchFamily="34" charset="0"/>
                <a:ea typeface="Cambria" pitchFamily="34" charset="-122"/>
                <a:cs typeface="Cambria" pitchFamily="34" charset="-120"/>
              </a:rPr>
              <a:t>Frequency &amp; severity</a:t>
            </a:r>
            <a:endParaRPr lang="en-US" sz="1400" dirty="0"/>
          </a:p>
        </p:txBody>
      </p:sp>
      <p:sp>
        <p:nvSpPr>
          <p:cNvPr id="19" name="Text 17"/>
          <p:cNvSpPr txBox="1"/>
          <p:nvPr/>
        </p:nvSpPr>
        <p:spPr>
          <a:xfrm>
            <a:off x="777240" y="363931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ASSUME</a:t>
            </a:r>
            <a:endParaRPr lang="en-US" sz="1000" dirty="0"/>
          </a:p>
        </p:txBody>
      </p:sp>
      <p:sp>
        <p:nvSpPr>
          <p:cNvPr id="20" name="Text 18"/>
          <p:cNvSpPr txBox="1"/>
          <p:nvPr/>
        </p:nvSpPr>
        <p:spPr>
          <a:xfrm>
            <a:off x="777240" y="3858768"/>
            <a:ext cx="3108960" cy="96012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This is a recurring weekly frustration for segment-A shoppers, not a rare, one-off problem.</a:t>
            </a:r>
            <a:endParaRPr lang="en-US" sz="1100" dirty="0"/>
          </a:p>
        </p:txBody>
      </p:sp>
      <p:sp>
        <p:nvSpPr>
          <p:cNvPr id="21" name="Text 19"/>
          <p:cNvSpPr txBox="1"/>
          <p:nvPr/>
        </p:nvSpPr>
        <p:spPr>
          <a:xfrm>
            <a:off x="777240" y="495604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22" name="Text 20"/>
          <p:cNvSpPr txBox="1"/>
          <p:nvPr/>
        </p:nvSpPr>
        <p:spPr>
          <a:xfrm>
            <a:off x="777240" y="5166360"/>
            <a:ext cx="3108960" cy="502920"/>
          </a:xfrm>
          <a:prstGeom prst="rect">
            <a:avLst/>
          </a:prstGeom>
          <a:noFill/>
          <a:ln/>
        </p:spPr>
        <p:txBody>
          <a:bodyPr wrap="square" lIns="0" tIns="0" rIns="0" bIns="0" rtlCol="0" anchor="t"/>
          <a:lstStyle/>
          <a:p>
            <a:pPr indent="0" marL="0">
              <a:buNone/>
            </a:pPr>
            <a:r>
              <a:rPr lang="en-US" sz="1000" i="1" dirty="0">
                <a:solidFill>
                  <a:srgbClr val="5C6B63"/>
                </a:solidFill>
                <a:latin typeface="Calibri" pitchFamily="34" charset="0"/>
                <a:ea typeface="Calibri" pitchFamily="34" charset="-122"/>
                <a:cs typeface="Calibri" pitchFamily="34" charset="-120"/>
              </a:rPr>
              <a:t>If false: the problem is occasional, and a browser tool may be the wrong level of intervention.</a:t>
            </a:r>
            <a:endParaRPr lang="en-US" sz="1000" dirty="0"/>
          </a:p>
        </p:txBody>
      </p:sp>
      <p:sp>
        <p:nvSpPr>
          <p:cNvPr id="23" name="Shape 21"/>
          <p:cNvSpPr/>
          <p:nvPr/>
        </p:nvSpPr>
        <p:spPr>
          <a:xfrm>
            <a:off x="4315968" y="2834640"/>
            <a:ext cx="3566160" cy="2880360"/>
          </a:xfrm>
          <a:prstGeom prst="roundRect">
            <a:avLst>
              <a:gd name="adj" fmla="val 2540"/>
            </a:avLst>
          </a:prstGeom>
          <a:solidFill>
            <a:srgbClr val="FFFFFF"/>
          </a:solidFill>
          <a:ln w="9525">
            <a:solidFill>
              <a:srgbClr val="C9D5CE"/>
            </a:solidFill>
            <a:prstDash val="solid"/>
          </a:ln>
        </p:spPr>
      </p:sp>
      <p:sp>
        <p:nvSpPr>
          <p:cNvPr id="24" name="Shape 22"/>
          <p:cNvSpPr/>
          <p:nvPr/>
        </p:nvSpPr>
        <p:spPr>
          <a:xfrm>
            <a:off x="4544568" y="3035808"/>
            <a:ext cx="457200" cy="457200"/>
          </a:xfrm>
          <a:prstGeom prst="ellipse">
            <a:avLst/>
          </a:prstGeom>
          <a:solidFill>
            <a:srgbClr val="154B36"/>
          </a:solidFill>
          <a:ln/>
        </p:spPr>
      </p:sp>
      <p:sp>
        <p:nvSpPr>
          <p:cNvPr id="25" name="Text 23"/>
          <p:cNvSpPr txBox="1"/>
          <p:nvPr/>
        </p:nvSpPr>
        <p:spPr>
          <a:xfrm>
            <a:off x="4544568" y="3035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6" name="Text 24"/>
          <p:cNvSpPr txBox="1"/>
          <p:nvPr/>
        </p:nvSpPr>
        <p:spPr>
          <a:xfrm>
            <a:off x="5138928" y="3035808"/>
            <a:ext cx="2560320" cy="457200"/>
          </a:xfrm>
          <a:prstGeom prst="rect">
            <a:avLst/>
          </a:prstGeom>
          <a:noFill/>
          <a:ln/>
        </p:spPr>
        <p:txBody>
          <a:bodyPr wrap="square" lIns="0" tIns="0" rIns="0" bIns="0" rtlCol="0" anchor="ctr"/>
          <a:lstStyle/>
          <a:p>
            <a:pPr indent="0" marL="0">
              <a:buNone/>
            </a:pPr>
            <a:r>
              <a:rPr lang="en-US" sz="1400" b="1" dirty="0">
                <a:solidFill>
                  <a:srgbClr val="154B36"/>
                </a:solidFill>
                <a:latin typeface="Cambria" pitchFamily="34" charset="0"/>
                <a:ea typeface="Cambria" pitchFamily="34" charset="-122"/>
                <a:cs typeface="Cambria" pitchFamily="34" charset="-120"/>
              </a:rPr>
              <a:t>Alternatives fall short</a:t>
            </a:r>
            <a:endParaRPr lang="en-US" sz="1400" dirty="0"/>
          </a:p>
        </p:txBody>
      </p:sp>
      <p:sp>
        <p:nvSpPr>
          <p:cNvPr id="27" name="Text 25"/>
          <p:cNvSpPr txBox="1"/>
          <p:nvPr/>
        </p:nvSpPr>
        <p:spPr>
          <a:xfrm>
            <a:off x="4544568" y="363931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ASSUME</a:t>
            </a:r>
            <a:endParaRPr lang="en-US" sz="1000" dirty="0"/>
          </a:p>
        </p:txBody>
      </p:sp>
      <p:sp>
        <p:nvSpPr>
          <p:cNvPr id="28" name="Text 26"/>
          <p:cNvSpPr txBox="1"/>
          <p:nvPr/>
        </p:nvSpPr>
        <p:spPr>
          <a:xfrm>
            <a:off x="4544568" y="3858768"/>
            <a:ext cx="3108960" cy="96012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Current workarounds — memorised rules, label-reading, asking others — fail often enough that wrong-fit items still reach the cart.</a:t>
            </a:r>
            <a:endParaRPr lang="en-US" sz="1100" dirty="0"/>
          </a:p>
        </p:txBody>
      </p:sp>
      <p:sp>
        <p:nvSpPr>
          <p:cNvPr id="29" name="Text 27"/>
          <p:cNvSpPr txBox="1"/>
          <p:nvPr/>
        </p:nvSpPr>
        <p:spPr>
          <a:xfrm>
            <a:off x="4544568" y="495604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30" name="Text 28"/>
          <p:cNvSpPr txBox="1"/>
          <p:nvPr/>
        </p:nvSpPr>
        <p:spPr>
          <a:xfrm>
            <a:off x="4544568" y="5166360"/>
            <a:ext cx="3108960" cy="502920"/>
          </a:xfrm>
          <a:prstGeom prst="rect">
            <a:avLst/>
          </a:prstGeom>
          <a:noFill/>
          <a:ln/>
        </p:spPr>
        <p:txBody>
          <a:bodyPr wrap="square" lIns="0" tIns="0" rIns="0" bIns="0" rtlCol="0" anchor="t"/>
          <a:lstStyle/>
          <a:p>
            <a:pPr indent="0" marL="0">
              <a:buNone/>
            </a:pPr>
            <a:r>
              <a:rPr lang="en-US" sz="1000" i="1" dirty="0">
                <a:solidFill>
                  <a:srgbClr val="5C6B63"/>
                </a:solidFill>
                <a:latin typeface="Calibri" pitchFamily="34" charset="0"/>
                <a:ea typeface="Calibri" pitchFamily="34" charset="-122"/>
                <a:cs typeface="Calibri" pitchFamily="34" charset="-120"/>
              </a:rPr>
              <a:t>If false: shoppers already cope well, and the tool adds little.</a:t>
            </a:r>
            <a:endParaRPr lang="en-US" sz="1000" dirty="0"/>
          </a:p>
        </p:txBody>
      </p:sp>
      <p:sp>
        <p:nvSpPr>
          <p:cNvPr id="31" name="Shape 29"/>
          <p:cNvSpPr/>
          <p:nvPr/>
        </p:nvSpPr>
        <p:spPr>
          <a:xfrm>
            <a:off x="8083296" y="2834640"/>
            <a:ext cx="3566160" cy="2880360"/>
          </a:xfrm>
          <a:prstGeom prst="roundRect">
            <a:avLst>
              <a:gd name="adj" fmla="val 2540"/>
            </a:avLst>
          </a:prstGeom>
          <a:solidFill>
            <a:srgbClr val="FFFFFF"/>
          </a:solidFill>
          <a:ln w="9525">
            <a:solidFill>
              <a:srgbClr val="C9D5CE"/>
            </a:solidFill>
            <a:prstDash val="solid"/>
          </a:ln>
        </p:spPr>
      </p:sp>
      <p:sp>
        <p:nvSpPr>
          <p:cNvPr id="32" name="Shape 30"/>
          <p:cNvSpPr/>
          <p:nvPr/>
        </p:nvSpPr>
        <p:spPr>
          <a:xfrm>
            <a:off x="8311896" y="3035808"/>
            <a:ext cx="457200" cy="457200"/>
          </a:xfrm>
          <a:prstGeom prst="ellipse">
            <a:avLst/>
          </a:prstGeom>
          <a:solidFill>
            <a:srgbClr val="154B36"/>
          </a:solidFill>
          <a:ln/>
        </p:spPr>
      </p:sp>
      <p:sp>
        <p:nvSpPr>
          <p:cNvPr id="33" name="Text 31"/>
          <p:cNvSpPr txBox="1"/>
          <p:nvPr/>
        </p:nvSpPr>
        <p:spPr>
          <a:xfrm>
            <a:off x="8311896" y="3035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34" name="Text 32"/>
          <p:cNvSpPr txBox="1"/>
          <p:nvPr/>
        </p:nvSpPr>
        <p:spPr>
          <a:xfrm>
            <a:off x="8906256" y="3035808"/>
            <a:ext cx="2560320" cy="457200"/>
          </a:xfrm>
          <a:prstGeom prst="rect">
            <a:avLst/>
          </a:prstGeom>
          <a:noFill/>
          <a:ln/>
        </p:spPr>
        <p:txBody>
          <a:bodyPr wrap="square" lIns="0" tIns="0" rIns="0" bIns="0" rtlCol="0" anchor="ctr"/>
          <a:lstStyle/>
          <a:p>
            <a:pPr indent="0" marL="0">
              <a:buNone/>
            </a:pPr>
            <a:r>
              <a:rPr lang="en-US" sz="1400" b="1" dirty="0">
                <a:solidFill>
                  <a:srgbClr val="154B36"/>
                </a:solidFill>
                <a:latin typeface="Cambria" pitchFamily="34" charset="0"/>
                <a:ea typeface="Cambria" pitchFamily="34" charset="-122"/>
                <a:cs typeface="Cambria" pitchFamily="34" charset="-120"/>
              </a:rPr>
              <a:t>Where it peaks</a:t>
            </a:r>
            <a:endParaRPr lang="en-US" sz="1400" dirty="0"/>
          </a:p>
        </p:txBody>
      </p:sp>
      <p:sp>
        <p:nvSpPr>
          <p:cNvPr id="35" name="Text 33"/>
          <p:cNvSpPr txBox="1"/>
          <p:nvPr/>
        </p:nvSpPr>
        <p:spPr>
          <a:xfrm>
            <a:off x="8311896" y="363931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ASSUME</a:t>
            </a:r>
            <a:endParaRPr lang="en-US" sz="1000" dirty="0"/>
          </a:p>
        </p:txBody>
      </p:sp>
      <p:sp>
        <p:nvSpPr>
          <p:cNvPr id="36" name="Text 34"/>
          <p:cNvSpPr txBox="1"/>
          <p:nvPr/>
        </p:nvSpPr>
        <p:spPr>
          <a:xfrm>
            <a:off x="8311896" y="3858768"/>
            <a:ext cx="3108960" cy="96012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Friction peaks at the moment of evaluating a specific product — more than at browsing, cart review or checkout.</a:t>
            </a:r>
            <a:endParaRPr lang="en-US" sz="1100" dirty="0"/>
          </a:p>
        </p:txBody>
      </p:sp>
      <p:sp>
        <p:nvSpPr>
          <p:cNvPr id="37" name="Text 35"/>
          <p:cNvSpPr txBox="1"/>
          <p:nvPr/>
        </p:nvSpPr>
        <p:spPr>
          <a:xfrm>
            <a:off x="8311896" y="495604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38" name="Text 36"/>
          <p:cNvSpPr txBox="1"/>
          <p:nvPr/>
        </p:nvSpPr>
        <p:spPr>
          <a:xfrm>
            <a:off x="8311896" y="5166360"/>
            <a:ext cx="3108960" cy="502920"/>
          </a:xfrm>
          <a:prstGeom prst="rect">
            <a:avLst/>
          </a:prstGeom>
          <a:noFill/>
          <a:ln/>
        </p:spPr>
        <p:txBody>
          <a:bodyPr wrap="square" lIns="0" tIns="0" rIns="0" bIns="0" rtlCol="0" anchor="t"/>
          <a:lstStyle/>
          <a:p>
            <a:pPr indent="0" marL="0">
              <a:buNone/>
            </a:pPr>
            <a:r>
              <a:rPr lang="en-US" sz="1000" i="1" dirty="0">
                <a:solidFill>
                  <a:srgbClr val="5C6B63"/>
                </a:solidFill>
                <a:latin typeface="Calibri" pitchFamily="34" charset="0"/>
                <a:ea typeface="Calibri" pitchFamily="34" charset="-122"/>
                <a:cs typeface="Calibri" pitchFamily="34" charset="-120"/>
              </a:rPr>
              <a:t>If false: the journey map should flag a different stage as the priority build target.</a:t>
            </a:r>
            <a:endParaRPr lang="en-US" sz="1000" dirty="0"/>
          </a:p>
        </p:txBody>
      </p:sp>
      <p:sp>
        <p:nvSpPr>
          <p:cNvPr id="39" name="Shape 37"/>
          <p:cNvSpPr/>
          <p:nvPr/>
        </p:nvSpPr>
        <p:spPr>
          <a:xfrm>
            <a:off x="548640" y="5833872"/>
            <a:ext cx="11091672" cy="292608"/>
          </a:xfrm>
          <a:prstGeom prst="roundRect">
            <a:avLst>
              <a:gd name="adj" fmla="val 15625"/>
            </a:avLst>
          </a:prstGeom>
          <a:solidFill>
            <a:srgbClr val="E8F1EB"/>
          </a:solidFill>
          <a:ln/>
        </p:spPr>
      </p:sp>
      <p:sp>
        <p:nvSpPr>
          <p:cNvPr id="40" name="Text 38"/>
          <p:cNvSpPr txBox="1"/>
          <p:nvPr/>
        </p:nvSpPr>
        <p:spPr>
          <a:xfrm>
            <a:off x="777240" y="5833872"/>
            <a:ext cx="10607040" cy="292608"/>
          </a:xfrm>
          <a:prstGeom prst="rect">
            <a:avLst/>
          </a:prstGeom>
          <a:noFill/>
          <a:ln/>
        </p:spPr>
        <p:txBody>
          <a:bodyPr wrap="square" lIns="0" tIns="0" rIns="0" bIns="0" rtlCol="0" anchor="ctr"/>
          <a:lstStyle/>
          <a:p>
            <a:pPr indent="0" marL="0">
              <a:buNone/>
            </a:pPr>
            <a:r>
              <a:rPr lang="en-US" sz="950" b="1" dirty="0">
                <a:solidFill>
                  <a:srgbClr val="154B36"/>
                </a:solidFill>
                <a:latin typeface="Calibri" pitchFamily="34" charset="0"/>
                <a:ea typeface="Calibri" pitchFamily="34" charset="-122"/>
                <a:cs typeface="Calibri" pitchFamily="34" charset="-120"/>
              </a:rPr>
              <a:t>PRIORITY PARTICIPANTS  </a:t>
            </a:r>
            <a:pPr indent="0" marL="0">
              <a:buNone/>
            </a:pPr>
            <a:r>
              <a:rPr lang="en-US" sz="950" dirty="0">
                <a:solidFill>
                  <a:srgbClr val="1F2A24"/>
                </a:solidFill>
                <a:latin typeface="Calibri" pitchFamily="34" charset="0"/>
                <a:ea typeface="Calibri" pitchFamily="34" charset="-122"/>
                <a:cs typeface="Calibri" pitchFamily="34" charset="-120"/>
              </a:rPr>
              <a:t>Segment A — adults advised to limit sugar, salt or fat, who shop groceries online weekly.   </a:t>
            </a:r>
            <a:pPr indent="0" marL="0">
              <a:buNone/>
            </a:pPr>
            <a:r>
              <a:rPr lang="en-US" sz="950" b="1" dirty="0">
                <a:solidFill>
                  <a:srgbClr val="A85A00"/>
                </a:solidFill>
                <a:latin typeface="Calibri" pitchFamily="34" charset="0"/>
                <a:ea typeface="Calibri" pitchFamily="34" charset="-122"/>
                <a:cs typeface="Calibri" pitchFamily="34" charset="-120"/>
              </a:rPr>
              <a:t>Minimum evidence:  3 interviews  +  1 observation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3 · RESEARCH TO PERSONA &amp; JOURNEY MAP · STEP 2</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What we actually did, and the evidence that stood out</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Keep full interview notes in the separate evidence log; only the standout evidence belongs on this slide.</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2 / 6</a:t>
            </a:r>
            <a:endParaRPr lang="en-US" sz="900" dirty="0"/>
          </a:p>
        </p:txBody>
      </p:sp>
      <p:sp>
        <p:nvSpPr>
          <p:cNvPr id="12" name="Shape 10"/>
          <p:cNvSpPr/>
          <p:nvPr/>
        </p:nvSpPr>
        <p:spPr>
          <a:xfrm>
            <a:off x="548640" y="1508760"/>
            <a:ext cx="2670048" cy="914400"/>
          </a:xfrm>
          <a:prstGeom prst="roundRect">
            <a:avLst>
              <a:gd name="adj" fmla="val 8000"/>
            </a:avLst>
          </a:prstGeom>
          <a:solidFill>
            <a:srgbClr val="FFFFFF"/>
          </a:solidFill>
          <a:ln w="9525">
            <a:solidFill>
              <a:srgbClr val="C9D5CE"/>
            </a:solidFill>
            <a:prstDash val="solid"/>
          </a:ln>
        </p:spPr>
      </p:sp>
      <p:sp>
        <p:nvSpPr>
          <p:cNvPr id="13" name="Text 11"/>
          <p:cNvSpPr txBox="1"/>
          <p:nvPr/>
        </p:nvSpPr>
        <p:spPr>
          <a:xfrm>
            <a:off x="713232" y="1627632"/>
            <a:ext cx="2340864" cy="365760"/>
          </a:xfrm>
          <a:prstGeom prst="rect">
            <a:avLst/>
          </a:prstGeom>
          <a:noFill/>
          <a:ln/>
        </p:spPr>
        <p:txBody>
          <a:bodyPr wrap="square" lIns="0" tIns="0" rIns="0" bIns="0" rtlCol="0" anchor="t"/>
          <a:lstStyle/>
          <a:p>
            <a:pPr indent="0" marL="0">
              <a:buNone/>
            </a:pPr>
            <a:r>
              <a:rPr lang="en-US" sz="900" b="1" spc="100" kern="0" dirty="0">
                <a:solidFill>
                  <a:srgbClr val="5C6B63"/>
                </a:solidFill>
                <a:latin typeface="Calibri" pitchFamily="34" charset="0"/>
                <a:ea typeface="Calibri" pitchFamily="34" charset="-122"/>
                <a:cs typeface="Calibri" pitchFamily="34" charset="-120"/>
              </a:rPr>
              <a:t>INTERVIEWS CONDUCTED</a:t>
            </a:r>
            <a:endParaRPr lang="en-US" sz="900" dirty="0"/>
          </a:p>
        </p:txBody>
      </p:sp>
      <p:sp>
        <p:nvSpPr>
          <p:cNvPr id="14" name="Text 12"/>
          <p:cNvSpPr txBox="1"/>
          <p:nvPr/>
        </p:nvSpPr>
        <p:spPr>
          <a:xfrm>
            <a:off x="713232" y="1965960"/>
            <a:ext cx="2340864" cy="384048"/>
          </a:xfrm>
          <a:prstGeom prst="rect">
            <a:avLst/>
          </a:prstGeom>
          <a:noFill/>
          <a:ln/>
        </p:spPr>
        <p:txBody>
          <a:bodyPr wrap="square" lIns="0" tIns="0" rIns="0" bIns="0" rtlCol="0" anchor="t"/>
          <a:lstStyle/>
          <a:p>
            <a:pPr indent="0" marL="0">
              <a:buNone/>
            </a:pPr>
            <a:r>
              <a:rPr lang="en-US" sz="2200" b="1" dirty="0">
                <a:solidFill>
                  <a:srgbClr val="A85A00"/>
                </a:solidFill>
                <a:latin typeface="Cambria" pitchFamily="34" charset="0"/>
                <a:ea typeface="Cambria" pitchFamily="34" charset="-122"/>
                <a:cs typeface="Cambria" pitchFamily="34" charset="-120"/>
              </a:rPr>
              <a:t>_ / 3</a:t>
            </a:r>
            <a:endParaRPr lang="en-US" sz="2200" dirty="0"/>
          </a:p>
        </p:txBody>
      </p:sp>
      <p:sp>
        <p:nvSpPr>
          <p:cNvPr id="15" name="Shape 13"/>
          <p:cNvSpPr/>
          <p:nvPr/>
        </p:nvSpPr>
        <p:spPr>
          <a:xfrm>
            <a:off x="3355848" y="1508760"/>
            <a:ext cx="2670048" cy="914400"/>
          </a:xfrm>
          <a:prstGeom prst="roundRect">
            <a:avLst>
              <a:gd name="adj" fmla="val 8000"/>
            </a:avLst>
          </a:prstGeom>
          <a:solidFill>
            <a:srgbClr val="FFFFFF"/>
          </a:solidFill>
          <a:ln w="9525">
            <a:solidFill>
              <a:srgbClr val="C9D5CE"/>
            </a:solidFill>
            <a:prstDash val="solid"/>
          </a:ln>
        </p:spPr>
      </p:sp>
      <p:sp>
        <p:nvSpPr>
          <p:cNvPr id="16" name="Text 14"/>
          <p:cNvSpPr txBox="1"/>
          <p:nvPr/>
        </p:nvSpPr>
        <p:spPr>
          <a:xfrm>
            <a:off x="3520440" y="1627632"/>
            <a:ext cx="2340864" cy="365760"/>
          </a:xfrm>
          <a:prstGeom prst="rect">
            <a:avLst/>
          </a:prstGeom>
          <a:noFill/>
          <a:ln/>
        </p:spPr>
        <p:txBody>
          <a:bodyPr wrap="square" lIns="0" tIns="0" rIns="0" bIns="0" rtlCol="0" anchor="t"/>
          <a:lstStyle/>
          <a:p>
            <a:pPr indent="0" marL="0">
              <a:buNone/>
            </a:pPr>
            <a:r>
              <a:rPr lang="en-US" sz="900" b="1" spc="100" kern="0" dirty="0">
                <a:solidFill>
                  <a:srgbClr val="5C6B63"/>
                </a:solidFill>
                <a:latin typeface="Calibri" pitchFamily="34" charset="0"/>
                <a:ea typeface="Calibri" pitchFamily="34" charset="-122"/>
                <a:cs typeface="Calibri" pitchFamily="34" charset="-120"/>
              </a:rPr>
              <a:t>OBSERVATIONS CONDUCTED</a:t>
            </a:r>
            <a:endParaRPr lang="en-US" sz="900" dirty="0"/>
          </a:p>
        </p:txBody>
      </p:sp>
      <p:sp>
        <p:nvSpPr>
          <p:cNvPr id="17" name="Text 15"/>
          <p:cNvSpPr txBox="1"/>
          <p:nvPr/>
        </p:nvSpPr>
        <p:spPr>
          <a:xfrm>
            <a:off x="3520440" y="1965960"/>
            <a:ext cx="2340864" cy="384048"/>
          </a:xfrm>
          <a:prstGeom prst="rect">
            <a:avLst/>
          </a:prstGeom>
          <a:noFill/>
          <a:ln/>
        </p:spPr>
        <p:txBody>
          <a:bodyPr wrap="square" lIns="0" tIns="0" rIns="0" bIns="0" rtlCol="0" anchor="t"/>
          <a:lstStyle/>
          <a:p>
            <a:pPr indent="0" marL="0">
              <a:buNone/>
            </a:pPr>
            <a:r>
              <a:rPr lang="en-US" sz="2200" b="1" dirty="0">
                <a:solidFill>
                  <a:srgbClr val="A85A00"/>
                </a:solidFill>
                <a:latin typeface="Cambria" pitchFamily="34" charset="0"/>
                <a:ea typeface="Cambria" pitchFamily="34" charset="-122"/>
                <a:cs typeface="Cambria" pitchFamily="34" charset="-120"/>
              </a:rPr>
              <a:t>_ / 1</a:t>
            </a:r>
            <a:endParaRPr lang="en-US" sz="2200" dirty="0"/>
          </a:p>
        </p:txBody>
      </p:sp>
      <p:sp>
        <p:nvSpPr>
          <p:cNvPr id="18" name="Shape 16"/>
          <p:cNvSpPr/>
          <p:nvPr/>
        </p:nvSpPr>
        <p:spPr>
          <a:xfrm>
            <a:off x="6163056" y="1508760"/>
            <a:ext cx="2670048" cy="914400"/>
          </a:xfrm>
          <a:prstGeom prst="roundRect">
            <a:avLst>
              <a:gd name="adj" fmla="val 8000"/>
            </a:avLst>
          </a:prstGeom>
          <a:solidFill>
            <a:srgbClr val="FFFFFF"/>
          </a:solidFill>
          <a:ln w="9525">
            <a:solidFill>
              <a:srgbClr val="C9D5CE"/>
            </a:solidFill>
            <a:prstDash val="solid"/>
          </a:ln>
        </p:spPr>
      </p:sp>
      <p:sp>
        <p:nvSpPr>
          <p:cNvPr id="19" name="Text 17"/>
          <p:cNvSpPr txBox="1"/>
          <p:nvPr/>
        </p:nvSpPr>
        <p:spPr>
          <a:xfrm>
            <a:off x="6327648" y="1627632"/>
            <a:ext cx="2340864" cy="365760"/>
          </a:xfrm>
          <a:prstGeom prst="rect">
            <a:avLst/>
          </a:prstGeom>
          <a:noFill/>
          <a:ln/>
        </p:spPr>
        <p:txBody>
          <a:bodyPr wrap="square" lIns="0" tIns="0" rIns="0" bIns="0" rtlCol="0" anchor="t"/>
          <a:lstStyle/>
          <a:p>
            <a:pPr indent="0" marL="0">
              <a:buNone/>
            </a:pPr>
            <a:r>
              <a:rPr lang="en-US" sz="900" b="1" spc="100" kern="0" dirty="0">
                <a:solidFill>
                  <a:srgbClr val="5C6B63"/>
                </a:solidFill>
                <a:latin typeface="Calibri" pitchFamily="34" charset="0"/>
                <a:ea typeface="Calibri" pitchFamily="34" charset="-122"/>
                <a:cs typeface="Calibri" pitchFamily="34" charset="-120"/>
              </a:rPr>
              <a:t>FIT SEGMENT A</a:t>
            </a:r>
            <a:endParaRPr lang="en-US" sz="900" dirty="0"/>
          </a:p>
        </p:txBody>
      </p:sp>
      <p:sp>
        <p:nvSpPr>
          <p:cNvPr id="20" name="Text 18"/>
          <p:cNvSpPr txBox="1"/>
          <p:nvPr/>
        </p:nvSpPr>
        <p:spPr>
          <a:xfrm>
            <a:off x="6327648" y="1965960"/>
            <a:ext cx="2340864" cy="384048"/>
          </a:xfrm>
          <a:prstGeom prst="rect">
            <a:avLst/>
          </a:prstGeom>
          <a:noFill/>
          <a:ln/>
        </p:spPr>
        <p:txBody>
          <a:bodyPr wrap="square" lIns="0" tIns="0" rIns="0" bIns="0" rtlCol="0" anchor="t"/>
          <a:lstStyle/>
          <a:p>
            <a:pPr indent="0" marL="0">
              <a:buNone/>
            </a:pPr>
            <a:r>
              <a:rPr lang="en-US" sz="2200" b="1" dirty="0">
                <a:solidFill>
                  <a:srgbClr val="A85A00"/>
                </a:solidFill>
                <a:latin typeface="Cambria" pitchFamily="34" charset="0"/>
                <a:ea typeface="Cambria" pitchFamily="34" charset="-122"/>
                <a:cs typeface="Cambria" pitchFamily="34" charset="-120"/>
              </a:rPr>
              <a:t>_ / _</a:t>
            </a:r>
            <a:endParaRPr lang="en-US" sz="2200" dirty="0"/>
          </a:p>
        </p:txBody>
      </p:sp>
      <p:sp>
        <p:nvSpPr>
          <p:cNvPr id="21" name="Shape 19"/>
          <p:cNvSpPr/>
          <p:nvPr/>
        </p:nvSpPr>
        <p:spPr>
          <a:xfrm>
            <a:off x="8970264" y="1508760"/>
            <a:ext cx="2670048" cy="914400"/>
          </a:xfrm>
          <a:prstGeom prst="roundRect">
            <a:avLst>
              <a:gd name="adj" fmla="val 8000"/>
            </a:avLst>
          </a:prstGeom>
          <a:solidFill>
            <a:srgbClr val="FFFFFF"/>
          </a:solidFill>
          <a:ln w="9525">
            <a:solidFill>
              <a:srgbClr val="C9D5CE"/>
            </a:solidFill>
            <a:prstDash val="solid"/>
          </a:ln>
        </p:spPr>
      </p:sp>
      <p:sp>
        <p:nvSpPr>
          <p:cNvPr id="22" name="Text 20"/>
          <p:cNvSpPr txBox="1"/>
          <p:nvPr/>
        </p:nvSpPr>
        <p:spPr>
          <a:xfrm>
            <a:off x="9134856" y="1627632"/>
            <a:ext cx="2340864" cy="365760"/>
          </a:xfrm>
          <a:prstGeom prst="rect">
            <a:avLst/>
          </a:prstGeom>
          <a:noFill/>
          <a:ln/>
        </p:spPr>
        <p:txBody>
          <a:bodyPr wrap="square" lIns="0" tIns="0" rIns="0" bIns="0" rtlCol="0" anchor="t"/>
          <a:lstStyle/>
          <a:p>
            <a:pPr indent="0" marL="0">
              <a:buNone/>
            </a:pPr>
            <a:r>
              <a:rPr lang="en-US" sz="900" b="1" spc="100" kern="0" dirty="0">
                <a:solidFill>
                  <a:srgbClr val="5C6B63"/>
                </a:solidFill>
                <a:latin typeface="Calibri" pitchFamily="34" charset="0"/>
                <a:ea typeface="Calibri" pitchFamily="34" charset="-122"/>
                <a:cs typeface="Calibri" pitchFamily="34" charset="-120"/>
              </a:rPr>
              <a:t>FIELDWORK DATES</a:t>
            </a:r>
            <a:endParaRPr lang="en-US" sz="900" dirty="0"/>
          </a:p>
        </p:txBody>
      </p:sp>
      <p:sp>
        <p:nvSpPr>
          <p:cNvPr id="23" name="Text 21"/>
          <p:cNvSpPr txBox="1"/>
          <p:nvPr/>
        </p:nvSpPr>
        <p:spPr>
          <a:xfrm>
            <a:off x="9134856" y="1965960"/>
            <a:ext cx="2340864" cy="384048"/>
          </a:xfrm>
          <a:prstGeom prst="rect">
            <a:avLst/>
          </a:prstGeom>
          <a:noFill/>
          <a:ln/>
        </p:spPr>
        <p:txBody>
          <a:bodyPr wrap="square" lIns="0" tIns="0" rIns="0" bIns="0" rtlCol="0" anchor="t"/>
          <a:lstStyle/>
          <a:p>
            <a:pPr indent="0" marL="0">
              <a:buNone/>
            </a:pPr>
            <a:r>
              <a:rPr lang="en-US" sz="2200" b="1" dirty="0">
                <a:solidFill>
                  <a:srgbClr val="A85A00"/>
                </a:solidFill>
                <a:latin typeface="Cambria" pitchFamily="34" charset="0"/>
                <a:ea typeface="Cambria" pitchFamily="34" charset="-122"/>
                <a:cs typeface="Cambria" pitchFamily="34" charset="-120"/>
              </a:rPr>
              <a:t>— to —</a:t>
            </a:r>
            <a:endParaRPr lang="en-US" sz="2200" dirty="0"/>
          </a:p>
        </p:txBody>
      </p:sp>
      <p:sp>
        <p:nvSpPr>
          <p:cNvPr id="24" name="Shape 22"/>
          <p:cNvSpPr/>
          <p:nvPr/>
        </p:nvSpPr>
        <p:spPr>
          <a:xfrm>
            <a:off x="548640" y="2606040"/>
            <a:ext cx="11091672" cy="347472"/>
          </a:xfrm>
          <a:prstGeom prst="roundRect">
            <a:avLst>
              <a:gd name="adj" fmla="val 10526"/>
            </a:avLst>
          </a:prstGeom>
          <a:solidFill>
            <a:srgbClr val="154B36"/>
          </a:solidFill>
          <a:ln/>
        </p:spPr>
      </p:sp>
      <p:sp>
        <p:nvSpPr>
          <p:cNvPr id="25" name="Text 23"/>
          <p:cNvSpPr txBox="1"/>
          <p:nvPr/>
        </p:nvSpPr>
        <p:spPr>
          <a:xfrm>
            <a:off x="658368" y="2606040"/>
            <a:ext cx="59436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p>
        </p:txBody>
      </p:sp>
      <p:sp>
        <p:nvSpPr>
          <p:cNvPr id="26" name="Text 24"/>
          <p:cNvSpPr txBox="1"/>
          <p:nvPr/>
        </p:nvSpPr>
        <p:spPr>
          <a:xfrm>
            <a:off x="1435608" y="2606040"/>
            <a:ext cx="365760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Quote or observation</a:t>
            </a:r>
            <a:endParaRPr lang="en-US" sz="1000" dirty="0"/>
          </a:p>
        </p:txBody>
      </p:sp>
      <p:sp>
        <p:nvSpPr>
          <p:cNvPr id="27" name="Text 25"/>
          <p:cNvSpPr txBox="1"/>
          <p:nvPr/>
        </p:nvSpPr>
        <p:spPr>
          <a:xfrm>
            <a:off x="5276088" y="2606040"/>
            <a:ext cx="2468880"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Context</a:t>
            </a:r>
            <a:endParaRPr lang="en-US" sz="1000" dirty="0"/>
          </a:p>
        </p:txBody>
      </p:sp>
      <p:sp>
        <p:nvSpPr>
          <p:cNvPr id="28" name="Text 26"/>
          <p:cNvSpPr txBox="1"/>
          <p:nvPr/>
        </p:nvSpPr>
        <p:spPr>
          <a:xfrm>
            <a:off x="7927848" y="2606040"/>
            <a:ext cx="3639312" cy="34747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p>
        </p:txBody>
      </p:sp>
      <p:sp>
        <p:nvSpPr>
          <p:cNvPr id="29" name="Shape 27"/>
          <p:cNvSpPr/>
          <p:nvPr/>
        </p:nvSpPr>
        <p:spPr>
          <a:xfrm>
            <a:off x="548640" y="2971800"/>
            <a:ext cx="777240" cy="713232"/>
          </a:xfrm>
          <a:prstGeom prst="rect">
            <a:avLst/>
          </a:prstGeom>
          <a:solidFill>
            <a:srgbClr val="E8F1EB"/>
          </a:solidFill>
          <a:ln w="9525">
            <a:solidFill>
              <a:srgbClr val="C9D5CE"/>
            </a:solidFill>
            <a:prstDash val="solid"/>
          </a:ln>
        </p:spPr>
      </p:sp>
      <p:sp>
        <p:nvSpPr>
          <p:cNvPr id="30" name="Text 28"/>
          <p:cNvSpPr txBox="1"/>
          <p:nvPr/>
        </p:nvSpPr>
        <p:spPr>
          <a:xfrm>
            <a:off x="621792" y="2971800"/>
            <a:ext cx="630936" cy="713232"/>
          </a:xfrm>
          <a:prstGeom prst="rect">
            <a:avLst/>
          </a:prstGeom>
          <a:noFill/>
          <a:ln/>
        </p:spPr>
        <p:txBody>
          <a:bodyPr wrap="square" lIns="0" tIns="0" rIns="0" bIns="0" rtlCol="0" anchor="ctr"/>
          <a:lstStyle/>
          <a:p>
            <a:pPr indent="0" marL="0">
              <a:buNone/>
            </a:pPr>
            <a:r>
              <a:rPr lang="en-US" sz="1150" b="1" dirty="0">
                <a:solidFill>
                  <a:srgbClr val="154B36"/>
                </a:solidFill>
                <a:latin typeface="Calibri" pitchFamily="34" charset="0"/>
                <a:ea typeface="Calibri" pitchFamily="34" charset="-122"/>
                <a:cs typeface="Calibri" pitchFamily="34" charset="-120"/>
              </a:rPr>
              <a:t>P01</a:t>
            </a:r>
            <a:endParaRPr lang="en-US" sz="1200" dirty="0"/>
          </a:p>
          <a:p>
            <a:pPr indent="0" marL="0">
              <a:buNone/>
            </a:pPr>
            <a:r>
              <a:rPr lang="en-US" sz="850" i="1" dirty="0">
                <a:solidFill>
                  <a:srgbClr val="5C6B63"/>
                </a:solidFill>
                <a:latin typeface="Calibri" pitchFamily="34" charset="0"/>
                <a:ea typeface="Calibri" pitchFamily="34" charset="-122"/>
                <a:cs typeface="Calibri" pitchFamily="34" charset="-120"/>
              </a:rPr>
              <a:t>interview</a:t>
            </a:r>
            <a:endParaRPr lang="en-US" sz="1200" dirty="0"/>
          </a:p>
        </p:txBody>
      </p:sp>
      <p:sp>
        <p:nvSpPr>
          <p:cNvPr id="31" name="Shape 29"/>
          <p:cNvSpPr/>
          <p:nvPr/>
        </p:nvSpPr>
        <p:spPr>
          <a:xfrm>
            <a:off x="1325880" y="2971800"/>
            <a:ext cx="3840480" cy="713232"/>
          </a:xfrm>
          <a:prstGeom prst="roundRect">
            <a:avLst>
              <a:gd name="adj" fmla="val 7692"/>
            </a:avLst>
          </a:prstGeom>
          <a:solidFill>
            <a:srgbClr val="FDF0DC"/>
          </a:solidFill>
          <a:ln w="12700">
            <a:solidFill>
              <a:srgbClr val="EE8100"/>
            </a:solidFill>
            <a:prstDash val="dash"/>
          </a:ln>
        </p:spPr>
      </p:sp>
      <p:sp>
        <p:nvSpPr>
          <p:cNvPr id="32" name="Text 30"/>
          <p:cNvSpPr txBox="1"/>
          <p:nvPr/>
        </p:nvSpPr>
        <p:spPr>
          <a:xfrm>
            <a:off x="1435608" y="3008376"/>
            <a:ext cx="362102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quote or described behaviour, in their own words</a:t>
            </a:r>
            <a:endParaRPr lang="en-US" sz="950" dirty="0"/>
          </a:p>
        </p:txBody>
      </p:sp>
      <p:sp>
        <p:nvSpPr>
          <p:cNvPr id="33" name="Shape 31"/>
          <p:cNvSpPr/>
          <p:nvPr/>
        </p:nvSpPr>
        <p:spPr>
          <a:xfrm>
            <a:off x="5166360" y="2971800"/>
            <a:ext cx="2651760" cy="713232"/>
          </a:xfrm>
          <a:prstGeom prst="roundRect">
            <a:avLst>
              <a:gd name="adj" fmla="val 7692"/>
            </a:avLst>
          </a:prstGeom>
          <a:solidFill>
            <a:srgbClr val="FDF0DC"/>
          </a:solidFill>
          <a:ln w="12700">
            <a:solidFill>
              <a:srgbClr val="EE8100"/>
            </a:solidFill>
            <a:prstDash val="dash"/>
          </a:ln>
        </p:spPr>
      </p:sp>
      <p:sp>
        <p:nvSpPr>
          <p:cNvPr id="34" name="Text 32"/>
          <p:cNvSpPr txBox="1"/>
          <p:nvPr/>
        </p:nvSpPr>
        <p:spPr>
          <a:xfrm>
            <a:off x="5276088" y="3008376"/>
            <a:ext cx="243230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context: when, where, what prompted it</a:t>
            </a:r>
            <a:endParaRPr lang="en-US" sz="950" dirty="0"/>
          </a:p>
        </p:txBody>
      </p:sp>
      <p:sp>
        <p:nvSpPr>
          <p:cNvPr id="35" name="Shape 33"/>
          <p:cNvSpPr/>
          <p:nvPr/>
        </p:nvSpPr>
        <p:spPr>
          <a:xfrm>
            <a:off x="7818120" y="2971800"/>
            <a:ext cx="3822192" cy="713232"/>
          </a:xfrm>
          <a:prstGeom prst="roundRect">
            <a:avLst>
              <a:gd name="adj" fmla="val 7692"/>
            </a:avLst>
          </a:prstGeom>
          <a:solidFill>
            <a:srgbClr val="FDF0DC"/>
          </a:solidFill>
          <a:ln w="12700">
            <a:solidFill>
              <a:srgbClr val="EE8100"/>
            </a:solidFill>
            <a:prstDash val="dash"/>
          </a:ln>
        </p:spPr>
      </p:sp>
      <p:sp>
        <p:nvSpPr>
          <p:cNvPr id="36" name="Text 34"/>
          <p:cNvSpPr txBox="1"/>
          <p:nvPr/>
        </p:nvSpPr>
        <p:spPr>
          <a:xfrm>
            <a:off x="7927848" y="3008376"/>
            <a:ext cx="3602736"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why this matters for the venture decision</a:t>
            </a:r>
            <a:endParaRPr lang="en-US" sz="950" dirty="0"/>
          </a:p>
        </p:txBody>
      </p:sp>
      <p:sp>
        <p:nvSpPr>
          <p:cNvPr id="37" name="Shape 35"/>
          <p:cNvSpPr/>
          <p:nvPr/>
        </p:nvSpPr>
        <p:spPr>
          <a:xfrm>
            <a:off x="548640" y="3721608"/>
            <a:ext cx="777240" cy="713232"/>
          </a:xfrm>
          <a:prstGeom prst="rect">
            <a:avLst/>
          </a:prstGeom>
          <a:solidFill>
            <a:srgbClr val="E8F1EB"/>
          </a:solidFill>
          <a:ln w="9525">
            <a:solidFill>
              <a:srgbClr val="C9D5CE"/>
            </a:solidFill>
            <a:prstDash val="solid"/>
          </a:ln>
        </p:spPr>
      </p:sp>
      <p:sp>
        <p:nvSpPr>
          <p:cNvPr id="38" name="Text 36"/>
          <p:cNvSpPr txBox="1"/>
          <p:nvPr/>
        </p:nvSpPr>
        <p:spPr>
          <a:xfrm>
            <a:off x="621792" y="3721608"/>
            <a:ext cx="630936" cy="713232"/>
          </a:xfrm>
          <a:prstGeom prst="rect">
            <a:avLst/>
          </a:prstGeom>
          <a:noFill/>
          <a:ln/>
        </p:spPr>
        <p:txBody>
          <a:bodyPr wrap="square" lIns="0" tIns="0" rIns="0" bIns="0" rtlCol="0" anchor="ctr"/>
          <a:lstStyle/>
          <a:p>
            <a:pPr indent="0" marL="0">
              <a:buNone/>
            </a:pPr>
            <a:r>
              <a:rPr lang="en-US" sz="1150" b="1" dirty="0">
                <a:solidFill>
                  <a:srgbClr val="154B36"/>
                </a:solidFill>
                <a:latin typeface="Calibri" pitchFamily="34" charset="0"/>
                <a:ea typeface="Calibri" pitchFamily="34" charset="-122"/>
                <a:cs typeface="Calibri" pitchFamily="34" charset="-120"/>
              </a:rPr>
              <a:t>P02</a:t>
            </a:r>
            <a:endParaRPr lang="en-US" sz="1200" dirty="0"/>
          </a:p>
          <a:p>
            <a:pPr indent="0" marL="0">
              <a:buNone/>
            </a:pPr>
            <a:r>
              <a:rPr lang="en-US" sz="850" i="1" dirty="0">
                <a:solidFill>
                  <a:srgbClr val="5C6B63"/>
                </a:solidFill>
                <a:latin typeface="Calibri" pitchFamily="34" charset="0"/>
                <a:ea typeface="Calibri" pitchFamily="34" charset="-122"/>
                <a:cs typeface="Calibri" pitchFamily="34" charset="-120"/>
              </a:rPr>
              <a:t>interview</a:t>
            </a:r>
            <a:endParaRPr lang="en-US" sz="1200" dirty="0"/>
          </a:p>
        </p:txBody>
      </p:sp>
      <p:sp>
        <p:nvSpPr>
          <p:cNvPr id="39" name="Shape 37"/>
          <p:cNvSpPr/>
          <p:nvPr/>
        </p:nvSpPr>
        <p:spPr>
          <a:xfrm>
            <a:off x="1325880" y="3721608"/>
            <a:ext cx="3840480" cy="713232"/>
          </a:xfrm>
          <a:prstGeom prst="roundRect">
            <a:avLst>
              <a:gd name="adj" fmla="val 7692"/>
            </a:avLst>
          </a:prstGeom>
          <a:solidFill>
            <a:srgbClr val="FDF0DC"/>
          </a:solidFill>
          <a:ln w="12700">
            <a:solidFill>
              <a:srgbClr val="EE8100"/>
            </a:solidFill>
            <a:prstDash val="dash"/>
          </a:ln>
        </p:spPr>
      </p:sp>
      <p:sp>
        <p:nvSpPr>
          <p:cNvPr id="40" name="Text 38"/>
          <p:cNvSpPr txBox="1"/>
          <p:nvPr/>
        </p:nvSpPr>
        <p:spPr>
          <a:xfrm>
            <a:off x="1435608" y="3758184"/>
            <a:ext cx="362102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quote or described behaviour, in their own words</a:t>
            </a:r>
            <a:endParaRPr lang="en-US" sz="950" dirty="0"/>
          </a:p>
        </p:txBody>
      </p:sp>
      <p:sp>
        <p:nvSpPr>
          <p:cNvPr id="41" name="Shape 39"/>
          <p:cNvSpPr/>
          <p:nvPr/>
        </p:nvSpPr>
        <p:spPr>
          <a:xfrm>
            <a:off x="5166360" y="3721608"/>
            <a:ext cx="2651760" cy="713232"/>
          </a:xfrm>
          <a:prstGeom prst="roundRect">
            <a:avLst>
              <a:gd name="adj" fmla="val 7692"/>
            </a:avLst>
          </a:prstGeom>
          <a:solidFill>
            <a:srgbClr val="FDF0DC"/>
          </a:solidFill>
          <a:ln w="12700">
            <a:solidFill>
              <a:srgbClr val="EE8100"/>
            </a:solidFill>
            <a:prstDash val="dash"/>
          </a:ln>
        </p:spPr>
      </p:sp>
      <p:sp>
        <p:nvSpPr>
          <p:cNvPr id="42" name="Text 40"/>
          <p:cNvSpPr txBox="1"/>
          <p:nvPr/>
        </p:nvSpPr>
        <p:spPr>
          <a:xfrm>
            <a:off x="5276088" y="3758184"/>
            <a:ext cx="243230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context: when, where, what prompted it</a:t>
            </a:r>
            <a:endParaRPr lang="en-US" sz="950" dirty="0"/>
          </a:p>
        </p:txBody>
      </p:sp>
      <p:sp>
        <p:nvSpPr>
          <p:cNvPr id="43" name="Shape 41"/>
          <p:cNvSpPr/>
          <p:nvPr/>
        </p:nvSpPr>
        <p:spPr>
          <a:xfrm>
            <a:off x="7818120" y="3721608"/>
            <a:ext cx="3822192" cy="713232"/>
          </a:xfrm>
          <a:prstGeom prst="roundRect">
            <a:avLst>
              <a:gd name="adj" fmla="val 7692"/>
            </a:avLst>
          </a:prstGeom>
          <a:solidFill>
            <a:srgbClr val="FDF0DC"/>
          </a:solidFill>
          <a:ln w="12700">
            <a:solidFill>
              <a:srgbClr val="EE8100"/>
            </a:solidFill>
            <a:prstDash val="dash"/>
          </a:ln>
        </p:spPr>
      </p:sp>
      <p:sp>
        <p:nvSpPr>
          <p:cNvPr id="44" name="Text 42"/>
          <p:cNvSpPr txBox="1"/>
          <p:nvPr/>
        </p:nvSpPr>
        <p:spPr>
          <a:xfrm>
            <a:off x="7927848" y="3758184"/>
            <a:ext cx="3602736"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why this matters for the venture decision</a:t>
            </a:r>
            <a:endParaRPr lang="en-US" sz="950" dirty="0"/>
          </a:p>
        </p:txBody>
      </p:sp>
      <p:sp>
        <p:nvSpPr>
          <p:cNvPr id="45" name="Shape 43"/>
          <p:cNvSpPr/>
          <p:nvPr/>
        </p:nvSpPr>
        <p:spPr>
          <a:xfrm>
            <a:off x="548640" y="4471416"/>
            <a:ext cx="777240" cy="713232"/>
          </a:xfrm>
          <a:prstGeom prst="rect">
            <a:avLst/>
          </a:prstGeom>
          <a:solidFill>
            <a:srgbClr val="E8F1EB"/>
          </a:solidFill>
          <a:ln w="9525">
            <a:solidFill>
              <a:srgbClr val="C9D5CE"/>
            </a:solidFill>
            <a:prstDash val="solid"/>
          </a:ln>
        </p:spPr>
      </p:sp>
      <p:sp>
        <p:nvSpPr>
          <p:cNvPr id="46" name="Text 44"/>
          <p:cNvSpPr txBox="1"/>
          <p:nvPr/>
        </p:nvSpPr>
        <p:spPr>
          <a:xfrm>
            <a:off x="621792" y="4471416"/>
            <a:ext cx="630936" cy="713232"/>
          </a:xfrm>
          <a:prstGeom prst="rect">
            <a:avLst/>
          </a:prstGeom>
          <a:noFill/>
          <a:ln/>
        </p:spPr>
        <p:txBody>
          <a:bodyPr wrap="square" lIns="0" tIns="0" rIns="0" bIns="0" rtlCol="0" anchor="ctr"/>
          <a:lstStyle/>
          <a:p>
            <a:pPr indent="0" marL="0">
              <a:buNone/>
            </a:pPr>
            <a:r>
              <a:rPr lang="en-US" sz="1150" b="1" dirty="0">
                <a:solidFill>
                  <a:srgbClr val="154B36"/>
                </a:solidFill>
                <a:latin typeface="Calibri" pitchFamily="34" charset="0"/>
                <a:ea typeface="Calibri" pitchFamily="34" charset="-122"/>
                <a:cs typeface="Calibri" pitchFamily="34" charset="-120"/>
              </a:rPr>
              <a:t>P03</a:t>
            </a:r>
            <a:endParaRPr lang="en-US" sz="1200" dirty="0"/>
          </a:p>
          <a:p>
            <a:pPr indent="0" marL="0">
              <a:buNone/>
            </a:pPr>
            <a:r>
              <a:rPr lang="en-US" sz="850" i="1" dirty="0">
                <a:solidFill>
                  <a:srgbClr val="5C6B63"/>
                </a:solidFill>
                <a:latin typeface="Calibri" pitchFamily="34" charset="0"/>
                <a:ea typeface="Calibri" pitchFamily="34" charset="-122"/>
                <a:cs typeface="Calibri" pitchFamily="34" charset="-120"/>
              </a:rPr>
              <a:t>interview</a:t>
            </a:r>
            <a:endParaRPr lang="en-US" sz="1200" dirty="0"/>
          </a:p>
        </p:txBody>
      </p:sp>
      <p:sp>
        <p:nvSpPr>
          <p:cNvPr id="47" name="Shape 45"/>
          <p:cNvSpPr/>
          <p:nvPr/>
        </p:nvSpPr>
        <p:spPr>
          <a:xfrm>
            <a:off x="1325880" y="4471416"/>
            <a:ext cx="3840480" cy="713232"/>
          </a:xfrm>
          <a:prstGeom prst="roundRect">
            <a:avLst>
              <a:gd name="adj" fmla="val 7692"/>
            </a:avLst>
          </a:prstGeom>
          <a:solidFill>
            <a:srgbClr val="FDF0DC"/>
          </a:solidFill>
          <a:ln w="12700">
            <a:solidFill>
              <a:srgbClr val="EE8100"/>
            </a:solidFill>
            <a:prstDash val="dash"/>
          </a:ln>
        </p:spPr>
      </p:sp>
      <p:sp>
        <p:nvSpPr>
          <p:cNvPr id="48" name="Text 46"/>
          <p:cNvSpPr txBox="1"/>
          <p:nvPr/>
        </p:nvSpPr>
        <p:spPr>
          <a:xfrm>
            <a:off x="1435608" y="4507992"/>
            <a:ext cx="362102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quote or described behaviour, in their own words</a:t>
            </a:r>
            <a:endParaRPr lang="en-US" sz="950" dirty="0"/>
          </a:p>
        </p:txBody>
      </p:sp>
      <p:sp>
        <p:nvSpPr>
          <p:cNvPr id="49" name="Shape 47"/>
          <p:cNvSpPr/>
          <p:nvPr/>
        </p:nvSpPr>
        <p:spPr>
          <a:xfrm>
            <a:off x="5166360" y="4471416"/>
            <a:ext cx="2651760" cy="713232"/>
          </a:xfrm>
          <a:prstGeom prst="roundRect">
            <a:avLst>
              <a:gd name="adj" fmla="val 7692"/>
            </a:avLst>
          </a:prstGeom>
          <a:solidFill>
            <a:srgbClr val="FDF0DC"/>
          </a:solidFill>
          <a:ln w="12700">
            <a:solidFill>
              <a:srgbClr val="EE8100"/>
            </a:solidFill>
            <a:prstDash val="dash"/>
          </a:ln>
        </p:spPr>
      </p:sp>
      <p:sp>
        <p:nvSpPr>
          <p:cNvPr id="50" name="Text 48"/>
          <p:cNvSpPr txBox="1"/>
          <p:nvPr/>
        </p:nvSpPr>
        <p:spPr>
          <a:xfrm>
            <a:off x="5276088" y="4507992"/>
            <a:ext cx="243230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context: when, where, what prompted it</a:t>
            </a:r>
            <a:endParaRPr lang="en-US" sz="950" dirty="0"/>
          </a:p>
        </p:txBody>
      </p:sp>
      <p:sp>
        <p:nvSpPr>
          <p:cNvPr id="51" name="Shape 49"/>
          <p:cNvSpPr/>
          <p:nvPr/>
        </p:nvSpPr>
        <p:spPr>
          <a:xfrm>
            <a:off x="7818120" y="4471416"/>
            <a:ext cx="3822192" cy="713232"/>
          </a:xfrm>
          <a:prstGeom prst="roundRect">
            <a:avLst>
              <a:gd name="adj" fmla="val 7692"/>
            </a:avLst>
          </a:prstGeom>
          <a:solidFill>
            <a:srgbClr val="FDF0DC"/>
          </a:solidFill>
          <a:ln w="12700">
            <a:solidFill>
              <a:srgbClr val="EE8100"/>
            </a:solidFill>
            <a:prstDash val="dash"/>
          </a:ln>
        </p:spPr>
      </p:sp>
      <p:sp>
        <p:nvSpPr>
          <p:cNvPr id="52" name="Text 50"/>
          <p:cNvSpPr txBox="1"/>
          <p:nvPr/>
        </p:nvSpPr>
        <p:spPr>
          <a:xfrm>
            <a:off x="7927848" y="4507992"/>
            <a:ext cx="3602736"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why this matters for the venture decision</a:t>
            </a:r>
            <a:endParaRPr lang="en-US" sz="950" dirty="0"/>
          </a:p>
        </p:txBody>
      </p:sp>
      <p:sp>
        <p:nvSpPr>
          <p:cNvPr id="53" name="Shape 51"/>
          <p:cNvSpPr/>
          <p:nvPr/>
        </p:nvSpPr>
        <p:spPr>
          <a:xfrm>
            <a:off x="548640" y="5221224"/>
            <a:ext cx="777240" cy="713232"/>
          </a:xfrm>
          <a:prstGeom prst="rect">
            <a:avLst/>
          </a:prstGeom>
          <a:solidFill>
            <a:srgbClr val="E8F1EB"/>
          </a:solidFill>
          <a:ln w="9525">
            <a:solidFill>
              <a:srgbClr val="C9D5CE"/>
            </a:solidFill>
            <a:prstDash val="solid"/>
          </a:ln>
        </p:spPr>
      </p:sp>
      <p:sp>
        <p:nvSpPr>
          <p:cNvPr id="54" name="Text 52"/>
          <p:cNvSpPr txBox="1"/>
          <p:nvPr/>
        </p:nvSpPr>
        <p:spPr>
          <a:xfrm>
            <a:off x="621792" y="5221224"/>
            <a:ext cx="630936" cy="713232"/>
          </a:xfrm>
          <a:prstGeom prst="rect">
            <a:avLst/>
          </a:prstGeom>
          <a:noFill/>
          <a:ln/>
        </p:spPr>
        <p:txBody>
          <a:bodyPr wrap="square" lIns="0" tIns="0" rIns="0" bIns="0" rtlCol="0" anchor="ctr"/>
          <a:lstStyle/>
          <a:p>
            <a:pPr indent="0" marL="0">
              <a:buNone/>
            </a:pPr>
            <a:r>
              <a:rPr lang="en-US" sz="1150" b="1" dirty="0">
                <a:solidFill>
                  <a:srgbClr val="154B36"/>
                </a:solidFill>
                <a:latin typeface="Calibri" pitchFamily="34" charset="0"/>
                <a:ea typeface="Calibri" pitchFamily="34" charset="-122"/>
                <a:cs typeface="Calibri" pitchFamily="34" charset="-120"/>
              </a:rPr>
              <a:t>OBS-1</a:t>
            </a:r>
            <a:endParaRPr lang="en-US" sz="1200" dirty="0"/>
          </a:p>
          <a:p>
            <a:pPr indent="0" marL="0">
              <a:buNone/>
            </a:pPr>
            <a:r>
              <a:rPr lang="en-US" sz="850" i="1" dirty="0">
                <a:solidFill>
                  <a:srgbClr val="5C6B63"/>
                </a:solidFill>
                <a:latin typeface="Calibri" pitchFamily="34" charset="0"/>
                <a:ea typeface="Calibri" pitchFamily="34" charset="-122"/>
                <a:cs typeface="Calibri" pitchFamily="34" charset="-120"/>
              </a:rPr>
              <a:t>observation</a:t>
            </a:r>
            <a:endParaRPr lang="en-US" sz="1200" dirty="0"/>
          </a:p>
        </p:txBody>
      </p:sp>
      <p:sp>
        <p:nvSpPr>
          <p:cNvPr id="55" name="Shape 53"/>
          <p:cNvSpPr/>
          <p:nvPr/>
        </p:nvSpPr>
        <p:spPr>
          <a:xfrm>
            <a:off x="1325880" y="5221224"/>
            <a:ext cx="3840480" cy="713232"/>
          </a:xfrm>
          <a:prstGeom prst="roundRect">
            <a:avLst>
              <a:gd name="adj" fmla="val 7692"/>
            </a:avLst>
          </a:prstGeom>
          <a:solidFill>
            <a:srgbClr val="FDF0DC"/>
          </a:solidFill>
          <a:ln w="12700">
            <a:solidFill>
              <a:srgbClr val="EE8100"/>
            </a:solidFill>
            <a:prstDash val="dash"/>
          </a:ln>
        </p:spPr>
      </p:sp>
      <p:sp>
        <p:nvSpPr>
          <p:cNvPr id="56" name="Text 54"/>
          <p:cNvSpPr txBox="1"/>
          <p:nvPr/>
        </p:nvSpPr>
        <p:spPr>
          <a:xfrm>
            <a:off x="1435608" y="5257800"/>
            <a:ext cx="362102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quote or described behaviour, in their own words</a:t>
            </a:r>
            <a:endParaRPr lang="en-US" sz="950" dirty="0"/>
          </a:p>
        </p:txBody>
      </p:sp>
      <p:sp>
        <p:nvSpPr>
          <p:cNvPr id="57" name="Shape 55"/>
          <p:cNvSpPr/>
          <p:nvPr/>
        </p:nvSpPr>
        <p:spPr>
          <a:xfrm>
            <a:off x="5166360" y="5221224"/>
            <a:ext cx="2651760" cy="713232"/>
          </a:xfrm>
          <a:prstGeom prst="roundRect">
            <a:avLst>
              <a:gd name="adj" fmla="val 7692"/>
            </a:avLst>
          </a:prstGeom>
          <a:solidFill>
            <a:srgbClr val="FDF0DC"/>
          </a:solidFill>
          <a:ln w="12700">
            <a:solidFill>
              <a:srgbClr val="EE8100"/>
            </a:solidFill>
            <a:prstDash val="dash"/>
          </a:ln>
        </p:spPr>
      </p:sp>
      <p:sp>
        <p:nvSpPr>
          <p:cNvPr id="58" name="Text 56"/>
          <p:cNvSpPr txBox="1"/>
          <p:nvPr/>
        </p:nvSpPr>
        <p:spPr>
          <a:xfrm>
            <a:off x="5276088" y="5257800"/>
            <a:ext cx="2432304"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context: when, where, what prompted it</a:t>
            </a:r>
            <a:endParaRPr lang="en-US" sz="950" dirty="0"/>
          </a:p>
        </p:txBody>
      </p:sp>
      <p:sp>
        <p:nvSpPr>
          <p:cNvPr id="59" name="Shape 57"/>
          <p:cNvSpPr/>
          <p:nvPr/>
        </p:nvSpPr>
        <p:spPr>
          <a:xfrm>
            <a:off x="7818120" y="5221224"/>
            <a:ext cx="3822192" cy="713232"/>
          </a:xfrm>
          <a:prstGeom prst="roundRect">
            <a:avLst>
              <a:gd name="adj" fmla="val 7692"/>
            </a:avLst>
          </a:prstGeom>
          <a:solidFill>
            <a:srgbClr val="FDF0DC"/>
          </a:solidFill>
          <a:ln w="12700">
            <a:solidFill>
              <a:srgbClr val="EE8100"/>
            </a:solidFill>
            <a:prstDash val="dash"/>
          </a:ln>
        </p:spPr>
      </p:sp>
      <p:sp>
        <p:nvSpPr>
          <p:cNvPr id="60" name="Text 58"/>
          <p:cNvSpPr txBox="1"/>
          <p:nvPr/>
        </p:nvSpPr>
        <p:spPr>
          <a:xfrm>
            <a:off x="7927848" y="5257800"/>
            <a:ext cx="3602736" cy="640080"/>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why this matters for the venture decision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3 · RESEARCH TO PERSONA &amp; JOURNEY MAP · STEP 3</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What repeats across participants, and what it means</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A pattern is what multiple participants did or said. An insight explains the tension, motivation or consequence underneath it — it should not just restate the pattern.</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3 / 6</a:t>
            </a:r>
            <a:endParaRPr lang="en-US" sz="900" dirty="0"/>
          </a:p>
        </p:txBody>
      </p:sp>
      <p:sp>
        <p:nvSpPr>
          <p:cNvPr id="12" name="Text 10"/>
          <p:cNvSpPr txBox="1"/>
          <p:nvPr/>
        </p:nvSpPr>
        <p:spPr>
          <a:xfrm>
            <a:off x="548640" y="1508760"/>
            <a:ext cx="11091672" cy="365760"/>
          </a:xfrm>
          <a:prstGeom prst="rect">
            <a:avLst/>
          </a:prstGeom>
          <a:noFill/>
          <a:ln/>
        </p:spPr>
        <p:txBody>
          <a:bodyPr wrap="square" lIns="0" tIns="0" rIns="0" bIns="0" rtlCol="0" anchor="t"/>
          <a:lstStyle/>
          <a:p>
            <a:pPr indent="0" marL="0">
              <a:buNone/>
            </a:pPr>
            <a:r>
              <a:rPr lang="en-US" sz="1050" b="1" i="1" dirty="0">
                <a:solidFill>
                  <a:srgbClr val="154B36"/>
                </a:solidFill>
                <a:latin typeface="Calibri" pitchFamily="34" charset="0"/>
                <a:ea typeface="Calibri" pitchFamily="34" charset="-122"/>
                <a:cs typeface="Calibri" pitchFamily="34" charset="-120"/>
              </a:rPr>
              <a:t>Evidence chain:  </a:t>
            </a:r>
            <a:pPr indent="0" marL="0">
              <a:buNone/>
            </a:pPr>
            <a:r>
              <a:rPr lang="en-US" sz="1050" i="1" dirty="0">
                <a:solidFill>
                  <a:srgbClr val="5C6B63"/>
                </a:solidFill>
                <a:latin typeface="Calibri" pitchFamily="34" charset="0"/>
                <a:ea typeface="Calibri" pitchFamily="34" charset="-122"/>
                <a:cs typeface="Calibri" pitchFamily="34" charset="-120"/>
              </a:rPr>
              <a:t>Evidence (what one person said or did)  →  Pattern (what repeats across participants)  →  Insight (the deeper truth it points to).</a:t>
            </a:r>
            <a:endParaRPr lang="en-US" sz="1050" dirty="0"/>
          </a:p>
        </p:txBody>
      </p:sp>
      <p:sp>
        <p:nvSpPr>
          <p:cNvPr id="13" name="Shape 11"/>
          <p:cNvSpPr/>
          <p:nvPr/>
        </p:nvSpPr>
        <p:spPr>
          <a:xfrm>
            <a:off x="548640" y="2011680"/>
            <a:ext cx="3566160" cy="3886200"/>
          </a:xfrm>
          <a:prstGeom prst="roundRect">
            <a:avLst>
              <a:gd name="adj" fmla="val 2051"/>
            </a:avLst>
          </a:prstGeom>
          <a:solidFill>
            <a:srgbClr val="FFFFFF"/>
          </a:solidFill>
          <a:ln w="9525">
            <a:solidFill>
              <a:srgbClr val="C9D5CE"/>
            </a:solidFill>
            <a:prstDash val="solid"/>
          </a:ln>
        </p:spPr>
      </p:sp>
      <p:sp>
        <p:nvSpPr>
          <p:cNvPr id="14" name="Shape 12"/>
          <p:cNvSpPr/>
          <p:nvPr/>
        </p:nvSpPr>
        <p:spPr>
          <a:xfrm>
            <a:off x="749808" y="2176272"/>
            <a:ext cx="384048" cy="384048"/>
          </a:xfrm>
          <a:prstGeom prst="ellipse">
            <a:avLst/>
          </a:prstGeom>
          <a:solidFill>
            <a:srgbClr val="154B36"/>
          </a:solidFill>
          <a:ln/>
        </p:spPr>
      </p:sp>
      <p:sp>
        <p:nvSpPr>
          <p:cNvPr id="15" name="Text 13"/>
          <p:cNvSpPr txBox="1"/>
          <p:nvPr/>
        </p:nvSpPr>
        <p:spPr>
          <a:xfrm>
            <a:off x="749808"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6" name="Text 14"/>
          <p:cNvSpPr txBox="1"/>
          <p:nvPr/>
        </p:nvSpPr>
        <p:spPr>
          <a:xfrm>
            <a:off x="777240" y="2670048"/>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PATTERN</a:t>
            </a:r>
            <a:endParaRPr lang="en-US" sz="1000" dirty="0"/>
          </a:p>
        </p:txBody>
      </p:sp>
      <p:sp>
        <p:nvSpPr>
          <p:cNvPr id="17" name="Shape 15"/>
          <p:cNvSpPr/>
          <p:nvPr/>
        </p:nvSpPr>
        <p:spPr>
          <a:xfrm>
            <a:off x="777240" y="2880360"/>
            <a:ext cx="3108960" cy="822960"/>
          </a:xfrm>
          <a:prstGeom prst="roundRect">
            <a:avLst>
              <a:gd name="adj" fmla="val 6667"/>
            </a:avLst>
          </a:prstGeom>
          <a:solidFill>
            <a:srgbClr val="FDF0DC"/>
          </a:solidFill>
          <a:ln w="12700">
            <a:solidFill>
              <a:srgbClr val="EE8100"/>
            </a:solidFill>
            <a:prstDash val="dash"/>
          </a:ln>
        </p:spPr>
      </p:sp>
      <p:sp>
        <p:nvSpPr>
          <p:cNvPr id="18" name="Text 16"/>
          <p:cNvSpPr txBox="1"/>
          <p:nvPr/>
        </p:nvSpPr>
        <p:spPr>
          <a:xfrm>
            <a:off x="886968" y="2916936"/>
            <a:ext cx="2889504" cy="749808"/>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repeats across at least two participants</a:t>
            </a:r>
            <a:endParaRPr lang="en-US" sz="950" dirty="0"/>
          </a:p>
        </p:txBody>
      </p:sp>
      <p:sp>
        <p:nvSpPr>
          <p:cNvPr id="19" name="Text 17"/>
          <p:cNvSpPr txBox="1"/>
          <p:nvPr/>
        </p:nvSpPr>
        <p:spPr>
          <a:xfrm>
            <a:off x="777240" y="3703320"/>
            <a:ext cx="3108960" cy="274320"/>
          </a:xfrm>
          <a:prstGeom prst="rect">
            <a:avLst/>
          </a:prstGeom>
          <a:noFill/>
          <a:ln/>
        </p:spPr>
        <p:txBody>
          <a:bodyPr wrap="square" lIns="0" tIns="0" rIns="0" bIns="0" rtlCol="0" anchor="t"/>
          <a:lstStyle/>
          <a:p>
            <a:pPr algn="ctr" indent="0" marL="0">
              <a:buNone/>
            </a:pPr>
            <a:r>
              <a:rPr lang="en-US" sz="1300" dirty="0">
                <a:solidFill>
                  <a:srgbClr val="B7C6BD"/>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777240" y="400507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INSIGHT</a:t>
            </a:r>
            <a:endParaRPr lang="en-US" sz="1000" dirty="0"/>
          </a:p>
        </p:txBody>
      </p:sp>
      <p:sp>
        <p:nvSpPr>
          <p:cNvPr id="21" name="Shape 19"/>
          <p:cNvSpPr/>
          <p:nvPr/>
        </p:nvSpPr>
        <p:spPr>
          <a:xfrm>
            <a:off x="777240" y="4206240"/>
            <a:ext cx="3108960" cy="914400"/>
          </a:xfrm>
          <a:prstGeom prst="roundRect">
            <a:avLst>
              <a:gd name="adj" fmla="val 6000"/>
            </a:avLst>
          </a:prstGeom>
          <a:solidFill>
            <a:srgbClr val="FDF0DC"/>
          </a:solidFill>
          <a:ln w="12700">
            <a:solidFill>
              <a:srgbClr val="EE8100"/>
            </a:solidFill>
            <a:prstDash val="dash"/>
          </a:ln>
        </p:spPr>
      </p:sp>
      <p:sp>
        <p:nvSpPr>
          <p:cNvPr id="22" name="Text 20"/>
          <p:cNvSpPr txBox="1"/>
          <p:nvPr/>
        </p:nvSpPr>
        <p:spPr>
          <a:xfrm>
            <a:off x="886968" y="4242816"/>
            <a:ext cx="2889504" cy="841248"/>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the deeper truth: the tension, motivation or consequence underneath</a:t>
            </a:r>
            <a:endParaRPr lang="en-US" sz="950" dirty="0"/>
          </a:p>
        </p:txBody>
      </p:sp>
      <p:sp>
        <p:nvSpPr>
          <p:cNvPr id="23" name="Text 21"/>
          <p:cNvSpPr txBox="1"/>
          <p:nvPr/>
        </p:nvSpPr>
        <p:spPr>
          <a:xfrm>
            <a:off x="777240" y="519379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EVIDENCE FROM</a:t>
            </a:r>
            <a:endParaRPr lang="en-US" sz="1000" dirty="0"/>
          </a:p>
        </p:txBody>
      </p:sp>
      <p:sp>
        <p:nvSpPr>
          <p:cNvPr id="24" name="Shape 22"/>
          <p:cNvSpPr/>
          <p:nvPr/>
        </p:nvSpPr>
        <p:spPr>
          <a:xfrm>
            <a:off x="777240" y="5376672"/>
            <a:ext cx="3108960" cy="365760"/>
          </a:xfrm>
          <a:prstGeom prst="roundRect">
            <a:avLst>
              <a:gd name="adj" fmla="val 15000"/>
            </a:avLst>
          </a:prstGeom>
          <a:solidFill>
            <a:srgbClr val="FDF0DC"/>
          </a:solidFill>
          <a:ln w="12700">
            <a:solidFill>
              <a:srgbClr val="EE8100"/>
            </a:solidFill>
            <a:prstDash val="dash"/>
          </a:ln>
        </p:spPr>
      </p:sp>
      <p:sp>
        <p:nvSpPr>
          <p:cNvPr id="25" name="Text 23"/>
          <p:cNvSpPr txBox="1"/>
          <p:nvPr/>
        </p:nvSpPr>
        <p:spPr>
          <a:xfrm>
            <a:off x="886968" y="5413248"/>
            <a:ext cx="2889504" cy="292608"/>
          </a:xfrm>
          <a:prstGeom prst="rect">
            <a:avLst/>
          </a:prstGeom>
          <a:noFill/>
          <a:ln/>
        </p:spPr>
        <p:txBody>
          <a:bodyPr wrap="square" lIns="0" tIns="0" rIns="0" bIns="0" rtlCol="0" anchor="ctr"/>
          <a:lstStyle/>
          <a:p>
            <a:pPr algn="ctr" indent="0" marL="0">
              <a:buNone/>
            </a:pPr>
            <a:r>
              <a:rPr lang="en-US" sz="900" i="1" dirty="0">
                <a:solidFill>
                  <a:srgbClr val="A85A00"/>
                </a:solidFill>
                <a:latin typeface="Calibri" pitchFamily="34" charset="0"/>
                <a:ea typeface="Calibri" pitchFamily="34" charset="-122"/>
                <a:cs typeface="Calibri" pitchFamily="34" charset="-120"/>
              </a:rPr>
              <a:t>INSERT  P0_, P0_…</a:t>
            </a:r>
            <a:endParaRPr lang="en-US" sz="900" dirty="0"/>
          </a:p>
        </p:txBody>
      </p:sp>
      <p:sp>
        <p:nvSpPr>
          <p:cNvPr id="26" name="Shape 24"/>
          <p:cNvSpPr/>
          <p:nvPr/>
        </p:nvSpPr>
        <p:spPr>
          <a:xfrm>
            <a:off x="4315968" y="2011680"/>
            <a:ext cx="3566160" cy="3886200"/>
          </a:xfrm>
          <a:prstGeom prst="roundRect">
            <a:avLst>
              <a:gd name="adj" fmla="val 2051"/>
            </a:avLst>
          </a:prstGeom>
          <a:solidFill>
            <a:srgbClr val="FFFFFF"/>
          </a:solidFill>
          <a:ln w="9525">
            <a:solidFill>
              <a:srgbClr val="C9D5CE"/>
            </a:solidFill>
            <a:prstDash val="solid"/>
          </a:ln>
        </p:spPr>
      </p:sp>
      <p:sp>
        <p:nvSpPr>
          <p:cNvPr id="27" name="Shape 25"/>
          <p:cNvSpPr/>
          <p:nvPr/>
        </p:nvSpPr>
        <p:spPr>
          <a:xfrm>
            <a:off x="4517136" y="2176272"/>
            <a:ext cx="384048" cy="384048"/>
          </a:xfrm>
          <a:prstGeom prst="ellipse">
            <a:avLst/>
          </a:prstGeom>
          <a:solidFill>
            <a:srgbClr val="154B36"/>
          </a:solidFill>
          <a:ln/>
        </p:spPr>
      </p:sp>
      <p:sp>
        <p:nvSpPr>
          <p:cNvPr id="28" name="Text 26"/>
          <p:cNvSpPr txBox="1"/>
          <p:nvPr/>
        </p:nvSpPr>
        <p:spPr>
          <a:xfrm>
            <a:off x="4517136"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9" name="Text 27"/>
          <p:cNvSpPr txBox="1"/>
          <p:nvPr/>
        </p:nvSpPr>
        <p:spPr>
          <a:xfrm>
            <a:off x="4544568" y="2670048"/>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PATTERN</a:t>
            </a:r>
            <a:endParaRPr lang="en-US" sz="1000" dirty="0"/>
          </a:p>
        </p:txBody>
      </p:sp>
      <p:sp>
        <p:nvSpPr>
          <p:cNvPr id="30" name="Shape 28"/>
          <p:cNvSpPr/>
          <p:nvPr/>
        </p:nvSpPr>
        <p:spPr>
          <a:xfrm>
            <a:off x="4544568" y="2880360"/>
            <a:ext cx="3108960" cy="822960"/>
          </a:xfrm>
          <a:prstGeom prst="roundRect">
            <a:avLst>
              <a:gd name="adj" fmla="val 6667"/>
            </a:avLst>
          </a:prstGeom>
          <a:solidFill>
            <a:srgbClr val="FDF0DC"/>
          </a:solidFill>
          <a:ln w="12700">
            <a:solidFill>
              <a:srgbClr val="EE8100"/>
            </a:solidFill>
            <a:prstDash val="dash"/>
          </a:ln>
        </p:spPr>
      </p:sp>
      <p:sp>
        <p:nvSpPr>
          <p:cNvPr id="31" name="Text 29"/>
          <p:cNvSpPr txBox="1"/>
          <p:nvPr/>
        </p:nvSpPr>
        <p:spPr>
          <a:xfrm>
            <a:off x="4654296" y="2916936"/>
            <a:ext cx="2889504" cy="749808"/>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repeats across at least two participants</a:t>
            </a:r>
            <a:endParaRPr lang="en-US" sz="950" dirty="0"/>
          </a:p>
        </p:txBody>
      </p:sp>
      <p:sp>
        <p:nvSpPr>
          <p:cNvPr id="32" name="Text 30"/>
          <p:cNvSpPr txBox="1"/>
          <p:nvPr/>
        </p:nvSpPr>
        <p:spPr>
          <a:xfrm>
            <a:off x="4544568" y="3703320"/>
            <a:ext cx="3108960" cy="274320"/>
          </a:xfrm>
          <a:prstGeom prst="rect">
            <a:avLst/>
          </a:prstGeom>
          <a:noFill/>
          <a:ln/>
        </p:spPr>
        <p:txBody>
          <a:bodyPr wrap="square" lIns="0" tIns="0" rIns="0" bIns="0" rtlCol="0" anchor="t"/>
          <a:lstStyle/>
          <a:p>
            <a:pPr algn="ctr" indent="0" marL="0">
              <a:buNone/>
            </a:pPr>
            <a:r>
              <a:rPr lang="en-US" sz="1300" dirty="0">
                <a:solidFill>
                  <a:srgbClr val="B7C6BD"/>
                </a:solidFill>
                <a:latin typeface="Calibri" pitchFamily="34" charset="0"/>
                <a:ea typeface="Calibri" pitchFamily="34" charset="-122"/>
                <a:cs typeface="Calibri" pitchFamily="34" charset="-120"/>
              </a:rPr>
              <a:t>▼</a:t>
            </a:r>
            <a:endParaRPr lang="en-US" sz="1300" dirty="0"/>
          </a:p>
        </p:txBody>
      </p:sp>
      <p:sp>
        <p:nvSpPr>
          <p:cNvPr id="33" name="Text 31"/>
          <p:cNvSpPr txBox="1"/>
          <p:nvPr/>
        </p:nvSpPr>
        <p:spPr>
          <a:xfrm>
            <a:off x="4544568" y="400507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INSIGHT</a:t>
            </a:r>
            <a:endParaRPr lang="en-US" sz="1000" dirty="0"/>
          </a:p>
        </p:txBody>
      </p:sp>
      <p:sp>
        <p:nvSpPr>
          <p:cNvPr id="34" name="Shape 32"/>
          <p:cNvSpPr/>
          <p:nvPr/>
        </p:nvSpPr>
        <p:spPr>
          <a:xfrm>
            <a:off x="4544568" y="4206240"/>
            <a:ext cx="3108960" cy="914400"/>
          </a:xfrm>
          <a:prstGeom prst="roundRect">
            <a:avLst>
              <a:gd name="adj" fmla="val 6000"/>
            </a:avLst>
          </a:prstGeom>
          <a:solidFill>
            <a:srgbClr val="FDF0DC"/>
          </a:solidFill>
          <a:ln w="12700">
            <a:solidFill>
              <a:srgbClr val="EE8100"/>
            </a:solidFill>
            <a:prstDash val="dash"/>
          </a:ln>
        </p:spPr>
      </p:sp>
      <p:sp>
        <p:nvSpPr>
          <p:cNvPr id="35" name="Text 33"/>
          <p:cNvSpPr txBox="1"/>
          <p:nvPr/>
        </p:nvSpPr>
        <p:spPr>
          <a:xfrm>
            <a:off x="4654296" y="4242816"/>
            <a:ext cx="2889504" cy="841248"/>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the deeper truth: the tension, motivation or consequence underneath</a:t>
            </a:r>
            <a:endParaRPr lang="en-US" sz="950" dirty="0"/>
          </a:p>
        </p:txBody>
      </p:sp>
      <p:sp>
        <p:nvSpPr>
          <p:cNvPr id="36" name="Text 34"/>
          <p:cNvSpPr txBox="1"/>
          <p:nvPr/>
        </p:nvSpPr>
        <p:spPr>
          <a:xfrm>
            <a:off x="4544568" y="519379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EVIDENCE FROM</a:t>
            </a:r>
            <a:endParaRPr lang="en-US" sz="1000" dirty="0"/>
          </a:p>
        </p:txBody>
      </p:sp>
      <p:sp>
        <p:nvSpPr>
          <p:cNvPr id="37" name="Shape 35"/>
          <p:cNvSpPr/>
          <p:nvPr/>
        </p:nvSpPr>
        <p:spPr>
          <a:xfrm>
            <a:off x="4544568" y="5376672"/>
            <a:ext cx="3108960" cy="365760"/>
          </a:xfrm>
          <a:prstGeom prst="roundRect">
            <a:avLst>
              <a:gd name="adj" fmla="val 15000"/>
            </a:avLst>
          </a:prstGeom>
          <a:solidFill>
            <a:srgbClr val="FDF0DC"/>
          </a:solidFill>
          <a:ln w="12700">
            <a:solidFill>
              <a:srgbClr val="EE8100"/>
            </a:solidFill>
            <a:prstDash val="dash"/>
          </a:ln>
        </p:spPr>
      </p:sp>
      <p:sp>
        <p:nvSpPr>
          <p:cNvPr id="38" name="Text 36"/>
          <p:cNvSpPr txBox="1"/>
          <p:nvPr/>
        </p:nvSpPr>
        <p:spPr>
          <a:xfrm>
            <a:off x="4654296" y="5413248"/>
            <a:ext cx="2889504" cy="292608"/>
          </a:xfrm>
          <a:prstGeom prst="rect">
            <a:avLst/>
          </a:prstGeom>
          <a:noFill/>
          <a:ln/>
        </p:spPr>
        <p:txBody>
          <a:bodyPr wrap="square" lIns="0" tIns="0" rIns="0" bIns="0" rtlCol="0" anchor="ctr"/>
          <a:lstStyle/>
          <a:p>
            <a:pPr algn="ctr" indent="0" marL="0">
              <a:buNone/>
            </a:pPr>
            <a:r>
              <a:rPr lang="en-US" sz="900" i="1" dirty="0">
                <a:solidFill>
                  <a:srgbClr val="A85A00"/>
                </a:solidFill>
                <a:latin typeface="Calibri" pitchFamily="34" charset="0"/>
                <a:ea typeface="Calibri" pitchFamily="34" charset="-122"/>
                <a:cs typeface="Calibri" pitchFamily="34" charset="-120"/>
              </a:rPr>
              <a:t>INSERT  P0_, P0_…</a:t>
            </a:r>
            <a:endParaRPr lang="en-US" sz="900" dirty="0"/>
          </a:p>
        </p:txBody>
      </p:sp>
      <p:sp>
        <p:nvSpPr>
          <p:cNvPr id="39" name="Shape 37"/>
          <p:cNvSpPr/>
          <p:nvPr/>
        </p:nvSpPr>
        <p:spPr>
          <a:xfrm>
            <a:off x="8083296" y="2011680"/>
            <a:ext cx="3566160" cy="3886200"/>
          </a:xfrm>
          <a:prstGeom prst="roundRect">
            <a:avLst>
              <a:gd name="adj" fmla="val 2051"/>
            </a:avLst>
          </a:prstGeom>
          <a:solidFill>
            <a:srgbClr val="FFFFFF"/>
          </a:solidFill>
          <a:ln w="9525">
            <a:solidFill>
              <a:srgbClr val="C9D5CE"/>
            </a:solidFill>
            <a:prstDash val="solid"/>
          </a:ln>
        </p:spPr>
      </p:sp>
      <p:sp>
        <p:nvSpPr>
          <p:cNvPr id="40" name="Shape 38"/>
          <p:cNvSpPr/>
          <p:nvPr/>
        </p:nvSpPr>
        <p:spPr>
          <a:xfrm>
            <a:off x="8284464" y="2176272"/>
            <a:ext cx="384048" cy="384048"/>
          </a:xfrm>
          <a:prstGeom prst="ellipse">
            <a:avLst/>
          </a:prstGeom>
          <a:solidFill>
            <a:srgbClr val="154B36"/>
          </a:solidFill>
          <a:ln/>
        </p:spPr>
      </p:sp>
      <p:sp>
        <p:nvSpPr>
          <p:cNvPr id="41" name="Text 39"/>
          <p:cNvSpPr txBox="1"/>
          <p:nvPr/>
        </p:nvSpPr>
        <p:spPr>
          <a:xfrm>
            <a:off x="8284464"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42" name="Text 40"/>
          <p:cNvSpPr txBox="1"/>
          <p:nvPr/>
        </p:nvSpPr>
        <p:spPr>
          <a:xfrm>
            <a:off x="8311896" y="2670048"/>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PATTERN</a:t>
            </a:r>
            <a:endParaRPr lang="en-US" sz="1000" dirty="0"/>
          </a:p>
        </p:txBody>
      </p:sp>
      <p:sp>
        <p:nvSpPr>
          <p:cNvPr id="43" name="Shape 41"/>
          <p:cNvSpPr/>
          <p:nvPr/>
        </p:nvSpPr>
        <p:spPr>
          <a:xfrm>
            <a:off x="8311896" y="2880360"/>
            <a:ext cx="3108960" cy="822960"/>
          </a:xfrm>
          <a:prstGeom prst="roundRect">
            <a:avLst>
              <a:gd name="adj" fmla="val 6667"/>
            </a:avLst>
          </a:prstGeom>
          <a:solidFill>
            <a:srgbClr val="FDF0DC"/>
          </a:solidFill>
          <a:ln w="12700">
            <a:solidFill>
              <a:srgbClr val="EE8100"/>
            </a:solidFill>
            <a:prstDash val="dash"/>
          </a:ln>
        </p:spPr>
      </p:sp>
      <p:sp>
        <p:nvSpPr>
          <p:cNvPr id="44" name="Text 42"/>
          <p:cNvSpPr txBox="1"/>
          <p:nvPr/>
        </p:nvSpPr>
        <p:spPr>
          <a:xfrm>
            <a:off x="8421624" y="2916936"/>
            <a:ext cx="2889504" cy="749808"/>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repeats across at least two participants</a:t>
            </a:r>
            <a:endParaRPr lang="en-US" sz="950" dirty="0"/>
          </a:p>
        </p:txBody>
      </p:sp>
      <p:sp>
        <p:nvSpPr>
          <p:cNvPr id="45" name="Text 43"/>
          <p:cNvSpPr txBox="1"/>
          <p:nvPr/>
        </p:nvSpPr>
        <p:spPr>
          <a:xfrm>
            <a:off x="8311896" y="3703320"/>
            <a:ext cx="3108960" cy="274320"/>
          </a:xfrm>
          <a:prstGeom prst="rect">
            <a:avLst/>
          </a:prstGeom>
          <a:noFill/>
          <a:ln/>
        </p:spPr>
        <p:txBody>
          <a:bodyPr wrap="square" lIns="0" tIns="0" rIns="0" bIns="0" rtlCol="0" anchor="t"/>
          <a:lstStyle/>
          <a:p>
            <a:pPr algn="ctr" indent="0" marL="0">
              <a:buNone/>
            </a:pPr>
            <a:r>
              <a:rPr lang="en-US" sz="1300" dirty="0">
                <a:solidFill>
                  <a:srgbClr val="B7C6BD"/>
                </a:solidFill>
                <a:latin typeface="Calibri" pitchFamily="34" charset="0"/>
                <a:ea typeface="Calibri" pitchFamily="34" charset="-122"/>
                <a:cs typeface="Calibri" pitchFamily="34" charset="-120"/>
              </a:rPr>
              <a:t>▼</a:t>
            </a:r>
            <a:endParaRPr lang="en-US" sz="1300" dirty="0"/>
          </a:p>
        </p:txBody>
      </p:sp>
      <p:sp>
        <p:nvSpPr>
          <p:cNvPr id="46" name="Text 44"/>
          <p:cNvSpPr txBox="1"/>
          <p:nvPr/>
        </p:nvSpPr>
        <p:spPr>
          <a:xfrm>
            <a:off x="8311896" y="400507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INSIGHT</a:t>
            </a:r>
            <a:endParaRPr lang="en-US" sz="1000" dirty="0"/>
          </a:p>
        </p:txBody>
      </p:sp>
      <p:sp>
        <p:nvSpPr>
          <p:cNvPr id="47" name="Shape 45"/>
          <p:cNvSpPr/>
          <p:nvPr/>
        </p:nvSpPr>
        <p:spPr>
          <a:xfrm>
            <a:off x="8311896" y="4206240"/>
            <a:ext cx="3108960" cy="914400"/>
          </a:xfrm>
          <a:prstGeom prst="roundRect">
            <a:avLst>
              <a:gd name="adj" fmla="val 6000"/>
            </a:avLst>
          </a:prstGeom>
          <a:solidFill>
            <a:srgbClr val="FDF0DC"/>
          </a:solidFill>
          <a:ln w="12700">
            <a:solidFill>
              <a:srgbClr val="EE8100"/>
            </a:solidFill>
            <a:prstDash val="dash"/>
          </a:ln>
        </p:spPr>
      </p:sp>
      <p:sp>
        <p:nvSpPr>
          <p:cNvPr id="48" name="Text 46"/>
          <p:cNvSpPr txBox="1"/>
          <p:nvPr/>
        </p:nvSpPr>
        <p:spPr>
          <a:xfrm>
            <a:off x="8421624" y="4242816"/>
            <a:ext cx="2889504" cy="841248"/>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the deeper truth: the tension, motivation or consequence underneath</a:t>
            </a:r>
            <a:endParaRPr lang="en-US" sz="950" dirty="0"/>
          </a:p>
        </p:txBody>
      </p:sp>
      <p:sp>
        <p:nvSpPr>
          <p:cNvPr id="49" name="Text 47"/>
          <p:cNvSpPr txBox="1"/>
          <p:nvPr/>
        </p:nvSpPr>
        <p:spPr>
          <a:xfrm>
            <a:off x="8311896" y="5193792"/>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EVIDENCE FROM</a:t>
            </a:r>
            <a:endParaRPr lang="en-US" sz="1000" dirty="0"/>
          </a:p>
        </p:txBody>
      </p:sp>
      <p:sp>
        <p:nvSpPr>
          <p:cNvPr id="50" name="Shape 48"/>
          <p:cNvSpPr/>
          <p:nvPr/>
        </p:nvSpPr>
        <p:spPr>
          <a:xfrm>
            <a:off x="8311896" y="5376672"/>
            <a:ext cx="3108960" cy="365760"/>
          </a:xfrm>
          <a:prstGeom prst="roundRect">
            <a:avLst>
              <a:gd name="adj" fmla="val 15000"/>
            </a:avLst>
          </a:prstGeom>
          <a:solidFill>
            <a:srgbClr val="FDF0DC"/>
          </a:solidFill>
          <a:ln w="12700">
            <a:solidFill>
              <a:srgbClr val="EE8100"/>
            </a:solidFill>
            <a:prstDash val="dash"/>
          </a:ln>
        </p:spPr>
      </p:sp>
      <p:sp>
        <p:nvSpPr>
          <p:cNvPr id="51" name="Text 49"/>
          <p:cNvSpPr txBox="1"/>
          <p:nvPr/>
        </p:nvSpPr>
        <p:spPr>
          <a:xfrm>
            <a:off x="8421624" y="5413248"/>
            <a:ext cx="2889504" cy="292608"/>
          </a:xfrm>
          <a:prstGeom prst="rect">
            <a:avLst/>
          </a:prstGeom>
          <a:noFill/>
          <a:ln/>
        </p:spPr>
        <p:txBody>
          <a:bodyPr wrap="square" lIns="0" tIns="0" rIns="0" bIns="0" rtlCol="0" anchor="ctr"/>
          <a:lstStyle/>
          <a:p>
            <a:pPr algn="ctr" indent="0" marL="0">
              <a:buNone/>
            </a:pPr>
            <a:r>
              <a:rPr lang="en-US" sz="900" i="1" dirty="0">
                <a:solidFill>
                  <a:srgbClr val="A85A00"/>
                </a:solidFill>
                <a:latin typeface="Calibri" pitchFamily="34" charset="0"/>
                <a:ea typeface="Calibri" pitchFamily="34" charset="-122"/>
                <a:cs typeface="Calibri" pitchFamily="34" charset="-120"/>
              </a:rPr>
              <a:t>INSERT  P0_, P0_…</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3 · RESEARCH TO PERSONA &amp; JOURNEY MAP · STEP 4</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The persona, built only from evidence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Quality check: every line below must trace to a participant ID. If it can’t, cut it — no invented demographics, hobbies or preferences.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4 / 6</a:t>
            </a:r>
            <a:endParaRPr lang="en-US" sz="900" dirty="0"/>
          </a:p>
        </p:txBody>
      </p:sp>
      <p:sp>
        <p:nvSpPr>
          <p:cNvPr id="12" name="Shape 10"/>
          <p:cNvSpPr/>
          <p:nvPr/>
        </p:nvSpPr>
        <p:spPr>
          <a:xfrm>
            <a:off x="548640" y="1508760"/>
            <a:ext cx="11091672" cy="548640"/>
          </a:xfrm>
          <a:prstGeom prst="roundRect">
            <a:avLst>
              <a:gd name="adj" fmla="val 10000"/>
            </a:avLst>
          </a:prstGeom>
          <a:solidFill>
            <a:srgbClr val="154B36"/>
          </a:solidFill>
          <a:ln/>
        </p:spPr>
      </p:sp>
      <p:sp>
        <p:nvSpPr>
          <p:cNvPr id="13" name="Text 11"/>
          <p:cNvSpPr txBox="1"/>
          <p:nvPr/>
        </p:nvSpPr>
        <p:spPr>
          <a:xfrm>
            <a:off x="777240" y="1508760"/>
            <a:ext cx="106070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Persona:  </a:t>
            </a:r>
            <a:pPr indent="0" marL="0">
              <a:buNone/>
            </a:pPr>
            <a:r>
              <a:rPr lang="en-US" sz="1150" i="1" dirty="0">
                <a:solidFill>
                  <a:srgbClr val="FFE2B0"/>
                </a:solidFill>
                <a:latin typeface="Calibri" pitchFamily="34" charset="0"/>
                <a:ea typeface="Calibri" pitchFamily="34" charset="-122"/>
                <a:cs typeface="Calibri" pitchFamily="34" charset="-120"/>
              </a:rPr>
              <a:t>[name or alias — only if evidence supports one]   </a:t>
            </a:r>
            <a:pPr indent="0" marL="0">
              <a:buNone/>
            </a:pPr>
            <a:r>
              <a:rPr lang="en-US" sz="1150" dirty="0">
                <a:solidFill>
                  <a:srgbClr val="C9D5CE"/>
                </a:solidFill>
                <a:latin typeface="Calibri" pitchFamily="34" charset="0"/>
                <a:ea typeface="Calibri" pitchFamily="34" charset="-122"/>
                <a:cs typeface="Calibri" pitchFamily="34" charset="-120"/>
              </a:rPr>
              <a:t>Segment A — condition manager (confirm against evidence)    </a:t>
            </a:r>
            <a:pPr indent="0" marL="0">
              <a:buNone/>
            </a:pPr>
            <a:r>
              <a:rPr lang="en-US" sz="1150" b="1" dirty="0">
                <a:solidFill>
                  <a:srgbClr val="F5A623"/>
                </a:solidFill>
                <a:latin typeface="Calibri" pitchFamily="34" charset="0"/>
                <a:ea typeface="Calibri" pitchFamily="34" charset="-122"/>
                <a:cs typeface="Calibri" pitchFamily="34" charset="-120"/>
              </a:rPr>
              <a:t>Represents  _ / 3  interviews</a:t>
            </a:r>
            <a:endParaRPr lang="en-US" sz="1150" dirty="0"/>
          </a:p>
        </p:txBody>
      </p:sp>
      <p:sp>
        <p:nvSpPr>
          <p:cNvPr id="14" name="Text 12"/>
          <p:cNvSpPr txBox="1"/>
          <p:nvPr/>
        </p:nvSpPr>
        <p:spPr>
          <a:xfrm>
            <a:off x="548640" y="2240280"/>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Who they are</a:t>
            </a:r>
            <a:endParaRPr lang="en-US" sz="1050" dirty="0"/>
          </a:p>
        </p:txBody>
      </p:sp>
      <p:sp>
        <p:nvSpPr>
          <p:cNvPr id="15" name="Shape 13"/>
          <p:cNvSpPr/>
          <p:nvPr/>
        </p:nvSpPr>
        <p:spPr>
          <a:xfrm>
            <a:off x="2103120" y="2240280"/>
            <a:ext cx="3899916" cy="704088"/>
          </a:xfrm>
          <a:prstGeom prst="roundRect">
            <a:avLst>
              <a:gd name="adj" fmla="val 7792"/>
            </a:avLst>
          </a:prstGeom>
          <a:solidFill>
            <a:srgbClr val="FDF0DC"/>
          </a:solidFill>
          <a:ln w="12700">
            <a:solidFill>
              <a:srgbClr val="EE8100"/>
            </a:solidFill>
            <a:prstDash val="dash"/>
          </a:ln>
        </p:spPr>
      </p:sp>
      <p:sp>
        <p:nvSpPr>
          <p:cNvPr id="16" name="Text 14"/>
          <p:cNvSpPr txBox="1"/>
          <p:nvPr/>
        </p:nvSpPr>
        <p:spPr>
          <a:xfrm>
            <a:off x="2212848" y="2276856"/>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only context that matters to the problem — no invented demographics</a:t>
            </a:r>
            <a:endParaRPr lang="en-US" sz="950" dirty="0"/>
          </a:p>
        </p:txBody>
      </p:sp>
      <p:sp>
        <p:nvSpPr>
          <p:cNvPr id="17" name="Text 15"/>
          <p:cNvSpPr txBox="1"/>
          <p:nvPr/>
        </p:nvSpPr>
        <p:spPr>
          <a:xfrm>
            <a:off x="548640" y="2999232"/>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Primary goal</a:t>
            </a:r>
            <a:endParaRPr lang="en-US" sz="1050" dirty="0"/>
          </a:p>
        </p:txBody>
      </p:sp>
      <p:sp>
        <p:nvSpPr>
          <p:cNvPr id="18" name="Shape 16"/>
          <p:cNvSpPr/>
          <p:nvPr/>
        </p:nvSpPr>
        <p:spPr>
          <a:xfrm>
            <a:off x="2103120" y="2999232"/>
            <a:ext cx="3899916" cy="704088"/>
          </a:xfrm>
          <a:prstGeom prst="roundRect">
            <a:avLst>
              <a:gd name="adj" fmla="val 7792"/>
            </a:avLst>
          </a:prstGeom>
          <a:solidFill>
            <a:srgbClr val="FDF0DC"/>
          </a:solidFill>
          <a:ln w="12700">
            <a:solidFill>
              <a:srgbClr val="EE8100"/>
            </a:solidFill>
            <a:prstDash val="dash"/>
          </a:ln>
        </p:spPr>
      </p:sp>
      <p:sp>
        <p:nvSpPr>
          <p:cNvPr id="19" name="Text 17"/>
          <p:cNvSpPr txBox="1"/>
          <p:nvPr/>
        </p:nvSpPr>
        <p:spPr>
          <a:xfrm>
            <a:off x="2212848" y="3035808"/>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they are trying to achieve</a:t>
            </a:r>
            <a:endParaRPr lang="en-US" sz="950" dirty="0"/>
          </a:p>
        </p:txBody>
      </p:sp>
      <p:sp>
        <p:nvSpPr>
          <p:cNvPr id="20" name="Text 18"/>
          <p:cNvSpPr txBox="1"/>
          <p:nvPr/>
        </p:nvSpPr>
        <p:spPr>
          <a:xfrm>
            <a:off x="548640" y="3758184"/>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Key behaviours</a:t>
            </a:r>
            <a:endParaRPr lang="en-US" sz="1050" dirty="0"/>
          </a:p>
        </p:txBody>
      </p:sp>
      <p:sp>
        <p:nvSpPr>
          <p:cNvPr id="21" name="Shape 19"/>
          <p:cNvSpPr/>
          <p:nvPr/>
        </p:nvSpPr>
        <p:spPr>
          <a:xfrm>
            <a:off x="2103120" y="3758184"/>
            <a:ext cx="3899916" cy="704088"/>
          </a:xfrm>
          <a:prstGeom prst="roundRect">
            <a:avLst>
              <a:gd name="adj" fmla="val 7792"/>
            </a:avLst>
          </a:prstGeom>
          <a:solidFill>
            <a:srgbClr val="FDF0DC"/>
          </a:solidFill>
          <a:ln w="12700">
            <a:solidFill>
              <a:srgbClr val="EE8100"/>
            </a:solidFill>
            <a:prstDash val="dash"/>
          </a:ln>
        </p:spPr>
      </p:sp>
      <p:sp>
        <p:nvSpPr>
          <p:cNvPr id="22" name="Text 20"/>
          <p:cNvSpPr txBox="1"/>
          <p:nvPr/>
        </p:nvSpPr>
        <p:spPr>
          <a:xfrm>
            <a:off x="2212848" y="3794760"/>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they actually do today</a:t>
            </a:r>
            <a:endParaRPr lang="en-US" sz="950" dirty="0"/>
          </a:p>
        </p:txBody>
      </p:sp>
      <p:sp>
        <p:nvSpPr>
          <p:cNvPr id="23" name="Text 21"/>
          <p:cNvSpPr txBox="1"/>
          <p:nvPr/>
        </p:nvSpPr>
        <p:spPr>
          <a:xfrm>
            <a:off x="548640" y="4517136"/>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Needs</a:t>
            </a:r>
            <a:endParaRPr lang="en-US" sz="1050" dirty="0"/>
          </a:p>
        </p:txBody>
      </p:sp>
      <p:sp>
        <p:nvSpPr>
          <p:cNvPr id="24" name="Shape 22"/>
          <p:cNvSpPr/>
          <p:nvPr/>
        </p:nvSpPr>
        <p:spPr>
          <a:xfrm>
            <a:off x="2103120" y="4517136"/>
            <a:ext cx="3899916" cy="704088"/>
          </a:xfrm>
          <a:prstGeom prst="roundRect">
            <a:avLst>
              <a:gd name="adj" fmla="val 7792"/>
            </a:avLst>
          </a:prstGeom>
          <a:solidFill>
            <a:srgbClr val="FDF0DC"/>
          </a:solidFill>
          <a:ln w="12700">
            <a:solidFill>
              <a:srgbClr val="EE8100"/>
            </a:solidFill>
            <a:prstDash val="dash"/>
          </a:ln>
        </p:spPr>
      </p:sp>
      <p:sp>
        <p:nvSpPr>
          <p:cNvPr id="25" name="Text 23"/>
          <p:cNvSpPr txBox="1"/>
          <p:nvPr/>
        </p:nvSpPr>
        <p:spPr>
          <a:xfrm>
            <a:off x="2212848" y="4553712"/>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is not being met today</a:t>
            </a:r>
            <a:endParaRPr lang="en-US" sz="950" dirty="0"/>
          </a:p>
        </p:txBody>
      </p:sp>
      <p:sp>
        <p:nvSpPr>
          <p:cNvPr id="26" name="Text 24"/>
          <p:cNvSpPr txBox="1"/>
          <p:nvPr/>
        </p:nvSpPr>
        <p:spPr>
          <a:xfrm>
            <a:off x="548640" y="5276088"/>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Pain points</a:t>
            </a:r>
            <a:endParaRPr lang="en-US" sz="1050" dirty="0"/>
          </a:p>
        </p:txBody>
      </p:sp>
      <p:sp>
        <p:nvSpPr>
          <p:cNvPr id="27" name="Shape 25"/>
          <p:cNvSpPr/>
          <p:nvPr/>
        </p:nvSpPr>
        <p:spPr>
          <a:xfrm>
            <a:off x="2103120" y="5276088"/>
            <a:ext cx="3899916" cy="704088"/>
          </a:xfrm>
          <a:prstGeom prst="roundRect">
            <a:avLst>
              <a:gd name="adj" fmla="val 7792"/>
            </a:avLst>
          </a:prstGeom>
          <a:solidFill>
            <a:srgbClr val="FDF0DC"/>
          </a:solidFill>
          <a:ln w="12700">
            <a:solidFill>
              <a:srgbClr val="EE8100"/>
            </a:solidFill>
            <a:prstDash val="dash"/>
          </a:ln>
        </p:spPr>
      </p:sp>
      <p:sp>
        <p:nvSpPr>
          <p:cNvPr id="28" name="Text 26"/>
          <p:cNvSpPr txBox="1"/>
          <p:nvPr/>
        </p:nvSpPr>
        <p:spPr>
          <a:xfrm>
            <a:off x="2212848" y="5312664"/>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repeatedly creates difficulty</a:t>
            </a:r>
            <a:endParaRPr lang="en-US" sz="950" dirty="0"/>
          </a:p>
        </p:txBody>
      </p:sp>
      <p:sp>
        <p:nvSpPr>
          <p:cNvPr id="29" name="Text 27"/>
          <p:cNvSpPr txBox="1"/>
          <p:nvPr/>
        </p:nvSpPr>
        <p:spPr>
          <a:xfrm>
            <a:off x="6185916" y="2240280"/>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Current alternatives</a:t>
            </a:r>
            <a:endParaRPr lang="en-US" sz="1050" dirty="0"/>
          </a:p>
        </p:txBody>
      </p:sp>
      <p:sp>
        <p:nvSpPr>
          <p:cNvPr id="30" name="Shape 28"/>
          <p:cNvSpPr/>
          <p:nvPr/>
        </p:nvSpPr>
        <p:spPr>
          <a:xfrm>
            <a:off x="7740396" y="2240280"/>
            <a:ext cx="3899916" cy="704088"/>
          </a:xfrm>
          <a:prstGeom prst="roundRect">
            <a:avLst>
              <a:gd name="adj" fmla="val 7792"/>
            </a:avLst>
          </a:prstGeom>
          <a:solidFill>
            <a:srgbClr val="FDF0DC"/>
          </a:solidFill>
          <a:ln w="12700">
            <a:solidFill>
              <a:srgbClr val="EE8100"/>
            </a:solidFill>
            <a:prstDash val="dash"/>
          </a:ln>
        </p:spPr>
      </p:sp>
      <p:sp>
        <p:nvSpPr>
          <p:cNvPr id="31" name="Text 29"/>
          <p:cNvSpPr txBox="1"/>
          <p:nvPr/>
        </p:nvSpPr>
        <p:spPr>
          <a:xfrm>
            <a:off x="7850124" y="2276856"/>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how they manage the problem today</a:t>
            </a:r>
            <a:endParaRPr lang="en-US" sz="950" dirty="0"/>
          </a:p>
        </p:txBody>
      </p:sp>
      <p:sp>
        <p:nvSpPr>
          <p:cNvPr id="32" name="Text 30"/>
          <p:cNvSpPr txBox="1"/>
          <p:nvPr/>
        </p:nvSpPr>
        <p:spPr>
          <a:xfrm>
            <a:off x="6185916" y="2999232"/>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Motivations</a:t>
            </a:r>
            <a:endParaRPr lang="en-US" sz="1050" dirty="0"/>
          </a:p>
        </p:txBody>
      </p:sp>
      <p:sp>
        <p:nvSpPr>
          <p:cNvPr id="33" name="Shape 31"/>
          <p:cNvSpPr/>
          <p:nvPr/>
        </p:nvSpPr>
        <p:spPr>
          <a:xfrm>
            <a:off x="7740396" y="2999232"/>
            <a:ext cx="3899916" cy="704088"/>
          </a:xfrm>
          <a:prstGeom prst="roundRect">
            <a:avLst>
              <a:gd name="adj" fmla="val 7792"/>
            </a:avLst>
          </a:prstGeom>
          <a:solidFill>
            <a:srgbClr val="FDF0DC"/>
          </a:solidFill>
          <a:ln w="12700">
            <a:solidFill>
              <a:srgbClr val="EE8100"/>
            </a:solidFill>
            <a:prstDash val="dash"/>
          </a:ln>
        </p:spPr>
      </p:sp>
      <p:sp>
        <p:nvSpPr>
          <p:cNvPr id="34" name="Text 32"/>
          <p:cNvSpPr txBox="1"/>
          <p:nvPr/>
        </p:nvSpPr>
        <p:spPr>
          <a:xfrm>
            <a:off x="7850124" y="3035808"/>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drives their decisions</a:t>
            </a:r>
            <a:endParaRPr lang="en-US" sz="950" dirty="0"/>
          </a:p>
        </p:txBody>
      </p:sp>
      <p:sp>
        <p:nvSpPr>
          <p:cNvPr id="35" name="Text 33"/>
          <p:cNvSpPr txBox="1"/>
          <p:nvPr/>
        </p:nvSpPr>
        <p:spPr>
          <a:xfrm>
            <a:off x="6185916" y="3758184"/>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Constraints</a:t>
            </a:r>
            <a:endParaRPr lang="en-US" sz="1050" dirty="0"/>
          </a:p>
        </p:txBody>
      </p:sp>
      <p:sp>
        <p:nvSpPr>
          <p:cNvPr id="36" name="Shape 34"/>
          <p:cNvSpPr/>
          <p:nvPr/>
        </p:nvSpPr>
        <p:spPr>
          <a:xfrm>
            <a:off x="7740396" y="3758184"/>
            <a:ext cx="3899916" cy="704088"/>
          </a:xfrm>
          <a:prstGeom prst="roundRect">
            <a:avLst>
              <a:gd name="adj" fmla="val 7792"/>
            </a:avLst>
          </a:prstGeom>
          <a:solidFill>
            <a:srgbClr val="FDF0DC"/>
          </a:solidFill>
          <a:ln w="12700">
            <a:solidFill>
              <a:srgbClr val="EE8100"/>
            </a:solidFill>
            <a:prstDash val="dash"/>
          </a:ln>
        </p:spPr>
      </p:sp>
      <p:sp>
        <p:nvSpPr>
          <p:cNvPr id="37" name="Text 35"/>
          <p:cNvSpPr txBox="1"/>
          <p:nvPr/>
        </p:nvSpPr>
        <p:spPr>
          <a:xfrm>
            <a:off x="7850124" y="3794760"/>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what limits their choices</a:t>
            </a:r>
            <a:endParaRPr lang="en-US" sz="950" dirty="0"/>
          </a:p>
        </p:txBody>
      </p:sp>
      <p:sp>
        <p:nvSpPr>
          <p:cNvPr id="38" name="Text 36"/>
          <p:cNvSpPr txBox="1"/>
          <p:nvPr/>
        </p:nvSpPr>
        <p:spPr>
          <a:xfrm>
            <a:off x="6185916" y="4517136"/>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Representative quote</a:t>
            </a:r>
            <a:endParaRPr lang="en-US" sz="1050" dirty="0"/>
          </a:p>
        </p:txBody>
      </p:sp>
      <p:sp>
        <p:nvSpPr>
          <p:cNvPr id="39" name="Shape 37"/>
          <p:cNvSpPr/>
          <p:nvPr/>
        </p:nvSpPr>
        <p:spPr>
          <a:xfrm>
            <a:off x="7740396" y="4517136"/>
            <a:ext cx="3899916" cy="704088"/>
          </a:xfrm>
          <a:prstGeom prst="roundRect">
            <a:avLst>
              <a:gd name="adj" fmla="val 7792"/>
            </a:avLst>
          </a:prstGeom>
          <a:solidFill>
            <a:srgbClr val="FDF0DC"/>
          </a:solidFill>
          <a:ln w="12700">
            <a:solidFill>
              <a:srgbClr val="EE8100"/>
            </a:solidFill>
            <a:prstDash val="dash"/>
          </a:ln>
        </p:spPr>
      </p:sp>
      <p:sp>
        <p:nvSpPr>
          <p:cNvPr id="40" name="Text 38"/>
          <p:cNvSpPr txBox="1"/>
          <p:nvPr/>
        </p:nvSpPr>
        <p:spPr>
          <a:xfrm>
            <a:off x="7850124" y="4553712"/>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a real, anonymised quote (P0_)</a:t>
            </a:r>
            <a:endParaRPr lang="en-US" sz="950" dirty="0"/>
          </a:p>
        </p:txBody>
      </p:sp>
      <p:sp>
        <p:nvSpPr>
          <p:cNvPr id="41" name="Text 39"/>
          <p:cNvSpPr txBox="1"/>
          <p:nvPr/>
        </p:nvSpPr>
        <p:spPr>
          <a:xfrm>
            <a:off x="6185916" y="5276088"/>
            <a:ext cx="1463040" cy="704088"/>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Key insight</a:t>
            </a:r>
            <a:endParaRPr lang="en-US" sz="1050" dirty="0"/>
          </a:p>
        </p:txBody>
      </p:sp>
      <p:sp>
        <p:nvSpPr>
          <p:cNvPr id="42" name="Shape 40"/>
          <p:cNvSpPr/>
          <p:nvPr/>
        </p:nvSpPr>
        <p:spPr>
          <a:xfrm>
            <a:off x="7740396" y="5276088"/>
            <a:ext cx="3899916" cy="704088"/>
          </a:xfrm>
          <a:prstGeom prst="roundRect">
            <a:avLst>
              <a:gd name="adj" fmla="val 7792"/>
            </a:avLst>
          </a:prstGeom>
          <a:solidFill>
            <a:srgbClr val="FDF0DC"/>
          </a:solidFill>
          <a:ln w="12700">
            <a:solidFill>
              <a:srgbClr val="EE8100"/>
            </a:solidFill>
            <a:prstDash val="dash"/>
          </a:ln>
        </p:spPr>
      </p:sp>
      <p:sp>
        <p:nvSpPr>
          <p:cNvPr id="43" name="Text 41"/>
          <p:cNvSpPr txBox="1"/>
          <p:nvPr/>
        </p:nvSpPr>
        <p:spPr>
          <a:xfrm>
            <a:off x="7850124" y="5312664"/>
            <a:ext cx="3680460" cy="630936"/>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the single most important evidence-backed truth for the venture team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3 · RESEARCH TO PERSONA &amp; JOURNEY MAP · STEP 5</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How Segment A experiences the problem today — before this tool exists</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This maps today’s experience, not the proposed product: no app screens, no accounts, no badges — only what the persona currently does, thinks and feels.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5 / 6</a:t>
            </a:r>
            <a:endParaRPr lang="en-US" sz="900" dirty="0"/>
          </a:p>
        </p:txBody>
      </p:sp>
      <p:sp>
        <p:nvSpPr>
          <p:cNvPr id="12" name="Shape 10"/>
          <p:cNvSpPr/>
          <p:nvPr/>
        </p:nvSpPr>
        <p:spPr>
          <a:xfrm>
            <a:off x="548640" y="1508760"/>
            <a:ext cx="2130552" cy="4507992"/>
          </a:xfrm>
          <a:prstGeom prst="roundRect">
            <a:avLst>
              <a:gd name="adj" fmla="val 3004"/>
            </a:avLst>
          </a:prstGeom>
          <a:solidFill>
            <a:srgbClr val="FFFFFF"/>
          </a:solidFill>
          <a:ln w="9525">
            <a:solidFill>
              <a:srgbClr val="C9D5CE"/>
            </a:solidFill>
            <a:prstDash val="solid"/>
          </a:ln>
        </p:spPr>
      </p:sp>
      <p:sp>
        <p:nvSpPr>
          <p:cNvPr id="13" name="Shape 11"/>
          <p:cNvSpPr/>
          <p:nvPr/>
        </p:nvSpPr>
        <p:spPr>
          <a:xfrm>
            <a:off x="658368" y="1618488"/>
            <a:ext cx="310896" cy="310896"/>
          </a:xfrm>
          <a:prstGeom prst="ellipse">
            <a:avLst/>
          </a:prstGeom>
          <a:solidFill>
            <a:srgbClr val="154B36"/>
          </a:solidFill>
          <a:ln/>
        </p:spPr>
      </p:sp>
      <p:sp>
        <p:nvSpPr>
          <p:cNvPr id="14" name="Text 12"/>
          <p:cNvSpPr txBox="1"/>
          <p:nvPr/>
        </p:nvSpPr>
        <p:spPr>
          <a:xfrm>
            <a:off x="658368" y="1618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5" name="Text 13"/>
          <p:cNvSpPr txBox="1"/>
          <p:nvPr/>
        </p:nvSpPr>
        <p:spPr>
          <a:xfrm>
            <a:off x="1024128" y="1581912"/>
            <a:ext cx="1581912" cy="384048"/>
          </a:xfrm>
          <a:prstGeom prst="rect">
            <a:avLst/>
          </a:prstGeom>
          <a:noFill/>
          <a:ln/>
        </p:spPr>
        <p:txBody>
          <a:bodyPr wrap="square" lIns="0" tIns="0" rIns="0" bIns="0" rtlCol="0" anchor="t"/>
          <a:lstStyle/>
          <a:p>
            <a:pPr indent="0" marL="0">
              <a:buNone/>
            </a:pPr>
            <a:r>
              <a:rPr lang="en-US" sz="1050" b="1" dirty="0">
                <a:solidFill>
                  <a:srgbClr val="154B36"/>
                </a:solidFill>
                <a:latin typeface="Cambria" pitchFamily="34" charset="0"/>
                <a:ea typeface="Cambria" pitchFamily="34" charset="-122"/>
                <a:cs typeface="Cambria" pitchFamily="34" charset="-120"/>
              </a:rPr>
              <a:t>Plan the shop</a:t>
            </a:r>
            <a:endParaRPr lang="en-US" sz="1050" dirty="0"/>
          </a:p>
        </p:txBody>
      </p:sp>
      <p:sp>
        <p:nvSpPr>
          <p:cNvPr id="16" name="Text 14"/>
          <p:cNvSpPr txBox="1"/>
          <p:nvPr/>
        </p:nvSpPr>
        <p:spPr>
          <a:xfrm>
            <a:off x="640080" y="242316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Action</a:t>
            </a:r>
            <a:endParaRPr lang="en-US" sz="730" dirty="0"/>
          </a:p>
        </p:txBody>
      </p:sp>
      <p:sp>
        <p:nvSpPr>
          <p:cNvPr id="17" name="Shape 15"/>
          <p:cNvSpPr/>
          <p:nvPr/>
        </p:nvSpPr>
        <p:spPr>
          <a:xfrm>
            <a:off x="621792" y="2578608"/>
            <a:ext cx="1984248" cy="416052"/>
          </a:xfrm>
          <a:prstGeom prst="roundRect">
            <a:avLst>
              <a:gd name="adj" fmla="val 13187"/>
            </a:avLst>
          </a:prstGeom>
          <a:solidFill>
            <a:srgbClr val="FDF0DC"/>
          </a:solidFill>
          <a:ln w="12700">
            <a:solidFill>
              <a:srgbClr val="EE8100"/>
            </a:solidFill>
            <a:prstDash val="dash"/>
          </a:ln>
        </p:spPr>
      </p:sp>
      <p:sp>
        <p:nvSpPr>
          <p:cNvPr id="18" name="Text 16"/>
          <p:cNvSpPr txBox="1"/>
          <p:nvPr/>
        </p:nvSpPr>
        <p:spPr>
          <a:xfrm>
            <a:off x="731520" y="261518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do</a:t>
            </a:r>
            <a:endParaRPr lang="en-US" sz="700" dirty="0"/>
          </a:p>
        </p:txBody>
      </p:sp>
      <p:sp>
        <p:nvSpPr>
          <p:cNvPr id="19" name="Text 17"/>
          <p:cNvSpPr txBox="1"/>
          <p:nvPr/>
        </p:nvSpPr>
        <p:spPr>
          <a:xfrm>
            <a:off x="640080" y="3022092"/>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Thought &amp; feeling</a:t>
            </a:r>
            <a:endParaRPr lang="en-US" sz="730" dirty="0"/>
          </a:p>
        </p:txBody>
      </p:sp>
      <p:sp>
        <p:nvSpPr>
          <p:cNvPr id="20" name="Shape 18"/>
          <p:cNvSpPr/>
          <p:nvPr/>
        </p:nvSpPr>
        <p:spPr>
          <a:xfrm>
            <a:off x="621792" y="3177540"/>
            <a:ext cx="1984248" cy="416052"/>
          </a:xfrm>
          <a:prstGeom prst="roundRect">
            <a:avLst>
              <a:gd name="adj" fmla="val 13187"/>
            </a:avLst>
          </a:prstGeom>
          <a:solidFill>
            <a:srgbClr val="FDF0DC"/>
          </a:solidFill>
          <a:ln w="12700">
            <a:solidFill>
              <a:srgbClr val="EE8100"/>
            </a:solidFill>
            <a:prstDash val="dash"/>
          </a:ln>
        </p:spPr>
      </p:sp>
      <p:sp>
        <p:nvSpPr>
          <p:cNvPr id="21" name="Text 19"/>
          <p:cNvSpPr txBox="1"/>
          <p:nvPr/>
        </p:nvSpPr>
        <p:spPr>
          <a:xfrm>
            <a:off x="731520" y="3214116"/>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think and feel</a:t>
            </a:r>
            <a:endParaRPr lang="en-US" sz="700" dirty="0"/>
          </a:p>
        </p:txBody>
      </p:sp>
      <p:sp>
        <p:nvSpPr>
          <p:cNvPr id="22" name="Text 20"/>
          <p:cNvSpPr txBox="1"/>
          <p:nvPr/>
        </p:nvSpPr>
        <p:spPr>
          <a:xfrm>
            <a:off x="640080" y="3621024"/>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Touchpoint</a:t>
            </a:r>
            <a:endParaRPr lang="en-US" sz="730" dirty="0"/>
          </a:p>
        </p:txBody>
      </p:sp>
      <p:sp>
        <p:nvSpPr>
          <p:cNvPr id="23" name="Shape 21"/>
          <p:cNvSpPr/>
          <p:nvPr/>
        </p:nvSpPr>
        <p:spPr>
          <a:xfrm>
            <a:off x="621792" y="3776472"/>
            <a:ext cx="1984248" cy="416052"/>
          </a:xfrm>
          <a:prstGeom prst="roundRect">
            <a:avLst>
              <a:gd name="adj" fmla="val 13187"/>
            </a:avLst>
          </a:prstGeom>
          <a:solidFill>
            <a:srgbClr val="FDF0DC"/>
          </a:solidFill>
          <a:ln w="12700">
            <a:solidFill>
              <a:srgbClr val="EE8100"/>
            </a:solidFill>
            <a:prstDash val="dash"/>
          </a:ln>
        </p:spPr>
      </p:sp>
      <p:sp>
        <p:nvSpPr>
          <p:cNvPr id="24" name="Text 22"/>
          <p:cNvSpPr txBox="1"/>
          <p:nvPr/>
        </p:nvSpPr>
        <p:spPr>
          <a:xfrm>
            <a:off x="731520" y="3813048"/>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who or what they interact with</a:t>
            </a:r>
            <a:endParaRPr lang="en-US" sz="700" dirty="0"/>
          </a:p>
        </p:txBody>
      </p:sp>
      <p:sp>
        <p:nvSpPr>
          <p:cNvPr id="25" name="Text 23"/>
          <p:cNvSpPr txBox="1"/>
          <p:nvPr/>
        </p:nvSpPr>
        <p:spPr>
          <a:xfrm>
            <a:off x="640080" y="4219956"/>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Pain point &amp; workaround</a:t>
            </a:r>
            <a:endParaRPr lang="en-US" sz="730" dirty="0"/>
          </a:p>
        </p:txBody>
      </p:sp>
      <p:sp>
        <p:nvSpPr>
          <p:cNvPr id="26" name="Shape 24"/>
          <p:cNvSpPr/>
          <p:nvPr/>
        </p:nvSpPr>
        <p:spPr>
          <a:xfrm>
            <a:off x="621792" y="4375404"/>
            <a:ext cx="1984248" cy="416052"/>
          </a:xfrm>
          <a:prstGeom prst="roundRect">
            <a:avLst>
              <a:gd name="adj" fmla="val 13187"/>
            </a:avLst>
          </a:prstGeom>
          <a:solidFill>
            <a:srgbClr val="FDF0DC"/>
          </a:solidFill>
          <a:ln w="12700">
            <a:solidFill>
              <a:srgbClr val="EE8100"/>
            </a:solidFill>
            <a:prstDash val="dash"/>
          </a:ln>
        </p:spPr>
      </p:sp>
      <p:sp>
        <p:nvSpPr>
          <p:cNvPr id="27" name="Text 25"/>
          <p:cNvSpPr txBox="1"/>
          <p:nvPr/>
        </p:nvSpPr>
        <p:spPr>
          <a:xfrm>
            <a:off x="731520" y="4411980"/>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the friction, and what they do instead</a:t>
            </a:r>
            <a:endParaRPr lang="en-US" sz="700" dirty="0"/>
          </a:p>
        </p:txBody>
      </p:sp>
      <p:sp>
        <p:nvSpPr>
          <p:cNvPr id="28" name="Text 26"/>
          <p:cNvSpPr txBox="1"/>
          <p:nvPr/>
        </p:nvSpPr>
        <p:spPr>
          <a:xfrm>
            <a:off x="640080" y="4818888"/>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Evidence</a:t>
            </a:r>
            <a:endParaRPr lang="en-US" sz="730" dirty="0"/>
          </a:p>
        </p:txBody>
      </p:sp>
      <p:sp>
        <p:nvSpPr>
          <p:cNvPr id="29" name="Shape 27"/>
          <p:cNvSpPr/>
          <p:nvPr/>
        </p:nvSpPr>
        <p:spPr>
          <a:xfrm>
            <a:off x="621792" y="4974336"/>
            <a:ext cx="1984248" cy="416052"/>
          </a:xfrm>
          <a:prstGeom prst="roundRect">
            <a:avLst>
              <a:gd name="adj" fmla="val 13187"/>
            </a:avLst>
          </a:prstGeom>
          <a:solidFill>
            <a:srgbClr val="FDF0DC"/>
          </a:solidFill>
          <a:ln w="12700">
            <a:solidFill>
              <a:srgbClr val="EE8100"/>
            </a:solidFill>
            <a:prstDash val="dash"/>
          </a:ln>
        </p:spPr>
      </p:sp>
      <p:sp>
        <p:nvSpPr>
          <p:cNvPr id="30" name="Text 28"/>
          <p:cNvSpPr txBox="1"/>
          <p:nvPr/>
        </p:nvSpPr>
        <p:spPr>
          <a:xfrm>
            <a:off x="731520" y="5010912"/>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P0_ / OBS-1</a:t>
            </a:r>
            <a:endParaRPr lang="en-US" sz="700" dirty="0"/>
          </a:p>
        </p:txBody>
      </p:sp>
      <p:sp>
        <p:nvSpPr>
          <p:cNvPr id="31" name="Text 29"/>
          <p:cNvSpPr txBox="1"/>
          <p:nvPr/>
        </p:nvSpPr>
        <p:spPr>
          <a:xfrm>
            <a:off x="640080" y="541782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Opportunity</a:t>
            </a:r>
            <a:endParaRPr lang="en-US" sz="730" dirty="0"/>
          </a:p>
        </p:txBody>
      </p:sp>
      <p:sp>
        <p:nvSpPr>
          <p:cNvPr id="32" name="Shape 30"/>
          <p:cNvSpPr/>
          <p:nvPr/>
        </p:nvSpPr>
        <p:spPr>
          <a:xfrm>
            <a:off x="621792" y="5573268"/>
            <a:ext cx="1984248" cy="416052"/>
          </a:xfrm>
          <a:prstGeom prst="roundRect">
            <a:avLst>
              <a:gd name="adj" fmla="val 13187"/>
            </a:avLst>
          </a:prstGeom>
          <a:solidFill>
            <a:srgbClr val="FDF0DC"/>
          </a:solidFill>
          <a:ln w="12700">
            <a:solidFill>
              <a:srgbClr val="EE8100"/>
            </a:solidFill>
            <a:prstDash val="dash"/>
          </a:ln>
        </p:spPr>
      </p:sp>
      <p:sp>
        <p:nvSpPr>
          <p:cNvPr id="33" name="Text 31"/>
          <p:cNvSpPr txBox="1"/>
          <p:nvPr/>
        </p:nvSpPr>
        <p:spPr>
          <a:xfrm>
            <a:off x="731520" y="560984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might improve here</a:t>
            </a:r>
            <a:endParaRPr lang="en-US" sz="700" dirty="0"/>
          </a:p>
        </p:txBody>
      </p:sp>
      <p:sp>
        <p:nvSpPr>
          <p:cNvPr id="34" name="Shape 32"/>
          <p:cNvSpPr/>
          <p:nvPr/>
        </p:nvSpPr>
        <p:spPr>
          <a:xfrm>
            <a:off x="2788920" y="1508760"/>
            <a:ext cx="2130552" cy="4507992"/>
          </a:xfrm>
          <a:prstGeom prst="roundRect">
            <a:avLst>
              <a:gd name="adj" fmla="val 3004"/>
            </a:avLst>
          </a:prstGeom>
          <a:solidFill>
            <a:srgbClr val="FFFFFF"/>
          </a:solidFill>
          <a:ln w="9525">
            <a:solidFill>
              <a:srgbClr val="C9D5CE"/>
            </a:solidFill>
            <a:prstDash val="solid"/>
          </a:ln>
        </p:spPr>
      </p:sp>
      <p:sp>
        <p:nvSpPr>
          <p:cNvPr id="35" name="Shape 33"/>
          <p:cNvSpPr/>
          <p:nvPr/>
        </p:nvSpPr>
        <p:spPr>
          <a:xfrm>
            <a:off x="2898648" y="1618488"/>
            <a:ext cx="310896" cy="310896"/>
          </a:xfrm>
          <a:prstGeom prst="ellipse">
            <a:avLst/>
          </a:prstGeom>
          <a:solidFill>
            <a:srgbClr val="154B36"/>
          </a:solidFill>
          <a:ln/>
        </p:spPr>
      </p:sp>
      <p:sp>
        <p:nvSpPr>
          <p:cNvPr id="36" name="Text 34"/>
          <p:cNvSpPr txBox="1"/>
          <p:nvPr/>
        </p:nvSpPr>
        <p:spPr>
          <a:xfrm>
            <a:off x="2898648" y="1618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37" name="Text 35"/>
          <p:cNvSpPr txBox="1"/>
          <p:nvPr/>
        </p:nvSpPr>
        <p:spPr>
          <a:xfrm>
            <a:off x="3264408" y="1581912"/>
            <a:ext cx="1581912" cy="384048"/>
          </a:xfrm>
          <a:prstGeom prst="rect">
            <a:avLst/>
          </a:prstGeom>
          <a:noFill/>
          <a:ln/>
        </p:spPr>
        <p:txBody>
          <a:bodyPr wrap="square" lIns="0" tIns="0" rIns="0" bIns="0" rtlCol="0" anchor="t"/>
          <a:lstStyle/>
          <a:p>
            <a:pPr indent="0" marL="0">
              <a:buNone/>
            </a:pPr>
            <a:r>
              <a:rPr lang="en-US" sz="1050" b="1" dirty="0">
                <a:solidFill>
                  <a:srgbClr val="154B36"/>
                </a:solidFill>
                <a:latin typeface="Cambria" pitchFamily="34" charset="0"/>
                <a:ea typeface="Cambria" pitchFamily="34" charset="-122"/>
                <a:cs typeface="Cambria" pitchFamily="34" charset="-120"/>
              </a:rPr>
              <a:t>Browse the category</a:t>
            </a:r>
            <a:endParaRPr lang="en-US" sz="1050" dirty="0"/>
          </a:p>
        </p:txBody>
      </p:sp>
      <p:sp>
        <p:nvSpPr>
          <p:cNvPr id="38" name="Text 36"/>
          <p:cNvSpPr txBox="1"/>
          <p:nvPr/>
        </p:nvSpPr>
        <p:spPr>
          <a:xfrm>
            <a:off x="2880360" y="242316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Action</a:t>
            </a:r>
            <a:endParaRPr lang="en-US" sz="730" dirty="0"/>
          </a:p>
        </p:txBody>
      </p:sp>
      <p:sp>
        <p:nvSpPr>
          <p:cNvPr id="39" name="Shape 37"/>
          <p:cNvSpPr/>
          <p:nvPr/>
        </p:nvSpPr>
        <p:spPr>
          <a:xfrm>
            <a:off x="2862072" y="2578608"/>
            <a:ext cx="1984248" cy="416052"/>
          </a:xfrm>
          <a:prstGeom prst="roundRect">
            <a:avLst>
              <a:gd name="adj" fmla="val 13187"/>
            </a:avLst>
          </a:prstGeom>
          <a:solidFill>
            <a:srgbClr val="FDF0DC"/>
          </a:solidFill>
          <a:ln w="12700">
            <a:solidFill>
              <a:srgbClr val="EE8100"/>
            </a:solidFill>
            <a:prstDash val="dash"/>
          </a:ln>
        </p:spPr>
      </p:sp>
      <p:sp>
        <p:nvSpPr>
          <p:cNvPr id="40" name="Text 38"/>
          <p:cNvSpPr txBox="1"/>
          <p:nvPr/>
        </p:nvSpPr>
        <p:spPr>
          <a:xfrm>
            <a:off x="2971800" y="261518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do</a:t>
            </a:r>
            <a:endParaRPr lang="en-US" sz="700" dirty="0"/>
          </a:p>
        </p:txBody>
      </p:sp>
      <p:sp>
        <p:nvSpPr>
          <p:cNvPr id="41" name="Text 39"/>
          <p:cNvSpPr txBox="1"/>
          <p:nvPr/>
        </p:nvSpPr>
        <p:spPr>
          <a:xfrm>
            <a:off x="2880360" y="3022092"/>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Thought &amp; feeling</a:t>
            </a:r>
            <a:endParaRPr lang="en-US" sz="730" dirty="0"/>
          </a:p>
        </p:txBody>
      </p:sp>
      <p:sp>
        <p:nvSpPr>
          <p:cNvPr id="42" name="Shape 40"/>
          <p:cNvSpPr/>
          <p:nvPr/>
        </p:nvSpPr>
        <p:spPr>
          <a:xfrm>
            <a:off x="2862072" y="3177540"/>
            <a:ext cx="1984248" cy="416052"/>
          </a:xfrm>
          <a:prstGeom prst="roundRect">
            <a:avLst>
              <a:gd name="adj" fmla="val 13187"/>
            </a:avLst>
          </a:prstGeom>
          <a:solidFill>
            <a:srgbClr val="FDF0DC"/>
          </a:solidFill>
          <a:ln w="12700">
            <a:solidFill>
              <a:srgbClr val="EE8100"/>
            </a:solidFill>
            <a:prstDash val="dash"/>
          </a:ln>
        </p:spPr>
      </p:sp>
      <p:sp>
        <p:nvSpPr>
          <p:cNvPr id="43" name="Text 41"/>
          <p:cNvSpPr txBox="1"/>
          <p:nvPr/>
        </p:nvSpPr>
        <p:spPr>
          <a:xfrm>
            <a:off x="2971800" y="3214116"/>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think and feel</a:t>
            </a:r>
            <a:endParaRPr lang="en-US" sz="700" dirty="0"/>
          </a:p>
        </p:txBody>
      </p:sp>
      <p:sp>
        <p:nvSpPr>
          <p:cNvPr id="44" name="Text 42"/>
          <p:cNvSpPr txBox="1"/>
          <p:nvPr/>
        </p:nvSpPr>
        <p:spPr>
          <a:xfrm>
            <a:off x="2880360" y="3621024"/>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Touchpoint</a:t>
            </a:r>
            <a:endParaRPr lang="en-US" sz="730" dirty="0"/>
          </a:p>
        </p:txBody>
      </p:sp>
      <p:sp>
        <p:nvSpPr>
          <p:cNvPr id="45" name="Shape 43"/>
          <p:cNvSpPr/>
          <p:nvPr/>
        </p:nvSpPr>
        <p:spPr>
          <a:xfrm>
            <a:off x="2862072" y="3776472"/>
            <a:ext cx="1984248" cy="416052"/>
          </a:xfrm>
          <a:prstGeom prst="roundRect">
            <a:avLst>
              <a:gd name="adj" fmla="val 13187"/>
            </a:avLst>
          </a:prstGeom>
          <a:solidFill>
            <a:srgbClr val="FDF0DC"/>
          </a:solidFill>
          <a:ln w="12700">
            <a:solidFill>
              <a:srgbClr val="EE8100"/>
            </a:solidFill>
            <a:prstDash val="dash"/>
          </a:ln>
        </p:spPr>
      </p:sp>
      <p:sp>
        <p:nvSpPr>
          <p:cNvPr id="46" name="Text 44"/>
          <p:cNvSpPr txBox="1"/>
          <p:nvPr/>
        </p:nvSpPr>
        <p:spPr>
          <a:xfrm>
            <a:off x="2971800" y="3813048"/>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who or what they interact with</a:t>
            </a:r>
            <a:endParaRPr lang="en-US" sz="700" dirty="0"/>
          </a:p>
        </p:txBody>
      </p:sp>
      <p:sp>
        <p:nvSpPr>
          <p:cNvPr id="47" name="Text 45"/>
          <p:cNvSpPr txBox="1"/>
          <p:nvPr/>
        </p:nvSpPr>
        <p:spPr>
          <a:xfrm>
            <a:off x="2880360" y="4219956"/>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Pain point &amp; workaround</a:t>
            </a:r>
            <a:endParaRPr lang="en-US" sz="730" dirty="0"/>
          </a:p>
        </p:txBody>
      </p:sp>
      <p:sp>
        <p:nvSpPr>
          <p:cNvPr id="48" name="Shape 46"/>
          <p:cNvSpPr/>
          <p:nvPr/>
        </p:nvSpPr>
        <p:spPr>
          <a:xfrm>
            <a:off x="2862072" y="4375404"/>
            <a:ext cx="1984248" cy="416052"/>
          </a:xfrm>
          <a:prstGeom prst="roundRect">
            <a:avLst>
              <a:gd name="adj" fmla="val 13187"/>
            </a:avLst>
          </a:prstGeom>
          <a:solidFill>
            <a:srgbClr val="FDF0DC"/>
          </a:solidFill>
          <a:ln w="12700">
            <a:solidFill>
              <a:srgbClr val="EE8100"/>
            </a:solidFill>
            <a:prstDash val="dash"/>
          </a:ln>
        </p:spPr>
      </p:sp>
      <p:sp>
        <p:nvSpPr>
          <p:cNvPr id="49" name="Text 47"/>
          <p:cNvSpPr txBox="1"/>
          <p:nvPr/>
        </p:nvSpPr>
        <p:spPr>
          <a:xfrm>
            <a:off x="2971800" y="4411980"/>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the friction, and what they do instead</a:t>
            </a:r>
            <a:endParaRPr lang="en-US" sz="700" dirty="0"/>
          </a:p>
        </p:txBody>
      </p:sp>
      <p:sp>
        <p:nvSpPr>
          <p:cNvPr id="50" name="Text 48"/>
          <p:cNvSpPr txBox="1"/>
          <p:nvPr/>
        </p:nvSpPr>
        <p:spPr>
          <a:xfrm>
            <a:off x="2880360" y="4818888"/>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Evidence</a:t>
            </a:r>
            <a:endParaRPr lang="en-US" sz="730" dirty="0"/>
          </a:p>
        </p:txBody>
      </p:sp>
      <p:sp>
        <p:nvSpPr>
          <p:cNvPr id="51" name="Shape 49"/>
          <p:cNvSpPr/>
          <p:nvPr/>
        </p:nvSpPr>
        <p:spPr>
          <a:xfrm>
            <a:off x="2862072" y="4974336"/>
            <a:ext cx="1984248" cy="416052"/>
          </a:xfrm>
          <a:prstGeom prst="roundRect">
            <a:avLst>
              <a:gd name="adj" fmla="val 13187"/>
            </a:avLst>
          </a:prstGeom>
          <a:solidFill>
            <a:srgbClr val="FDF0DC"/>
          </a:solidFill>
          <a:ln w="12700">
            <a:solidFill>
              <a:srgbClr val="EE8100"/>
            </a:solidFill>
            <a:prstDash val="dash"/>
          </a:ln>
        </p:spPr>
      </p:sp>
      <p:sp>
        <p:nvSpPr>
          <p:cNvPr id="52" name="Text 50"/>
          <p:cNvSpPr txBox="1"/>
          <p:nvPr/>
        </p:nvSpPr>
        <p:spPr>
          <a:xfrm>
            <a:off x="2971800" y="5010912"/>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P0_ / OBS-1</a:t>
            </a:r>
            <a:endParaRPr lang="en-US" sz="700" dirty="0"/>
          </a:p>
        </p:txBody>
      </p:sp>
      <p:sp>
        <p:nvSpPr>
          <p:cNvPr id="53" name="Text 51"/>
          <p:cNvSpPr txBox="1"/>
          <p:nvPr/>
        </p:nvSpPr>
        <p:spPr>
          <a:xfrm>
            <a:off x="2880360" y="541782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Opportunity</a:t>
            </a:r>
            <a:endParaRPr lang="en-US" sz="730" dirty="0"/>
          </a:p>
        </p:txBody>
      </p:sp>
      <p:sp>
        <p:nvSpPr>
          <p:cNvPr id="54" name="Shape 52"/>
          <p:cNvSpPr/>
          <p:nvPr/>
        </p:nvSpPr>
        <p:spPr>
          <a:xfrm>
            <a:off x="2862072" y="5573268"/>
            <a:ext cx="1984248" cy="416052"/>
          </a:xfrm>
          <a:prstGeom prst="roundRect">
            <a:avLst>
              <a:gd name="adj" fmla="val 13187"/>
            </a:avLst>
          </a:prstGeom>
          <a:solidFill>
            <a:srgbClr val="FDF0DC"/>
          </a:solidFill>
          <a:ln w="12700">
            <a:solidFill>
              <a:srgbClr val="EE8100"/>
            </a:solidFill>
            <a:prstDash val="dash"/>
          </a:ln>
        </p:spPr>
      </p:sp>
      <p:sp>
        <p:nvSpPr>
          <p:cNvPr id="55" name="Text 53"/>
          <p:cNvSpPr txBox="1"/>
          <p:nvPr/>
        </p:nvSpPr>
        <p:spPr>
          <a:xfrm>
            <a:off x="2971800" y="560984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might improve here</a:t>
            </a:r>
            <a:endParaRPr lang="en-US" sz="700" dirty="0"/>
          </a:p>
        </p:txBody>
      </p:sp>
      <p:sp>
        <p:nvSpPr>
          <p:cNvPr id="56" name="Shape 54"/>
          <p:cNvSpPr/>
          <p:nvPr/>
        </p:nvSpPr>
        <p:spPr>
          <a:xfrm>
            <a:off x="5029200" y="1508760"/>
            <a:ext cx="2130552" cy="4507992"/>
          </a:xfrm>
          <a:prstGeom prst="roundRect">
            <a:avLst>
              <a:gd name="adj" fmla="val 3004"/>
            </a:avLst>
          </a:prstGeom>
          <a:solidFill>
            <a:srgbClr val="FFFFFF"/>
          </a:solidFill>
          <a:ln w="9525">
            <a:solidFill>
              <a:srgbClr val="C9D5CE"/>
            </a:solidFill>
            <a:prstDash val="solid"/>
          </a:ln>
        </p:spPr>
      </p:sp>
      <p:sp>
        <p:nvSpPr>
          <p:cNvPr id="57" name="Shape 55"/>
          <p:cNvSpPr/>
          <p:nvPr/>
        </p:nvSpPr>
        <p:spPr>
          <a:xfrm>
            <a:off x="5138928" y="1618488"/>
            <a:ext cx="310896" cy="310896"/>
          </a:xfrm>
          <a:prstGeom prst="ellipse">
            <a:avLst/>
          </a:prstGeom>
          <a:solidFill>
            <a:srgbClr val="154B36"/>
          </a:solidFill>
          <a:ln/>
        </p:spPr>
      </p:sp>
      <p:sp>
        <p:nvSpPr>
          <p:cNvPr id="58" name="Text 56"/>
          <p:cNvSpPr txBox="1"/>
          <p:nvPr/>
        </p:nvSpPr>
        <p:spPr>
          <a:xfrm>
            <a:off x="5138928" y="1618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59" name="Text 57"/>
          <p:cNvSpPr txBox="1"/>
          <p:nvPr/>
        </p:nvSpPr>
        <p:spPr>
          <a:xfrm>
            <a:off x="5504688" y="1581912"/>
            <a:ext cx="1581912" cy="384048"/>
          </a:xfrm>
          <a:prstGeom prst="rect">
            <a:avLst/>
          </a:prstGeom>
          <a:noFill/>
          <a:ln/>
        </p:spPr>
        <p:txBody>
          <a:bodyPr wrap="square" lIns="0" tIns="0" rIns="0" bIns="0" rtlCol="0" anchor="t"/>
          <a:lstStyle/>
          <a:p>
            <a:pPr indent="0" marL="0">
              <a:buNone/>
            </a:pPr>
            <a:r>
              <a:rPr lang="en-US" sz="1050" b="1" dirty="0">
                <a:solidFill>
                  <a:srgbClr val="154B36"/>
                </a:solidFill>
                <a:latin typeface="Cambria" pitchFamily="34" charset="0"/>
                <a:ea typeface="Cambria" pitchFamily="34" charset="-122"/>
                <a:cs typeface="Cambria" pitchFamily="34" charset="-120"/>
              </a:rPr>
              <a:t>Evaluate a product</a:t>
            </a:r>
            <a:endParaRPr lang="en-US" sz="1050" dirty="0"/>
          </a:p>
        </p:txBody>
      </p:sp>
      <p:sp>
        <p:nvSpPr>
          <p:cNvPr id="60" name="Text 58"/>
          <p:cNvSpPr txBox="1"/>
          <p:nvPr/>
        </p:nvSpPr>
        <p:spPr>
          <a:xfrm>
            <a:off x="5138928" y="1984248"/>
            <a:ext cx="1947672" cy="402336"/>
          </a:xfrm>
          <a:prstGeom prst="rect">
            <a:avLst/>
          </a:prstGeom>
          <a:noFill/>
          <a:ln/>
        </p:spPr>
        <p:txBody>
          <a:bodyPr wrap="square" lIns="0" tIns="0" rIns="0" bIns="0" rtlCol="0" anchor="t"/>
          <a:lstStyle/>
          <a:p>
            <a:pPr indent="0" marL="0">
              <a:buNone/>
            </a:pPr>
            <a:r>
              <a:rPr lang="en-US" sz="680" b="1" i="1" dirty="0">
                <a:solidFill>
                  <a:srgbClr val="A85A00"/>
                </a:solidFill>
                <a:latin typeface="Calibri" pitchFamily="34" charset="0"/>
                <a:ea typeface="Calibri" pitchFamily="34" charset="-122"/>
                <a:cs typeface="Calibri" pitchFamily="34" charset="-120"/>
              </a:rPr>
              <a:t>Hypothesis: likely peak friction — confirm</a:t>
            </a:r>
            <a:endParaRPr lang="en-US" sz="680" dirty="0"/>
          </a:p>
        </p:txBody>
      </p:sp>
      <p:sp>
        <p:nvSpPr>
          <p:cNvPr id="61" name="Text 59"/>
          <p:cNvSpPr txBox="1"/>
          <p:nvPr/>
        </p:nvSpPr>
        <p:spPr>
          <a:xfrm>
            <a:off x="5120640" y="242316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Action</a:t>
            </a:r>
            <a:endParaRPr lang="en-US" sz="730" dirty="0"/>
          </a:p>
        </p:txBody>
      </p:sp>
      <p:sp>
        <p:nvSpPr>
          <p:cNvPr id="62" name="Shape 60"/>
          <p:cNvSpPr/>
          <p:nvPr/>
        </p:nvSpPr>
        <p:spPr>
          <a:xfrm>
            <a:off x="5102352" y="2578608"/>
            <a:ext cx="1984248" cy="416052"/>
          </a:xfrm>
          <a:prstGeom prst="roundRect">
            <a:avLst>
              <a:gd name="adj" fmla="val 13187"/>
            </a:avLst>
          </a:prstGeom>
          <a:solidFill>
            <a:srgbClr val="FDF0DC"/>
          </a:solidFill>
          <a:ln w="12700">
            <a:solidFill>
              <a:srgbClr val="EE8100"/>
            </a:solidFill>
            <a:prstDash val="dash"/>
          </a:ln>
        </p:spPr>
      </p:sp>
      <p:sp>
        <p:nvSpPr>
          <p:cNvPr id="63" name="Text 61"/>
          <p:cNvSpPr txBox="1"/>
          <p:nvPr/>
        </p:nvSpPr>
        <p:spPr>
          <a:xfrm>
            <a:off x="5212080" y="261518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do</a:t>
            </a:r>
            <a:endParaRPr lang="en-US" sz="700" dirty="0"/>
          </a:p>
        </p:txBody>
      </p:sp>
      <p:sp>
        <p:nvSpPr>
          <p:cNvPr id="64" name="Text 62"/>
          <p:cNvSpPr txBox="1"/>
          <p:nvPr/>
        </p:nvSpPr>
        <p:spPr>
          <a:xfrm>
            <a:off x="5120640" y="3022092"/>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Thought &amp; feeling</a:t>
            </a:r>
            <a:endParaRPr lang="en-US" sz="730" dirty="0"/>
          </a:p>
        </p:txBody>
      </p:sp>
      <p:sp>
        <p:nvSpPr>
          <p:cNvPr id="65" name="Shape 63"/>
          <p:cNvSpPr/>
          <p:nvPr/>
        </p:nvSpPr>
        <p:spPr>
          <a:xfrm>
            <a:off x="5102352" y="3177540"/>
            <a:ext cx="1984248" cy="416052"/>
          </a:xfrm>
          <a:prstGeom prst="roundRect">
            <a:avLst>
              <a:gd name="adj" fmla="val 13187"/>
            </a:avLst>
          </a:prstGeom>
          <a:solidFill>
            <a:srgbClr val="FDF0DC"/>
          </a:solidFill>
          <a:ln w="12700">
            <a:solidFill>
              <a:srgbClr val="EE8100"/>
            </a:solidFill>
            <a:prstDash val="dash"/>
          </a:ln>
        </p:spPr>
      </p:sp>
      <p:sp>
        <p:nvSpPr>
          <p:cNvPr id="66" name="Text 64"/>
          <p:cNvSpPr txBox="1"/>
          <p:nvPr/>
        </p:nvSpPr>
        <p:spPr>
          <a:xfrm>
            <a:off x="5212080" y="3214116"/>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think and feel</a:t>
            </a:r>
            <a:endParaRPr lang="en-US" sz="700" dirty="0"/>
          </a:p>
        </p:txBody>
      </p:sp>
      <p:sp>
        <p:nvSpPr>
          <p:cNvPr id="67" name="Text 65"/>
          <p:cNvSpPr txBox="1"/>
          <p:nvPr/>
        </p:nvSpPr>
        <p:spPr>
          <a:xfrm>
            <a:off x="5120640" y="3621024"/>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Touchpoint</a:t>
            </a:r>
            <a:endParaRPr lang="en-US" sz="730" dirty="0"/>
          </a:p>
        </p:txBody>
      </p:sp>
      <p:sp>
        <p:nvSpPr>
          <p:cNvPr id="68" name="Shape 66"/>
          <p:cNvSpPr/>
          <p:nvPr/>
        </p:nvSpPr>
        <p:spPr>
          <a:xfrm>
            <a:off x="5102352" y="3776472"/>
            <a:ext cx="1984248" cy="416052"/>
          </a:xfrm>
          <a:prstGeom prst="roundRect">
            <a:avLst>
              <a:gd name="adj" fmla="val 13187"/>
            </a:avLst>
          </a:prstGeom>
          <a:solidFill>
            <a:srgbClr val="FDF0DC"/>
          </a:solidFill>
          <a:ln w="12700">
            <a:solidFill>
              <a:srgbClr val="EE8100"/>
            </a:solidFill>
            <a:prstDash val="dash"/>
          </a:ln>
        </p:spPr>
      </p:sp>
      <p:sp>
        <p:nvSpPr>
          <p:cNvPr id="69" name="Text 67"/>
          <p:cNvSpPr txBox="1"/>
          <p:nvPr/>
        </p:nvSpPr>
        <p:spPr>
          <a:xfrm>
            <a:off x="5212080" y="3813048"/>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who or what they interact with</a:t>
            </a:r>
            <a:endParaRPr lang="en-US" sz="700" dirty="0"/>
          </a:p>
        </p:txBody>
      </p:sp>
      <p:sp>
        <p:nvSpPr>
          <p:cNvPr id="70" name="Text 68"/>
          <p:cNvSpPr txBox="1"/>
          <p:nvPr/>
        </p:nvSpPr>
        <p:spPr>
          <a:xfrm>
            <a:off x="5120640" y="4219956"/>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Pain point &amp; workaround</a:t>
            </a:r>
            <a:endParaRPr lang="en-US" sz="730" dirty="0"/>
          </a:p>
        </p:txBody>
      </p:sp>
      <p:sp>
        <p:nvSpPr>
          <p:cNvPr id="71" name="Shape 69"/>
          <p:cNvSpPr/>
          <p:nvPr/>
        </p:nvSpPr>
        <p:spPr>
          <a:xfrm>
            <a:off x="5102352" y="4375404"/>
            <a:ext cx="1984248" cy="416052"/>
          </a:xfrm>
          <a:prstGeom prst="roundRect">
            <a:avLst>
              <a:gd name="adj" fmla="val 13187"/>
            </a:avLst>
          </a:prstGeom>
          <a:solidFill>
            <a:srgbClr val="FDF0DC"/>
          </a:solidFill>
          <a:ln w="12700">
            <a:solidFill>
              <a:srgbClr val="EE8100"/>
            </a:solidFill>
            <a:prstDash val="dash"/>
          </a:ln>
        </p:spPr>
      </p:sp>
      <p:sp>
        <p:nvSpPr>
          <p:cNvPr id="72" name="Text 70"/>
          <p:cNvSpPr txBox="1"/>
          <p:nvPr/>
        </p:nvSpPr>
        <p:spPr>
          <a:xfrm>
            <a:off x="5212080" y="4411980"/>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the friction, and what they do instead</a:t>
            </a:r>
            <a:endParaRPr lang="en-US" sz="700" dirty="0"/>
          </a:p>
        </p:txBody>
      </p:sp>
      <p:sp>
        <p:nvSpPr>
          <p:cNvPr id="73" name="Text 71"/>
          <p:cNvSpPr txBox="1"/>
          <p:nvPr/>
        </p:nvSpPr>
        <p:spPr>
          <a:xfrm>
            <a:off x="5120640" y="4818888"/>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Evidence</a:t>
            </a:r>
            <a:endParaRPr lang="en-US" sz="730" dirty="0"/>
          </a:p>
        </p:txBody>
      </p:sp>
      <p:sp>
        <p:nvSpPr>
          <p:cNvPr id="74" name="Shape 72"/>
          <p:cNvSpPr/>
          <p:nvPr/>
        </p:nvSpPr>
        <p:spPr>
          <a:xfrm>
            <a:off x="5102352" y="4974336"/>
            <a:ext cx="1984248" cy="416052"/>
          </a:xfrm>
          <a:prstGeom prst="roundRect">
            <a:avLst>
              <a:gd name="adj" fmla="val 13187"/>
            </a:avLst>
          </a:prstGeom>
          <a:solidFill>
            <a:srgbClr val="FDF0DC"/>
          </a:solidFill>
          <a:ln w="12700">
            <a:solidFill>
              <a:srgbClr val="EE8100"/>
            </a:solidFill>
            <a:prstDash val="dash"/>
          </a:ln>
        </p:spPr>
      </p:sp>
      <p:sp>
        <p:nvSpPr>
          <p:cNvPr id="75" name="Text 73"/>
          <p:cNvSpPr txBox="1"/>
          <p:nvPr/>
        </p:nvSpPr>
        <p:spPr>
          <a:xfrm>
            <a:off x="5212080" y="5010912"/>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P0_ / OBS-1</a:t>
            </a:r>
            <a:endParaRPr lang="en-US" sz="700" dirty="0"/>
          </a:p>
        </p:txBody>
      </p:sp>
      <p:sp>
        <p:nvSpPr>
          <p:cNvPr id="76" name="Text 74"/>
          <p:cNvSpPr txBox="1"/>
          <p:nvPr/>
        </p:nvSpPr>
        <p:spPr>
          <a:xfrm>
            <a:off x="5120640" y="541782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Opportunity</a:t>
            </a:r>
            <a:endParaRPr lang="en-US" sz="730" dirty="0"/>
          </a:p>
        </p:txBody>
      </p:sp>
      <p:sp>
        <p:nvSpPr>
          <p:cNvPr id="77" name="Shape 75"/>
          <p:cNvSpPr/>
          <p:nvPr/>
        </p:nvSpPr>
        <p:spPr>
          <a:xfrm>
            <a:off x="5102352" y="5573268"/>
            <a:ext cx="1984248" cy="416052"/>
          </a:xfrm>
          <a:prstGeom prst="roundRect">
            <a:avLst>
              <a:gd name="adj" fmla="val 13187"/>
            </a:avLst>
          </a:prstGeom>
          <a:solidFill>
            <a:srgbClr val="FDF0DC"/>
          </a:solidFill>
          <a:ln w="12700">
            <a:solidFill>
              <a:srgbClr val="EE8100"/>
            </a:solidFill>
            <a:prstDash val="dash"/>
          </a:ln>
        </p:spPr>
      </p:sp>
      <p:sp>
        <p:nvSpPr>
          <p:cNvPr id="78" name="Text 76"/>
          <p:cNvSpPr txBox="1"/>
          <p:nvPr/>
        </p:nvSpPr>
        <p:spPr>
          <a:xfrm>
            <a:off x="5212080" y="560984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might improve here</a:t>
            </a:r>
            <a:endParaRPr lang="en-US" sz="700" dirty="0"/>
          </a:p>
        </p:txBody>
      </p:sp>
      <p:sp>
        <p:nvSpPr>
          <p:cNvPr id="79" name="Shape 77"/>
          <p:cNvSpPr/>
          <p:nvPr/>
        </p:nvSpPr>
        <p:spPr>
          <a:xfrm>
            <a:off x="7269480" y="1508760"/>
            <a:ext cx="2130552" cy="4507992"/>
          </a:xfrm>
          <a:prstGeom prst="roundRect">
            <a:avLst>
              <a:gd name="adj" fmla="val 3004"/>
            </a:avLst>
          </a:prstGeom>
          <a:solidFill>
            <a:srgbClr val="FFFFFF"/>
          </a:solidFill>
          <a:ln w="9525">
            <a:solidFill>
              <a:srgbClr val="C9D5CE"/>
            </a:solidFill>
            <a:prstDash val="solid"/>
          </a:ln>
        </p:spPr>
      </p:sp>
      <p:sp>
        <p:nvSpPr>
          <p:cNvPr id="80" name="Shape 78"/>
          <p:cNvSpPr/>
          <p:nvPr/>
        </p:nvSpPr>
        <p:spPr>
          <a:xfrm>
            <a:off x="7379208" y="1618488"/>
            <a:ext cx="310896" cy="310896"/>
          </a:xfrm>
          <a:prstGeom prst="ellipse">
            <a:avLst/>
          </a:prstGeom>
          <a:solidFill>
            <a:srgbClr val="154B36"/>
          </a:solidFill>
          <a:ln/>
        </p:spPr>
      </p:sp>
      <p:sp>
        <p:nvSpPr>
          <p:cNvPr id="81" name="Text 79"/>
          <p:cNvSpPr txBox="1"/>
          <p:nvPr/>
        </p:nvSpPr>
        <p:spPr>
          <a:xfrm>
            <a:off x="7379208" y="1618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82" name="Text 80"/>
          <p:cNvSpPr txBox="1"/>
          <p:nvPr/>
        </p:nvSpPr>
        <p:spPr>
          <a:xfrm>
            <a:off x="7744968" y="1581912"/>
            <a:ext cx="1581912" cy="384048"/>
          </a:xfrm>
          <a:prstGeom prst="rect">
            <a:avLst/>
          </a:prstGeom>
          <a:noFill/>
          <a:ln/>
        </p:spPr>
        <p:txBody>
          <a:bodyPr wrap="square" lIns="0" tIns="0" rIns="0" bIns="0" rtlCol="0" anchor="t"/>
          <a:lstStyle/>
          <a:p>
            <a:pPr indent="0" marL="0">
              <a:buNone/>
            </a:pPr>
            <a:r>
              <a:rPr lang="en-US" sz="1050" b="1" dirty="0">
                <a:solidFill>
                  <a:srgbClr val="154B36"/>
                </a:solidFill>
                <a:latin typeface="Cambria" pitchFamily="34" charset="0"/>
                <a:ea typeface="Cambria" pitchFamily="34" charset="-122"/>
                <a:cs typeface="Cambria" pitchFamily="34" charset="-120"/>
              </a:rPr>
              <a:t>Build the cart</a:t>
            </a:r>
            <a:endParaRPr lang="en-US" sz="1050" dirty="0"/>
          </a:p>
        </p:txBody>
      </p:sp>
      <p:sp>
        <p:nvSpPr>
          <p:cNvPr id="83" name="Text 81"/>
          <p:cNvSpPr txBox="1"/>
          <p:nvPr/>
        </p:nvSpPr>
        <p:spPr>
          <a:xfrm>
            <a:off x="7360920" y="242316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Action</a:t>
            </a:r>
            <a:endParaRPr lang="en-US" sz="730" dirty="0"/>
          </a:p>
        </p:txBody>
      </p:sp>
      <p:sp>
        <p:nvSpPr>
          <p:cNvPr id="84" name="Shape 82"/>
          <p:cNvSpPr/>
          <p:nvPr/>
        </p:nvSpPr>
        <p:spPr>
          <a:xfrm>
            <a:off x="7342632" y="2578608"/>
            <a:ext cx="1984248" cy="416052"/>
          </a:xfrm>
          <a:prstGeom prst="roundRect">
            <a:avLst>
              <a:gd name="adj" fmla="val 13187"/>
            </a:avLst>
          </a:prstGeom>
          <a:solidFill>
            <a:srgbClr val="FDF0DC"/>
          </a:solidFill>
          <a:ln w="12700">
            <a:solidFill>
              <a:srgbClr val="EE8100"/>
            </a:solidFill>
            <a:prstDash val="dash"/>
          </a:ln>
        </p:spPr>
      </p:sp>
      <p:sp>
        <p:nvSpPr>
          <p:cNvPr id="85" name="Text 83"/>
          <p:cNvSpPr txBox="1"/>
          <p:nvPr/>
        </p:nvSpPr>
        <p:spPr>
          <a:xfrm>
            <a:off x="7452360" y="261518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do</a:t>
            </a:r>
            <a:endParaRPr lang="en-US" sz="700" dirty="0"/>
          </a:p>
        </p:txBody>
      </p:sp>
      <p:sp>
        <p:nvSpPr>
          <p:cNvPr id="86" name="Text 84"/>
          <p:cNvSpPr txBox="1"/>
          <p:nvPr/>
        </p:nvSpPr>
        <p:spPr>
          <a:xfrm>
            <a:off x="7360920" y="3022092"/>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Thought &amp; feeling</a:t>
            </a:r>
            <a:endParaRPr lang="en-US" sz="730" dirty="0"/>
          </a:p>
        </p:txBody>
      </p:sp>
      <p:sp>
        <p:nvSpPr>
          <p:cNvPr id="87" name="Shape 85"/>
          <p:cNvSpPr/>
          <p:nvPr/>
        </p:nvSpPr>
        <p:spPr>
          <a:xfrm>
            <a:off x="7342632" y="3177540"/>
            <a:ext cx="1984248" cy="416052"/>
          </a:xfrm>
          <a:prstGeom prst="roundRect">
            <a:avLst>
              <a:gd name="adj" fmla="val 13187"/>
            </a:avLst>
          </a:prstGeom>
          <a:solidFill>
            <a:srgbClr val="FDF0DC"/>
          </a:solidFill>
          <a:ln w="12700">
            <a:solidFill>
              <a:srgbClr val="EE8100"/>
            </a:solidFill>
            <a:prstDash val="dash"/>
          </a:ln>
        </p:spPr>
      </p:sp>
      <p:sp>
        <p:nvSpPr>
          <p:cNvPr id="88" name="Text 86"/>
          <p:cNvSpPr txBox="1"/>
          <p:nvPr/>
        </p:nvSpPr>
        <p:spPr>
          <a:xfrm>
            <a:off x="7452360" y="3214116"/>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think and feel</a:t>
            </a:r>
            <a:endParaRPr lang="en-US" sz="700" dirty="0"/>
          </a:p>
        </p:txBody>
      </p:sp>
      <p:sp>
        <p:nvSpPr>
          <p:cNvPr id="89" name="Text 87"/>
          <p:cNvSpPr txBox="1"/>
          <p:nvPr/>
        </p:nvSpPr>
        <p:spPr>
          <a:xfrm>
            <a:off x="7360920" y="3621024"/>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Touchpoint</a:t>
            </a:r>
            <a:endParaRPr lang="en-US" sz="730" dirty="0"/>
          </a:p>
        </p:txBody>
      </p:sp>
      <p:sp>
        <p:nvSpPr>
          <p:cNvPr id="90" name="Shape 88"/>
          <p:cNvSpPr/>
          <p:nvPr/>
        </p:nvSpPr>
        <p:spPr>
          <a:xfrm>
            <a:off x="7342632" y="3776472"/>
            <a:ext cx="1984248" cy="416052"/>
          </a:xfrm>
          <a:prstGeom prst="roundRect">
            <a:avLst>
              <a:gd name="adj" fmla="val 13187"/>
            </a:avLst>
          </a:prstGeom>
          <a:solidFill>
            <a:srgbClr val="FDF0DC"/>
          </a:solidFill>
          <a:ln w="12700">
            <a:solidFill>
              <a:srgbClr val="EE8100"/>
            </a:solidFill>
            <a:prstDash val="dash"/>
          </a:ln>
        </p:spPr>
      </p:sp>
      <p:sp>
        <p:nvSpPr>
          <p:cNvPr id="91" name="Text 89"/>
          <p:cNvSpPr txBox="1"/>
          <p:nvPr/>
        </p:nvSpPr>
        <p:spPr>
          <a:xfrm>
            <a:off x="7452360" y="3813048"/>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who or what they interact with</a:t>
            </a:r>
            <a:endParaRPr lang="en-US" sz="700" dirty="0"/>
          </a:p>
        </p:txBody>
      </p:sp>
      <p:sp>
        <p:nvSpPr>
          <p:cNvPr id="92" name="Text 90"/>
          <p:cNvSpPr txBox="1"/>
          <p:nvPr/>
        </p:nvSpPr>
        <p:spPr>
          <a:xfrm>
            <a:off x="7360920" y="4219956"/>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Pain point &amp; workaround</a:t>
            </a:r>
            <a:endParaRPr lang="en-US" sz="730" dirty="0"/>
          </a:p>
        </p:txBody>
      </p:sp>
      <p:sp>
        <p:nvSpPr>
          <p:cNvPr id="93" name="Shape 91"/>
          <p:cNvSpPr/>
          <p:nvPr/>
        </p:nvSpPr>
        <p:spPr>
          <a:xfrm>
            <a:off x="7342632" y="4375404"/>
            <a:ext cx="1984248" cy="416052"/>
          </a:xfrm>
          <a:prstGeom prst="roundRect">
            <a:avLst>
              <a:gd name="adj" fmla="val 13187"/>
            </a:avLst>
          </a:prstGeom>
          <a:solidFill>
            <a:srgbClr val="FDF0DC"/>
          </a:solidFill>
          <a:ln w="12700">
            <a:solidFill>
              <a:srgbClr val="EE8100"/>
            </a:solidFill>
            <a:prstDash val="dash"/>
          </a:ln>
        </p:spPr>
      </p:sp>
      <p:sp>
        <p:nvSpPr>
          <p:cNvPr id="94" name="Text 92"/>
          <p:cNvSpPr txBox="1"/>
          <p:nvPr/>
        </p:nvSpPr>
        <p:spPr>
          <a:xfrm>
            <a:off x="7452360" y="4411980"/>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the friction, and what they do instead</a:t>
            </a:r>
            <a:endParaRPr lang="en-US" sz="700" dirty="0"/>
          </a:p>
        </p:txBody>
      </p:sp>
      <p:sp>
        <p:nvSpPr>
          <p:cNvPr id="95" name="Text 93"/>
          <p:cNvSpPr txBox="1"/>
          <p:nvPr/>
        </p:nvSpPr>
        <p:spPr>
          <a:xfrm>
            <a:off x="7360920" y="4818888"/>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Evidence</a:t>
            </a:r>
            <a:endParaRPr lang="en-US" sz="730" dirty="0"/>
          </a:p>
        </p:txBody>
      </p:sp>
      <p:sp>
        <p:nvSpPr>
          <p:cNvPr id="96" name="Shape 94"/>
          <p:cNvSpPr/>
          <p:nvPr/>
        </p:nvSpPr>
        <p:spPr>
          <a:xfrm>
            <a:off x="7342632" y="4974336"/>
            <a:ext cx="1984248" cy="416052"/>
          </a:xfrm>
          <a:prstGeom prst="roundRect">
            <a:avLst>
              <a:gd name="adj" fmla="val 13187"/>
            </a:avLst>
          </a:prstGeom>
          <a:solidFill>
            <a:srgbClr val="FDF0DC"/>
          </a:solidFill>
          <a:ln w="12700">
            <a:solidFill>
              <a:srgbClr val="EE8100"/>
            </a:solidFill>
            <a:prstDash val="dash"/>
          </a:ln>
        </p:spPr>
      </p:sp>
      <p:sp>
        <p:nvSpPr>
          <p:cNvPr id="97" name="Text 95"/>
          <p:cNvSpPr txBox="1"/>
          <p:nvPr/>
        </p:nvSpPr>
        <p:spPr>
          <a:xfrm>
            <a:off x="7452360" y="5010912"/>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P0_ / OBS-1</a:t>
            </a:r>
            <a:endParaRPr lang="en-US" sz="700" dirty="0"/>
          </a:p>
        </p:txBody>
      </p:sp>
      <p:sp>
        <p:nvSpPr>
          <p:cNvPr id="98" name="Text 96"/>
          <p:cNvSpPr txBox="1"/>
          <p:nvPr/>
        </p:nvSpPr>
        <p:spPr>
          <a:xfrm>
            <a:off x="7360920" y="541782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Opportunity</a:t>
            </a:r>
            <a:endParaRPr lang="en-US" sz="730" dirty="0"/>
          </a:p>
        </p:txBody>
      </p:sp>
      <p:sp>
        <p:nvSpPr>
          <p:cNvPr id="99" name="Shape 97"/>
          <p:cNvSpPr/>
          <p:nvPr/>
        </p:nvSpPr>
        <p:spPr>
          <a:xfrm>
            <a:off x="7342632" y="5573268"/>
            <a:ext cx="1984248" cy="416052"/>
          </a:xfrm>
          <a:prstGeom prst="roundRect">
            <a:avLst>
              <a:gd name="adj" fmla="val 13187"/>
            </a:avLst>
          </a:prstGeom>
          <a:solidFill>
            <a:srgbClr val="FDF0DC"/>
          </a:solidFill>
          <a:ln w="12700">
            <a:solidFill>
              <a:srgbClr val="EE8100"/>
            </a:solidFill>
            <a:prstDash val="dash"/>
          </a:ln>
        </p:spPr>
      </p:sp>
      <p:sp>
        <p:nvSpPr>
          <p:cNvPr id="100" name="Text 98"/>
          <p:cNvSpPr txBox="1"/>
          <p:nvPr/>
        </p:nvSpPr>
        <p:spPr>
          <a:xfrm>
            <a:off x="7452360" y="560984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might improve here</a:t>
            </a:r>
            <a:endParaRPr lang="en-US" sz="700" dirty="0"/>
          </a:p>
        </p:txBody>
      </p:sp>
      <p:sp>
        <p:nvSpPr>
          <p:cNvPr id="101" name="Shape 99"/>
          <p:cNvSpPr/>
          <p:nvPr/>
        </p:nvSpPr>
        <p:spPr>
          <a:xfrm>
            <a:off x="9509760" y="1508760"/>
            <a:ext cx="2130552" cy="4507992"/>
          </a:xfrm>
          <a:prstGeom prst="roundRect">
            <a:avLst>
              <a:gd name="adj" fmla="val 3004"/>
            </a:avLst>
          </a:prstGeom>
          <a:solidFill>
            <a:srgbClr val="FFFFFF"/>
          </a:solidFill>
          <a:ln w="9525">
            <a:solidFill>
              <a:srgbClr val="C9D5CE"/>
            </a:solidFill>
            <a:prstDash val="solid"/>
          </a:ln>
        </p:spPr>
      </p:sp>
      <p:sp>
        <p:nvSpPr>
          <p:cNvPr id="102" name="Shape 100"/>
          <p:cNvSpPr/>
          <p:nvPr/>
        </p:nvSpPr>
        <p:spPr>
          <a:xfrm>
            <a:off x="9619488" y="1618488"/>
            <a:ext cx="310896" cy="310896"/>
          </a:xfrm>
          <a:prstGeom prst="ellipse">
            <a:avLst/>
          </a:prstGeom>
          <a:solidFill>
            <a:srgbClr val="154B36"/>
          </a:solidFill>
          <a:ln/>
        </p:spPr>
      </p:sp>
      <p:sp>
        <p:nvSpPr>
          <p:cNvPr id="103" name="Text 101"/>
          <p:cNvSpPr txBox="1"/>
          <p:nvPr/>
        </p:nvSpPr>
        <p:spPr>
          <a:xfrm>
            <a:off x="9619488" y="1618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104" name="Text 102"/>
          <p:cNvSpPr txBox="1"/>
          <p:nvPr/>
        </p:nvSpPr>
        <p:spPr>
          <a:xfrm>
            <a:off x="9985248" y="1581912"/>
            <a:ext cx="1581912" cy="384048"/>
          </a:xfrm>
          <a:prstGeom prst="rect">
            <a:avLst/>
          </a:prstGeom>
          <a:noFill/>
          <a:ln/>
        </p:spPr>
        <p:txBody>
          <a:bodyPr wrap="square" lIns="0" tIns="0" rIns="0" bIns="0" rtlCol="0" anchor="t"/>
          <a:lstStyle/>
          <a:p>
            <a:pPr indent="0" marL="0">
              <a:buNone/>
            </a:pPr>
            <a:r>
              <a:rPr lang="en-US" sz="1050" b="1" dirty="0">
                <a:solidFill>
                  <a:srgbClr val="154B36"/>
                </a:solidFill>
                <a:latin typeface="Cambria" pitchFamily="34" charset="0"/>
                <a:ea typeface="Cambria" pitchFamily="34" charset="-122"/>
                <a:cs typeface="Cambria" pitchFamily="34" charset="-120"/>
              </a:rPr>
              <a:t>Shop &amp; reflect after</a:t>
            </a:r>
            <a:endParaRPr lang="en-US" sz="1050" dirty="0"/>
          </a:p>
        </p:txBody>
      </p:sp>
      <p:sp>
        <p:nvSpPr>
          <p:cNvPr id="105" name="Text 103"/>
          <p:cNvSpPr txBox="1"/>
          <p:nvPr/>
        </p:nvSpPr>
        <p:spPr>
          <a:xfrm>
            <a:off x="9601200" y="242316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Action</a:t>
            </a:r>
            <a:endParaRPr lang="en-US" sz="730" dirty="0"/>
          </a:p>
        </p:txBody>
      </p:sp>
      <p:sp>
        <p:nvSpPr>
          <p:cNvPr id="106" name="Shape 104"/>
          <p:cNvSpPr/>
          <p:nvPr/>
        </p:nvSpPr>
        <p:spPr>
          <a:xfrm>
            <a:off x="9582912" y="2578608"/>
            <a:ext cx="1984248" cy="416052"/>
          </a:xfrm>
          <a:prstGeom prst="roundRect">
            <a:avLst>
              <a:gd name="adj" fmla="val 13187"/>
            </a:avLst>
          </a:prstGeom>
          <a:solidFill>
            <a:srgbClr val="FDF0DC"/>
          </a:solidFill>
          <a:ln w="12700">
            <a:solidFill>
              <a:srgbClr val="EE8100"/>
            </a:solidFill>
            <a:prstDash val="dash"/>
          </a:ln>
        </p:spPr>
      </p:sp>
      <p:sp>
        <p:nvSpPr>
          <p:cNvPr id="107" name="Text 105"/>
          <p:cNvSpPr txBox="1"/>
          <p:nvPr/>
        </p:nvSpPr>
        <p:spPr>
          <a:xfrm>
            <a:off x="9692640" y="261518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do</a:t>
            </a:r>
            <a:endParaRPr lang="en-US" sz="700" dirty="0"/>
          </a:p>
        </p:txBody>
      </p:sp>
      <p:sp>
        <p:nvSpPr>
          <p:cNvPr id="108" name="Text 106"/>
          <p:cNvSpPr txBox="1"/>
          <p:nvPr/>
        </p:nvSpPr>
        <p:spPr>
          <a:xfrm>
            <a:off x="9601200" y="3022092"/>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Thought &amp; feeling</a:t>
            </a:r>
            <a:endParaRPr lang="en-US" sz="730" dirty="0"/>
          </a:p>
        </p:txBody>
      </p:sp>
      <p:sp>
        <p:nvSpPr>
          <p:cNvPr id="109" name="Shape 107"/>
          <p:cNvSpPr/>
          <p:nvPr/>
        </p:nvSpPr>
        <p:spPr>
          <a:xfrm>
            <a:off x="9582912" y="3177540"/>
            <a:ext cx="1984248" cy="416052"/>
          </a:xfrm>
          <a:prstGeom prst="roundRect">
            <a:avLst>
              <a:gd name="adj" fmla="val 13187"/>
            </a:avLst>
          </a:prstGeom>
          <a:solidFill>
            <a:srgbClr val="FDF0DC"/>
          </a:solidFill>
          <a:ln w="12700">
            <a:solidFill>
              <a:srgbClr val="EE8100"/>
            </a:solidFill>
            <a:prstDash val="dash"/>
          </a:ln>
        </p:spPr>
      </p:sp>
      <p:sp>
        <p:nvSpPr>
          <p:cNvPr id="110" name="Text 108"/>
          <p:cNvSpPr txBox="1"/>
          <p:nvPr/>
        </p:nvSpPr>
        <p:spPr>
          <a:xfrm>
            <a:off x="9692640" y="3214116"/>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they think and feel</a:t>
            </a:r>
            <a:endParaRPr lang="en-US" sz="700" dirty="0"/>
          </a:p>
        </p:txBody>
      </p:sp>
      <p:sp>
        <p:nvSpPr>
          <p:cNvPr id="111" name="Text 109"/>
          <p:cNvSpPr txBox="1"/>
          <p:nvPr/>
        </p:nvSpPr>
        <p:spPr>
          <a:xfrm>
            <a:off x="9601200" y="3621024"/>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Touchpoint</a:t>
            </a:r>
            <a:endParaRPr lang="en-US" sz="730" dirty="0"/>
          </a:p>
        </p:txBody>
      </p:sp>
      <p:sp>
        <p:nvSpPr>
          <p:cNvPr id="112" name="Shape 110"/>
          <p:cNvSpPr/>
          <p:nvPr/>
        </p:nvSpPr>
        <p:spPr>
          <a:xfrm>
            <a:off x="9582912" y="3776472"/>
            <a:ext cx="1984248" cy="416052"/>
          </a:xfrm>
          <a:prstGeom prst="roundRect">
            <a:avLst>
              <a:gd name="adj" fmla="val 13187"/>
            </a:avLst>
          </a:prstGeom>
          <a:solidFill>
            <a:srgbClr val="FDF0DC"/>
          </a:solidFill>
          <a:ln w="12700">
            <a:solidFill>
              <a:srgbClr val="EE8100"/>
            </a:solidFill>
            <a:prstDash val="dash"/>
          </a:ln>
        </p:spPr>
      </p:sp>
      <p:sp>
        <p:nvSpPr>
          <p:cNvPr id="113" name="Text 111"/>
          <p:cNvSpPr txBox="1"/>
          <p:nvPr/>
        </p:nvSpPr>
        <p:spPr>
          <a:xfrm>
            <a:off x="9692640" y="3813048"/>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who or what they interact with</a:t>
            </a:r>
            <a:endParaRPr lang="en-US" sz="700" dirty="0"/>
          </a:p>
        </p:txBody>
      </p:sp>
      <p:sp>
        <p:nvSpPr>
          <p:cNvPr id="114" name="Text 112"/>
          <p:cNvSpPr txBox="1"/>
          <p:nvPr/>
        </p:nvSpPr>
        <p:spPr>
          <a:xfrm>
            <a:off x="9601200" y="4219956"/>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Pain point &amp; workaround</a:t>
            </a:r>
            <a:endParaRPr lang="en-US" sz="730" dirty="0"/>
          </a:p>
        </p:txBody>
      </p:sp>
      <p:sp>
        <p:nvSpPr>
          <p:cNvPr id="115" name="Shape 113"/>
          <p:cNvSpPr/>
          <p:nvPr/>
        </p:nvSpPr>
        <p:spPr>
          <a:xfrm>
            <a:off x="9582912" y="4375404"/>
            <a:ext cx="1984248" cy="416052"/>
          </a:xfrm>
          <a:prstGeom prst="roundRect">
            <a:avLst>
              <a:gd name="adj" fmla="val 13187"/>
            </a:avLst>
          </a:prstGeom>
          <a:solidFill>
            <a:srgbClr val="FDF0DC"/>
          </a:solidFill>
          <a:ln w="12700">
            <a:solidFill>
              <a:srgbClr val="EE8100"/>
            </a:solidFill>
            <a:prstDash val="dash"/>
          </a:ln>
        </p:spPr>
      </p:sp>
      <p:sp>
        <p:nvSpPr>
          <p:cNvPr id="116" name="Text 114"/>
          <p:cNvSpPr txBox="1"/>
          <p:nvPr/>
        </p:nvSpPr>
        <p:spPr>
          <a:xfrm>
            <a:off x="9692640" y="4411980"/>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the friction, and what they do instead</a:t>
            </a:r>
            <a:endParaRPr lang="en-US" sz="700" dirty="0"/>
          </a:p>
        </p:txBody>
      </p:sp>
      <p:sp>
        <p:nvSpPr>
          <p:cNvPr id="117" name="Text 115"/>
          <p:cNvSpPr txBox="1"/>
          <p:nvPr/>
        </p:nvSpPr>
        <p:spPr>
          <a:xfrm>
            <a:off x="9601200" y="4818888"/>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Evidence</a:t>
            </a:r>
            <a:endParaRPr lang="en-US" sz="730" dirty="0"/>
          </a:p>
        </p:txBody>
      </p:sp>
      <p:sp>
        <p:nvSpPr>
          <p:cNvPr id="118" name="Shape 116"/>
          <p:cNvSpPr/>
          <p:nvPr/>
        </p:nvSpPr>
        <p:spPr>
          <a:xfrm>
            <a:off x="9582912" y="4974336"/>
            <a:ext cx="1984248" cy="416052"/>
          </a:xfrm>
          <a:prstGeom prst="roundRect">
            <a:avLst>
              <a:gd name="adj" fmla="val 13187"/>
            </a:avLst>
          </a:prstGeom>
          <a:solidFill>
            <a:srgbClr val="FDF0DC"/>
          </a:solidFill>
          <a:ln w="12700">
            <a:solidFill>
              <a:srgbClr val="EE8100"/>
            </a:solidFill>
            <a:prstDash val="dash"/>
          </a:ln>
        </p:spPr>
      </p:sp>
      <p:sp>
        <p:nvSpPr>
          <p:cNvPr id="119" name="Text 117"/>
          <p:cNvSpPr txBox="1"/>
          <p:nvPr/>
        </p:nvSpPr>
        <p:spPr>
          <a:xfrm>
            <a:off x="9692640" y="5010912"/>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P0_ / OBS-1</a:t>
            </a:r>
            <a:endParaRPr lang="en-US" sz="700" dirty="0"/>
          </a:p>
        </p:txBody>
      </p:sp>
      <p:sp>
        <p:nvSpPr>
          <p:cNvPr id="120" name="Text 118"/>
          <p:cNvSpPr txBox="1"/>
          <p:nvPr/>
        </p:nvSpPr>
        <p:spPr>
          <a:xfrm>
            <a:off x="9601200" y="5417820"/>
            <a:ext cx="1947672" cy="155448"/>
          </a:xfrm>
          <a:prstGeom prst="rect">
            <a:avLst/>
          </a:prstGeom>
          <a:noFill/>
          <a:ln/>
        </p:spPr>
        <p:txBody>
          <a:bodyPr wrap="square" lIns="0" tIns="0" rIns="0" bIns="0" rtlCol="0" anchor="t"/>
          <a:lstStyle/>
          <a:p>
            <a:pPr indent="0" marL="0">
              <a:buNone/>
            </a:pPr>
            <a:r>
              <a:rPr lang="en-US" sz="730" b="1" spc="50" kern="0" dirty="0">
                <a:solidFill>
                  <a:srgbClr val="154B36"/>
                </a:solidFill>
                <a:latin typeface="Calibri" pitchFamily="34" charset="0"/>
                <a:ea typeface="Calibri" pitchFamily="34" charset="-122"/>
                <a:cs typeface="Calibri" pitchFamily="34" charset="-120"/>
              </a:rPr>
              <a:t>Opportunity</a:t>
            </a:r>
            <a:endParaRPr lang="en-US" sz="730" dirty="0"/>
          </a:p>
        </p:txBody>
      </p:sp>
      <p:sp>
        <p:nvSpPr>
          <p:cNvPr id="121" name="Shape 119"/>
          <p:cNvSpPr/>
          <p:nvPr/>
        </p:nvSpPr>
        <p:spPr>
          <a:xfrm>
            <a:off x="9582912" y="5573268"/>
            <a:ext cx="1984248" cy="416052"/>
          </a:xfrm>
          <a:prstGeom prst="roundRect">
            <a:avLst>
              <a:gd name="adj" fmla="val 13187"/>
            </a:avLst>
          </a:prstGeom>
          <a:solidFill>
            <a:srgbClr val="FDF0DC"/>
          </a:solidFill>
          <a:ln w="12700">
            <a:solidFill>
              <a:srgbClr val="EE8100"/>
            </a:solidFill>
            <a:prstDash val="dash"/>
          </a:ln>
        </p:spPr>
      </p:sp>
      <p:sp>
        <p:nvSpPr>
          <p:cNvPr id="122" name="Text 120"/>
          <p:cNvSpPr txBox="1"/>
          <p:nvPr/>
        </p:nvSpPr>
        <p:spPr>
          <a:xfrm>
            <a:off x="9692640" y="5609844"/>
            <a:ext cx="1764792" cy="342900"/>
          </a:xfrm>
          <a:prstGeom prst="rect">
            <a:avLst/>
          </a:prstGeom>
          <a:noFill/>
          <a:ln/>
        </p:spPr>
        <p:txBody>
          <a:bodyPr wrap="square" lIns="0" tIns="0" rIns="0" bIns="0" rtlCol="0" anchor="ctr"/>
          <a:lstStyle/>
          <a:p>
            <a:pPr algn="l" indent="0" marL="0">
              <a:buNone/>
            </a:pPr>
            <a:r>
              <a:rPr lang="en-US" sz="700" i="1" dirty="0">
                <a:solidFill>
                  <a:srgbClr val="A85A00"/>
                </a:solidFill>
                <a:latin typeface="Calibri" pitchFamily="34" charset="0"/>
                <a:ea typeface="Calibri" pitchFamily="34" charset="-122"/>
                <a:cs typeface="Calibri" pitchFamily="34" charset="-120"/>
              </a:rPr>
              <a:t>INSERT what might improve here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3 · RESEARCH TO PERSONA &amp; JOURNEY MAP · STEP 6</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Three opportunity areas, and what remains uncertain</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Opportunity areas, not solutions: we name where the evidence points, not what to build there.</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6 / 6</a:t>
            </a:r>
            <a:endParaRPr lang="en-US" sz="900" dirty="0"/>
          </a:p>
        </p:txBody>
      </p:sp>
      <p:sp>
        <p:nvSpPr>
          <p:cNvPr id="12" name="Shape 10"/>
          <p:cNvSpPr/>
          <p:nvPr/>
        </p:nvSpPr>
        <p:spPr>
          <a:xfrm>
            <a:off x="548640" y="1508760"/>
            <a:ext cx="3566160" cy="3429000"/>
          </a:xfrm>
          <a:prstGeom prst="roundRect">
            <a:avLst>
              <a:gd name="adj" fmla="val 2133"/>
            </a:avLst>
          </a:prstGeom>
          <a:solidFill>
            <a:srgbClr val="FFFFFF"/>
          </a:solidFill>
          <a:ln w="9525">
            <a:solidFill>
              <a:srgbClr val="C9D5CE"/>
            </a:solidFill>
            <a:prstDash val="solid"/>
          </a:ln>
        </p:spPr>
      </p:sp>
      <p:sp>
        <p:nvSpPr>
          <p:cNvPr id="13" name="Shape 11"/>
          <p:cNvSpPr/>
          <p:nvPr/>
        </p:nvSpPr>
        <p:spPr>
          <a:xfrm>
            <a:off x="749808" y="1673352"/>
            <a:ext cx="365760" cy="365760"/>
          </a:xfrm>
          <a:prstGeom prst="ellipse">
            <a:avLst/>
          </a:prstGeom>
          <a:solidFill>
            <a:srgbClr val="154B36"/>
          </a:solidFill>
          <a:ln/>
        </p:spPr>
      </p:sp>
      <p:sp>
        <p:nvSpPr>
          <p:cNvPr id="14" name="Text 12"/>
          <p:cNvSpPr txBox="1"/>
          <p:nvPr/>
        </p:nvSpPr>
        <p:spPr>
          <a:xfrm>
            <a:off x="749808" y="16733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5" name="Shape 13"/>
          <p:cNvSpPr/>
          <p:nvPr/>
        </p:nvSpPr>
        <p:spPr>
          <a:xfrm>
            <a:off x="1188720" y="1691640"/>
            <a:ext cx="2724912" cy="329184"/>
          </a:xfrm>
          <a:prstGeom prst="roundRect">
            <a:avLst>
              <a:gd name="adj" fmla="val 16667"/>
            </a:avLst>
          </a:prstGeom>
          <a:solidFill>
            <a:srgbClr val="FDF0DC"/>
          </a:solidFill>
          <a:ln w="12700">
            <a:solidFill>
              <a:srgbClr val="EE8100"/>
            </a:solidFill>
            <a:prstDash val="dash"/>
          </a:ln>
        </p:spPr>
      </p:sp>
      <p:sp>
        <p:nvSpPr>
          <p:cNvPr id="16" name="Text 14"/>
          <p:cNvSpPr txBox="1"/>
          <p:nvPr/>
        </p:nvSpPr>
        <p:spPr>
          <a:xfrm>
            <a:off x="1298448" y="1728216"/>
            <a:ext cx="2505456" cy="256032"/>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short name for this opportunity</a:t>
            </a:r>
            <a:endParaRPr lang="en-US" sz="950" dirty="0"/>
          </a:p>
        </p:txBody>
      </p:sp>
      <p:sp>
        <p:nvSpPr>
          <p:cNvPr id="17" name="Text 15"/>
          <p:cNvSpPr txBox="1"/>
          <p:nvPr/>
        </p:nvSpPr>
        <p:spPr>
          <a:xfrm>
            <a:off x="749808" y="2075688"/>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WHAT HAPPENS?</a:t>
            </a:r>
            <a:endParaRPr lang="en-US" sz="850" dirty="0"/>
          </a:p>
        </p:txBody>
      </p:sp>
      <p:sp>
        <p:nvSpPr>
          <p:cNvPr id="18" name="Shape 16"/>
          <p:cNvSpPr/>
          <p:nvPr/>
        </p:nvSpPr>
        <p:spPr>
          <a:xfrm>
            <a:off x="749808" y="2258568"/>
            <a:ext cx="3163824" cy="566928"/>
          </a:xfrm>
          <a:prstGeom prst="roundRect">
            <a:avLst>
              <a:gd name="adj" fmla="val 9677"/>
            </a:avLst>
          </a:prstGeom>
          <a:solidFill>
            <a:srgbClr val="FDF0DC"/>
          </a:solidFill>
          <a:ln w="12700">
            <a:solidFill>
              <a:srgbClr val="EE8100"/>
            </a:solidFill>
            <a:prstDash val="dash"/>
          </a:ln>
        </p:spPr>
      </p:sp>
      <p:sp>
        <p:nvSpPr>
          <p:cNvPr id="19" name="Text 17"/>
          <p:cNvSpPr txBox="1"/>
          <p:nvPr/>
        </p:nvSpPr>
        <p:spPr>
          <a:xfrm>
            <a:off x="859536" y="2295144"/>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the evidence-backed problem</a:t>
            </a:r>
            <a:endParaRPr lang="en-US" sz="880" dirty="0"/>
          </a:p>
        </p:txBody>
      </p:sp>
      <p:sp>
        <p:nvSpPr>
          <p:cNvPr id="20" name="Text 18"/>
          <p:cNvSpPr txBox="1"/>
          <p:nvPr/>
        </p:nvSpPr>
        <p:spPr>
          <a:xfrm>
            <a:off x="749808" y="2862072"/>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WHY IT MATTERS</a:t>
            </a:r>
            <a:endParaRPr lang="en-US" sz="850" dirty="0"/>
          </a:p>
        </p:txBody>
      </p:sp>
      <p:sp>
        <p:nvSpPr>
          <p:cNvPr id="21" name="Shape 19"/>
          <p:cNvSpPr/>
          <p:nvPr/>
        </p:nvSpPr>
        <p:spPr>
          <a:xfrm>
            <a:off x="749808" y="3044952"/>
            <a:ext cx="3163824" cy="566928"/>
          </a:xfrm>
          <a:prstGeom prst="roundRect">
            <a:avLst>
              <a:gd name="adj" fmla="val 9677"/>
            </a:avLst>
          </a:prstGeom>
          <a:solidFill>
            <a:srgbClr val="FDF0DC"/>
          </a:solidFill>
          <a:ln w="12700">
            <a:solidFill>
              <a:srgbClr val="EE8100"/>
            </a:solidFill>
            <a:prstDash val="dash"/>
          </a:ln>
        </p:spPr>
      </p:sp>
      <p:sp>
        <p:nvSpPr>
          <p:cNvPr id="22" name="Text 20"/>
          <p:cNvSpPr txBox="1"/>
          <p:nvPr/>
        </p:nvSpPr>
        <p:spPr>
          <a:xfrm>
            <a:off x="859536" y="3081528"/>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the consequence</a:t>
            </a:r>
            <a:endParaRPr lang="en-US" sz="880" dirty="0"/>
          </a:p>
        </p:txBody>
      </p:sp>
      <p:sp>
        <p:nvSpPr>
          <p:cNvPr id="23" name="Text 21"/>
          <p:cNvSpPr txBox="1"/>
          <p:nvPr/>
        </p:nvSpPr>
        <p:spPr>
          <a:xfrm>
            <a:off x="749808" y="3648456"/>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INSIGHT</a:t>
            </a:r>
            <a:endParaRPr lang="en-US" sz="850" dirty="0"/>
          </a:p>
        </p:txBody>
      </p:sp>
      <p:sp>
        <p:nvSpPr>
          <p:cNvPr id="24" name="Shape 22"/>
          <p:cNvSpPr/>
          <p:nvPr/>
        </p:nvSpPr>
        <p:spPr>
          <a:xfrm>
            <a:off x="749808" y="3831336"/>
            <a:ext cx="3163824" cy="566928"/>
          </a:xfrm>
          <a:prstGeom prst="roundRect">
            <a:avLst>
              <a:gd name="adj" fmla="val 9677"/>
            </a:avLst>
          </a:prstGeom>
          <a:solidFill>
            <a:srgbClr val="FDF0DC"/>
          </a:solidFill>
          <a:ln w="12700">
            <a:solidFill>
              <a:srgbClr val="EE8100"/>
            </a:solidFill>
            <a:prstDash val="dash"/>
          </a:ln>
        </p:spPr>
      </p:sp>
      <p:sp>
        <p:nvSpPr>
          <p:cNvPr id="25" name="Text 23"/>
          <p:cNvSpPr txBox="1"/>
          <p:nvPr/>
        </p:nvSpPr>
        <p:spPr>
          <a:xfrm>
            <a:off x="859536" y="3867912"/>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what explains it underneath</a:t>
            </a:r>
            <a:endParaRPr lang="en-US" sz="880" dirty="0"/>
          </a:p>
        </p:txBody>
      </p:sp>
      <p:sp>
        <p:nvSpPr>
          <p:cNvPr id="26" name="Text 24"/>
          <p:cNvSpPr txBox="1"/>
          <p:nvPr/>
        </p:nvSpPr>
        <p:spPr>
          <a:xfrm>
            <a:off x="749808" y="4434840"/>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STILL UNCERTAIN</a:t>
            </a:r>
            <a:endParaRPr lang="en-US" sz="850" dirty="0"/>
          </a:p>
        </p:txBody>
      </p:sp>
      <p:sp>
        <p:nvSpPr>
          <p:cNvPr id="27" name="Shape 25"/>
          <p:cNvSpPr/>
          <p:nvPr/>
        </p:nvSpPr>
        <p:spPr>
          <a:xfrm>
            <a:off x="749808" y="4617720"/>
            <a:ext cx="3163824" cy="310896"/>
          </a:xfrm>
          <a:prstGeom prst="roundRect">
            <a:avLst>
              <a:gd name="adj" fmla="val 17647"/>
            </a:avLst>
          </a:prstGeom>
          <a:solidFill>
            <a:srgbClr val="FDF0DC"/>
          </a:solidFill>
          <a:ln w="12700">
            <a:solidFill>
              <a:srgbClr val="EE8100"/>
            </a:solidFill>
            <a:prstDash val="dash"/>
          </a:ln>
        </p:spPr>
      </p:sp>
      <p:sp>
        <p:nvSpPr>
          <p:cNvPr id="28" name="Text 26"/>
          <p:cNvSpPr txBox="1"/>
          <p:nvPr/>
        </p:nvSpPr>
        <p:spPr>
          <a:xfrm>
            <a:off x="859536" y="4654296"/>
            <a:ext cx="2944368" cy="237744"/>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what this still needs to validate</a:t>
            </a:r>
            <a:endParaRPr lang="en-US" sz="880" dirty="0"/>
          </a:p>
        </p:txBody>
      </p:sp>
      <p:sp>
        <p:nvSpPr>
          <p:cNvPr id="29" name="Shape 27"/>
          <p:cNvSpPr/>
          <p:nvPr/>
        </p:nvSpPr>
        <p:spPr>
          <a:xfrm>
            <a:off x="4315968" y="1508760"/>
            <a:ext cx="3566160" cy="3429000"/>
          </a:xfrm>
          <a:prstGeom prst="roundRect">
            <a:avLst>
              <a:gd name="adj" fmla="val 2133"/>
            </a:avLst>
          </a:prstGeom>
          <a:solidFill>
            <a:srgbClr val="FFFFFF"/>
          </a:solidFill>
          <a:ln w="9525">
            <a:solidFill>
              <a:srgbClr val="C9D5CE"/>
            </a:solidFill>
            <a:prstDash val="solid"/>
          </a:ln>
        </p:spPr>
      </p:sp>
      <p:sp>
        <p:nvSpPr>
          <p:cNvPr id="30" name="Shape 28"/>
          <p:cNvSpPr/>
          <p:nvPr/>
        </p:nvSpPr>
        <p:spPr>
          <a:xfrm>
            <a:off x="4517136" y="1673352"/>
            <a:ext cx="365760" cy="365760"/>
          </a:xfrm>
          <a:prstGeom prst="ellipse">
            <a:avLst/>
          </a:prstGeom>
          <a:solidFill>
            <a:srgbClr val="154B36"/>
          </a:solidFill>
          <a:ln/>
        </p:spPr>
      </p:sp>
      <p:sp>
        <p:nvSpPr>
          <p:cNvPr id="31" name="Text 29"/>
          <p:cNvSpPr txBox="1"/>
          <p:nvPr/>
        </p:nvSpPr>
        <p:spPr>
          <a:xfrm>
            <a:off x="4517136" y="16733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2" name="Shape 30"/>
          <p:cNvSpPr/>
          <p:nvPr/>
        </p:nvSpPr>
        <p:spPr>
          <a:xfrm>
            <a:off x="4956048" y="1691640"/>
            <a:ext cx="2724912" cy="329184"/>
          </a:xfrm>
          <a:prstGeom prst="roundRect">
            <a:avLst>
              <a:gd name="adj" fmla="val 16667"/>
            </a:avLst>
          </a:prstGeom>
          <a:solidFill>
            <a:srgbClr val="FDF0DC"/>
          </a:solidFill>
          <a:ln w="12700">
            <a:solidFill>
              <a:srgbClr val="EE8100"/>
            </a:solidFill>
            <a:prstDash val="dash"/>
          </a:ln>
        </p:spPr>
      </p:sp>
      <p:sp>
        <p:nvSpPr>
          <p:cNvPr id="33" name="Text 31"/>
          <p:cNvSpPr txBox="1"/>
          <p:nvPr/>
        </p:nvSpPr>
        <p:spPr>
          <a:xfrm>
            <a:off x="5065776" y="1728216"/>
            <a:ext cx="2505456" cy="256032"/>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short name for this opportunity</a:t>
            </a:r>
            <a:endParaRPr lang="en-US" sz="950" dirty="0"/>
          </a:p>
        </p:txBody>
      </p:sp>
      <p:sp>
        <p:nvSpPr>
          <p:cNvPr id="34" name="Text 32"/>
          <p:cNvSpPr txBox="1"/>
          <p:nvPr/>
        </p:nvSpPr>
        <p:spPr>
          <a:xfrm>
            <a:off x="4517136" y="2075688"/>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WHAT HAPPENS?</a:t>
            </a:r>
            <a:endParaRPr lang="en-US" sz="850" dirty="0"/>
          </a:p>
        </p:txBody>
      </p:sp>
      <p:sp>
        <p:nvSpPr>
          <p:cNvPr id="35" name="Shape 33"/>
          <p:cNvSpPr/>
          <p:nvPr/>
        </p:nvSpPr>
        <p:spPr>
          <a:xfrm>
            <a:off x="4517136" y="2258568"/>
            <a:ext cx="3163824" cy="566928"/>
          </a:xfrm>
          <a:prstGeom prst="roundRect">
            <a:avLst>
              <a:gd name="adj" fmla="val 9677"/>
            </a:avLst>
          </a:prstGeom>
          <a:solidFill>
            <a:srgbClr val="FDF0DC"/>
          </a:solidFill>
          <a:ln w="12700">
            <a:solidFill>
              <a:srgbClr val="EE8100"/>
            </a:solidFill>
            <a:prstDash val="dash"/>
          </a:ln>
        </p:spPr>
      </p:sp>
      <p:sp>
        <p:nvSpPr>
          <p:cNvPr id="36" name="Text 34"/>
          <p:cNvSpPr txBox="1"/>
          <p:nvPr/>
        </p:nvSpPr>
        <p:spPr>
          <a:xfrm>
            <a:off x="4626864" y="2295144"/>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the evidence-backed problem</a:t>
            </a:r>
            <a:endParaRPr lang="en-US" sz="880" dirty="0"/>
          </a:p>
        </p:txBody>
      </p:sp>
      <p:sp>
        <p:nvSpPr>
          <p:cNvPr id="37" name="Text 35"/>
          <p:cNvSpPr txBox="1"/>
          <p:nvPr/>
        </p:nvSpPr>
        <p:spPr>
          <a:xfrm>
            <a:off x="4517136" y="2862072"/>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WHY IT MATTERS</a:t>
            </a:r>
            <a:endParaRPr lang="en-US" sz="850" dirty="0"/>
          </a:p>
        </p:txBody>
      </p:sp>
      <p:sp>
        <p:nvSpPr>
          <p:cNvPr id="38" name="Shape 36"/>
          <p:cNvSpPr/>
          <p:nvPr/>
        </p:nvSpPr>
        <p:spPr>
          <a:xfrm>
            <a:off x="4517136" y="3044952"/>
            <a:ext cx="3163824" cy="566928"/>
          </a:xfrm>
          <a:prstGeom prst="roundRect">
            <a:avLst>
              <a:gd name="adj" fmla="val 9677"/>
            </a:avLst>
          </a:prstGeom>
          <a:solidFill>
            <a:srgbClr val="FDF0DC"/>
          </a:solidFill>
          <a:ln w="12700">
            <a:solidFill>
              <a:srgbClr val="EE8100"/>
            </a:solidFill>
            <a:prstDash val="dash"/>
          </a:ln>
        </p:spPr>
      </p:sp>
      <p:sp>
        <p:nvSpPr>
          <p:cNvPr id="39" name="Text 37"/>
          <p:cNvSpPr txBox="1"/>
          <p:nvPr/>
        </p:nvSpPr>
        <p:spPr>
          <a:xfrm>
            <a:off x="4626864" y="3081528"/>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the consequence</a:t>
            </a:r>
            <a:endParaRPr lang="en-US" sz="880" dirty="0"/>
          </a:p>
        </p:txBody>
      </p:sp>
      <p:sp>
        <p:nvSpPr>
          <p:cNvPr id="40" name="Text 38"/>
          <p:cNvSpPr txBox="1"/>
          <p:nvPr/>
        </p:nvSpPr>
        <p:spPr>
          <a:xfrm>
            <a:off x="4517136" y="3648456"/>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INSIGHT</a:t>
            </a:r>
            <a:endParaRPr lang="en-US" sz="850" dirty="0"/>
          </a:p>
        </p:txBody>
      </p:sp>
      <p:sp>
        <p:nvSpPr>
          <p:cNvPr id="41" name="Shape 39"/>
          <p:cNvSpPr/>
          <p:nvPr/>
        </p:nvSpPr>
        <p:spPr>
          <a:xfrm>
            <a:off x="4517136" y="3831336"/>
            <a:ext cx="3163824" cy="566928"/>
          </a:xfrm>
          <a:prstGeom prst="roundRect">
            <a:avLst>
              <a:gd name="adj" fmla="val 9677"/>
            </a:avLst>
          </a:prstGeom>
          <a:solidFill>
            <a:srgbClr val="FDF0DC"/>
          </a:solidFill>
          <a:ln w="12700">
            <a:solidFill>
              <a:srgbClr val="EE8100"/>
            </a:solidFill>
            <a:prstDash val="dash"/>
          </a:ln>
        </p:spPr>
      </p:sp>
      <p:sp>
        <p:nvSpPr>
          <p:cNvPr id="42" name="Text 40"/>
          <p:cNvSpPr txBox="1"/>
          <p:nvPr/>
        </p:nvSpPr>
        <p:spPr>
          <a:xfrm>
            <a:off x="4626864" y="3867912"/>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what explains it underneath</a:t>
            </a:r>
            <a:endParaRPr lang="en-US" sz="880" dirty="0"/>
          </a:p>
        </p:txBody>
      </p:sp>
      <p:sp>
        <p:nvSpPr>
          <p:cNvPr id="43" name="Text 41"/>
          <p:cNvSpPr txBox="1"/>
          <p:nvPr/>
        </p:nvSpPr>
        <p:spPr>
          <a:xfrm>
            <a:off x="4517136" y="4434840"/>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STILL UNCERTAIN</a:t>
            </a:r>
            <a:endParaRPr lang="en-US" sz="850" dirty="0"/>
          </a:p>
        </p:txBody>
      </p:sp>
      <p:sp>
        <p:nvSpPr>
          <p:cNvPr id="44" name="Shape 42"/>
          <p:cNvSpPr/>
          <p:nvPr/>
        </p:nvSpPr>
        <p:spPr>
          <a:xfrm>
            <a:off x="4517136" y="4617720"/>
            <a:ext cx="3163824" cy="310896"/>
          </a:xfrm>
          <a:prstGeom prst="roundRect">
            <a:avLst>
              <a:gd name="adj" fmla="val 17647"/>
            </a:avLst>
          </a:prstGeom>
          <a:solidFill>
            <a:srgbClr val="FDF0DC"/>
          </a:solidFill>
          <a:ln w="12700">
            <a:solidFill>
              <a:srgbClr val="EE8100"/>
            </a:solidFill>
            <a:prstDash val="dash"/>
          </a:ln>
        </p:spPr>
      </p:sp>
      <p:sp>
        <p:nvSpPr>
          <p:cNvPr id="45" name="Text 43"/>
          <p:cNvSpPr txBox="1"/>
          <p:nvPr/>
        </p:nvSpPr>
        <p:spPr>
          <a:xfrm>
            <a:off x="4626864" y="4654296"/>
            <a:ext cx="2944368" cy="237744"/>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what this still needs to validate</a:t>
            </a:r>
            <a:endParaRPr lang="en-US" sz="880" dirty="0"/>
          </a:p>
        </p:txBody>
      </p:sp>
      <p:sp>
        <p:nvSpPr>
          <p:cNvPr id="46" name="Shape 44"/>
          <p:cNvSpPr/>
          <p:nvPr/>
        </p:nvSpPr>
        <p:spPr>
          <a:xfrm>
            <a:off x="8083296" y="1508760"/>
            <a:ext cx="3566160" cy="3429000"/>
          </a:xfrm>
          <a:prstGeom prst="roundRect">
            <a:avLst>
              <a:gd name="adj" fmla="val 2133"/>
            </a:avLst>
          </a:prstGeom>
          <a:solidFill>
            <a:srgbClr val="FFFFFF"/>
          </a:solidFill>
          <a:ln w="9525">
            <a:solidFill>
              <a:srgbClr val="C9D5CE"/>
            </a:solidFill>
            <a:prstDash val="solid"/>
          </a:ln>
        </p:spPr>
      </p:sp>
      <p:sp>
        <p:nvSpPr>
          <p:cNvPr id="47" name="Shape 45"/>
          <p:cNvSpPr/>
          <p:nvPr/>
        </p:nvSpPr>
        <p:spPr>
          <a:xfrm>
            <a:off x="8284464" y="1673352"/>
            <a:ext cx="365760" cy="365760"/>
          </a:xfrm>
          <a:prstGeom prst="ellipse">
            <a:avLst/>
          </a:prstGeom>
          <a:solidFill>
            <a:srgbClr val="154B36"/>
          </a:solidFill>
          <a:ln/>
        </p:spPr>
      </p:sp>
      <p:sp>
        <p:nvSpPr>
          <p:cNvPr id="48" name="Text 46"/>
          <p:cNvSpPr txBox="1"/>
          <p:nvPr/>
        </p:nvSpPr>
        <p:spPr>
          <a:xfrm>
            <a:off x="8284464" y="16733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49" name="Shape 47"/>
          <p:cNvSpPr/>
          <p:nvPr/>
        </p:nvSpPr>
        <p:spPr>
          <a:xfrm>
            <a:off x="8723376" y="1691640"/>
            <a:ext cx="2724912" cy="329184"/>
          </a:xfrm>
          <a:prstGeom prst="roundRect">
            <a:avLst>
              <a:gd name="adj" fmla="val 16667"/>
            </a:avLst>
          </a:prstGeom>
          <a:solidFill>
            <a:srgbClr val="FDF0DC"/>
          </a:solidFill>
          <a:ln w="12700">
            <a:solidFill>
              <a:srgbClr val="EE8100"/>
            </a:solidFill>
            <a:prstDash val="dash"/>
          </a:ln>
        </p:spPr>
      </p:sp>
      <p:sp>
        <p:nvSpPr>
          <p:cNvPr id="50" name="Text 48"/>
          <p:cNvSpPr txBox="1"/>
          <p:nvPr/>
        </p:nvSpPr>
        <p:spPr>
          <a:xfrm>
            <a:off x="8833104" y="1728216"/>
            <a:ext cx="2505456" cy="256032"/>
          </a:xfrm>
          <a:prstGeom prst="rect">
            <a:avLst/>
          </a:prstGeom>
          <a:noFill/>
          <a:ln/>
        </p:spPr>
        <p:txBody>
          <a:bodyPr wrap="square" lIns="0" tIns="0" rIns="0" bIns="0" rtlCol="0" anchor="ctr"/>
          <a:lstStyle/>
          <a:p>
            <a:pPr algn="l" indent="0" marL="0">
              <a:buNone/>
            </a:pPr>
            <a:r>
              <a:rPr lang="en-US" sz="950" i="1" dirty="0">
                <a:solidFill>
                  <a:srgbClr val="A85A00"/>
                </a:solidFill>
                <a:latin typeface="Calibri" pitchFamily="34" charset="0"/>
                <a:ea typeface="Calibri" pitchFamily="34" charset="-122"/>
                <a:cs typeface="Calibri" pitchFamily="34" charset="-120"/>
              </a:rPr>
              <a:t>INSERT short name for this opportunity</a:t>
            </a:r>
            <a:endParaRPr lang="en-US" sz="950" dirty="0"/>
          </a:p>
        </p:txBody>
      </p:sp>
      <p:sp>
        <p:nvSpPr>
          <p:cNvPr id="51" name="Text 49"/>
          <p:cNvSpPr txBox="1"/>
          <p:nvPr/>
        </p:nvSpPr>
        <p:spPr>
          <a:xfrm>
            <a:off x="8284464" y="2075688"/>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WHAT HAPPENS?</a:t>
            </a:r>
            <a:endParaRPr lang="en-US" sz="850" dirty="0"/>
          </a:p>
        </p:txBody>
      </p:sp>
      <p:sp>
        <p:nvSpPr>
          <p:cNvPr id="52" name="Shape 50"/>
          <p:cNvSpPr/>
          <p:nvPr/>
        </p:nvSpPr>
        <p:spPr>
          <a:xfrm>
            <a:off x="8284464" y="2258568"/>
            <a:ext cx="3163824" cy="566928"/>
          </a:xfrm>
          <a:prstGeom prst="roundRect">
            <a:avLst>
              <a:gd name="adj" fmla="val 9677"/>
            </a:avLst>
          </a:prstGeom>
          <a:solidFill>
            <a:srgbClr val="FDF0DC"/>
          </a:solidFill>
          <a:ln w="12700">
            <a:solidFill>
              <a:srgbClr val="EE8100"/>
            </a:solidFill>
            <a:prstDash val="dash"/>
          </a:ln>
        </p:spPr>
      </p:sp>
      <p:sp>
        <p:nvSpPr>
          <p:cNvPr id="53" name="Text 51"/>
          <p:cNvSpPr txBox="1"/>
          <p:nvPr/>
        </p:nvSpPr>
        <p:spPr>
          <a:xfrm>
            <a:off x="8394192" y="2295144"/>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the evidence-backed problem</a:t>
            </a:r>
            <a:endParaRPr lang="en-US" sz="880" dirty="0"/>
          </a:p>
        </p:txBody>
      </p:sp>
      <p:sp>
        <p:nvSpPr>
          <p:cNvPr id="54" name="Text 52"/>
          <p:cNvSpPr txBox="1"/>
          <p:nvPr/>
        </p:nvSpPr>
        <p:spPr>
          <a:xfrm>
            <a:off x="8284464" y="2862072"/>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WHY IT MATTERS</a:t>
            </a:r>
            <a:endParaRPr lang="en-US" sz="850" dirty="0"/>
          </a:p>
        </p:txBody>
      </p:sp>
      <p:sp>
        <p:nvSpPr>
          <p:cNvPr id="55" name="Shape 53"/>
          <p:cNvSpPr/>
          <p:nvPr/>
        </p:nvSpPr>
        <p:spPr>
          <a:xfrm>
            <a:off x="8284464" y="3044952"/>
            <a:ext cx="3163824" cy="566928"/>
          </a:xfrm>
          <a:prstGeom prst="roundRect">
            <a:avLst>
              <a:gd name="adj" fmla="val 9677"/>
            </a:avLst>
          </a:prstGeom>
          <a:solidFill>
            <a:srgbClr val="FDF0DC"/>
          </a:solidFill>
          <a:ln w="12700">
            <a:solidFill>
              <a:srgbClr val="EE8100"/>
            </a:solidFill>
            <a:prstDash val="dash"/>
          </a:ln>
        </p:spPr>
      </p:sp>
      <p:sp>
        <p:nvSpPr>
          <p:cNvPr id="56" name="Text 54"/>
          <p:cNvSpPr txBox="1"/>
          <p:nvPr/>
        </p:nvSpPr>
        <p:spPr>
          <a:xfrm>
            <a:off x="8394192" y="3081528"/>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the consequence</a:t>
            </a:r>
            <a:endParaRPr lang="en-US" sz="880" dirty="0"/>
          </a:p>
        </p:txBody>
      </p:sp>
      <p:sp>
        <p:nvSpPr>
          <p:cNvPr id="57" name="Text 55"/>
          <p:cNvSpPr txBox="1"/>
          <p:nvPr/>
        </p:nvSpPr>
        <p:spPr>
          <a:xfrm>
            <a:off x="8284464" y="3648456"/>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INSIGHT</a:t>
            </a:r>
            <a:endParaRPr lang="en-US" sz="850" dirty="0"/>
          </a:p>
        </p:txBody>
      </p:sp>
      <p:sp>
        <p:nvSpPr>
          <p:cNvPr id="58" name="Shape 56"/>
          <p:cNvSpPr/>
          <p:nvPr/>
        </p:nvSpPr>
        <p:spPr>
          <a:xfrm>
            <a:off x="8284464" y="3831336"/>
            <a:ext cx="3163824" cy="566928"/>
          </a:xfrm>
          <a:prstGeom prst="roundRect">
            <a:avLst>
              <a:gd name="adj" fmla="val 9677"/>
            </a:avLst>
          </a:prstGeom>
          <a:solidFill>
            <a:srgbClr val="FDF0DC"/>
          </a:solidFill>
          <a:ln w="12700">
            <a:solidFill>
              <a:srgbClr val="EE8100"/>
            </a:solidFill>
            <a:prstDash val="dash"/>
          </a:ln>
        </p:spPr>
      </p:sp>
      <p:sp>
        <p:nvSpPr>
          <p:cNvPr id="59" name="Text 57"/>
          <p:cNvSpPr txBox="1"/>
          <p:nvPr/>
        </p:nvSpPr>
        <p:spPr>
          <a:xfrm>
            <a:off x="8394192" y="3867912"/>
            <a:ext cx="2944368" cy="493776"/>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what explains it underneath</a:t>
            </a:r>
            <a:endParaRPr lang="en-US" sz="880" dirty="0"/>
          </a:p>
        </p:txBody>
      </p:sp>
      <p:sp>
        <p:nvSpPr>
          <p:cNvPr id="60" name="Text 58"/>
          <p:cNvSpPr txBox="1"/>
          <p:nvPr/>
        </p:nvSpPr>
        <p:spPr>
          <a:xfrm>
            <a:off x="8284464" y="4434840"/>
            <a:ext cx="3108960" cy="201168"/>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STILL UNCERTAIN</a:t>
            </a:r>
            <a:endParaRPr lang="en-US" sz="850" dirty="0"/>
          </a:p>
        </p:txBody>
      </p:sp>
      <p:sp>
        <p:nvSpPr>
          <p:cNvPr id="61" name="Shape 59"/>
          <p:cNvSpPr/>
          <p:nvPr/>
        </p:nvSpPr>
        <p:spPr>
          <a:xfrm>
            <a:off x="8284464" y="4617720"/>
            <a:ext cx="3163824" cy="310896"/>
          </a:xfrm>
          <a:prstGeom prst="roundRect">
            <a:avLst>
              <a:gd name="adj" fmla="val 17647"/>
            </a:avLst>
          </a:prstGeom>
          <a:solidFill>
            <a:srgbClr val="FDF0DC"/>
          </a:solidFill>
          <a:ln w="12700">
            <a:solidFill>
              <a:srgbClr val="EE8100"/>
            </a:solidFill>
            <a:prstDash val="dash"/>
          </a:ln>
        </p:spPr>
      </p:sp>
      <p:sp>
        <p:nvSpPr>
          <p:cNvPr id="62" name="Text 60"/>
          <p:cNvSpPr txBox="1"/>
          <p:nvPr/>
        </p:nvSpPr>
        <p:spPr>
          <a:xfrm>
            <a:off x="8394192" y="4654296"/>
            <a:ext cx="2944368" cy="237744"/>
          </a:xfrm>
          <a:prstGeom prst="rect">
            <a:avLst/>
          </a:prstGeom>
          <a:noFill/>
          <a:ln/>
        </p:spPr>
        <p:txBody>
          <a:bodyPr wrap="square" lIns="0" tIns="0" rIns="0" bIns="0" rtlCol="0" anchor="ctr"/>
          <a:lstStyle/>
          <a:p>
            <a:pPr algn="l" indent="0" marL="0">
              <a:buNone/>
            </a:pPr>
            <a:r>
              <a:rPr lang="en-US" sz="880" i="1" dirty="0">
                <a:solidFill>
                  <a:srgbClr val="A85A00"/>
                </a:solidFill>
                <a:latin typeface="Calibri" pitchFamily="34" charset="0"/>
                <a:ea typeface="Calibri" pitchFamily="34" charset="-122"/>
                <a:cs typeface="Calibri" pitchFamily="34" charset="-120"/>
              </a:rPr>
              <a:t>INSERT what this still needs to validate</a:t>
            </a:r>
            <a:endParaRPr lang="en-US" sz="880" dirty="0"/>
          </a:p>
        </p:txBody>
      </p:sp>
      <p:sp>
        <p:nvSpPr>
          <p:cNvPr id="63" name="Shape 61"/>
          <p:cNvSpPr/>
          <p:nvPr/>
        </p:nvSpPr>
        <p:spPr>
          <a:xfrm>
            <a:off x="548640" y="5074920"/>
            <a:ext cx="11091672" cy="1051560"/>
          </a:xfrm>
          <a:prstGeom prst="roundRect">
            <a:avLst>
              <a:gd name="adj" fmla="val 6957"/>
            </a:avLst>
          </a:prstGeom>
          <a:solidFill>
            <a:srgbClr val="154B36"/>
          </a:solidFill>
          <a:ln/>
        </p:spPr>
      </p:sp>
      <p:sp>
        <p:nvSpPr>
          <p:cNvPr id="64" name="Text 62"/>
          <p:cNvSpPr txBox="1"/>
          <p:nvPr/>
        </p:nvSpPr>
        <p:spPr>
          <a:xfrm>
            <a:off x="777240" y="5193792"/>
            <a:ext cx="73152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REMAINING QUESTIONS — not yet answered by this research</a:t>
            </a:r>
            <a:endParaRPr lang="en-US" sz="1000" dirty="0"/>
          </a:p>
        </p:txBody>
      </p:sp>
      <p:sp>
        <p:nvSpPr>
          <p:cNvPr id="65" name="Shape 63"/>
          <p:cNvSpPr/>
          <p:nvPr/>
        </p:nvSpPr>
        <p:spPr>
          <a:xfrm>
            <a:off x="777240" y="5468112"/>
            <a:ext cx="3392424" cy="566928"/>
          </a:xfrm>
          <a:prstGeom prst="roundRect">
            <a:avLst>
              <a:gd name="adj" fmla="val 9677"/>
            </a:avLst>
          </a:prstGeom>
          <a:solidFill>
            <a:srgbClr val="1E6047"/>
          </a:solidFill>
          <a:ln w="6350">
            <a:solidFill>
              <a:srgbClr val="1E6047"/>
            </a:solidFill>
            <a:prstDash val="solid"/>
          </a:ln>
        </p:spPr>
      </p:sp>
      <p:sp>
        <p:nvSpPr>
          <p:cNvPr id="66" name="Text 64"/>
          <p:cNvSpPr txBox="1"/>
          <p:nvPr/>
        </p:nvSpPr>
        <p:spPr>
          <a:xfrm>
            <a:off x="886968" y="5468112"/>
            <a:ext cx="3172968" cy="56692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Who pays for this — shopper, retailer or health partner — is still unresolved from Assignment 2.</a:t>
            </a:r>
            <a:endParaRPr lang="en-US" sz="900" dirty="0"/>
          </a:p>
        </p:txBody>
      </p:sp>
      <p:sp>
        <p:nvSpPr>
          <p:cNvPr id="67" name="Shape 65"/>
          <p:cNvSpPr/>
          <p:nvPr/>
        </p:nvSpPr>
        <p:spPr>
          <a:xfrm>
            <a:off x="4352544" y="5468112"/>
            <a:ext cx="3392424" cy="566928"/>
          </a:xfrm>
          <a:prstGeom prst="roundRect">
            <a:avLst>
              <a:gd name="adj" fmla="val 9677"/>
            </a:avLst>
          </a:prstGeom>
          <a:solidFill>
            <a:srgbClr val="1E6047"/>
          </a:solidFill>
          <a:ln w="9525">
            <a:solidFill>
              <a:srgbClr val="F5A623"/>
            </a:solidFill>
            <a:prstDash val="dash"/>
          </a:ln>
        </p:spPr>
      </p:sp>
      <p:sp>
        <p:nvSpPr>
          <p:cNvPr id="68" name="Text 66"/>
          <p:cNvSpPr txBox="1"/>
          <p:nvPr/>
        </p:nvSpPr>
        <p:spPr>
          <a:xfrm>
            <a:off x="4462272" y="5468112"/>
            <a:ext cx="3172968" cy="566928"/>
          </a:xfrm>
          <a:prstGeom prst="rect">
            <a:avLst/>
          </a:prstGeom>
          <a:noFill/>
          <a:ln/>
        </p:spPr>
        <p:txBody>
          <a:bodyPr wrap="square" lIns="0" tIns="0" rIns="0" bIns="0" rtlCol="0" anchor="ctr"/>
          <a:lstStyle/>
          <a:p>
            <a:pPr indent="0" marL="0">
              <a:buNone/>
            </a:pPr>
            <a:r>
              <a:rPr lang="en-US" sz="900" i="1" dirty="0">
                <a:solidFill>
                  <a:srgbClr val="FFE2B0"/>
                </a:solidFill>
                <a:latin typeface="Calibri" pitchFamily="34" charset="0"/>
                <a:ea typeface="Calibri" pitchFamily="34" charset="-122"/>
                <a:cs typeface="Calibri" pitchFamily="34" charset="-120"/>
              </a:rPr>
              <a:t>INSERT a question this research raised but did not answer.</a:t>
            </a:r>
            <a:endParaRPr lang="en-US" sz="900" dirty="0"/>
          </a:p>
        </p:txBody>
      </p:sp>
      <p:sp>
        <p:nvSpPr>
          <p:cNvPr id="69" name="Shape 67"/>
          <p:cNvSpPr/>
          <p:nvPr/>
        </p:nvSpPr>
        <p:spPr>
          <a:xfrm>
            <a:off x="7927848" y="5468112"/>
            <a:ext cx="3392424" cy="566928"/>
          </a:xfrm>
          <a:prstGeom prst="roundRect">
            <a:avLst>
              <a:gd name="adj" fmla="val 9677"/>
            </a:avLst>
          </a:prstGeom>
          <a:solidFill>
            <a:srgbClr val="1E6047"/>
          </a:solidFill>
          <a:ln w="9525">
            <a:solidFill>
              <a:srgbClr val="F5A623"/>
            </a:solidFill>
            <a:prstDash val="dash"/>
          </a:ln>
        </p:spPr>
      </p:sp>
      <p:sp>
        <p:nvSpPr>
          <p:cNvPr id="70" name="Text 68"/>
          <p:cNvSpPr txBox="1"/>
          <p:nvPr/>
        </p:nvSpPr>
        <p:spPr>
          <a:xfrm>
            <a:off x="8037576" y="5468112"/>
            <a:ext cx="3172968" cy="566928"/>
          </a:xfrm>
          <a:prstGeom prst="rect">
            <a:avLst/>
          </a:prstGeom>
          <a:noFill/>
          <a:ln/>
        </p:spPr>
        <p:txBody>
          <a:bodyPr wrap="square" lIns="0" tIns="0" rIns="0" bIns="0" rtlCol="0" anchor="ctr"/>
          <a:lstStyle/>
          <a:p>
            <a:pPr indent="0" marL="0">
              <a:buNone/>
            </a:pPr>
            <a:r>
              <a:rPr lang="en-US" sz="900" i="1" dirty="0">
                <a:solidFill>
                  <a:srgbClr val="FFE2B0"/>
                </a:solidFill>
                <a:latin typeface="Calibri" pitchFamily="34" charset="0"/>
                <a:ea typeface="Calibri" pitchFamily="34" charset="-122"/>
                <a:cs typeface="Calibri" pitchFamily="34" charset="-120"/>
              </a:rPr>
              <a:t>INSERT a question this research raised but did not answer.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3: Research to Persona &amp; Journey Map</dc:title>
  <dc:subject>PptxGenJS Presentation</dc:subject>
  <dc:creator>Kibet, NUT-04</dc:creator>
  <cp:lastModifiedBy>Kibet, NUT-04</cp:lastModifiedBy>
  <cp:revision>1</cp:revision>
  <dcterms:created xsi:type="dcterms:W3CDTF">2026-10-01T11:44:51Z</dcterms:created>
  <dcterms:modified xsi:type="dcterms:W3CDTF">2026-10-01T11:44:51Z</dcterms:modified>
</cp:coreProperties>
</file>