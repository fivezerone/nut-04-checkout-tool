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HOOK
Nine plates, one evidence chain: from a symptom we can name, down to a concept we can actually test.
THE CORE ARGUMENT
1. Every plate in this deck is filled using evidence already established in Assignments 1 to 3 (desk research, Segment A, the persona, the journey map) plus the technical audit findings already on file for NutriScore.
2. The ideation plates (HMW, Crazy 8s, Alternative Concepts, Convergence) are drafted as a strong starting point for team discussion — "Team work" literally means agree, compare and converge together, so treat these as a first pass to react to, not a final answer.
3. One plate is deliberately honest about its limits: the Problem Validation Decision plate flags that we have desk evidence, not field evidence, for the "challenges it" box — that gap is exactly what Assignments 1 and 3's interviews are for.
THE TRANSITION
We start where good problem-solving always starts: not with the idea, but with the root cause.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HOOK
Five whys, one honest root cause: the problem isn’t a missing feature, it’s two systems in Kenya that have never been connected.
THE CORE ARGUMENT
1. Each "why" traces back to a fact already established in the earlier assignments — Food-EPI 2020, the ATNi/EAMA label-completeness finding, and the NutriScore project’s own origin story — so nothing here is invented for the exercise.
2. The root cause is deliberately systemic, not product-shaped: it describes a gap in Kenya’s information environment, which is what makes it something we can design around rather than just patch.
3. This individual exercise is meant to be redone per team member before converging; use this version as a model of the pattern, not the only valid chain.
THE TRANSITION
With a root cause in hand, the team checks the original problem statement against it before generating anything new.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HOOK
Before anyone sketches a solution, the team has to agree: is the problem still the problem?
THE CORE ARGUMENT
1. The supporting evidence is everything established across the three prior assignments; nothing here is new.
2. The challenging evidence is stated honestly: we have no field pushback yet, only two internal risks we already flagged ourselves — low felt urgency in the larger unaware segment, and today’s catalogue-coverage ceiling.
3. The decision is "keep, narrowed" rather than a full "validated," because Assignment 1 and 3’s interview requirement hasn’t been met yet — this plate should be revisited once those conversations happen.
THE TRANSITION
The revised statement becomes the launchpad for the How Might We questions,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HOOK
Three different doors into the same root cause — the team picks one to walk through for ideation.
THE CORE ARGUMENT
1. Each HMW is traceable straight back to the root-cause chain and Segment A, and deliberately avoids naming a mechanism or feature, so it doesn’t smuggle in a solution.
2. Option 1 is selected to carry into Crazy 8s because it names the exact moment — product evaluation — that Assignment 3’s journey map already flagged as the likely peak-friction point.
3. The team should still read all three aloud and confirm the choice; options 2 and 3 stay available if the evidence later points somewhere else.
THE TRANSITION
A chosen HMW needs a sharper frame before ideation — that’s the opportunity frame,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HOOK
This is the full sentence the whole concept has to answer to.
THE CORE ARGUMENT
1. Each line has a one-word prompt from the brief (for / who experience / because / we have an opportunity to / without) with its required evidence type named underneath, exactly as the plate specifies.
2. The "without" line is doing real work: it rules out concepts that would require a new account or app, and it is honest that any suggestion can only be as good as the 42–46% of the catalogue that currently has a verified grade.
3. This frame, not the HMW alone, is what the Crazy 8s and Alternative Concepts on the next two slides are judged against.
THE TRANSITION
Frame fixed — now the individual Crazy 8s round generates eight genuinely different ways to answer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HOOK
Eight genuinely different answers, not one idea drawn eight times — digital and physical, in-the-moment and after the fact.
THE CORE ARGUMENT
1. The eight ideas deliberately vary the mechanism (badge, comparison, digest, photo), the channel (web, SMS, in-store) and the moment (at selection, at cart, after the order) so the team has real variety to converge from.
2. A few ideas quietly reuse things already known from the technical audit — idea 2 picks up the “alternatives engine” that was spec’d but never built, and idea 8 leans on the clinician-trust relationship already flagged as a top stakeholder.
3. This individual round is meant to be done solo per team member first; this page models the pattern the brief asks for, not a replacement for each person’s own eight.
THE TRANSITION
The team now narrows this — and everyone else’s eight — down to the strongest distinct directions.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HOOK
Six strategic directions, not six sketches — each one a genuinely different bet, including one that needs no screen at all.
THE CORE ARGUMENT
1. These condense the eight Crazy 8s sketches into distinct, evaluable strategies, each tested against the opportunity frame’s "for / who / because / opportunity / without."
2. Concept 5, the SMS/USSD option, is the required non-digital concept — it protects the team from assuming every Segment-A shopper has reliable data or a modern phone.
3. Concept 2 is marked as the team’s converged direction; the convergence matrix on the next slide shows the reasoning, not just the conclusion.
THE TRANSITION
Reasoning becomes visible in the convergence matrix: the same six concepts, scored against the same four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HOOK
The scores are a conversation starter, not a verdict — what matters is the reasoning two rows down from this slide’s notes.
THE CORE ARGUMENT
1. Inline Fit Badge scores highest on feasibility because it already exists in the shipped v1.1.0 build; Smart Compare &amp; Swap scores highest on desirability because it directly answers the journey map’s flagged peak-friction stage.
2. Clinician Safe-List and the two channel-extension concepts score lower on feasibility today because they depend on a partnership (KNDI) or infrastructure (telco, OCR) that doesn’t exist yet — they are parked, not rejected.
3. The team should re-score this matrix together rather than accept these numbers as final; the brief is explicit that the discussion behind each score matters more than the number itself.
THE TRANSITION
Smart Compare &amp; Swap converges as the priority — the concept card makes it concrete enough to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HOOK
This is the one idea the team is willing to put in front of real shoppers next.
THE CORE ARGUMENT
1. The concept deliberately builds on what already ships rather than starting over: the badge already exists, and this adds the one missing step — the alternatives engine that was previously presented as done but was never actually coded.
2. The key risk is named plainly rather than hidden: catalogue coverage is still only 42–46%, so the concept can fail exactly where it’s needed most until the data-curation work from Assignment 2 closes that gap.
3. The smallest test is the direct answer to the Problem Validation plate’s open question — it’s how the team gets from desk evidence to field evidence.
THE TRANSITION
Before this goes in front of anyone, it needs one more test: why would a shopper actually choose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HOOK
One sentence, built from six lines, is the whole pitch: for Segment A, who can’t tell what fits, our concept shows them something that does — reusing data we already have.
THE CORE ARGUMENT
1. Every line traces back to something already established: the user from Assignment 2, the barrier from Assignment 1, the advantage from NutriScore’s existing dataset and engine.
2. The "we will know it works if" line is deliberately measurable and tied to the concept card’s smallest test — this is what turns the pitch back into something falsifiable.
3. This proposition should be agreed before anyone designs a screen for it — that is literally the brief’s instruction, and it closes the chain this whole deck has been building: root cause, validated frame, opportunity, concept, and now the promise itself.
THE TRANSITION
That completes all nine plates — ready for the team to challenge, edit and converge on for real before submission.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54B36"/>
        </a:solidFill>
      </p:bgPr>
    </p:bg>
    <p:spTree>
      <p:nvGrpSpPr>
        <p:cNvPr id="1" name=""/>
        <p:cNvGrpSpPr/>
        <p:nvPr/>
      </p:nvGrpSpPr>
      <p:grpSpPr>
        <a:xfrm>
          <a:off x="0" y="0"/>
          <a:ext cx="0" cy="0"/>
          <a:chOff x="0" y="0"/>
          <a:chExt cx="0" cy="0"/>
        </a:xfrm>
      </p:grpSpPr>
      <p:sp>
        <p:nvSpPr>
          <p:cNvPr id="2" name="Shape 0"/>
          <p:cNvSpPr/>
          <p:nvPr/>
        </p:nvSpPr>
        <p:spPr>
          <a:xfrm>
            <a:off x="10643616" y="310896"/>
            <a:ext cx="155448" cy="155448"/>
          </a:xfrm>
          <a:prstGeom prst="rect">
            <a:avLst/>
          </a:prstGeom>
          <a:solidFill>
            <a:srgbClr val="038141"/>
          </a:solidFill>
          <a:ln/>
        </p:spPr>
      </p:sp>
      <p:sp>
        <p:nvSpPr>
          <p:cNvPr id="3" name="Shape 1"/>
          <p:cNvSpPr/>
          <p:nvPr/>
        </p:nvSpPr>
        <p:spPr>
          <a:xfrm>
            <a:off x="10853928" y="310896"/>
            <a:ext cx="155448" cy="155448"/>
          </a:xfrm>
          <a:prstGeom prst="rect">
            <a:avLst/>
          </a:prstGeom>
          <a:solidFill>
            <a:srgbClr val="85BB2F"/>
          </a:solidFill>
          <a:ln/>
        </p:spPr>
      </p:sp>
      <p:sp>
        <p:nvSpPr>
          <p:cNvPr id="4" name="Shape 2"/>
          <p:cNvSpPr/>
          <p:nvPr/>
        </p:nvSpPr>
        <p:spPr>
          <a:xfrm>
            <a:off x="11064240" y="310896"/>
            <a:ext cx="155448" cy="155448"/>
          </a:xfrm>
          <a:prstGeom prst="rect">
            <a:avLst/>
          </a:prstGeom>
          <a:solidFill>
            <a:srgbClr val="FECB02"/>
          </a:solidFill>
          <a:ln/>
        </p:spPr>
      </p:sp>
      <p:sp>
        <p:nvSpPr>
          <p:cNvPr id="5" name="Shape 3"/>
          <p:cNvSpPr/>
          <p:nvPr/>
        </p:nvSpPr>
        <p:spPr>
          <a:xfrm>
            <a:off x="11274552" y="310896"/>
            <a:ext cx="155448" cy="155448"/>
          </a:xfrm>
          <a:prstGeom prst="rect">
            <a:avLst/>
          </a:prstGeom>
          <a:solidFill>
            <a:srgbClr val="EE8100"/>
          </a:solidFill>
          <a:ln/>
        </p:spPr>
      </p:sp>
      <p:sp>
        <p:nvSpPr>
          <p:cNvPr id="6" name="Shape 4"/>
          <p:cNvSpPr/>
          <p:nvPr/>
        </p:nvSpPr>
        <p:spPr>
          <a:xfrm>
            <a:off x="11484864" y="310896"/>
            <a:ext cx="155448" cy="155448"/>
          </a:xfrm>
          <a:prstGeom prst="rect">
            <a:avLst/>
          </a:prstGeom>
          <a:solidFill>
            <a:srgbClr val="E63E11"/>
          </a:solidFill>
          <a:ln/>
        </p:spPr>
      </p:sp>
      <p:sp>
        <p:nvSpPr>
          <p:cNvPr id="7" name="Shape 5"/>
          <p:cNvSpPr/>
          <p:nvPr/>
        </p:nvSpPr>
        <p:spPr>
          <a:xfrm>
            <a:off x="548640" y="502920"/>
            <a:ext cx="2103120" cy="237744"/>
          </a:xfrm>
          <a:prstGeom prst="roundRect">
            <a:avLst>
              <a:gd name="adj" fmla="val 46154"/>
            </a:avLst>
          </a:prstGeom>
          <a:solidFill>
            <a:srgbClr val="EE8100"/>
          </a:solidFill>
          <a:ln/>
        </p:spPr>
      </p:sp>
      <p:sp>
        <p:nvSpPr>
          <p:cNvPr id="8" name="Text 6"/>
          <p:cNvSpPr txBox="1"/>
          <p:nvPr/>
        </p:nvSpPr>
        <p:spPr>
          <a:xfrm>
            <a:off x="548640" y="502920"/>
            <a:ext cx="2103120" cy="237744"/>
          </a:xfrm>
          <a:prstGeom prst="rect">
            <a:avLst/>
          </a:prstGeom>
          <a:noFill/>
          <a:ln/>
        </p:spPr>
        <p:txBody>
          <a:bodyPr wrap="square" lIns="0" tIns="0" rIns="0" bIns="0" rtlCol="0" anchor="ctr"/>
          <a:lstStyle/>
          <a:p>
            <a:pPr algn="ctr" indent="0" marL="0">
              <a:buNone/>
            </a:pPr>
            <a:r>
              <a:rPr lang="en-US" sz="1000" b="1" spc="100" kern="0" dirty="0">
                <a:solidFill>
                  <a:srgbClr val="1F2A24"/>
                </a:solidFill>
                <a:latin typeface="Calibri" pitchFamily="34" charset="0"/>
                <a:ea typeface="Calibri" pitchFamily="34" charset="-122"/>
                <a:cs typeface="Calibri" pitchFamily="34" charset="-120"/>
              </a:rPr>
              <a:t>SESSION 5 ASSIGNMENT</a:t>
            </a:r>
            <a:endParaRPr lang="en-US" sz="1000" dirty="0"/>
          </a:p>
        </p:txBody>
      </p:sp>
      <p:sp>
        <p:nvSpPr>
          <p:cNvPr id="9" name="Text 7"/>
          <p:cNvSpPr txBox="1"/>
          <p:nvPr/>
        </p:nvSpPr>
        <p:spPr>
          <a:xfrm>
            <a:off x="548640" y="868680"/>
            <a:ext cx="10332720" cy="914400"/>
          </a:xfrm>
          <a:prstGeom prst="rect">
            <a:avLst/>
          </a:prstGeom>
          <a:noFill/>
          <a:ln/>
        </p:spPr>
        <p:txBody>
          <a:bodyPr wrap="square" lIns="0" tIns="0" rIns="0" bIns="0" rtlCol="0" anchor="t"/>
          <a:lstStyle/>
          <a:p>
            <a:pPr indent="0" marL="0">
              <a:buNone/>
            </a:pPr>
            <a:r>
              <a:rPr lang="en-US" sz="3600" b="1" dirty="0">
                <a:solidFill>
                  <a:srgbClr val="FFFFFF"/>
                </a:solidFill>
                <a:latin typeface="Cambria" pitchFamily="34" charset="0"/>
                <a:ea typeface="Cambria" pitchFamily="34" charset="-122"/>
                <a:cs typeface="Cambria" pitchFamily="34" charset="-120"/>
              </a:rPr>
              <a:t>From root cause to a testable concept</a:t>
            </a:r>
            <a:endParaRPr lang="en-US" sz="3600" dirty="0"/>
          </a:p>
        </p:txBody>
      </p:sp>
      <p:sp>
        <p:nvSpPr>
          <p:cNvPr id="10" name="Text 8"/>
          <p:cNvSpPr txBox="1"/>
          <p:nvPr/>
        </p:nvSpPr>
        <p:spPr>
          <a:xfrm>
            <a:off x="548640" y="1737360"/>
            <a:ext cx="9875520" cy="457200"/>
          </a:xfrm>
          <a:prstGeom prst="rect">
            <a:avLst/>
          </a:prstGeom>
          <a:noFill/>
          <a:ln/>
        </p:spPr>
        <p:txBody>
          <a:bodyPr wrap="square" lIns="0" tIns="0" rIns="0" bIns="0" rtlCol="0" anchor="t"/>
          <a:lstStyle/>
          <a:p>
            <a:pPr indent="0" marL="0">
              <a:buNone/>
            </a:pPr>
            <a:r>
              <a:rPr lang="en-US" sz="1400" dirty="0">
                <a:solidFill>
                  <a:srgbClr val="C9D5CE"/>
                </a:solidFill>
                <a:latin typeface="Calibri" pitchFamily="34" charset="0"/>
                <a:ea typeface="Calibri" pitchFamily="34" charset="-122"/>
                <a:cs typeface="Calibri" pitchFamily="34" charset="-120"/>
              </a:rPr>
              <a:t>Complete the plates using evidence from Sessions 1–4 — Assignments 1–3 (NutriScore Checkout Tool, NUT-04).</a:t>
            </a:r>
            <a:endParaRPr lang="en-US" sz="1400" dirty="0"/>
          </a:p>
        </p:txBody>
      </p:sp>
      <p:sp>
        <p:nvSpPr>
          <p:cNvPr id="11" name="Shape 9"/>
          <p:cNvSpPr/>
          <p:nvPr/>
        </p:nvSpPr>
        <p:spPr>
          <a:xfrm>
            <a:off x="548640" y="2468880"/>
            <a:ext cx="1306449" cy="457200"/>
          </a:xfrm>
          <a:prstGeom prst="roundRect">
            <a:avLst>
              <a:gd name="adj" fmla="val 16000"/>
            </a:avLst>
          </a:prstGeom>
          <a:solidFill>
            <a:srgbClr val="E8F1EB"/>
          </a:solidFill>
          <a:ln/>
        </p:spPr>
      </p:sp>
      <p:sp>
        <p:nvSpPr>
          <p:cNvPr id="12" name="Text 10"/>
          <p:cNvSpPr txBox="1"/>
          <p:nvPr/>
        </p:nvSpPr>
        <p:spPr>
          <a:xfrm>
            <a:off x="548640" y="2468880"/>
            <a:ext cx="1306449" cy="457200"/>
          </a:xfrm>
          <a:prstGeom prst="rect">
            <a:avLst/>
          </a:prstGeom>
          <a:noFill/>
          <a:ln/>
        </p:spPr>
        <p:txBody>
          <a:bodyPr wrap="square" lIns="0" tIns="0" rIns="0" bIns="0" rtlCol="0" anchor="ctr"/>
          <a:lstStyle/>
          <a:p>
            <a:pPr algn="ctr" indent="0" marL="0">
              <a:buNone/>
            </a:pPr>
            <a:r>
              <a:rPr lang="en-US" sz="850" b="1" dirty="0">
                <a:solidFill>
                  <a:srgbClr val="154B36"/>
                </a:solidFill>
                <a:latin typeface="Calibri" pitchFamily="34" charset="0"/>
                <a:ea typeface="Calibri" pitchFamily="34" charset="-122"/>
                <a:cs typeface="Calibri" pitchFamily="34" charset="-120"/>
              </a:rPr>
              <a:t>ROOT CAUSE</a:t>
            </a:r>
            <a:endParaRPr lang="en-US" sz="850" dirty="0"/>
          </a:p>
        </p:txBody>
      </p:sp>
      <p:sp>
        <p:nvSpPr>
          <p:cNvPr id="13" name="Shape 11"/>
          <p:cNvSpPr/>
          <p:nvPr/>
        </p:nvSpPr>
        <p:spPr>
          <a:xfrm>
            <a:off x="1946529" y="2468880"/>
            <a:ext cx="1306449" cy="457200"/>
          </a:xfrm>
          <a:prstGeom prst="roundRect">
            <a:avLst>
              <a:gd name="adj" fmla="val 16000"/>
            </a:avLst>
          </a:prstGeom>
          <a:solidFill>
            <a:srgbClr val="FFFFFF"/>
          </a:solidFill>
          <a:ln/>
        </p:spPr>
      </p:sp>
      <p:sp>
        <p:nvSpPr>
          <p:cNvPr id="14" name="Text 12"/>
          <p:cNvSpPr txBox="1"/>
          <p:nvPr/>
        </p:nvSpPr>
        <p:spPr>
          <a:xfrm>
            <a:off x="1946529" y="2468880"/>
            <a:ext cx="1306449" cy="457200"/>
          </a:xfrm>
          <a:prstGeom prst="rect">
            <a:avLst/>
          </a:prstGeom>
          <a:noFill/>
          <a:ln/>
        </p:spPr>
        <p:txBody>
          <a:bodyPr wrap="square" lIns="0" tIns="0" rIns="0" bIns="0" rtlCol="0" anchor="ctr"/>
          <a:lstStyle/>
          <a:p>
            <a:pPr algn="ctr" indent="0" marL="0">
              <a:buNone/>
            </a:pPr>
            <a:r>
              <a:rPr lang="en-US" sz="850" b="1" dirty="0">
                <a:solidFill>
                  <a:srgbClr val="154B36"/>
                </a:solidFill>
                <a:latin typeface="Calibri" pitchFamily="34" charset="0"/>
                <a:ea typeface="Calibri" pitchFamily="34" charset="-122"/>
                <a:cs typeface="Calibri" pitchFamily="34" charset="-120"/>
              </a:rPr>
              <a:t>VALIDATE</a:t>
            </a:r>
            <a:endParaRPr lang="en-US" sz="850" dirty="0"/>
          </a:p>
        </p:txBody>
      </p:sp>
      <p:sp>
        <p:nvSpPr>
          <p:cNvPr id="15" name="Shape 13"/>
          <p:cNvSpPr/>
          <p:nvPr/>
        </p:nvSpPr>
        <p:spPr>
          <a:xfrm>
            <a:off x="3344418" y="2468880"/>
            <a:ext cx="1306449" cy="457200"/>
          </a:xfrm>
          <a:prstGeom prst="roundRect">
            <a:avLst>
              <a:gd name="adj" fmla="val 16000"/>
            </a:avLst>
          </a:prstGeom>
          <a:solidFill>
            <a:srgbClr val="E8F1EB"/>
          </a:solidFill>
          <a:ln/>
        </p:spPr>
      </p:sp>
      <p:sp>
        <p:nvSpPr>
          <p:cNvPr id="16" name="Text 14"/>
          <p:cNvSpPr txBox="1"/>
          <p:nvPr/>
        </p:nvSpPr>
        <p:spPr>
          <a:xfrm>
            <a:off x="3344418" y="2468880"/>
            <a:ext cx="1306449" cy="457200"/>
          </a:xfrm>
          <a:prstGeom prst="rect">
            <a:avLst/>
          </a:prstGeom>
          <a:noFill/>
          <a:ln/>
        </p:spPr>
        <p:txBody>
          <a:bodyPr wrap="square" lIns="0" tIns="0" rIns="0" bIns="0" rtlCol="0" anchor="ctr"/>
          <a:lstStyle/>
          <a:p>
            <a:pPr algn="ctr" indent="0" marL="0">
              <a:buNone/>
            </a:pPr>
            <a:r>
              <a:rPr lang="en-US" sz="850" b="1" dirty="0">
                <a:solidFill>
                  <a:srgbClr val="154B36"/>
                </a:solidFill>
                <a:latin typeface="Calibri" pitchFamily="34" charset="0"/>
                <a:ea typeface="Calibri" pitchFamily="34" charset="-122"/>
                <a:cs typeface="Calibri" pitchFamily="34" charset="-120"/>
              </a:rPr>
              <a:t>HMW</a:t>
            </a:r>
            <a:endParaRPr lang="en-US" sz="850" dirty="0"/>
          </a:p>
        </p:txBody>
      </p:sp>
      <p:sp>
        <p:nvSpPr>
          <p:cNvPr id="17" name="Shape 15"/>
          <p:cNvSpPr/>
          <p:nvPr/>
        </p:nvSpPr>
        <p:spPr>
          <a:xfrm>
            <a:off x="4742307" y="2468880"/>
            <a:ext cx="1306449" cy="457200"/>
          </a:xfrm>
          <a:prstGeom prst="roundRect">
            <a:avLst>
              <a:gd name="adj" fmla="val 16000"/>
            </a:avLst>
          </a:prstGeom>
          <a:solidFill>
            <a:srgbClr val="FFFFFF"/>
          </a:solidFill>
          <a:ln/>
        </p:spPr>
      </p:sp>
      <p:sp>
        <p:nvSpPr>
          <p:cNvPr id="18" name="Text 16"/>
          <p:cNvSpPr txBox="1"/>
          <p:nvPr/>
        </p:nvSpPr>
        <p:spPr>
          <a:xfrm>
            <a:off x="4742307" y="2468880"/>
            <a:ext cx="1306449" cy="457200"/>
          </a:xfrm>
          <a:prstGeom prst="rect">
            <a:avLst/>
          </a:prstGeom>
          <a:noFill/>
          <a:ln/>
        </p:spPr>
        <p:txBody>
          <a:bodyPr wrap="square" lIns="0" tIns="0" rIns="0" bIns="0" rtlCol="0" anchor="ctr"/>
          <a:lstStyle/>
          <a:p>
            <a:pPr algn="ctr" indent="0" marL="0">
              <a:buNone/>
            </a:pPr>
            <a:r>
              <a:rPr lang="en-US" sz="850" b="1" dirty="0">
                <a:solidFill>
                  <a:srgbClr val="154B36"/>
                </a:solidFill>
                <a:latin typeface="Calibri" pitchFamily="34" charset="0"/>
                <a:ea typeface="Calibri" pitchFamily="34" charset="-122"/>
                <a:cs typeface="Calibri" pitchFamily="34" charset="-120"/>
              </a:rPr>
              <a:t>OPPORTUNITY</a:t>
            </a:r>
            <a:endParaRPr lang="en-US" sz="850" dirty="0"/>
          </a:p>
        </p:txBody>
      </p:sp>
      <p:sp>
        <p:nvSpPr>
          <p:cNvPr id="19" name="Shape 17"/>
          <p:cNvSpPr/>
          <p:nvPr/>
        </p:nvSpPr>
        <p:spPr>
          <a:xfrm>
            <a:off x="6140196" y="2468880"/>
            <a:ext cx="1306449" cy="457200"/>
          </a:xfrm>
          <a:prstGeom prst="roundRect">
            <a:avLst>
              <a:gd name="adj" fmla="val 16000"/>
            </a:avLst>
          </a:prstGeom>
          <a:solidFill>
            <a:srgbClr val="E8F1EB"/>
          </a:solidFill>
          <a:ln/>
        </p:spPr>
      </p:sp>
      <p:sp>
        <p:nvSpPr>
          <p:cNvPr id="20" name="Text 18"/>
          <p:cNvSpPr txBox="1"/>
          <p:nvPr/>
        </p:nvSpPr>
        <p:spPr>
          <a:xfrm>
            <a:off x="6140196" y="2468880"/>
            <a:ext cx="1306449" cy="457200"/>
          </a:xfrm>
          <a:prstGeom prst="rect">
            <a:avLst/>
          </a:prstGeom>
          <a:noFill/>
          <a:ln/>
        </p:spPr>
        <p:txBody>
          <a:bodyPr wrap="square" lIns="0" tIns="0" rIns="0" bIns="0" rtlCol="0" anchor="ctr"/>
          <a:lstStyle/>
          <a:p>
            <a:pPr algn="ctr" indent="0" marL="0">
              <a:buNone/>
            </a:pPr>
            <a:r>
              <a:rPr lang="en-US" sz="850" b="1" dirty="0">
                <a:solidFill>
                  <a:srgbClr val="154B36"/>
                </a:solidFill>
                <a:latin typeface="Calibri" pitchFamily="34" charset="0"/>
                <a:ea typeface="Calibri" pitchFamily="34" charset="-122"/>
                <a:cs typeface="Calibri" pitchFamily="34" charset="-120"/>
              </a:rPr>
              <a:t>DIVERGE</a:t>
            </a:r>
            <a:endParaRPr lang="en-US" sz="850" dirty="0"/>
          </a:p>
        </p:txBody>
      </p:sp>
      <p:sp>
        <p:nvSpPr>
          <p:cNvPr id="21" name="Shape 19"/>
          <p:cNvSpPr/>
          <p:nvPr/>
        </p:nvSpPr>
        <p:spPr>
          <a:xfrm>
            <a:off x="7538085" y="2468880"/>
            <a:ext cx="1306449" cy="457200"/>
          </a:xfrm>
          <a:prstGeom prst="roundRect">
            <a:avLst>
              <a:gd name="adj" fmla="val 16000"/>
            </a:avLst>
          </a:prstGeom>
          <a:solidFill>
            <a:srgbClr val="FFFFFF"/>
          </a:solidFill>
          <a:ln/>
        </p:spPr>
      </p:sp>
      <p:sp>
        <p:nvSpPr>
          <p:cNvPr id="22" name="Text 20"/>
          <p:cNvSpPr txBox="1"/>
          <p:nvPr/>
        </p:nvSpPr>
        <p:spPr>
          <a:xfrm>
            <a:off x="7538085" y="2468880"/>
            <a:ext cx="1306449" cy="457200"/>
          </a:xfrm>
          <a:prstGeom prst="rect">
            <a:avLst/>
          </a:prstGeom>
          <a:noFill/>
          <a:ln/>
        </p:spPr>
        <p:txBody>
          <a:bodyPr wrap="square" lIns="0" tIns="0" rIns="0" bIns="0" rtlCol="0" anchor="ctr"/>
          <a:lstStyle/>
          <a:p>
            <a:pPr algn="ctr" indent="0" marL="0">
              <a:buNone/>
            </a:pPr>
            <a:r>
              <a:rPr lang="en-US" sz="850" b="1" dirty="0">
                <a:solidFill>
                  <a:srgbClr val="154B36"/>
                </a:solidFill>
                <a:latin typeface="Calibri" pitchFamily="34" charset="0"/>
                <a:ea typeface="Calibri" pitchFamily="34" charset="-122"/>
                <a:cs typeface="Calibri" pitchFamily="34" charset="-120"/>
              </a:rPr>
              <a:t>CONVERGE</a:t>
            </a:r>
            <a:endParaRPr lang="en-US" sz="850" dirty="0"/>
          </a:p>
        </p:txBody>
      </p:sp>
      <p:sp>
        <p:nvSpPr>
          <p:cNvPr id="23" name="Shape 21"/>
          <p:cNvSpPr/>
          <p:nvPr/>
        </p:nvSpPr>
        <p:spPr>
          <a:xfrm>
            <a:off x="8935974" y="2468880"/>
            <a:ext cx="1306449" cy="457200"/>
          </a:xfrm>
          <a:prstGeom prst="roundRect">
            <a:avLst>
              <a:gd name="adj" fmla="val 16000"/>
            </a:avLst>
          </a:prstGeom>
          <a:solidFill>
            <a:srgbClr val="E8F1EB"/>
          </a:solidFill>
          <a:ln/>
        </p:spPr>
      </p:sp>
      <p:sp>
        <p:nvSpPr>
          <p:cNvPr id="24" name="Text 22"/>
          <p:cNvSpPr txBox="1"/>
          <p:nvPr/>
        </p:nvSpPr>
        <p:spPr>
          <a:xfrm>
            <a:off x="8935974" y="2468880"/>
            <a:ext cx="1306449" cy="457200"/>
          </a:xfrm>
          <a:prstGeom prst="rect">
            <a:avLst/>
          </a:prstGeom>
          <a:noFill/>
          <a:ln/>
        </p:spPr>
        <p:txBody>
          <a:bodyPr wrap="square" lIns="0" tIns="0" rIns="0" bIns="0" rtlCol="0" anchor="ctr"/>
          <a:lstStyle/>
          <a:p>
            <a:pPr algn="ctr" indent="0" marL="0">
              <a:buNone/>
            </a:pPr>
            <a:r>
              <a:rPr lang="en-US" sz="850" b="1" dirty="0">
                <a:solidFill>
                  <a:srgbClr val="154B36"/>
                </a:solidFill>
                <a:latin typeface="Calibri" pitchFamily="34" charset="0"/>
                <a:ea typeface="Calibri" pitchFamily="34" charset="-122"/>
                <a:cs typeface="Calibri" pitchFamily="34" charset="-120"/>
              </a:rPr>
              <a:t>CONCEPT</a:t>
            </a:r>
            <a:endParaRPr lang="en-US" sz="850" dirty="0"/>
          </a:p>
        </p:txBody>
      </p:sp>
      <p:sp>
        <p:nvSpPr>
          <p:cNvPr id="25" name="Shape 23"/>
          <p:cNvSpPr/>
          <p:nvPr/>
        </p:nvSpPr>
        <p:spPr>
          <a:xfrm>
            <a:off x="10333863" y="2468880"/>
            <a:ext cx="1306449" cy="457200"/>
          </a:xfrm>
          <a:prstGeom prst="roundRect">
            <a:avLst>
              <a:gd name="adj" fmla="val 16000"/>
            </a:avLst>
          </a:prstGeom>
          <a:solidFill>
            <a:srgbClr val="FFFFFF"/>
          </a:solidFill>
          <a:ln/>
        </p:spPr>
      </p:sp>
      <p:sp>
        <p:nvSpPr>
          <p:cNvPr id="26" name="Text 24"/>
          <p:cNvSpPr txBox="1"/>
          <p:nvPr/>
        </p:nvSpPr>
        <p:spPr>
          <a:xfrm>
            <a:off x="10333863" y="2468880"/>
            <a:ext cx="1306449" cy="457200"/>
          </a:xfrm>
          <a:prstGeom prst="rect">
            <a:avLst/>
          </a:prstGeom>
          <a:noFill/>
          <a:ln/>
        </p:spPr>
        <p:txBody>
          <a:bodyPr wrap="square" lIns="0" tIns="0" rIns="0" bIns="0" rtlCol="0" anchor="ctr"/>
          <a:lstStyle/>
          <a:p>
            <a:pPr algn="ctr" indent="0" marL="0">
              <a:buNone/>
            </a:pPr>
            <a:r>
              <a:rPr lang="en-US" sz="850" b="1" dirty="0">
                <a:solidFill>
                  <a:srgbClr val="154B36"/>
                </a:solidFill>
                <a:latin typeface="Calibri" pitchFamily="34" charset="0"/>
                <a:ea typeface="Calibri" pitchFamily="34" charset="-122"/>
                <a:cs typeface="Calibri" pitchFamily="34" charset="-120"/>
              </a:rPr>
              <a:t>VALUE</a:t>
            </a:r>
            <a:endParaRPr lang="en-US" sz="850" dirty="0"/>
          </a:p>
        </p:txBody>
      </p:sp>
      <p:sp>
        <p:nvSpPr>
          <p:cNvPr id="27" name="Shape 25"/>
          <p:cNvSpPr/>
          <p:nvPr/>
        </p:nvSpPr>
        <p:spPr>
          <a:xfrm>
            <a:off x="548640" y="3291840"/>
            <a:ext cx="5349240" cy="2331720"/>
          </a:xfrm>
          <a:prstGeom prst="roundRect">
            <a:avLst>
              <a:gd name="adj" fmla="val 3137"/>
            </a:avLst>
          </a:prstGeom>
          <a:solidFill>
            <a:srgbClr val="1E6047"/>
          </a:solidFill>
          <a:ln/>
        </p:spPr>
      </p:sp>
      <p:sp>
        <p:nvSpPr>
          <p:cNvPr id="28" name="Text 26"/>
          <p:cNvSpPr txBox="1"/>
          <p:nvPr/>
        </p:nvSpPr>
        <p:spPr>
          <a:xfrm>
            <a:off x="777240" y="3474720"/>
            <a:ext cx="4572000" cy="201168"/>
          </a:xfrm>
          <a:prstGeom prst="rect">
            <a:avLst/>
          </a:prstGeom>
          <a:noFill/>
          <a:ln/>
        </p:spPr>
        <p:txBody>
          <a:bodyPr wrap="square" lIns="0" tIns="0" rIns="0" bIns="0" rtlCol="0" anchor="t"/>
          <a:lstStyle/>
          <a:p>
            <a:pPr indent="0" marL="0">
              <a:buNone/>
            </a:pPr>
            <a:r>
              <a:rPr lang="en-US" sz="1000" b="1" spc="150" kern="0" dirty="0">
                <a:solidFill>
                  <a:srgbClr val="F5A623"/>
                </a:solidFill>
                <a:latin typeface="Calibri" pitchFamily="34" charset="0"/>
                <a:ea typeface="Calibri" pitchFamily="34" charset="-122"/>
                <a:cs typeface="Calibri" pitchFamily="34" charset="-120"/>
              </a:rPr>
              <a:t>INDIVIDUAL WORK</a:t>
            </a:r>
            <a:endParaRPr lang="en-US" sz="1000" dirty="0"/>
          </a:p>
        </p:txBody>
      </p:sp>
      <p:sp>
        <p:nvSpPr>
          <p:cNvPr id="29" name="Text 27"/>
          <p:cNvSpPr txBox="1"/>
          <p:nvPr/>
        </p:nvSpPr>
        <p:spPr>
          <a:xfrm>
            <a:off x="777240" y="3749040"/>
            <a:ext cx="4937760" cy="1645920"/>
          </a:xfrm>
          <a:prstGeom prst="rect">
            <a:avLst/>
          </a:prstGeom>
          <a:noFill/>
          <a:ln/>
        </p:spPr>
        <p:txBody>
          <a:bodyPr wrap="square" lIns="0" tIns="0" rIns="0" bIns="0" rtlCol="0" anchor="t"/>
          <a:lstStyle/>
          <a:p>
            <a:pPr indent="0" marL="0">
              <a:lnSpc>
                <a:spcPct val="130000"/>
              </a:lnSpc>
              <a:buNone/>
            </a:pPr>
            <a:r>
              <a:rPr lang="en-US" sz="1250" dirty="0">
                <a:solidFill>
                  <a:srgbClr val="FFFFFF"/>
                </a:solidFill>
                <a:latin typeface="Calibri" pitchFamily="34" charset="0"/>
                <a:ea typeface="Calibri" pitchFamily="34" charset="-122"/>
                <a:cs typeface="Calibri" pitchFamily="34" charset="-120"/>
              </a:rPr>
              <a:t>1. Complete your own 5 Whys.</a:t>
            </a:r>
            <a:endParaRPr lang="en-US" sz="1250" dirty="0"/>
          </a:p>
          <a:p>
            <a:pPr indent="0" marL="0">
              <a:lnSpc>
                <a:spcPct val="130000"/>
              </a:lnSpc>
              <a:buNone/>
            </a:pPr>
            <a:r>
              <a:rPr lang="en-US" sz="1250" dirty="0">
                <a:solidFill>
                  <a:srgbClr val="FFFFFF"/>
                </a:solidFill>
                <a:latin typeface="Calibri" pitchFamily="34" charset="0"/>
                <a:ea typeface="Calibri" pitchFamily="34" charset="-122"/>
                <a:cs typeface="Calibri" pitchFamily="34" charset="-120"/>
              </a:rPr>
              <a:t>2. Complete your own Crazy 8s.</a:t>
            </a:r>
            <a:endParaRPr lang="en-US" sz="1250" dirty="0"/>
          </a:p>
          <a:p>
            <a:pPr indent="0" marL="0">
              <a:lnSpc>
                <a:spcPct val="130000"/>
              </a:lnSpc>
              <a:buNone/>
            </a:pPr>
            <a:r>
              <a:rPr lang="en-US" sz="1250" dirty="0">
                <a:solidFill>
                  <a:srgbClr val="FFFFFF"/>
                </a:solidFill>
                <a:latin typeface="Calibri" pitchFamily="34" charset="0"/>
                <a:ea typeface="Calibri" pitchFamily="34" charset="-122"/>
                <a:cs typeface="Calibri" pitchFamily="34" charset="-120"/>
              </a:rPr>
              <a:t>3. Bring all 8 ideas into team convergence.</a:t>
            </a:r>
            <a:endParaRPr lang="en-US" sz="1250" dirty="0"/>
          </a:p>
        </p:txBody>
      </p:sp>
      <p:sp>
        <p:nvSpPr>
          <p:cNvPr id="30" name="Shape 28"/>
          <p:cNvSpPr/>
          <p:nvPr/>
        </p:nvSpPr>
        <p:spPr>
          <a:xfrm>
            <a:off x="6108192" y="3291840"/>
            <a:ext cx="5349240" cy="2331720"/>
          </a:xfrm>
          <a:prstGeom prst="roundRect">
            <a:avLst>
              <a:gd name="adj" fmla="val 3137"/>
            </a:avLst>
          </a:prstGeom>
          <a:solidFill>
            <a:srgbClr val="1E6047"/>
          </a:solidFill>
          <a:ln/>
        </p:spPr>
      </p:sp>
      <p:sp>
        <p:nvSpPr>
          <p:cNvPr id="31" name="Text 29"/>
          <p:cNvSpPr txBox="1"/>
          <p:nvPr/>
        </p:nvSpPr>
        <p:spPr>
          <a:xfrm>
            <a:off x="6336792" y="3474720"/>
            <a:ext cx="4572000" cy="201168"/>
          </a:xfrm>
          <a:prstGeom prst="rect">
            <a:avLst/>
          </a:prstGeom>
          <a:noFill/>
          <a:ln/>
        </p:spPr>
        <p:txBody>
          <a:bodyPr wrap="square" lIns="0" tIns="0" rIns="0" bIns="0" rtlCol="0" anchor="t"/>
          <a:lstStyle/>
          <a:p>
            <a:pPr indent="0" marL="0">
              <a:buNone/>
            </a:pPr>
            <a:r>
              <a:rPr lang="en-US" sz="1000" b="1" spc="150" kern="0" dirty="0">
                <a:solidFill>
                  <a:srgbClr val="F5A623"/>
                </a:solidFill>
                <a:latin typeface="Calibri" pitchFamily="34" charset="0"/>
                <a:ea typeface="Calibri" pitchFamily="34" charset="-122"/>
                <a:cs typeface="Calibri" pitchFamily="34" charset="-120"/>
              </a:rPr>
              <a:t>TEAM WORK</a:t>
            </a:r>
            <a:endParaRPr lang="en-US" sz="1000" dirty="0"/>
          </a:p>
        </p:txBody>
      </p:sp>
      <p:sp>
        <p:nvSpPr>
          <p:cNvPr id="32" name="Text 30"/>
          <p:cNvSpPr txBox="1"/>
          <p:nvPr/>
        </p:nvSpPr>
        <p:spPr>
          <a:xfrm>
            <a:off x="6336792" y="3749040"/>
            <a:ext cx="4937760" cy="1737360"/>
          </a:xfrm>
          <a:prstGeom prst="rect">
            <a:avLst/>
          </a:prstGeom>
          <a:noFill/>
          <a:ln/>
        </p:spPr>
        <p:txBody>
          <a:bodyPr wrap="square" lIns="0" tIns="0" rIns="0" bIns="0" rtlCol="0" anchor="t"/>
          <a:lstStyle/>
          <a:p>
            <a:pPr indent="0" marL="0">
              <a:lnSpc>
                <a:spcPct val="120000"/>
              </a:lnSpc>
              <a:buNone/>
            </a:pPr>
            <a:r>
              <a:rPr lang="en-US" sz="1250" dirty="0">
                <a:solidFill>
                  <a:srgbClr val="FFFFFF"/>
                </a:solidFill>
                <a:latin typeface="Calibri" pitchFamily="34" charset="0"/>
                <a:ea typeface="Calibri" pitchFamily="34" charset="-122"/>
                <a:cs typeface="Calibri" pitchFamily="34" charset="-120"/>
              </a:rPr>
              <a:t>1. Validate / revise the problem frame.</a:t>
            </a:r>
            <a:endParaRPr lang="en-US" sz="1250" dirty="0"/>
          </a:p>
          <a:p>
            <a:pPr indent="0" marL="0">
              <a:lnSpc>
                <a:spcPct val="120000"/>
              </a:lnSpc>
              <a:buNone/>
            </a:pPr>
            <a:r>
              <a:rPr lang="en-US" sz="1250" dirty="0">
                <a:solidFill>
                  <a:srgbClr val="FFFFFF"/>
                </a:solidFill>
                <a:latin typeface="Calibri" pitchFamily="34" charset="0"/>
                <a:ea typeface="Calibri" pitchFamily="34" charset="-122"/>
                <a:cs typeface="Calibri" pitchFamily="34" charset="-120"/>
              </a:rPr>
              <a:t>2. Agree on one HMW + opportunity frame.</a:t>
            </a:r>
            <a:endParaRPr lang="en-US" sz="1250" dirty="0"/>
          </a:p>
          <a:p>
            <a:pPr indent="0" marL="0">
              <a:lnSpc>
                <a:spcPct val="120000"/>
              </a:lnSpc>
              <a:buNone/>
            </a:pPr>
            <a:r>
              <a:rPr lang="en-US" sz="1250" dirty="0">
                <a:solidFill>
                  <a:srgbClr val="FFFFFF"/>
                </a:solidFill>
                <a:latin typeface="Calibri" pitchFamily="34" charset="0"/>
                <a:ea typeface="Calibri" pitchFamily="34" charset="-122"/>
                <a:cs typeface="Calibri" pitchFamily="34" charset="-120"/>
              </a:rPr>
              <a:t>3. Compare concepts and converge on one direction.</a:t>
            </a:r>
            <a:endParaRPr lang="en-US" sz="1250" dirty="0"/>
          </a:p>
          <a:p>
            <a:pPr indent="0" marL="0">
              <a:lnSpc>
                <a:spcPct val="120000"/>
              </a:lnSpc>
              <a:buNone/>
            </a:pPr>
            <a:r>
              <a:rPr lang="en-US" sz="1250" dirty="0">
                <a:solidFill>
                  <a:srgbClr val="FFFFFF"/>
                </a:solidFill>
                <a:latin typeface="Calibri" pitchFamily="34" charset="0"/>
                <a:ea typeface="Calibri" pitchFamily="34" charset="-122"/>
                <a:cs typeface="Calibri" pitchFamily="34" charset="-120"/>
              </a:rPr>
              <a:t>4. Complete the concept card + value proposition.</a:t>
            </a:r>
            <a:endParaRPr lang="en-US" sz="1250" dirty="0"/>
          </a:p>
        </p:txBody>
      </p:sp>
      <p:sp>
        <p:nvSpPr>
          <p:cNvPr id="33" name="Shape 31"/>
          <p:cNvSpPr/>
          <p:nvPr/>
        </p:nvSpPr>
        <p:spPr>
          <a:xfrm>
            <a:off x="548640" y="5806440"/>
            <a:ext cx="11091672" cy="502920"/>
          </a:xfrm>
          <a:prstGeom prst="roundRect">
            <a:avLst>
              <a:gd name="adj" fmla="val 10909"/>
            </a:avLst>
          </a:prstGeom>
          <a:solidFill>
            <a:srgbClr val="1E6047"/>
          </a:solidFill>
          <a:ln/>
        </p:spPr>
      </p:sp>
      <p:sp>
        <p:nvSpPr>
          <p:cNvPr id="34" name="Text 32"/>
          <p:cNvSpPr txBox="1"/>
          <p:nvPr/>
        </p:nvSpPr>
        <p:spPr>
          <a:xfrm>
            <a:off x="777240" y="5806440"/>
            <a:ext cx="10607040" cy="502920"/>
          </a:xfrm>
          <a:prstGeom prst="rect">
            <a:avLst/>
          </a:prstGeom>
          <a:noFill/>
          <a:ln/>
        </p:spPr>
        <p:txBody>
          <a:bodyPr wrap="square" lIns="0" tIns="0" rIns="0" bIns="0" rtlCol="0" anchor="ctr"/>
          <a:lstStyle/>
          <a:p>
            <a:pPr indent="0" marL="0">
              <a:buNone/>
            </a:pPr>
            <a:r>
              <a:rPr lang="en-US" sz="950" b="1" dirty="0">
                <a:solidFill>
                  <a:srgbClr val="F5A623"/>
                </a:solidFill>
                <a:latin typeface="Calibri" pitchFamily="34" charset="0"/>
                <a:ea typeface="Calibri" pitchFamily="34" charset="-122"/>
                <a:cs typeface="Calibri" pitchFamily="34" charset="-120"/>
              </a:rPr>
              <a:t>SUBMIT AS  </a:t>
            </a:r>
            <a:pPr indent="0" marL="0">
              <a:buNone/>
            </a:pPr>
            <a:r>
              <a:rPr lang="en-US" sz="1050" dirty="0">
                <a:solidFill>
                  <a:srgbClr val="FFFFFF"/>
                </a:solidFill>
                <a:latin typeface="Calibri" pitchFamily="34" charset="0"/>
                <a:ea typeface="Calibri" pitchFamily="34" charset="-122"/>
                <a:cs typeface="Calibri" pitchFamily="34" charset="-120"/>
              </a:rPr>
              <a:t>University_TeamName_Session5_Assignment.pdf   </a:t>
            </a:r>
            <a:pPr indent="0" marL="0">
              <a:buNone/>
            </a:pPr>
            <a:r>
              <a:rPr lang="en-US" sz="1050" b="1" dirty="0">
                <a:solidFill>
                  <a:srgbClr val="F5A623"/>
                </a:solidFill>
                <a:latin typeface="Calibri" pitchFamily="34" charset="0"/>
                <a:ea typeface="Calibri" pitchFamily="34" charset="-122"/>
                <a:cs typeface="Calibri" pitchFamily="34" charset="-120"/>
              </a:rPr>
              <a:t>Use evidence — not preference.</a:t>
            </a:r>
            <a:endParaRPr lang="en-US" sz="1200" dirty="0"/>
          </a:p>
        </p:txBody>
      </p:sp>
      <p:sp>
        <p:nvSpPr>
          <p:cNvPr id="35" name="Text 33"/>
          <p:cNvSpPr txBox="1"/>
          <p:nvPr/>
        </p:nvSpPr>
        <p:spPr>
          <a:xfrm>
            <a:off x="548640" y="6510528"/>
            <a:ext cx="9601200" cy="182880"/>
          </a:xfrm>
          <a:prstGeom prst="rect">
            <a:avLst/>
          </a:prstGeom>
          <a:noFill/>
          <a:ln/>
        </p:spPr>
        <p:txBody>
          <a:bodyPr wrap="square" lIns="0" tIns="0" rIns="0" bIns="0" rtlCol="0" anchor="t"/>
          <a:lstStyle/>
          <a:p>
            <a:pPr indent="0" marL="0">
              <a:buNone/>
            </a:pPr>
            <a:r>
              <a:rPr lang="en-US" sz="900" dirty="0">
                <a:solidFill>
                  <a:srgbClr val="C9D5CE"/>
                </a:solidFill>
                <a:latin typeface="Calibri" pitchFamily="34" charset="0"/>
                <a:ea typeface="Calibri" pitchFamily="34" charset="-122"/>
                <a:cs typeface="Calibri" pitchFamily="34" charset="-120"/>
              </a:rPr>
              <a:t>NutriScore Checkout Tool  |  NUT-04, JHUB Africa / AfyaVentures  |  Kibet, Project Lead</a:t>
            </a:r>
            <a:endParaRPr lang="en-US" sz="900" dirty="0"/>
          </a:p>
        </p:txBody>
      </p:sp>
      <p:sp>
        <p:nvSpPr>
          <p:cNvPr id="36" name="Text 34"/>
          <p:cNvSpPr txBox="1"/>
          <p:nvPr/>
        </p:nvSpPr>
        <p:spPr>
          <a:xfrm>
            <a:off x="10725912" y="6510528"/>
            <a:ext cx="914400" cy="182880"/>
          </a:xfrm>
          <a:prstGeom prst="rect">
            <a:avLst/>
          </a:prstGeom>
          <a:noFill/>
          <a:ln/>
        </p:spPr>
        <p:txBody>
          <a:bodyPr wrap="square" lIns="0" tIns="0" rIns="0" bIns="0" rtlCol="0" anchor="t"/>
          <a:lstStyle/>
          <a:p>
            <a:pPr algn="r" indent="0" marL="0">
              <a:buNone/>
            </a:pPr>
            <a:r>
              <a:rPr lang="en-US" sz="900" dirty="0">
                <a:solidFill>
                  <a:srgbClr val="C9D5CE"/>
                </a:solidFill>
                <a:latin typeface="Calibri" pitchFamily="34" charset="0"/>
                <a:ea typeface="Calibri" pitchFamily="34" charset="-122"/>
                <a:cs typeface="Calibri" pitchFamily="34" charset="-120"/>
              </a:rPr>
              <a:t>1 / 10</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2F6F3"/>
        </a:solidFill>
      </p:bgPr>
    </p:bg>
    <p:spTree>
      <p:nvGrpSpPr>
        <p:cNvPr id="1" name=""/>
        <p:cNvGrpSpPr/>
        <p:nvPr/>
      </p:nvGrpSpPr>
      <p:grpSpPr>
        <a:xfrm>
          <a:off x="0" y="0"/>
          <a:ext cx="0" cy="0"/>
          <a:chOff x="0" y="0"/>
          <a:chExt cx="0" cy="0"/>
        </a:xfrm>
      </p:grpSpPr>
      <p:sp>
        <p:nvSpPr>
          <p:cNvPr id="2" name="Text 0"/>
          <p:cNvSpPr txBox="1"/>
          <p:nvPr/>
        </p:nvSpPr>
        <p:spPr>
          <a:xfrm>
            <a:off x="548640" y="292608"/>
            <a:ext cx="9692640" cy="228600"/>
          </a:xfrm>
          <a:prstGeom prst="rect">
            <a:avLst/>
          </a:prstGeom>
          <a:noFill/>
          <a:ln/>
        </p:spPr>
        <p:txBody>
          <a:bodyPr wrap="square" lIns="0" tIns="0" rIns="0" bIns="0" rtlCol="0" anchor="t"/>
          <a:lstStyle/>
          <a:p>
            <a:pPr indent="0" marL="0">
              <a:buNone/>
            </a:pPr>
            <a:r>
              <a:rPr lang="en-US" sz="1000" b="1" spc="200" kern="0" dirty="0">
                <a:solidFill>
                  <a:srgbClr val="5C6B63"/>
                </a:solidFill>
                <a:latin typeface="Calibri" pitchFamily="34" charset="0"/>
                <a:ea typeface="Calibri" pitchFamily="34" charset="-122"/>
                <a:cs typeface="Calibri" pitchFamily="34" charset="-120"/>
              </a:rPr>
              <a:t>SESSION 5 · ROOT CAUSE</a:t>
            </a:r>
            <a:endParaRPr lang="en-US" sz="1000" dirty="0"/>
          </a:p>
        </p:txBody>
      </p:sp>
      <p:sp>
        <p:nvSpPr>
          <p:cNvPr id="3" name="Shape 1"/>
          <p:cNvSpPr/>
          <p:nvPr/>
        </p:nvSpPr>
        <p:spPr>
          <a:xfrm>
            <a:off x="10643616" y="310896"/>
            <a:ext cx="155448" cy="155448"/>
          </a:xfrm>
          <a:prstGeom prst="rect">
            <a:avLst/>
          </a:prstGeom>
          <a:solidFill>
            <a:srgbClr val="038141"/>
          </a:solidFill>
          <a:ln/>
        </p:spPr>
      </p:sp>
      <p:sp>
        <p:nvSpPr>
          <p:cNvPr id="4" name="Shape 2"/>
          <p:cNvSpPr/>
          <p:nvPr/>
        </p:nvSpPr>
        <p:spPr>
          <a:xfrm>
            <a:off x="10853928" y="310896"/>
            <a:ext cx="155448" cy="155448"/>
          </a:xfrm>
          <a:prstGeom prst="rect">
            <a:avLst/>
          </a:prstGeom>
          <a:solidFill>
            <a:srgbClr val="85BB2F"/>
          </a:solidFill>
          <a:ln/>
        </p:spPr>
      </p:sp>
      <p:sp>
        <p:nvSpPr>
          <p:cNvPr id="5" name="Shape 3"/>
          <p:cNvSpPr/>
          <p:nvPr/>
        </p:nvSpPr>
        <p:spPr>
          <a:xfrm>
            <a:off x="11064240" y="310896"/>
            <a:ext cx="155448" cy="155448"/>
          </a:xfrm>
          <a:prstGeom prst="rect">
            <a:avLst/>
          </a:prstGeom>
          <a:solidFill>
            <a:srgbClr val="FECB02"/>
          </a:solidFill>
          <a:ln/>
        </p:spPr>
      </p:sp>
      <p:sp>
        <p:nvSpPr>
          <p:cNvPr id="6" name="Shape 4"/>
          <p:cNvSpPr/>
          <p:nvPr/>
        </p:nvSpPr>
        <p:spPr>
          <a:xfrm>
            <a:off x="11274552" y="310896"/>
            <a:ext cx="155448" cy="155448"/>
          </a:xfrm>
          <a:prstGeom prst="rect">
            <a:avLst/>
          </a:prstGeom>
          <a:solidFill>
            <a:srgbClr val="EE8100"/>
          </a:solidFill>
          <a:ln/>
        </p:spPr>
      </p:sp>
      <p:sp>
        <p:nvSpPr>
          <p:cNvPr id="7" name="Shape 5"/>
          <p:cNvSpPr/>
          <p:nvPr/>
        </p:nvSpPr>
        <p:spPr>
          <a:xfrm>
            <a:off x="11484864" y="310896"/>
            <a:ext cx="155448" cy="155448"/>
          </a:xfrm>
          <a:prstGeom prst="rect">
            <a:avLst/>
          </a:prstGeom>
          <a:solidFill>
            <a:srgbClr val="E63E11"/>
          </a:solidFill>
          <a:ln/>
        </p:spPr>
      </p:sp>
      <p:sp>
        <p:nvSpPr>
          <p:cNvPr id="8" name="Text 6"/>
          <p:cNvSpPr txBox="1"/>
          <p:nvPr/>
        </p:nvSpPr>
        <p:spPr>
          <a:xfrm>
            <a:off x="548640" y="603504"/>
            <a:ext cx="11064240" cy="822960"/>
          </a:xfrm>
          <a:prstGeom prst="rect">
            <a:avLst/>
          </a:prstGeom>
          <a:noFill/>
          <a:ln/>
        </p:spPr>
        <p:txBody>
          <a:bodyPr wrap="square" lIns="0" tIns="0" rIns="0" bIns="0" rtlCol="0" anchor="t"/>
          <a:lstStyle/>
          <a:p>
            <a:pPr indent="0" marL="0">
              <a:buNone/>
            </a:pPr>
            <a:r>
              <a:rPr lang="en-US" sz="2600" b="1" dirty="0">
                <a:solidFill>
                  <a:srgbClr val="154B36"/>
                </a:solidFill>
                <a:latin typeface="Cambria" pitchFamily="34" charset="0"/>
                <a:ea typeface="Cambria" pitchFamily="34" charset="-122"/>
                <a:cs typeface="Cambria" pitchFamily="34" charset="-120"/>
              </a:rPr>
              <a:t>5 Whys: from symptom to root cause</a:t>
            </a:r>
            <a:endParaRPr lang="en-US" sz="2600" dirty="0"/>
          </a:p>
        </p:txBody>
      </p:sp>
      <p:sp>
        <p:nvSpPr>
          <p:cNvPr id="9" name="Text 7"/>
          <p:cNvSpPr txBox="1"/>
          <p:nvPr/>
        </p:nvSpPr>
        <p:spPr>
          <a:xfrm>
            <a:off x="548640" y="6199632"/>
            <a:ext cx="11064240" cy="219456"/>
          </a:xfrm>
          <a:prstGeom prst="rect">
            <a:avLst/>
          </a:prstGeom>
          <a:noFill/>
          <a:ln/>
        </p:spPr>
        <p:txBody>
          <a:bodyPr wrap="square" lIns="0" tIns="0" rIns="0" bIns="0" rtlCol="0" anchor="t"/>
          <a:lstStyle/>
          <a:p>
            <a:pPr indent="0" marL="0">
              <a:buNone/>
            </a:pPr>
            <a:r>
              <a:rPr lang="en-US" sz="900" i="1" dirty="0">
                <a:solidFill>
                  <a:srgbClr val="5C6B63"/>
                </a:solidFill>
                <a:latin typeface="Calibri" pitchFamily="34" charset="0"/>
                <a:ea typeface="Calibri" pitchFamily="34" charset="-122"/>
                <a:cs typeface="Calibri" pitchFamily="34" charset="-120"/>
              </a:rPr>
              <a:t>Finish with a root cause that can be investigated or designed around.</a:t>
            </a:r>
            <a:endParaRPr lang="en-US" sz="900" dirty="0"/>
          </a:p>
        </p:txBody>
      </p:sp>
      <p:sp>
        <p:nvSpPr>
          <p:cNvPr id="10" name="Text 8"/>
          <p:cNvSpPr txBox="1"/>
          <p:nvPr/>
        </p:nvSpPr>
        <p:spPr>
          <a:xfrm>
            <a:off x="548640" y="6510528"/>
            <a:ext cx="9601200" cy="182880"/>
          </a:xfrm>
          <a:prstGeom prst="rect">
            <a:avLst/>
          </a:prstGeom>
          <a:noFill/>
          <a:ln/>
        </p:spPr>
        <p:txBody>
          <a:bodyPr wrap="square" lIns="0" tIns="0" rIns="0" bIns="0" rtlCol="0" anchor="t"/>
          <a:lstStyle/>
          <a:p>
            <a:pPr indent="0" marL="0">
              <a:buNone/>
            </a:pPr>
            <a:r>
              <a:rPr lang="en-US" sz="900" dirty="0">
                <a:solidFill>
                  <a:srgbClr val="5C6B63"/>
                </a:solidFill>
                <a:latin typeface="Calibri" pitchFamily="34" charset="0"/>
                <a:ea typeface="Calibri" pitchFamily="34" charset="-122"/>
                <a:cs typeface="Calibri" pitchFamily="34" charset="-120"/>
              </a:rPr>
              <a:t>NutriScore Checkout Tool  |  NUT-04, JHUB Africa / AfyaVentures  |  Kibet, Project Lead</a:t>
            </a:r>
            <a:endParaRPr lang="en-US" sz="900" dirty="0"/>
          </a:p>
        </p:txBody>
      </p:sp>
      <p:sp>
        <p:nvSpPr>
          <p:cNvPr id="11" name="Text 9"/>
          <p:cNvSpPr txBox="1"/>
          <p:nvPr/>
        </p:nvSpPr>
        <p:spPr>
          <a:xfrm>
            <a:off x="10725912" y="6510528"/>
            <a:ext cx="914400" cy="182880"/>
          </a:xfrm>
          <a:prstGeom prst="rect">
            <a:avLst/>
          </a:prstGeom>
          <a:noFill/>
          <a:ln/>
        </p:spPr>
        <p:txBody>
          <a:bodyPr wrap="square" lIns="0" tIns="0" rIns="0" bIns="0" rtlCol="0" anchor="t"/>
          <a:lstStyle/>
          <a:p>
            <a:pPr algn="r" indent="0" marL="0">
              <a:buNone/>
            </a:pPr>
            <a:r>
              <a:rPr lang="en-US" sz="900" dirty="0">
                <a:solidFill>
                  <a:srgbClr val="5C6B63"/>
                </a:solidFill>
                <a:latin typeface="Calibri" pitchFamily="34" charset="0"/>
                <a:ea typeface="Calibri" pitchFamily="34" charset="-122"/>
                <a:cs typeface="Calibri" pitchFamily="34" charset="-120"/>
              </a:rPr>
              <a:t>2 / 10</a:t>
            </a:r>
            <a:endParaRPr lang="en-US" sz="900" dirty="0"/>
          </a:p>
        </p:txBody>
      </p:sp>
      <p:sp>
        <p:nvSpPr>
          <p:cNvPr id="12" name="Shape 10"/>
          <p:cNvSpPr/>
          <p:nvPr/>
        </p:nvSpPr>
        <p:spPr>
          <a:xfrm>
            <a:off x="548640" y="1508760"/>
            <a:ext cx="11091672" cy="681228"/>
          </a:xfrm>
          <a:prstGeom prst="roundRect">
            <a:avLst>
              <a:gd name="adj" fmla="val 9396"/>
            </a:avLst>
          </a:prstGeom>
          <a:solidFill>
            <a:srgbClr val="FFFFFF"/>
          </a:solidFill>
          <a:ln w="9525">
            <a:solidFill>
              <a:srgbClr val="C9D5CE"/>
            </a:solidFill>
            <a:prstDash val="solid"/>
          </a:ln>
        </p:spPr>
      </p:sp>
      <p:sp>
        <p:nvSpPr>
          <p:cNvPr id="13" name="Text 11"/>
          <p:cNvSpPr txBox="1"/>
          <p:nvPr/>
        </p:nvSpPr>
        <p:spPr>
          <a:xfrm>
            <a:off x="731520" y="1581912"/>
            <a:ext cx="10725912" cy="201168"/>
          </a:xfrm>
          <a:prstGeom prst="rect">
            <a:avLst/>
          </a:prstGeom>
          <a:noFill/>
          <a:ln/>
        </p:spPr>
        <p:txBody>
          <a:bodyPr wrap="square" lIns="0" tIns="0" rIns="0" bIns="0" rtlCol="0" anchor="t"/>
          <a:lstStyle/>
          <a:p>
            <a:pPr indent="0" marL="0">
              <a:buNone/>
            </a:pPr>
            <a:r>
              <a:rPr lang="en-US" sz="1050" b="1" dirty="0">
                <a:solidFill>
                  <a:srgbClr val="154B36"/>
                </a:solidFill>
                <a:latin typeface="Calibri" pitchFamily="34" charset="0"/>
                <a:ea typeface="Calibri" pitchFamily="34" charset="-122"/>
                <a:cs typeface="Calibri" pitchFamily="34" charset="-120"/>
              </a:rPr>
              <a:t>Problem symptom</a:t>
            </a:r>
            <a:endParaRPr lang="en-US" sz="1050" dirty="0"/>
          </a:p>
        </p:txBody>
      </p:sp>
      <p:sp>
        <p:nvSpPr>
          <p:cNvPr id="14" name="Text 12"/>
          <p:cNvSpPr txBox="1"/>
          <p:nvPr/>
        </p:nvSpPr>
        <p:spPr>
          <a:xfrm>
            <a:off x="731520" y="1801368"/>
            <a:ext cx="10725912" cy="315468"/>
          </a:xfrm>
          <a:prstGeom prst="rect">
            <a:avLst/>
          </a:prstGeom>
          <a:noFill/>
          <a:ln/>
        </p:spPr>
        <p:txBody>
          <a:bodyPr wrap="square" lIns="0" tIns="0" rIns="0" bIns="0" rtlCol="0" anchor="t"/>
          <a:lstStyle/>
          <a:p>
            <a:pPr indent="0" marL="0">
              <a:lnSpc>
                <a:spcPct val="105000"/>
              </a:lnSpc>
              <a:buNone/>
            </a:pPr>
            <a:r>
              <a:rPr lang="en-US" sz="1100" dirty="0">
                <a:solidFill>
                  <a:srgbClr val="1F2A24"/>
                </a:solidFill>
                <a:latin typeface="Calibri" pitchFamily="34" charset="0"/>
                <a:ea typeface="Calibri" pitchFamily="34" charset="-122"/>
                <a:cs typeface="Calibri" pitchFamily="34" charset="-120"/>
              </a:rPr>
              <a:t>Segment-A shoppers (already managing a diet-sensitive condition) add items to their online cart that turn out not to fit their sugar, salt or fat limits.</a:t>
            </a:r>
            <a:endParaRPr lang="en-US" sz="1100" dirty="0"/>
          </a:p>
        </p:txBody>
      </p:sp>
      <p:sp>
        <p:nvSpPr>
          <p:cNvPr id="15" name="Shape 13"/>
          <p:cNvSpPr/>
          <p:nvPr/>
        </p:nvSpPr>
        <p:spPr>
          <a:xfrm>
            <a:off x="548640" y="2263140"/>
            <a:ext cx="11091672" cy="681228"/>
          </a:xfrm>
          <a:prstGeom prst="roundRect">
            <a:avLst>
              <a:gd name="adj" fmla="val 9396"/>
            </a:avLst>
          </a:prstGeom>
          <a:solidFill>
            <a:srgbClr val="FFFFFF"/>
          </a:solidFill>
          <a:ln w="9525">
            <a:solidFill>
              <a:srgbClr val="C9D5CE"/>
            </a:solidFill>
            <a:prstDash val="solid"/>
          </a:ln>
        </p:spPr>
      </p:sp>
      <p:sp>
        <p:nvSpPr>
          <p:cNvPr id="16" name="Text 14"/>
          <p:cNvSpPr txBox="1"/>
          <p:nvPr/>
        </p:nvSpPr>
        <p:spPr>
          <a:xfrm>
            <a:off x="731520" y="2336292"/>
            <a:ext cx="10725912" cy="201168"/>
          </a:xfrm>
          <a:prstGeom prst="rect">
            <a:avLst/>
          </a:prstGeom>
          <a:noFill/>
          <a:ln/>
        </p:spPr>
        <p:txBody>
          <a:bodyPr wrap="square" lIns="0" tIns="0" rIns="0" bIns="0" rtlCol="0" anchor="t"/>
          <a:lstStyle/>
          <a:p>
            <a:pPr indent="0" marL="0">
              <a:buNone/>
            </a:pPr>
            <a:r>
              <a:rPr lang="en-US" sz="1050" b="1" dirty="0">
                <a:solidFill>
                  <a:srgbClr val="154B36"/>
                </a:solidFill>
                <a:latin typeface="Calibri" pitchFamily="34" charset="0"/>
                <a:ea typeface="Calibri" pitchFamily="34" charset="-122"/>
                <a:cs typeface="Calibri" pitchFamily="34" charset="-120"/>
              </a:rPr>
              <a:t>Why 1</a:t>
            </a:r>
            <a:endParaRPr lang="en-US" sz="1050" dirty="0"/>
          </a:p>
        </p:txBody>
      </p:sp>
      <p:sp>
        <p:nvSpPr>
          <p:cNvPr id="17" name="Text 15"/>
          <p:cNvSpPr txBox="1"/>
          <p:nvPr/>
        </p:nvSpPr>
        <p:spPr>
          <a:xfrm>
            <a:off x="731520" y="2555748"/>
            <a:ext cx="10725912" cy="315468"/>
          </a:xfrm>
          <a:prstGeom prst="rect">
            <a:avLst/>
          </a:prstGeom>
          <a:noFill/>
          <a:ln/>
        </p:spPr>
        <p:txBody>
          <a:bodyPr wrap="square" lIns="0" tIns="0" rIns="0" bIns="0" rtlCol="0" anchor="t"/>
          <a:lstStyle/>
          <a:p>
            <a:pPr indent="0" marL="0">
              <a:lnSpc>
                <a:spcPct val="105000"/>
              </a:lnSpc>
              <a:buNone/>
            </a:pPr>
            <a:r>
              <a:rPr lang="en-US" sz="1100" dirty="0">
                <a:solidFill>
                  <a:srgbClr val="1F2A24"/>
                </a:solidFill>
                <a:latin typeface="Calibri" pitchFamily="34" charset="0"/>
                <a:ea typeface="Calibri" pitchFamily="34" charset="-122"/>
                <a:cs typeface="Calibri" pitchFamily="34" charset="-120"/>
              </a:rPr>
              <a:t>Because at the moment they choose a product, they cannot tell whether it fits their limits.</a:t>
            </a:r>
            <a:endParaRPr lang="en-US" sz="1100" dirty="0"/>
          </a:p>
        </p:txBody>
      </p:sp>
      <p:sp>
        <p:nvSpPr>
          <p:cNvPr id="18" name="Shape 16"/>
          <p:cNvSpPr/>
          <p:nvPr/>
        </p:nvSpPr>
        <p:spPr>
          <a:xfrm>
            <a:off x="548640" y="3017520"/>
            <a:ext cx="11091672" cy="681228"/>
          </a:xfrm>
          <a:prstGeom prst="roundRect">
            <a:avLst>
              <a:gd name="adj" fmla="val 9396"/>
            </a:avLst>
          </a:prstGeom>
          <a:solidFill>
            <a:srgbClr val="FFFFFF"/>
          </a:solidFill>
          <a:ln w="9525">
            <a:solidFill>
              <a:srgbClr val="C9D5CE"/>
            </a:solidFill>
            <a:prstDash val="solid"/>
          </a:ln>
        </p:spPr>
      </p:sp>
      <p:sp>
        <p:nvSpPr>
          <p:cNvPr id="19" name="Text 17"/>
          <p:cNvSpPr txBox="1"/>
          <p:nvPr/>
        </p:nvSpPr>
        <p:spPr>
          <a:xfrm>
            <a:off x="731520" y="3090672"/>
            <a:ext cx="10725912" cy="201168"/>
          </a:xfrm>
          <a:prstGeom prst="rect">
            <a:avLst/>
          </a:prstGeom>
          <a:noFill/>
          <a:ln/>
        </p:spPr>
        <p:txBody>
          <a:bodyPr wrap="square" lIns="0" tIns="0" rIns="0" bIns="0" rtlCol="0" anchor="t"/>
          <a:lstStyle/>
          <a:p>
            <a:pPr indent="0" marL="0">
              <a:buNone/>
            </a:pPr>
            <a:r>
              <a:rPr lang="en-US" sz="1050" b="1" dirty="0">
                <a:solidFill>
                  <a:srgbClr val="154B36"/>
                </a:solidFill>
                <a:latin typeface="Calibri" pitchFamily="34" charset="0"/>
                <a:ea typeface="Calibri" pitchFamily="34" charset="-122"/>
                <a:cs typeface="Calibri" pitchFamily="34" charset="-120"/>
              </a:rPr>
              <a:t>Why 2</a:t>
            </a:r>
            <a:endParaRPr lang="en-US" sz="1050" dirty="0"/>
          </a:p>
        </p:txBody>
      </p:sp>
      <p:sp>
        <p:nvSpPr>
          <p:cNvPr id="20" name="Text 18"/>
          <p:cNvSpPr txBox="1"/>
          <p:nvPr/>
        </p:nvSpPr>
        <p:spPr>
          <a:xfrm>
            <a:off x="731520" y="3310128"/>
            <a:ext cx="10725912" cy="315468"/>
          </a:xfrm>
          <a:prstGeom prst="rect">
            <a:avLst/>
          </a:prstGeom>
          <a:noFill/>
          <a:ln/>
        </p:spPr>
        <p:txBody>
          <a:bodyPr wrap="square" lIns="0" tIns="0" rIns="0" bIns="0" rtlCol="0" anchor="t"/>
          <a:lstStyle/>
          <a:p>
            <a:pPr indent="0" marL="0">
              <a:lnSpc>
                <a:spcPct val="105000"/>
              </a:lnSpc>
              <a:buNone/>
            </a:pPr>
            <a:r>
              <a:rPr lang="en-US" sz="1100" dirty="0">
                <a:solidFill>
                  <a:srgbClr val="1F2A24"/>
                </a:solidFill>
                <a:latin typeface="Calibri" pitchFamily="34" charset="0"/>
                <a:ea typeface="Calibri" pitchFamily="34" charset="-122"/>
                <a:cs typeface="Calibri" pitchFamily="34" charset="-120"/>
              </a:rPr>
              <a:t>Because no Kenyan online retailer displays a front-of-pack nutrition signal (Food-EPI Kenya, 2020).</a:t>
            </a:r>
            <a:endParaRPr lang="en-US" sz="1100" dirty="0"/>
          </a:p>
        </p:txBody>
      </p:sp>
      <p:sp>
        <p:nvSpPr>
          <p:cNvPr id="21" name="Shape 19"/>
          <p:cNvSpPr/>
          <p:nvPr/>
        </p:nvSpPr>
        <p:spPr>
          <a:xfrm>
            <a:off x="548640" y="3771900"/>
            <a:ext cx="11091672" cy="681228"/>
          </a:xfrm>
          <a:prstGeom prst="roundRect">
            <a:avLst>
              <a:gd name="adj" fmla="val 9396"/>
            </a:avLst>
          </a:prstGeom>
          <a:solidFill>
            <a:srgbClr val="FFFFFF"/>
          </a:solidFill>
          <a:ln w="9525">
            <a:solidFill>
              <a:srgbClr val="C9D5CE"/>
            </a:solidFill>
            <a:prstDash val="solid"/>
          </a:ln>
        </p:spPr>
      </p:sp>
      <p:sp>
        <p:nvSpPr>
          <p:cNvPr id="22" name="Text 20"/>
          <p:cNvSpPr txBox="1"/>
          <p:nvPr/>
        </p:nvSpPr>
        <p:spPr>
          <a:xfrm>
            <a:off x="731520" y="3845052"/>
            <a:ext cx="10725912" cy="201168"/>
          </a:xfrm>
          <a:prstGeom prst="rect">
            <a:avLst/>
          </a:prstGeom>
          <a:noFill/>
          <a:ln/>
        </p:spPr>
        <p:txBody>
          <a:bodyPr wrap="square" lIns="0" tIns="0" rIns="0" bIns="0" rtlCol="0" anchor="t"/>
          <a:lstStyle/>
          <a:p>
            <a:pPr indent="0" marL="0">
              <a:buNone/>
            </a:pPr>
            <a:r>
              <a:rPr lang="en-US" sz="1050" b="1" dirty="0">
                <a:solidFill>
                  <a:srgbClr val="154B36"/>
                </a:solidFill>
                <a:latin typeface="Calibri" pitchFamily="34" charset="0"/>
                <a:ea typeface="Calibri" pitchFamily="34" charset="-122"/>
                <a:cs typeface="Calibri" pitchFamily="34" charset="-120"/>
              </a:rPr>
              <a:t>Why 3</a:t>
            </a:r>
            <a:endParaRPr lang="en-US" sz="1050" dirty="0"/>
          </a:p>
        </p:txBody>
      </p:sp>
      <p:sp>
        <p:nvSpPr>
          <p:cNvPr id="23" name="Text 21"/>
          <p:cNvSpPr txBox="1"/>
          <p:nvPr/>
        </p:nvSpPr>
        <p:spPr>
          <a:xfrm>
            <a:off x="731520" y="4064508"/>
            <a:ext cx="10725912" cy="315468"/>
          </a:xfrm>
          <a:prstGeom prst="rect">
            <a:avLst/>
          </a:prstGeom>
          <a:noFill/>
          <a:ln/>
        </p:spPr>
        <p:txBody>
          <a:bodyPr wrap="square" lIns="0" tIns="0" rIns="0" bIns="0" rtlCol="0" anchor="t"/>
          <a:lstStyle/>
          <a:p>
            <a:pPr indent="0" marL="0">
              <a:lnSpc>
                <a:spcPct val="105000"/>
              </a:lnSpc>
              <a:buNone/>
            </a:pPr>
            <a:r>
              <a:rPr lang="en-US" sz="1100" dirty="0">
                <a:solidFill>
                  <a:srgbClr val="1F2A24"/>
                </a:solidFill>
                <a:latin typeface="Calibri" pitchFamily="34" charset="0"/>
                <a:ea typeface="Calibri" pitchFamily="34" charset="-122"/>
                <a:cs typeface="Calibri" pitchFamily="34" charset="-120"/>
              </a:rPr>
              <a:t>Because on-pack labels are too incomplete to work it out themselves — added sugar isn’t even a mandatory label field (ATNi / EAMA Kenya Market Assessment, 2025).</a:t>
            </a:r>
            <a:endParaRPr lang="en-US" sz="1100" dirty="0"/>
          </a:p>
        </p:txBody>
      </p:sp>
      <p:sp>
        <p:nvSpPr>
          <p:cNvPr id="24" name="Shape 22"/>
          <p:cNvSpPr/>
          <p:nvPr/>
        </p:nvSpPr>
        <p:spPr>
          <a:xfrm>
            <a:off x="548640" y="4526280"/>
            <a:ext cx="11091672" cy="681228"/>
          </a:xfrm>
          <a:prstGeom prst="roundRect">
            <a:avLst>
              <a:gd name="adj" fmla="val 9396"/>
            </a:avLst>
          </a:prstGeom>
          <a:solidFill>
            <a:srgbClr val="FFFFFF"/>
          </a:solidFill>
          <a:ln w="9525">
            <a:solidFill>
              <a:srgbClr val="C9D5CE"/>
            </a:solidFill>
            <a:prstDash val="solid"/>
          </a:ln>
        </p:spPr>
      </p:sp>
      <p:sp>
        <p:nvSpPr>
          <p:cNvPr id="25" name="Text 23"/>
          <p:cNvSpPr txBox="1"/>
          <p:nvPr/>
        </p:nvSpPr>
        <p:spPr>
          <a:xfrm>
            <a:off x="731520" y="4599432"/>
            <a:ext cx="10725912" cy="201168"/>
          </a:xfrm>
          <a:prstGeom prst="rect">
            <a:avLst/>
          </a:prstGeom>
          <a:noFill/>
          <a:ln/>
        </p:spPr>
        <p:txBody>
          <a:bodyPr wrap="square" lIns="0" tIns="0" rIns="0" bIns="0" rtlCol="0" anchor="t"/>
          <a:lstStyle/>
          <a:p>
            <a:pPr indent="0" marL="0">
              <a:buNone/>
            </a:pPr>
            <a:r>
              <a:rPr lang="en-US" sz="1050" b="1" dirty="0">
                <a:solidFill>
                  <a:srgbClr val="154B36"/>
                </a:solidFill>
                <a:latin typeface="Calibri" pitchFamily="34" charset="0"/>
                <a:ea typeface="Calibri" pitchFamily="34" charset="-122"/>
                <a:cs typeface="Calibri" pitchFamily="34" charset="-120"/>
              </a:rPr>
              <a:t>Why 4</a:t>
            </a:r>
            <a:endParaRPr lang="en-US" sz="1050" dirty="0"/>
          </a:p>
        </p:txBody>
      </p:sp>
      <p:sp>
        <p:nvSpPr>
          <p:cNvPr id="26" name="Text 24"/>
          <p:cNvSpPr txBox="1"/>
          <p:nvPr/>
        </p:nvSpPr>
        <p:spPr>
          <a:xfrm>
            <a:off x="731520" y="4818888"/>
            <a:ext cx="10725912" cy="315468"/>
          </a:xfrm>
          <a:prstGeom prst="rect">
            <a:avLst/>
          </a:prstGeom>
          <a:noFill/>
          <a:ln/>
        </p:spPr>
        <p:txBody>
          <a:bodyPr wrap="square" lIns="0" tIns="0" rIns="0" bIns="0" rtlCol="0" anchor="t"/>
          <a:lstStyle/>
          <a:p>
            <a:pPr indent="0" marL="0">
              <a:lnSpc>
                <a:spcPct val="105000"/>
              </a:lnSpc>
              <a:buNone/>
            </a:pPr>
            <a:r>
              <a:rPr lang="en-US" sz="1100" dirty="0">
                <a:solidFill>
                  <a:srgbClr val="1F2A24"/>
                </a:solidFill>
                <a:latin typeface="Calibri" pitchFamily="34" charset="0"/>
                <a:ea typeface="Calibri" pitchFamily="34" charset="-122"/>
                <a:cs typeface="Calibri" pitchFamily="34" charset="-120"/>
              </a:rPr>
              <a:t>Because, until NutriScore, nothing cross-referenced Kenyan products against clinical nutrition thresholds and surfaced a grade at the moment of choice.</a:t>
            </a:r>
            <a:endParaRPr lang="en-US" sz="1100" dirty="0"/>
          </a:p>
        </p:txBody>
      </p:sp>
      <p:sp>
        <p:nvSpPr>
          <p:cNvPr id="27" name="Shape 25"/>
          <p:cNvSpPr/>
          <p:nvPr/>
        </p:nvSpPr>
        <p:spPr>
          <a:xfrm>
            <a:off x="548640" y="5280660"/>
            <a:ext cx="11091672" cy="681228"/>
          </a:xfrm>
          <a:prstGeom prst="roundRect">
            <a:avLst>
              <a:gd name="adj" fmla="val 9396"/>
            </a:avLst>
          </a:prstGeom>
          <a:solidFill>
            <a:srgbClr val="E8F1EB"/>
          </a:solidFill>
          <a:ln w="9525">
            <a:solidFill>
              <a:srgbClr val="C9D5CE"/>
            </a:solidFill>
            <a:prstDash val="solid"/>
          </a:ln>
        </p:spPr>
      </p:sp>
      <p:sp>
        <p:nvSpPr>
          <p:cNvPr id="28" name="Text 26"/>
          <p:cNvSpPr txBox="1"/>
          <p:nvPr/>
        </p:nvSpPr>
        <p:spPr>
          <a:xfrm>
            <a:off x="731520" y="5353812"/>
            <a:ext cx="10725912" cy="201168"/>
          </a:xfrm>
          <a:prstGeom prst="rect">
            <a:avLst/>
          </a:prstGeom>
          <a:noFill/>
          <a:ln/>
        </p:spPr>
        <p:txBody>
          <a:bodyPr wrap="square" lIns="0" tIns="0" rIns="0" bIns="0" rtlCol="0" anchor="t"/>
          <a:lstStyle/>
          <a:p>
            <a:pPr indent="0" marL="0">
              <a:buNone/>
            </a:pPr>
            <a:r>
              <a:rPr lang="en-US" sz="1050" b="1" dirty="0">
                <a:solidFill>
                  <a:srgbClr val="154B36"/>
                </a:solidFill>
                <a:latin typeface="Calibri" pitchFamily="34" charset="0"/>
                <a:ea typeface="Calibri" pitchFamily="34" charset="-122"/>
                <a:cs typeface="Calibri" pitchFamily="34" charset="-120"/>
              </a:rPr>
              <a:t>Why 5 / root cause</a:t>
            </a:r>
            <a:endParaRPr lang="en-US" sz="1050" dirty="0"/>
          </a:p>
        </p:txBody>
      </p:sp>
      <p:sp>
        <p:nvSpPr>
          <p:cNvPr id="29" name="Text 27"/>
          <p:cNvSpPr txBox="1"/>
          <p:nvPr/>
        </p:nvSpPr>
        <p:spPr>
          <a:xfrm>
            <a:off x="731520" y="5573268"/>
            <a:ext cx="10725912" cy="315468"/>
          </a:xfrm>
          <a:prstGeom prst="rect">
            <a:avLst/>
          </a:prstGeom>
          <a:noFill/>
          <a:ln/>
        </p:spPr>
        <p:txBody>
          <a:bodyPr wrap="square" lIns="0" tIns="0" rIns="0" bIns="0" rtlCol="0" anchor="t"/>
          <a:lstStyle/>
          <a:p>
            <a:pPr indent="0" marL="0">
              <a:lnSpc>
                <a:spcPct val="105000"/>
              </a:lnSpc>
              <a:buNone/>
            </a:pPr>
            <a:r>
              <a:rPr lang="en-US" sz="1150" dirty="0">
                <a:solidFill>
                  <a:srgbClr val="1F2A24"/>
                </a:solidFill>
                <a:latin typeface="Calibri" pitchFamily="34" charset="0"/>
                <a:ea typeface="Calibri" pitchFamily="34" charset="-122"/>
                <a:cs typeface="Calibri" pitchFamily="34" charset="-120"/>
              </a:rPr>
              <a:t>Nutrition-quality data and the online purchase decision live in two disconnected systems in Kenya — nothing attaches an evidence-based grade to a specific product at checkout.</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2F6F3"/>
        </a:solidFill>
      </p:bgPr>
    </p:bg>
    <p:spTree>
      <p:nvGrpSpPr>
        <p:cNvPr id="1" name=""/>
        <p:cNvGrpSpPr/>
        <p:nvPr/>
      </p:nvGrpSpPr>
      <p:grpSpPr>
        <a:xfrm>
          <a:off x="0" y="0"/>
          <a:ext cx="0" cy="0"/>
          <a:chOff x="0" y="0"/>
          <a:chExt cx="0" cy="0"/>
        </a:xfrm>
      </p:grpSpPr>
      <p:sp>
        <p:nvSpPr>
          <p:cNvPr id="2" name="Text 0"/>
          <p:cNvSpPr txBox="1"/>
          <p:nvPr/>
        </p:nvSpPr>
        <p:spPr>
          <a:xfrm>
            <a:off x="548640" y="292608"/>
            <a:ext cx="9692640" cy="228600"/>
          </a:xfrm>
          <a:prstGeom prst="rect">
            <a:avLst/>
          </a:prstGeom>
          <a:noFill/>
          <a:ln/>
        </p:spPr>
        <p:txBody>
          <a:bodyPr wrap="square" lIns="0" tIns="0" rIns="0" bIns="0" rtlCol="0" anchor="t"/>
          <a:lstStyle/>
          <a:p>
            <a:pPr indent="0" marL="0">
              <a:buNone/>
            </a:pPr>
            <a:r>
              <a:rPr lang="en-US" sz="1000" b="1" spc="200" kern="0" dirty="0">
                <a:solidFill>
                  <a:srgbClr val="5C6B63"/>
                </a:solidFill>
                <a:latin typeface="Calibri" pitchFamily="34" charset="0"/>
                <a:ea typeface="Calibri" pitchFamily="34" charset="-122"/>
                <a:cs typeface="Calibri" pitchFamily="34" charset="-120"/>
              </a:rPr>
              <a:t>SESSION 5 · VALIDATE</a:t>
            </a:r>
            <a:endParaRPr lang="en-US" sz="1000" dirty="0"/>
          </a:p>
        </p:txBody>
      </p:sp>
      <p:sp>
        <p:nvSpPr>
          <p:cNvPr id="3" name="Shape 1"/>
          <p:cNvSpPr/>
          <p:nvPr/>
        </p:nvSpPr>
        <p:spPr>
          <a:xfrm>
            <a:off x="10643616" y="310896"/>
            <a:ext cx="155448" cy="155448"/>
          </a:xfrm>
          <a:prstGeom prst="rect">
            <a:avLst/>
          </a:prstGeom>
          <a:solidFill>
            <a:srgbClr val="038141"/>
          </a:solidFill>
          <a:ln/>
        </p:spPr>
      </p:sp>
      <p:sp>
        <p:nvSpPr>
          <p:cNvPr id="4" name="Shape 2"/>
          <p:cNvSpPr/>
          <p:nvPr/>
        </p:nvSpPr>
        <p:spPr>
          <a:xfrm>
            <a:off x="10853928" y="310896"/>
            <a:ext cx="155448" cy="155448"/>
          </a:xfrm>
          <a:prstGeom prst="rect">
            <a:avLst/>
          </a:prstGeom>
          <a:solidFill>
            <a:srgbClr val="85BB2F"/>
          </a:solidFill>
          <a:ln/>
        </p:spPr>
      </p:sp>
      <p:sp>
        <p:nvSpPr>
          <p:cNvPr id="5" name="Shape 3"/>
          <p:cNvSpPr/>
          <p:nvPr/>
        </p:nvSpPr>
        <p:spPr>
          <a:xfrm>
            <a:off x="11064240" y="310896"/>
            <a:ext cx="155448" cy="155448"/>
          </a:xfrm>
          <a:prstGeom prst="rect">
            <a:avLst/>
          </a:prstGeom>
          <a:solidFill>
            <a:srgbClr val="FECB02"/>
          </a:solidFill>
          <a:ln/>
        </p:spPr>
      </p:sp>
      <p:sp>
        <p:nvSpPr>
          <p:cNvPr id="6" name="Shape 4"/>
          <p:cNvSpPr/>
          <p:nvPr/>
        </p:nvSpPr>
        <p:spPr>
          <a:xfrm>
            <a:off x="11274552" y="310896"/>
            <a:ext cx="155448" cy="155448"/>
          </a:xfrm>
          <a:prstGeom prst="rect">
            <a:avLst/>
          </a:prstGeom>
          <a:solidFill>
            <a:srgbClr val="EE8100"/>
          </a:solidFill>
          <a:ln/>
        </p:spPr>
      </p:sp>
      <p:sp>
        <p:nvSpPr>
          <p:cNvPr id="7" name="Shape 5"/>
          <p:cNvSpPr/>
          <p:nvPr/>
        </p:nvSpPr>
        <p:spPr>
          <a:xfrm>
            <a:off x="11484864" y="310896"/>
            <a:ext cx="155448" cy="155448"/>
          </a:xfrm>
          <a:prstGeom prst="rect">
            <a:avLst/>
          </a:prstGeom>
          <a:solidFill>
            <a:srgbClr val="E63E11"/>
          </a:solidFill>
          <a:ln/>
        </p:spPr>
      </p:sp>
      <p:sp>
        <p:nvSpPr>
          <p:cNvPr id="8" name="Text 6"/>
          <p:cNvSpPr txBox="1"/>
          <p:nvPr/>
        </p:nvSpPr>
        <p:spPr>
          <a:xfrm>
            <a:off x="548640" y="603504"/>
            <a:ext cx="11064240" cy="822960"/>
          </a:xfrm>
          <a:prstGeom prst="rect">
            <a:avLst/>
          </a:prstGeom>
          <a:noFill/>
          <a:ln/>
        </p:spPr>
        <p:txBody>
          <a:bodyPr wrap="square" lIns="0" tIns="0" rIns="0" bIns="0" rtlCol="0" anchor="t"/>
          <a:lstStyle/>
          <a:p>
            <a:pPr indent="0" marL="0">
              <a:buNone/>
            </a:pPr>
            <a:r>
              <a:rPr lang="en-US" sz="2600" b="1" dirty="0">
                <a:solidFill>
                  <a:srgbClr val="154B36"/>
                </a:solidFill>
                <a:latin typeface="Cambria" pitchFamily="34" charset="0"/>
                <a:ea typeface="Cambria" pitchFamily="34" charset="-122"/>
                <a:cs typeface="Cambria" pitchFamily="34" charset="-120"/>
              </a:rPr>
              <a:t>Problem Validation Decision</a:t>
            </a:r>
            <a:endParaRPr lang="en-US" sz="2600" dirty="0"/>
          </a:p>
        </p:txBody>
      </p:sp>
      <p:sp>
        <p:nvSpPr>
          <p:cNvPr id="9" name="Text 7"/>
          <p:cNvSpPr txBox="1"/>
          <p:nvPr/>
        </p:nvSpPr>
        <p:spPr>
          <a:xfrm>
            <a:off x="548640" y="6199632"/>
            <a:ext cx="11064240" cy="219456"/>
          </a:xfrm>
          <a:prstGeom prst="rect">
            <a:avLst/>
          </a:prstGeom>
          <a:noFill/>
          <a:ln/>
        </p:spPr>
        <p:txBody>
          <a:bodyPr wrap="square" lIns="0" tIns="0" rIns="0" bIns="0" rtlCol="0" anchor="t"/>
          <a:lstStyle/>
          <a:p>
            <a:pPr indent="0" marL="0">
              <a:buNone/>
            </a:pPr>
            <a:r>
              <a:rPr lang="en-US" sz="900" i="1" dirty="0">
                <a:solidFill>
                  <a:srgbClr val="5C6B63"/>
                </a:solidFill>
                <a:latin typeface="Calibri" pitchFamily="34" charset="0"/>
                <a:ea typeface="Calibri" pitchFamily="34" charset="-122"/>
                <a:cs typeface="Calibri" pitchFamily="34" charset="-120"/>
              </a:rPr>
              <a:t>Use this before generating solution concepts.</a:t>
            </a:r>
            <a:endParaRPr lang="en-US" sz="900" dirty="0"/>
          </a:p>
        </p:txBody>
      </p:sp>
      <p:sp>
        <p:nvSpPr>
          <p:cNvPr id="10" name="Text 8"/>
          <p:cNvSpPr txBox="1"/>
          <p:nvPr/>
        </p:nvSpPr>
        <p:spPr>
          <a:xfrm>
            <a:off x="548640" y="6510528"/>
            <a:ext cx="9601200" cy="182880"/>
          </a:xfrm>
          <a:prstGeom prst="rect">
            <a:avLst/>
          </a:prstGeom>
          <a:noFill/>
          <a:ln/>
        </p:spPr>
        <p:txBody>
          <a:bodyPr wrap="square" lIns="0" tIns="0" rIns="0" bIns="0" rtlCol="0" anchor="t"/>
          <a:lstStyle/>
          <a:p>
            <a:pPr indent="0" marL="0">
              <a:buNone/>
            </a:pPr>
            <a:r>
              <a:rPr lang="en-US" sz="900" dirty="0">
                <a:solidFill>
                  <a:srgbClr val="5C6B63"/>
                </a:solidFill>
                <a:latin typeface="Calibri" pitchFamily="34" charset="0"/>
                <a:ea typeface="Calibri" pitchFamily="34" charset="-122"/>
                <a:cs typeface="Calibri" pitchFamily="34" charset="-120"/>
              </a:rPr>
              <a:t>NutriScore Checkout Tool  |  NUT-04, JHUB Africa / AfyaVentures  |  Kibet, Project Lead</a:t>
            </a:r>
            <a:endParaRPr lang="en-US" sz="900" dirty="0"/>
          </a:p>
        </p:txBody>
      </p:sp>
      <p:sp>
        <p:nvSpPr>
          <p:cNvPr id="11" name="Text 9"/>
          <p:cNvSpPr txBox="1"/>
          <p:nvPr/>
        </p:nvSpPr>
        <p:spPr>
          <a:xfrm>
            <a:off x="10725912" y="6510528"/>
            <a:ext cx="914400" cy="182880"/>
          </a:xfrm>
          <a:prstGeom prst="rect">
            <a:avLst/>
          </a:prstGeom>
          <a:noFill/>
          <a:ln/>
        </p:spPr>
        <p:txBody>
          <a:bodyPr wrap="square" lIns="0" tIns="0" rIns="0" bIns="0" rtlCol="0" anchor="t"/>
          <a:lstStyle/>
          <a:p>
            <a:pPr algn="r" indent="0" marL="0">
              <a:buNone/>
            </a:pPr>
            <a:r>
              <a:rPr lang="en-US" sz="900" dirty="0">
                <a:solidFill>
                  <a:srgbClr val="5C6B63"/>
                </a:solidFill>
                <a:latin typeface="Calibri" pitchFamily="34" charset="0"/>
                <a:ea typeface="Calibri" pitchFamily="34" charset="-122"/>
                <a:cs typeface="Calibri" pitchFamily="34" charset="-120"/>
              </a:rPr>
              <a:t>3 / 10</a:t>
            </a:r>
            <a:endParaRPr lang="en-US" sz="900" dirty="0"/>
          </a:p>
        </p:txBody>
      </p:sp>
      <p:sp>
        <p:nvSpPr>
          <p:cNvPr id="12" name="Shape 10"/>
          <p:cNvSpPr/>
          <p:nvPr/>
        </p:nvSpPr>
        <p:spPr>
          <a:xfrm>
            <a:off x="548640" y="1508760"/>
            <a:ext cx="11091672" cy="603504"/>
          </a:xfrm>
          <a:prstGeom prst="roundRect">
            <a:avLst>
              <a:gd name="adj" fmla="val 10606"/>
            </a:avLst>
          </a:prstGeom>
          <a:solidFill>
            <a:srgbClr val="FFFFFF"/>
          </a:solidFill>
          <a:ln w="9525">
            <a:solidFill>
              <a:srgbClr val="C9D5CE"/>
            </a:solidFill>
            <a:prstDash val="solid"/>
          </a:ln>
        </p:spPr>
      </p:sp>
      <p:sp>
        <p:nvSpPr>
          <p:cNvPr id="13" name="Text 11"/>
          <p:cNvSpPr txBox="1"/>
          <p:nvPr/>
        </p:nvSpPr>
        <p:spPr>
          <a:xfrm>
            <a:off x="731520" y="1581912"/>
            <a:ext cx="10725912" cy="201168"/>
          </a:xfrm>
          <a:prstGeom prst="rect">
            <a:avLst/>
          </a:prstGeom>
          <a:noFill/>
          <a:ln/>
        </p:spPr>
        <p:txBody>
          <a:bodyPr wrap="square" lIns="0" tIns="0" rIns="0" bIns="0" rtlCol="0" anchor="t"/>
          <a:lstStyle/>
          <a:p>
            <a:pPr indent="0" marL="0">
              <a:buNone/>
            </a:pPr>
            <a:r>
              <a:rPr lang="en-US" sz="1050" b="1" dirty="0">
                <a:solidFill>
                  <a:srgbClr val="154B36"/>
                </a:solidFill>
                <a:latin typeface="Calibri" pitchFamily="34" charset="0"/>
                <a:ea typeface="Calibri" pitchFamily="34" charset="-122"/>
                <a:cs typeface="Calibri" pitchFamily="34" charset="-120"/>
              </a:rPr>
              <a:t>Original problem statement</a:t>
            </a:r>
            <a:endParaRPr lang="en-US" sz="1050" dirty="0"/>
          </a:p>
        </p:txBody>
      </p:sp>
      <p:sp>
        <p:nvSpPr>
          <p:cNvPr id="14" name="Text 12"/>
          <p:cNvSpPr txBox="1"/>
          <p:nvPr/>
        </p:nvSpPr>
        <p:spPr>
          <a:xfrm>
            <a:off x="731520" y="1801368"/>
            <a:ext cx="10725912" cy="237744"/>
          </a:xfrm>
          <a:prstGeom prst="rect">
            <a:avLst/>
          </a:prstGeom>
          <a:noFill/>
          <a:ln/>
        </p:spPr>
        <p:txBody>
          <a:bodyPr wrap="square" lIns="0" tIns="0" rIns="0" bIns="0" rtlCol="0" anchor="t"/>
          <a:lstStyle/>
          <a:p>
            <a:pPr indent="0" marL="0">
              <a:lnSpc>
                <a:spcPct val="105000"/>
              </a:lnSpc>
              <a:buNone/>
            </a:pPr>
            <a:r>
              <a:rPr lang="en-US" sz="1050" dirty="0">
                <a:solidFill>
                  <a:srgbClr val="1F2A24"/>
                </a:solidFill>
                <a:latin typeface="Calibri" pitchFamily="34" charset="0"/>
                <a:ea typeface="Calibri" pitchFamily="34" charset="-122"/>
                <a:cs typeface="Calibri" pitchFamily="34" charset="-120"/>
              </a:rPr>
              <a:t>Adults in Kenya who must limit sugar, salt or fat cannot see, when they add an item to an online grocery cart, whether it fits their limits, because retailers show no front-of-pack signal and labels omit fields such as added sugar.</a:t>
            </a:r>
            <a:endParaRPr lang="en-US" sz="1050" dirty="0"/>
          </a:p>
        </p:txBody>
      </p:sp>
      <p:sp>
        <p:nvSpPr>
          <p:cNvPr id="15" name="Shape 13"/>
          <p:cNvSpPr/>
          <p:nvPr/>
        </p:nvSpPr>
        <p:spPr>
          <a:xfrm>
            <a:off x="548640" y="2203704"/>
            <a:ext cx="11091672" cy="896112"/>
          </a:xfrm>
          <a:prstGeom prst="roundRect">
            <a:avLst>
              <a:gd name="adj" fmla="val 7143"/>
            </a:avLst>
          </a:prstGeom>
          <a:solidFill>
            <a:srgbClr val="FFFFFF"/>
          </a:solidFill>
          <a:ln w="9525">
            <a:solidFill>
              <a:srgbClr val="C9D5CE"/>
            </a:solidFill>
            <a:prstDash val="solid"/>
          </a:ln>
        </p:spPr>
      </p:sp>
      <p:sp>
        <p:nvSpPr>
          <p:cNvPr id="16" name="Text 14"/>
          <p:cNvSpPr txBox="1"/>
          <p:nvPr/>
        </p:nvSpPr>
        <p:spPr>
          <a:xfrm>
            <a:off x="731520" y="2276856"/>
            <a:ext cx="10725912" cy="201168"/>
          </a:xfrm>
          <a:prstGeom prst="rect">
            <a:avLst/>
          </a:prstGeom>
          <a:noFill/>
          <a:ln/>
        </p:spPr>
        <p:txBody>
          <a:bodyPr wrap="square" lIns="0" tIns="0" rIns="0" bIns="0" rtlCol="0" anchor="t"/>
          <a:lstStyle/>
          <a:p>
            <a:pPr indent="0" marL="0">
              <a:buNone/>
            </a:pPr>
            <a:r>
              <a:rPr lang="en-US" sz="1050" b="1" dirty="0">
                <a:solidFill>
                  <a:srgbClr val="154B36"/>
                </a:solidFill>
                <a:latin typeface="Calibri" pitchFamily="34" charset="0"/>
                <a:ea typeface="Calibri" pitchFamily="34" charset="-122"/>
                <a:cs typeface="Calibri" pitchFamily="34" charset="-120"/>
              </a:rPr>
              <a:t>Evidence that supports it</a:t>
            </a:r>
            <a:endParaRPr lang="en-US" sz="1050" dirty="0"/>
          </a:p>
        </p:txBody>
      </p:sp>
      <p:sp>
        <p:nvSpPr>
          <p:cNvPr id="17" name="Text 15"/>
          <p:cNvSpPr txBox="1"/>
          <p:nvPr/>
        </p:nvSpPr>
        <p:spPr>
          <a:xfrm>
            <a:off x="731520" y="2496312"/>
            <a:ext cx="10725912" cy="530352"/>
          </a:xfrm>
          <a:prstGeom prst="rect">
            <a:avLst/>
          </a:prstGeom>
          <a:noFill/>
          <a:ln/>
        </p:spPr>
        <p:txBody>
          <a:bodyPr wrap="square" lIns="0" tIns="0" rIns="0" bIns="0" rtlCol="0" anchor="t"/>
          <a:lstStyle/>
          <a:p>
            <a:pPr indent="0" marL="0">
              <a:lnSpc>
                <a:spcPct val="105000"/>
              </a:lnSpc>
              <a:buNone/>
            </a:pPr>
            <a:r>
              <a:rPr lang="en-US" sz="1050" dirty="0">
                <a:solidFill>
                  <a:srgbClr val="1F2A24"/>
                </a:solidFill>
                <a:latin typeface="Calibri" pitchFamily="34" charset="0"/>
                <a:ea typeface="Calibri" pitchFamily="34" charset="-122"/>
                <a:cs typeface="Calibri" pitchFamily="34" charset="-120"/>
              </a:rPr>
              <a:t>23.8% of Kenyan adults have raised blood pressure and 27.9% are overweight or obese (STEPS 2015); no Kenyan online retailer shows a front-of-pack signal (Food-EPI 2020); no Chrome extension scores a Kenyan grocery site (June 2026 competitive scan); added sugar isn’t a mandatory label field (ATNi / EAMA 2025).</a:t>
            </a:r>
            <a:endParaRPr lang="en-US" sz="1050" dirty="0"/>
          </a:p>
        </p:txBody>
      </p:sp>
      <p:sp>
        <p:nvSpPr>
          <p:cNvPr id="18" name="Shape 16"/>
          <p:cNvSpPr/>
          <p:nvPr/>
        </p:nvSpPr>
        <p:spPr>
          <a:xfrm>
            <a:off x="548640" y="3191256"/>
            <a:ext cx="11091672" cy="896112"/>
          </a:xfrm>
          <a:prstGeom prst="roundRect">
            <a:avLst>
              <a:gd name="adj" fmla="val 7143"/>
            </a:avLst>
          </a:prstGeom>
          <a:solidFill>
            <a:srgbClr val="FFFFFF"/>
          </a:solidFill>
          <a:ln w="9525">
            <a:solidFill>
              <a:srgbClr val="C9D5CE"/>
            </a:solidFill>
            <a:prstDash val="solid"/>
          </a:ln>
        </p:spPr>
      </p:sp>
      <p:sp>
        <p:nvSpPr>
          <p:cNvPr id="19" name="Text 17"/>
          <p:cNvSpPr txBox="1"/>
          <p:nvPr/>
        </p:nvSpPr>
        <p:spPr>
          <a:xfrm>
            <a:off x="731520" y="3264408"/>
            <a:ext cx="10725912" cy="201168"/>
          </a:xfrm>
          <a:prstGeom prst="rect">
            <a:avLst/>
          </a:prstGeom>
          <a:noFill/>
          <a:ln/>
        </p:spPr>
        <p:txBody>
          <a:bodyPr wrap="square" lIns="0" tIns="0" rIns="0" bIns="0" rtlCol="0" anchor="t"/>
          <a:lstStyle/>
          <a:p>
            <a:pPr indent="0" marL="0">
              <a:buNone/>
            </a:pPr>
            <a:r>
              <a:rPr lang="en-US" sz="1050" b="1" dirty="0">
                <a:solidFill>
                  <a:srgbClr val="154B36"/>
                </a:solidFill>
                <a:latin typeface="Calibri" pitchFamily="34" charset="0"/>
                <a:ea typeface="Calibri" pitchFamily="34" charset="-122"/>
                <a:cs typeface="Calibri" pitchFamily="34" charset="-120"/>
              </a:rPr>
              <a:t>Evidence that challenges it</a:t>
            </a:r>
            <a:endParaRPr lang="en-US" sz="1050" dirty="0"/>
          </a:p>
        </p:txBody>
      </p:sp>
      <p:sp>
        <p:nvSpPr>
          <p:cNvPr id="20" name="Shape 18"/>
          <p:cNvSpPr/>
          <p:nvPr/>
        </p:nvSpPr>
        <p:spPr>
          <a:xfrm>
            <a:off x="9720072" y="3282696"/>
            <a:ext cx="1755648" cy="201168"/>
          </a:xfrm>
          <a:prstGeom prst="roundRect">
            <a:avLst>
              <a:gd name="adj" fmla="val 45455"/>
            </a:avLst>
          </a:prstGeom>
          <a:solidFill>
            <a:srgbClr val="FDF0DC"/>
          </a:solidFill>
          <a:ln/>
        </p:spPr>
      </p:sp>
      <p:sp>
        <p:nvSpPr>
          <p:cNvPr id="21" name="Text 19"/>
          <p:cNvSpPr txBox="1"/>
          <p:nvPr/>
        </p:nvSpPr>
        <p:spPr>
          <a:xfrm>
            <a:off x="9720072" y="3282696"/>
            <a:ext cx="1755648" cy="201168"/>
          </a:xfrm>
          <a:prstGeom prst="rect">
            <a:avLst/>
          </a:prstGeom>
          <a:noFill/>
          <a:ln/>
        </p:spPr>
        <p:txBody>
          <a:bodyPr wrap="square" lIns="0" tIns="0" rIns="0" bIns="0" rtlCol="0" anchor="ctr"/>
          <a:lstStyle/>
          <a:p>
            <a:pPr algn="ctr" indent="0" marL="0">
              <a:buNone/>
            </a:pPr>
            <a:r>
              <a:rPr lang="en-US" sz="700" b="1" spc="50" kern="0" dirty="0">
                <a:solidFill>
                  <a:srgbClr val="A85A00"/>
                </a:solidFill>
                <a:latin typeface="Calibri" pitchFamily="34" charset="0"/>
                <a:ea typeface="Calibri" pitchFamily="34" charset="-122"/>
                <a:cs typeface="Calibri" pitchFamily="34" charset="-120"/>
              </a:rPr>
              <a:t>DESK EVIDENCE ONLY</a:t>
            </a:r>
            <a:endParaRPr lang="en-US" sz="700" dirty="0"/>
          </a:p>
        </p:txBody>
      </p:sp>
      <p:sp>
        <p:nvSpPr>
          <p:cNvPr id="22" name="Text 20"/>
          <p:cNvSpPr txBox="1"/>
          <p:nvPr/>
        </p:nvSpPr>
        <p:spPr>
          <a:xfrm>
            <a:off x="731520" y="3483864"/>
            <a:ext cx="10725912" cy="530352"/>
          </a:xfrm>
          <a:prstGeom prst="rect">
            <a:avLst/>
          </a:prstGeom>
          <a:noFill/>
          <a:ln/>
        </p:spPr>
        <p:txBody>
          <a:bodyPr wrap="square" lIns="0" tIns="0" rIns="0" bIns="0" rtlCol="0" anchor="t"/>
          <a:lstStyle/>
          <a:p>
            <a:pPr indent="0" marL="0">
              <a:lnSpc>
                <a:spcPct val="105000"/>
              </a:lnSpc>
              <a:buNone/>
            </a:pPr>
            <a:r>
              <a:rPr lang="en-US" sz="1050" dirty="0">
                <a:solidFill>
                  <a:srgbClr val="1F2A24"/>
                </a:solidFill>
                <a:latin typeface="Calibri" pitchFamily="34" charset="0"/>
                <a:ea typeface="Calibri" pitchFamily="34" charset="-122"/>
                <a:cs typeface="Calibri" pitchFamily="34" charset="-120"/>
              </a:rPr>
              <a:t>No field interviews conducted yet — everything above is desk evidence. Two challenges from our own analysis: the larger “unaware majority” segment shows low felt urgency (Assignment 2), and only 42–46% of the catalogue can currently show a grade, which could blunt real impact even where the problem is confirmed.</a:t>
            </a:r>
            <a:endParaRPr lang="en-US" sz="1050" dirty="0"/>
          </a:p>
        </p:txBody>
      </p:sp>
      <p:sp>
        <p:nvSpPr>
          <p:cNvPr id="23" name="Shape 21"/>
          <p:cNvSpPr/>
          <p:nvPr/>
        </p:nvSpPr>
        <p:spPr>
          <a:xfrm>
            <a:off x="548640" y="4178808"/>
            <a:ext cx="11091672" cy="512064"/>
          </a:xfrm>
          <a:prstGeom prst="roundRect">
            <a:avLst>
              <a:gd name="adj" fmla="val 12500"/>
            </a:avLst>
          </a:prstGeom>
          <a:solidFill>
            <a:srgbClr val="FFFFFF"/>
          </a:solidFill>
          <a:ln w="9525">
            <a:solidFill>
              <a:srgbClr val="C9D5CE"/>
            </a:solidFill>
            <a:prstDash val="solid"/>
          </a:ln>
        </p:spPr>
      </p:sp>
      <p:sp>
        <p:nvSpPr>
          <p:cNvPr id="24" name="Text 22"/>
          <p:cNvSpPr txBox="1"/>
          <p:nvPr/>
        </p:nvSpPr>
        <p:spPr>
          <a:xfrm>
            <a:off x="731520" y="4251960"/>
            <a:ext cx="10725912" cy="201168"/>
          </a:xfrm>
          <a:prstGeom prst="rect">
            <a:avLst/>
          </a:prstGeom>
          <a:noFill/>
          <a:ln/>
        </p:spPr>
        <p:txBody>
          <a:bodyPr wrap="square" lIns="0" tIns="0" rIns="0" bIns="0" rtlCol="0" anchor="t"/>
          <a:lstStyle/>
          <a:p>
            <a:pPr indent="0" marL="0">
              <a:buNone/>
            </a:pPr>
            <a:r>
              <a:rPr lang="en-US" sz="1050" b="1" dirty="0">
                <a:solidFill>
                  <a:srgbClr val="154B36"/>
                </a:solidFill>
                <a:latin typeface="Calibri" pitchFamily="34" charset="0"/>
                <a:ea typeface="Calibri" pitchFamily="34" charset="-122"/>
                <a:cs typeface="Calibri" pitchFamily="34" charset="-120"/>
              </a:rPr>
              <a:t>Validation decision: keep / narrow / reframe / park</a:t>
            </a:r>
            <a:endParaRPr lang="en-US" sz="1050" dirty="0"/>
          </a:p>
        </p:txBody>
      </p:sp>
      <p:sp>
        <p:nvSpPr>
          <p:cNvPr id="25" name="Shape 23"/>
          <p:cNvSpPr/>
          <p:nvPr/>
        </p:nvSpPr>
        <p:spPr>
          <a:xfrm>
            <a:off x="10625328" y="4270248"/>
            <a:ext cx="850392" cy="201168"/>
          </a:xfrm>
          <a:prstGeom prst="roundRect">
            <a:avLst>
              <a:gd name="adj" fmla="val 45455"/>
            </a:avLst>
          </a:prstGeom>
          <a:solidFill>
            <a:srgbClr val="E8F1EB"/>
          </a:solidFill>
          <a:ln/>
        </p:spPr>
      </p:sp>
      <p:sp>
        <p:nvSpPr>
          <p:cNvPr id="26" name="Text 24"/>
          <p:cNvSpPr txBox="1"/>
          <p:nvPr/>
        </p:nvSpPr>
        <p:spPr>
          <a:xfrm>
            <a:off x="10625328" y="4270248"/>
            <a:ext cx="850392" cy="201168"/>
          </a:xfrm>
          <a:prstGeom prst="rect">
            <a:avLst/>
          </a:prstGeom>
          <a:noFill/>
          <a:ln/>
        </p:spPr>
        <p:txBody>
          <a:bodyPr wrap="square" lIns="0" tIns="0" rIns="0" bIns="0" rtlCol="0" anchor="ctr"/>
          <a:lstStyle/>
          <a:p>
            <a:pPr algn="ctr" indent="0" marL="0">
              <a:buNone/>
            </a:pPr>
            <a:r>
              <a:rPr lang="en-US" sz="700" b="1" spc="50" kern="0" dirty="0">
                <a:solidFill>
                  <a:srgbClr val="154B36"/>
                </a:solidFill>
                <a:latin typeface="Calibri" pitchFamily="34" charset="0"/>
                <a:ea typeface="Calibri" pitchFamily="34" charset="-122"/>
                <a:cs typeface="Calibri" pitchFamily="34" charset="-120"/>
              </a:rPr>
              <a:t>PARTIAL</a:t>
            </a:r>
            <a:endParaRPr lang="en-US" sz="700" dirty="0"/>
          </a:p>
        </p:txBody>
      </p:sp>
      <p:sp>
        <p:nvSpPr>
          <p:cNvPr id="27" name="Text 25"/>
          <p:cNvSpPr txBox="1"/>
          <p:nvPr/>
        </p:nvSpPr>
        <p:spPr>
          <a:xfrm>
            <a:off x="731520" y="4471416"/>
            <a:ext cx="10725912" cy="146304"/>
          </a:xfrm>
          <a:prstGeom prst="rect">
            <a:avLst/>
          </a:prstGeom>
          <a:noFill/>
          <a:ln/>
        </p:spPr>
        <p:txBody>
          <a:bodyPr wrap="square" lIns="0" tIns="0" rIns="0" bIns="0" rtlCol="0" anchor="t"/>
          <a:lstStyle/>
          <a:p>
            <a:pPr indent="0" marL="0">
              <a:lnSpc>
                <a:spcPct val="105000"/>
              </a:lnSpc>
              <a:buNone/>
            </a:pPr>
            <a:r>
              <a:rPr lang="en-US" sz="1050" dirty="0">
                <a:solidFill>
                  <a:srgbClr val="1F2A24"/>
                </a:solidFill>
                <a:latin typeface="Calibri" pitchFamily="34" charset="0"/>
                <a:ea typeface="Calibri" pitchFamily="34" charset="-122"/>
                <a:cs typeface="Calibri" pitchFamily="34" charset="-120"/>
              </a:rPr>
              <a:t>KEEP, narrowed to Segment A — partially validated by desk evidence; full validation is pending the field interviews planned in Assignments 1 and 3.</a:t>
            </a:r>
            <a:endParaRPr lang="en-US" sz="1050" dirty="0"/>
          </a:p>
        </p:txBody>
      </p:sp>
      <p:sp>
        <p:nvSpPr>
          <p:cNvPr id="28" name="Shape 26"/>
          <p:cNvSpPr/>
          <p:nvPr/>
        </p:nvSpPr>
        <p:spPr>
          <a:xfrm>
            <a:off x="548640" y="4782312"/>
            <a:ext cx="11091672" cy="786384"/>
          </a:xfrm>
          <a:prstGeom prst="roundRect">
            <a:avLst>
              <a:gd name="adj" fmla="val 8140"/>
            </a:avLst>
          </a:prstGeom>
          <a:solidFill>
            <a:srgbClr val="E8F1EB"/>
          </a:solidFill>
          <a:ln w="9525">
            <a:solidFill>
              <a:srgbClr val="C9D5CE"/>
            </a:solidFill>
            <a:prstDash val="solid"/>
          </a:ln>
        </p:spPr>
      </p:sp>
      <p:sp>
        <p:nvSpPr>
          <p:cNvPr id="29" name="Text 27"/>
          <p:cNvSpPr txBox="1"/>
          <p:nvPr/>
        </p:nvSpPr>
        <p:spPr>
          <a:xfrm>
            <a:off x="731520" y="4855464"/>
            <a:ext cx="10725912" cy="201168"/>
          </a:xfrm>
          <a:prstGeom prst="rect">
            <a:avLst/>
          </a:prstGeom>
          <a:noFill/>
          <a:ln/>
        </p:spPr>
        <p:txBody>
          <a:bodyPr wrap="square" lIns="0" tIns="0" rIns="0" bIns="0" rtlCol="0" anchor="t"/>
          <a:lstStyle/>
          <a:p>
            <a:pPr indent="0" marL="0">
              <a:buNone/>
            </a:pPr>
            <a:r>
              <a:rPr lang="en-US" sz="1050" b="1" dirty="0">
                <a:solidFill>
                  <a:srgbClr val="154B36"/>
                </a:solidFill>
                <a:latin typeface="Calibri" pitchFamily="34" charset="0"/>
                <a:ea typeface="Calibri" pitchFamily="34" charset="-122"/>
                <a:cs typeface="Calibri" pitchFamily="34" charset="-120"/>
              </a:rPr>
              <a:t>Revised problem statement</a:t>
            </a:r>
            <a:endParaRPr lang="en-US" sz="1050" dirty="0"/>
          </a:p>
        </p:txBody>
      </p:sp>
      <p:sp>
        <p:nvSpPr>
          <p:cNvPr id="30" name="Text 28"/>
          <p:cNvSpPr txBox="1"/>
          <p:nvPr/>
        </p:nvSpPr>
        <p:spPr>
          <a:xfrm>
            <a:off x="731520" y="5074920"/>
            <a:ext cx="10725912" cy="420624"/>
          </a:xfrm>
          <a:prstGeom prst="rect">
            <a:avLst/>
          </a:prstGeom>
          <a:noFill/>
          <a:ln/>
        </p:spPr>
        <p:txBody>
          <a:bodyPr wrap="square" lIns="0" tIns="0" rIns="0" bIns="0" rtlCol="0" anchor="t"/>
          <a:lstStyle/>
          <a:p>
            <a:pPr indent="0" marL="0">
              <a:lnSpc>
                <a:spcPct val="105000"/>
              </a:lnSpc>
              <a:buNone/>
            </a:pPr>
            <a:r>
              <a:rPr lang="en-US" sz="1050" dirty="0">
                <a:solidFill>
                  <a:srgbClr val="1F2A24"/>
                </a:solidFill>
                <a:latin typeface="Calibri" pitchFamily="34" charset="0"/>
                <a:ea typeface="Calibri" pitchFamily="34" charset="-122"/>
                <a:cs typeface="Calibri" pitchFamily="34" charset="-120"/>
              </a:rPr>
              <a:t>Segment-A shoppers cannot tell, at the exact moment they evaluate a specific product online, whether it fits their sugar, salt or fat limits — forcing them to guess, skip categories, or lean on incomplete labels, since no Kenyan retailer shows a front-of-pack signal.</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2F6F3"/>
        </a:solidFill>
      </p:bgPr>
    </p:bg>
    <p:spTree>
      <p:nvGrpSpPr>
        <p:cNvPr id="1" name=""/>
        <p:cNvGrpSpPr/>
        <p:nvPr/>
      </p:nvGrpSpPr>
      <p:grpSpPr>
        <a:xfrm>
          <a:off x="0" y="0"/>
          <a:ext cx="0" cy="0"/>
          <a:chOff x="0" y="0"/>
          <a:chExt cx="0" cy="0"/>
        </a:xfrm>
      </p:grpSpPr>
      <p:sp>
        <p:nvSpPr>
          <p:cNvPr id="2" name="Text 0"/>
          <p:cNvSpPr txBox="1"/>
          <p:nvPr/>
        </p:nvSpPr>
        <p:spPr>
          <a:xfrm>
            <a:off x="548640" y="292608"/>
            <a:ext cx="9692640" cy="228600"/>
          </a:xfrm>
          <a:prstGeom prst="rect">
            <a:avLst/>
          </a:prstGeom>
          <a:noFill/>
          <a:ln/>
        </p:spPr>
        <p:txBody>
          <a:bodyPr wrap="square" lIns="0" tIns="0" rIns="0" bIns="0" rtlCol="0" anchor="t"/>
          <a:lstStyle/>
          <a:p>
            <a:pPr indent="0" marL="0">
              <a:buNone/>
            </a:pPr>
            <a:r>
              <a:rPr lang="en-US" sz="1000" b="1" spc="200" kern="0" dirty="0">
                <a:solidFill>
                  <a:srgbClr val="5C6B63"/>
                </a:solidFill>
                <a:latin typeface="Calibri" pitchFamily="34" charset="0"/>
                <a:ea typeface="Calibri" pitchFamily="34" charset="-122"/>
                <a:cs typeface="Calibri" pitchFamily="34" charset="-120"/>
              </a:rPr>
              <a:t>SESSION 5 · HMW</a:t>
            </a:r>
            <a:endParaRPr lang="en-US" sz="1000" dirty="0"/>
          </a:p>
        </p:txBody>
      </p:sp>
      <p:sp>
        <p:nvSpPr>
          <p:cNvPr id="3" name="Shape 1"/>
          <p:cNvSpPr/>
          <p:nvPr/>
        </p:nvSpPr>
        <p:spPr>
          <a:xfrm>
            <a:off x="10643616" y="310896"/>
            <a:ext cx="155448" cy="155448"/>
          </a:xfrm>
          <a:prstGeom prst="rect">
            <a:avLst/>
          </a:prstGeom>
          <a:solidFill>
            <a:srgbClr val="038141"/>
          </a:solidFill>
          <a:ln/>
        </p:spPr>
      </p:sp>
      <p:sp>
        <p:nvSpPr>
          <p:cNvPr id="4" name="Shape 2"/>
          <p:cNvSpPr/>
          <p:nvPr/>
        </p:nvSpPr>
        <p:spPr>
          <a:xfrm>
            <a:off x="10853928" y="310896"/>
            <a:ext cx="155448" cy="155448"/>
          </a:xfrm>
          <a:prstGeom prst="rect">
            <a:avLst/>
          </a:prstGeom>
          <a:solidFill>
            <a:srgbClr val="85BB2F"/>
          </a:solidFill>
          <a:ln/>
        </p:spPr>
      </p:sp>
      <p:sp>
        <p:nvSpPr>
          <p:cNvPr id="5" name="Shape 3"/>
          <p:cNvSpPr/>
          <p:nvPr/>
        </p:nvSpPr>
        <p:spPr>
          <a:xfrm>
            <a:off x="11064240" y="310896"/>
            <a:ext cx="155448" cy="155448"/>
          </a:xfrm>
          <a:prstGeom prst="rect">
            <a:avLst/>
          </a:prstGeom>
          <a:solidFill>
            <a:srgbClr val="FECB02"/>
          </a:solidFill>
          <a:ln/>
        </p:spPr>
      </p:sp>
      <p:sp>
        <p:nvSpPr>
          <p:cNvPr id="6" name="Shape 4"/>
          <p:cNvSpPr/>
          <p:nvPr/>
        </p:nvSpPr>
        <p:spPr>
          <a:xfrm>
            <a:off x="11274552" y="310896"/>
            <a:ext cx="155448" cy="155448"/>
          </a:xfrm>
          <a:prstGeom prst="rect">
            <a:avLst/>
          </a:prstGeom>
          <a:solidFill>
            <a:srgbClr val="EE8100"/>
          </a:solidFill>
          <a:ln/>
        </p:spPr>
      </p:sp>
      <p:sp>
        <p:nvSpPr>
          <p:cNvPr id="7" name="Shape 5"/>
          <p:cNvSpPr/>
          <p:nvPr/>
        </p:nvSpPr>
        <p:spPr>
          <a:xfrm>
            <a:off x="11484864" y="310896"/>
            <a:ext cx="155448" cy="155448"/>
          </a:xfrm>
          <a:prstGeom prst="rect">
            <a:avLst/>
          </a:prstGeom>
          <a:solidFill>
            <a:srgbClr val="E63E11"/>
          </a:solidFill>
          <a:ln/>
        </p:spPr>
      </p:sp>
      <p:sp>
        <p:nvSpPr>
          <p:cNvPr id="8" name="Text 6"/>
          <p:cNvSpPr txBox="1"/>
          <p:nvPr/>
        </p:nvSpPr>
        <p:spPr>
          <a:xfrm>
            <a:off x="548640" y="603504"/>
            <a:ext cx="11064240" cy="822960"/>
          </a:xfrm>
          <a:prstGeom prst="rect">
            <a:avLst/>
          </a:prstGeom>
          <a:noFill/>
          <a:ln/>
        </p:spPr>
        <p:txBody>
          <a:bodyPr wrap="square" lIns="0" tIns="0" rIns="0" bIns="0" rtlCol="0" anchor="t"/>
          <a:lstStyle/>
          <a:p>
            <a:pPr indent="0" marL="0">
              <a:buNone/>
            </a:pPr>
            <a:r>
              <a:rPr lang="en-US" sz="2600" b="1" dirty="0">
                <a:solidFill>
                  <a:srgbClr val="154B36"/>
                </a:solidFill>
                <a:latin typeface="Cambria" pitchFamily="34" charset="0"/>
                <a:ea typeface="Cambria" pitchFamily="34" charset="-122"/>
                <a:cs typeface="Cambria" pitchFamily="34" charset="-120"/>
              </a:rPr>
              <a:t>How Might We Question Plate</a:t>
            </a:r>
            <a:endParaRPr lang="en-US" sz="2600" dirty="0"/>
          </a:p>
        </p:txBody>
      </p:sp>
      <p:sp>
        <p:nvSpPr>
          <p:cNvPr id="9" name="Text 7"/>
          <p:cNvSpPr txBox="1"/>
          <p:nvPr/>
        </p:nvSpPr>
        <p:spPr>
          <a:xfrm>
            <a:off x="548640" y="6199632"/>
            <a:ext cx="11064240" cy="219456"/>
          </a:xfrm>
          <a:prstGeom prst="rect">
            <a:avLst/>
          </a:prstGeom>
          <a:noFill/>
          <a:ln/>
        </p:spPr>
        <p:txBody>
          <a:bodyPr wrap="square" lIns="0" tIns="0" rIns="0" bIns="0" rtlCol="0" anchor="t"/>
          <a:lstStyle/>
          <a:p>
            <a:pPr indent="0" marL="0">
              <a:buNone/>
            </a:pPr>
            <a:r>
              <a:rPr lang="en-US" sz="900" i="1" dirty="0">
                <a:solidFill>
                  <a:srgbClr val="5C6B63"/>
                </a:solidFill>
                <a:latin typeface="Calibri" pitchFamily="34" charset="0"/>
                <a:ea typeface="Calibri" pitchFamily="34" charset="-122"/>
                <a:cs typeface="Calibri" pitchFamily="34" charset="-120"/>
              </a:rPr>
              <a:t>A good HMW should not contain your product idea.</a:t>
            </a:r>
            <a:endParaRPr lang="en-US" sz="900" dirty="0"/>
          </a:p>
        </p:txBody>
      </p:sp>
      <p:sp>
        <p:nvSpPr>
          <p:cNvPr id="10" name="Text 8"/>
          <p:cNvSpPr txBox="1"/>
          <p:nvPr/>
        </p:nvSpPr>
        <p:spPr>
          <a:xfrm>
            <a:off x="548640" y="6510528"/>
            <a:ext cx="9601200" cy="182880"/>
          </a:xfrm>
          <a:prstGeom prst="rect">
            <a:avLst/>
          </a:prstGeom>
          <a:noFill/>
          <a:ln/>
        </p:spPr>
        <p:txBody>
          <a:bodyPr wrap="square" lIns="0" tIns="0" rIns="0" bIns="0" rtlCol="0" anchor="t"/>
          <a:lstStyle/>
          <a:p>
            <a:pPr indent="0" marL="0">
              <a:buNone/>
            </a:pPr>
            <a:r>
              <a:rPr lang="en-US" sz="900" dirty="0">
                <a:solidFill>
                  <a:srgbClr val="5C6B63"/>
                </a:solidFill>
                <a:latin typeface="Calibri" pitchFamily="34" charset="0"/>
                <a:ea typeface="Calibri" pitchFamily="34" charset="-122"/>
                <a:cs typeface="Calibri" pitchFamily="34" charset="-120"/>
              </a:rPr>
              <a:t>NutriScore Checkout Tool  |  NUT-04, JHUB Africa / AfyaVentures  |  Kibet, Project Lead</a:t>
            </a:r>
            <a:endParaRPr lang="en-US" sz="900" dirty="0"/>
          </a:p>
        </p:txBody>
      </p:sp>
      <p:sp>
        <p:nvSpPr>
          <p:cNvPr id="11" name="Text 9"/>
          <p:cNvSpPr txBox="1"/>
          <p:nvPr/>
        </p:nvSpPr>
        <p:spPr>
          <a:xfrm>
            <a:off x="10725912" y="6510528"/>
            <a:ext cx="914400" cy="182880"/>
          </a:xfrm>
          <a:prstGeom prst="rect">
            <a:avLst/>
          </a:prstGeom>
          <a:noFill/>
          <a:ln/>
        </p:spPr>
        <p:txBody>
          <a:bodyPr wrap="square" lIns="0" tIns="0" rIns="0" bIns="0" rtlCol="0" anchor="t"/>
          <a:lstStyle/>
          <a:p>
            <a:pPr algn="r" indent="0" marL="0">
              <a:buNone/>
            </a:pPr>
            <a:r>
              <a:rPr lang="en-US" sz="900" dirty="0">
                <a:solidFill>
                  <a:srgbClr val="5C6B63"/>
                </a:solidFill>
                <a:latin typeface="Calibri" pitchFamily="34" charset="0"/>
                <a:ea typeface="Calibri" pitchFamily="34" charset="-122"/>
                <a:cs typeface="Calibri" pitchFamily="34" charset="-120"/>
              </a:rPr>
              <a:t>4 / 10</a:t>
            </a:r>
            <a:endParaRPr lang="en-US" sz="900" dirty="0"/>
          </a:p>
        </p:txBody>
      </p:sp>
      <p:sp>
        <p:nvSpPr>
          <p:cNvPr id="12" name="Shape 10"/>
          <p:cNvSpPr/>
          <p:nvPr/>
        </p:nvSpPr>
        <p:spPr>
          <a:xfrm>
            <a:off x="548640" y="1508760"/>
            <a:ext cx="11091672" cy="512064"/>
          </a:xfrm>
          <a:prstGeom prst="roundRect">
            <a:avLst>
              <a:gd name="adj" fmla="val 12500"/>
            </a:avLst>
          </a:prstGeom>
          <a:solidFill>
            <a:srgbClr val="FFFFFF"/>
          </a:solidFill>
          <a:ln w="9525">
            <a:solidFill>
              <a:srgbClr val="C9D5CE"/>
            </a:solidFill>
            <a:prstDash val="solid"/>
          </a:ln>
        </p:spPr>
      </p:sp>
      <p:sp>
        <p:nvSpPr>
          <p:cNvPr id="13" name="Text 11"/>
          <p:cNvSpPr txBox="1"/>
          <p:nvPr/>
        </p:nvSpPr>
        <p:spPr>
          <a:xfrm>
            <a:off x="731520" y="1581912"/>
            <a:ext cx="10725912" cy="201168"/>
          </a:xfrm>
          <a:prstGeom prst="rect">
            <a:avLst/>
          </a:prstGeom>
          <a:noFill/>
          <a:ln/>
        </p:spPr>
        <p:txBody>
          <a:bodyPr wrap="square" lIns="0" tIns="0" rIns="0" bIns="0" rtlCol="0" anchor="t"/>
          <a:lstStyle/>
          <a:p>
            <a:pPr indent="0" marL="0">
              <a:buNone/>
            </a:pPr>
            <a:r>
              <a:rPr lang="en-US" sz="1050" b="1" dirty="0">
                <a:solidFill>
                  <a:srgbClr val="154B36"/>
                </a:solidFill>
                <a:latin typeface="Calibri" pitchFamily="34" charset="0"/>
                <a:ea typeface="Calibri" pitchFamily="34" charset="-122"/>
                <a:cs typeface="Calibri" pitchFamily="34" charset="-120"/>
              </a:rPr>
              <a:t>Root cause / insight</a:t>
            </a:r>
            <a:endParaRPr lang="en-US" sz="1050" dirty="0"/>
          </a:p>
        </p:txBody>
      </p:sp>
      <p:sp>
        <p:nvSpPr>
          <p:cNvPr id="14" name="Text 12"/>
          <p:cNvSpPr txBox="1"/>
          <p:nvPr/>
        </p:nvSpPr>
        <p:spPr>
          <a:xfrm>
            <a:off x="731520" y="1801368"/>
            <a:ext cx="10725912" cy="146304"/>
          </a:xfrm>
          <a:prstGeom prst="rect">
            <a:avLst/>
          </a:prstGeom>
          <a:noFill/>
          <a:ln/>
        </p:spPr>
        <p:txBody>
          <a:bodyPr wrap="square" lIns="0" tIns="0" rIns="0" bIns="0" rtlCol="0" anchor="t"/>
          <a:lstStyle/>
          <a:p>
            <a:pPr indent="0" marL="0">
              <a:lnSpc>
                <a:spcPct val="105000"/>
              </a:lnSpc>
              <a:buNone/>
            </a:pPr>
            <a:r>
              <a:rPr lang="en-US" sz="1100" dirty="0">
                <a:solidFill>
                  <a:srgbClr val="1F2A24"/>
                </a:solidFill>
                <a:latin typeface="Calibri" pitchFamily="34" charset="0"/>
                <a:ea typeface="Calibri" pitchFamily="34" charset="-122"/>
                <a:cs typeface="Calibri" pitchFamily="34" charset="-120"/>
              </a:rPr>
              <a:t>Nutrition-quality data and the online purchase decision are disconnected systems in Kenya.</a:t>
            </a:r>
            <a:endParaRPr lang="en-US" sz="1100" dirty="0"/>
          </a:p>
        </p:txBody>
      </p:sp>
      <p:sp>
        <p:nvSpPr>
          <p:cNvPr id="15" name="Shape 13"/>
          <p:cNvSpPr/>
          <p:nvPr/>
        </p:nvSpPr>
        <p:spPr>
          <a:xfrm>
            <a:off x="548640" y="2112264"/>
            <a:ext cx="11091672" cy="512064"/>
          </a:xfrm>
          <a:prstGeom prst="roundRect">
            <a:avLst>
              <a:gd name="adj" fmla="val 12500"/>
            </a:avLst>
          </a:prstGeom>
          <a:solidFill>
            <a:srgbClr val="FFFFFF"/>
          </a:solidFill>
          <a:ln w="9525">
            <a:solidFill>
              <a:srgbClr val="C9D5CE"/>
            </a:solidFill>
            <a:prstDash val="solid"/>
          </a:ln>
        </p:spPr>
      </p:sp>
      <p:sp>
        <p:nvSpPr>
          <p:cNvPr id="16" name="Text 14"/>
          <p:cNvSpPr txBox="1"/>
          <p:nvPr/>
        </p:nvSpPr>
        <p:spPr>
          <a:xfrm>
            <a:off x="731520" y="2185416"/>
            <a:ext cx="10725912" cy="201168"/>
          </a:xfrm>
          <a:prstGeom prst="rect">
            <a:avLst/>
          </a:prstGeom>
          <a:noFill/>
          <a:ln/>
        </p:spPr>
        <p:txBody>
          <a:bodyPr wrap="square" lIns="0" tIns="0" rIns="0" bIns="0" rtlCol="0" anchor="t"/>
          <a:lstStyle/>
          <a:p>
            <a:pPr indent="0" marL="0">
              <a:buNone/>
            </a:pPr>
            <a:r>
              <a:rPr lang="en-US" sz="1050" b="1" dirty="0">
                <a:solidFill>
                  <a:srgbClr val="154B36"/>
                </a:solidFill>
                <a:latin typeface="Calibri" pitchFamily="34" charset="0"/>
                <a:ea typeface="Calibri" pitchFamily="34" charset="-122"/>
                <a:cs typeface="Calibri" pitchFamily="34" charset="-120"/>
              </a:rPr>
              <a:t>User group</a:t>
            </a:r>
            <a:endParaRPr lang="en-US" sz="1050" dirty="0"/>
          </a:p>
        </p:txBody>
      </p:sp>
      <p:sp>
        <p:nvSpPr>
          <p:cNvPr id="17" name="Text 15"/>
          <p:cNvSpPr txBox="1"/>
          <p:nvPr/>
        </p:nvSpPr>
        <p:spPr>
          <a:xfrm>
            <a:off x="731520" y="2404872"/>
            <a:ext cx="10725912" cy="146304"/>
          </a:xfrm>
          <a:prstGeom prst="rect">
            <a:avLst/>
          </a:prstGeom>
          <a:noFill/>
          <a:ln/>
        </p:spPr>
        <p:txBody>
          <a:bodyPr wrap="square" lIns="0" tIns="0" rIns="0" bIns="0" rtlCol="0" anchor="t"/>
          <a:lstStyle/>
          <a:p>
            <a:pPr indent="0" marL="0">
              <a:lnSpc>
                <a:spcPct val="105000"/>
              </a:lnSpc>
              <a:buNone/>
            </a:pPr>
            <a:r>
              <a:rPr lang="en-US" sz="1100" dirty="0">
                <a:solidFill>
                  <a:srgbClr val="1F2A24"/>
                </a:solidFill>
                <a:latin typeface="Calibri" pitchFamily="34" charset="0"/>
                <a:ea typeface="Calibri" pitchFamily="34" charset="-122"/>
                <a:cs typeface="Calibri" pitchFamily="34" charset="-120"/>
              </a:rPr>
              <a:t>Segment A — adults advised to limit sugar, salt or fat, who shop groceries online weekly.</a:t>
            </a:r>
            <a:endParaRPr lang="en-US" sz="1100" dirty="0"/>
          </a:p>
        </p:txBody>
      </p:sp>
      <p:sp>
        <p:nvSpPr>
          <p:cNvPr id="18" name="Shape 16"/>
          <p:cNvSpPr/>
          <p:nvPr/>
        </p:nvSpPr>
        <p:spPr>
          <a:xfrm>
            <a:off x="548640" y="2715768"/>
            <a:ext cx="11091672" cy="512064"/>
          </a:xfrm>
          <a:prstGeom prst="roundRect">
            <a:avLst>
              <a:gd name="adj" fmla="val 12500"/>
            </a:avLst>
          </a:prstGeom>
          <a:solidFill>
            <a:srgbClr val="FFFFFF"/>
          </a:solidFill>
          <a:ln w="9525">
            <a:solidFill>
              <a:srgbClr val="C9D5CE"/>
            </a:solidFill>
            <a:prstDash val="solid"/>
          </a:ln>
        </p:spPr>
      </p:sp>
      <p:sp>
        <p:nvSpPr>
          <p:cNvPr id="19" name="Text 17"/>
          <p:cNvSpPr txBox="1"/>
          <p:nvPr/>
        </p:nvSpPr>
        <p:spPr>
          <a:xfrm>
            <a:off x="731520" y="2788920"/>
            <a:ext cx="10725912" cy="201168"/>
          </a:xfrm>
          <a:prstGeom prst="rect">
            <a:avLst/>
          </a:prstGeom>
          <a:noFill/>
          <a:ln/>
        </p:spPr>
        <p:txBody>
          <a:bodyPr wrap="square" lIns="0" tIns="0" rIns="0" bIns="0" rtlCol="0" anchor="t"/>
          <a:lstStyle/>
          <a:p>
            <a:pPr indent="0" marL="0">
              <a:buNone/>
            </a:pPr>
            <a:r>
              <a:rPr lang="en-US" sz="1050" b="1" dirty="0">
                <a:solidFill>
                  <a:srgbClr val="154B36"/>
                </a:solidFill>
                <a:latin typeface="Calibri" pitchFamily="34" charset="0"/>
                <a:ea typeface="Calibri" pitchFamily="34" charset="-122"/>
                <a:cs typeface="Calibri" pitchFamily="34" charset="-120"/>
              </a:rPr>
              <a:t>Desired change</a:t>
            </a:r>
            <a:endParaRPr lang="en-US" sz="1050" dirty="0"/>
          </a:p>
        </p:txBody>
      </p:sp>
      <p:sp>
        <p:nvSpPr>
          <p:cNvPr id="20" name="Text 18"/>
          <p:cNvSpPr txBox="1"/>
          <p:nvPr/>
        </p:nvSpPr>
        <p:spPr>
          <a:xfrm>
            <a:off x="731520" y="3008376"/>
            <a:ext cx="10725912" cy="146304"/>
          </a:xfrm>
          <a:prstGeom prst="rect">
            <a:avLst/>
          </a:prstGeom>
          <a:noFill/>
          <a:ln/>
        </p:spPr>
        <p:txBody>
          <a:bodyPr wrap="square" lIns="0" tIns="0" rIns="0" bIns="0" rtlCol="0" anchor="t"/>
          <a:lstStyle/>
          <a:p>
            <a:pPr indent="0" marL="0">
              <a:lnSpc>
                <a:spcPct val="105000"/>
              </a:lnSpc>
              <a:buNone/>
            </a:pPr>
            <a:r>
              <a:rPr lang="en-US" sz="1100" dirty="0">
                <a:solidFill>
                  <a:srgbClr val="1F2A24"/>
                </a:solidFill>
                <a:latin typeface="Calibri" pitchFamily="34" charset="0"/>
                <a:ea typeface="Calibri" pitchFamily="34" charset="-122"/>
                <a:cs typeface="Calibri" pitchFamily="34" charset="-120"/>
              </a:rPr>
              <a:t>They can tell, at a glance, whether a specific product fits their limits — right when they’re deciding whether to add it.</a:t>
            </a:r>
            <a:endParaRPr lang="en-US" sz="1100" dirty="0"/>
          </a:p>
        </p:txBody>
      </p:sp>
      <p:sp>
        <p:nvSpPr>
          <p:cNvPr id="21" name="Shape 19"/>
          <p:cNvSpPr/>
          <p:nvPr/>
        </p:nvSpPr>
        <p:spPr>
          <a:xfrm>
            <a:off x="548640" y="3319272"/>
            <a:ext cx="11091672" cy="658368"/>
          </a:xfrm>
          <a:prstGeom prst="roundRect">
            <a:avLst>
              <a:gd name="adj" fmla="val 9722"/>
            </a:avLst>
          </a:prstGeom>
          <a:solidFill>
            <a:srgbClr val="E8F1EB"/>
          </a:solidFill>
          <a:ln w="9525">
            <a:solidFill>
              <a:srgbClr val="C9D5CE"/>
            </a:solidFill>
            <a:prstDash val="solid"/>
          </a:ln>
        </p:spPr>
      </p:sp>
      <p:sp>
        <p:nvSpPr>
          <p:cNvPr id="22" name="Text 20"/>
          <p:cNvSpPr txBox="1"/>
          <p:nvPr/>
        </p:nvSpPr>
        <p:spPr>
          <a:xfrm>
            <a:off x="731520" y="3392424"/>
            <a:ext cx="10725912" cy="201168"/>
          </a:xfrm>
          <a:prstGeom prst="rect">
            <a:avLst/>
          </a:prstGeom>
          <a:noFill/>
          <a:ln/>
        </p:spPr>
        <p:txBody>
          <a:bodyPr wrap="square" lIns="0" tIns="0" rIns="0" bIns="0" rtlCol="0" anchor="t"/>
          <a:lstStyle/>
          <a:p>
            <a:pPr indent="0" marL="0">
              <a:buNone/>
            </a:pPr>
            <a:r>
              <a:rPr lang="en-US" sz="1050" b="1" dirty="0">
                <a:solidFill>
                  <a:srgbClr val="154B36"/>
                </a:solidFill>
                <a:latin typeface="Calibri" pitchFamily="34" charset="0"/>
                <a:ea typeface="Calibri" pitchFamily="34" charset="-122"/>
                <a:cs typeface="Calibri" pitchFamily="34" charset="-120"/>
              </a:rPr>
              <a:t>HMW option 1  —  selected for ideation (slide 6)</a:t>
            </a:r>
            <a:endParaRPr lang="en-US" sz="1050" dirty="0"/>
          </a:p>
        </p:txBody>
      </p:sp>
      <p:sp>
        <p:nvSpPr>
          <p:cNvPr id="23" name="Shape 21"/>
          <p:cNvSpPr/>
          <p:nvPr/>
        </p:nvSpPr>
        <p:spPr>
          <a:xfrm>
            <a:off x="10543032" y="3410712"/>
            <a:ext cx="932688" cy="201168"/>
          </a:xfrm>
          <a:prstGeom prst="roundRect">
            <a:avLst>
              <a:gd name="adj" fmla="val 45455"/>
            </a:avLst>
          </a:prstGeom>
          <a:solidFill>
            <a:srgbClr val="EE8100"/>
          </a:solidFill>
          <a:ln/>
        </p:spPr>
      </p:sp>
      <p:sp>
        <p:nvSpPr>
          <p:cNvPr id="24" name="Text 22"/>
          <p:cNvSpPr txBox="1"/>
          <p:nvPr/>
        </p:nvSpPr>
        <p:spPr>
          <a:xfrm>
            <a:off x="10543032" y="3410712"/>
            <a:ext cx="932688" cy="201168"/>
          </a:xfrm>
          <a:prstGeom prst="rect">
            <a:avLst/>
          </a:prstGeom>
          <a:noFill/>
          <a:ln/>
        </p:spPr>
        <p:txBody>
          <a:bodyPr wrap="square" lIns="0" tIns="0" rIns="0" bIns="0" rtlCol="0" anchor="ctr"/>
          <a:lstStyle/>
          <a:p>
            <a:pPr algn="ctr" indent="0" marL="0">
              <a:buNone/>
            </a:pPr>
            <a:r>
              <a:rPr lang="en-US" sz="700" b="1" spc="50" kern="0" dirty="0">
                <a:solidFill>
                  <a:srgbClr val="1F2A24"/>
                </a:solidFill>
                <a:latin typeface="Calibri" pitchFamily="34" charset="0"/>
                <a:ea typeface="Calibri" pitchFamily="34" charset="-122"/>
                <a:cs typeface="Calibri" pitchFamily="34" charset="-120"/>
              </a:rPr>
              <a:t>SELECTED</a:t>
            </a:r>
            <a:endParaRPr lang="en-US" sz="700" dirty="0"/>
          </a:p>
        </p:txBody>
      </p:sp>
      <p:sp>
        <p:nvSpPr>
          <p:cNvPr id="25" name="Text 23"/>
          <p:cNvSpPr txBox="1"/>
          <p:nvPr/>
        </p:nvSpPr>
        <p:spPr>
          <a:xfrm>
            <a:off x="731520" y="3611880"/>
            <a:ext cx="10725912" cy="292608"/>
          </a:xfrm>
          <a:prstGeom prst="rect">
            <a:avLst/>
          </a:prstGeom>
          <a:noFill/>
          <a:ln/>
        </p:spPr>
        <p:txBody>
          <a:bodyPr wrap="square" lIns="0" tIns="0" rIns="0" bIns="0" rtlCol="0" anchor="t"/>
          <a:lstStyle/>
          <a:p>
            <a:pPr indent="0" marL="0">
              <a:lnSpc>
                <a:spcPct val="105000"/>
              </a:lnSpc>
              <a:buNone/>
            </a:pPr>
            <a:r>
              <a:rPr lang="en-US" sz="1150" dirty="0">
                <a:solidFill>
                  <a:srgbClr val="1F2A24"/>
                </a:solidFill>
                <a:latin typeface="Calibri" pitchFamily="34" charset="0"/>
                <a:ea typeface="Calibri" pitchFamily="34" charset="-122"/>
                <a:cs typeface="Calibri" pitchFamily="34" charset="-120"/>
              </a:rPr>
              <a:t>How might we help Segment-A shoppers instantly judge whether a product fits their limits, at the exact moment they’re deciding to add it to their cart?</a:t>
            </a:r>
            <a:endParaRPr lang="en-US" sz="1150" dirty="0"/>
          </a:p>
        </p:txBody>
      </p:sp>
      <p:sp>
        <p:nvSpPr>
          <p:cNvPr id="26" name="Shape 24"/>
          <p:cNvSpPr/>
          <p:nvPr/>
        </p:nvSpPr>
        <p:spPr>
          <a:xfrm>
            <a:off x="548640" y="4069080"/>
            <a:ext cx="11091672" cy="658368"/>
          </a:xfrm>
          <a:prstGeom prst="roundRect">
            <a:avLst>
              <a:gd name="adj" fmla="val 9722"/>
            </a:avLst>
          </a:prstGeom>
          <a:solidFill>
            <a:srgbClr val="E8F1EB"/>
          </a:solidFill>
          <a:ln w="9525">
            <a:solidFill>
              <a:srgbClr val="C9D5CE"/>
            </a:solidFill>
            <a:prstDash val="solid"/>
          </a:ln>
        </p:spPr>
      </p:sp>
      <p:sp>
        <p:nvSpPr>
          <p:cNvPr id="27" name="Text 25"/>
          <p:cNvSpPr txBox="1"/>
          <p:nvPr/>
        </p:nvSpPr>
        <p:spPr>
          <a:xfrm>
            <a:off x="731520" y="4142232"/>
            <a:ext cx="10725912" cy="201168"/>
          </a:xfrm>
          <a:prstGeom prst="rect">
            <a:avLst/>
          </a:prstGeom>
          <a:noFill/>
          <a:ln/>
        </p:spPr>
        <p:txBody>
          <a:bodyPr wrap="square" lIns="0" tIns="0" rIns="0" bIns="0" rtlCol="0" anchor="t"/>
          <a:lstStyle/>
          <a:p>
            <a:pPr indent="0" marL="0">
              <a:buNone/>
            </a:pPr>
            <a:r>
              <a:rPr lang="en-US" sz="1050" b="1" dirty="0">
                <a:solidFill>
                  <a:srgbClr val="154B36"/>
                </a:solidFill>
                <a:latin typeface="Calibri" pitchFamily="34" charset="0"/>
                <a:ea typeface="Calibri" pitchFamily="34" charset="-122"/>
                <a:cs typeface="Calibri" pitchFamily="34" charset="-120"/>
              </a:rPr>
              <a:t>HMW option 2</a:t>
            </a:r>
            <a:endParaRPr lang="en-US" sz="1050" dirty="0"/>
          </a:p>
        </p:txBody>
      </p:sp>
      <p:sp>
        <p:nvSpPr>
          <p:cNvPr id="28" name="Text 26"/>
          <p:cNvSpPr txBox="1"/>
          <p:nvPr/>
        </p:nvSpPr>
        <p:spPr>
          <a:xfrm>
            <a:off x="731520" y="4361688"/>
            <a:ext cx="10725912" cy="292608"/>
          </a:xfrm>
          <a:prstGeom prst="rect">
            <a:avLst/>
          </a:prstGeom>
          <a:noFill/>
          <a:ln/>
        </p:spPr>
        <p:txBody>
          <a:bodyPr wrap="square" lIns="0" tIns="0" rIns="0" bIns="0" rtlCol="0" anchor="t"/>
          <a:lstStyle/>
          <a:p>
            <a:pPr indent="0" marL="0">
              <a:lnSpc>
                <a:spcPct val="105000"/>
              </a:lnSpc>
              <a:buNone/>
            </a:pPr>
            <a:r>
              <a:rPr lang="en-US" sz="1150" dirty="0">
                <a:solidFill>
                  <a:srgbClr val="1F2A24"/>
                </a:solidFill>
                <a:latin typeface="Calibri" pitchFamily="34" charset="0"/>
                <a:ea typeface="Calibri" pitchFamily="34" charset="-122"/>
                <a:cs typeface="Calibri" pitchFamily="34" charset="-120"/>
              </a:rPr>
              <a:t>How might we turn Kenya’s incomplete on-pack labels into a trustworthy go/no-go signal shoppers can act on without reading every line?</a:t>
            </a:r>
            <a:endParaRPr lang="en-US" sz="1150" dirty="0"/>
          </a:p>
        </p:txBody>
      </p:sp>
      <p:sp>
        <p:nvSpPr>
          <p:cNvPr id="29" name="Shape 27"/>
          <p:cNvSpPr/>
          <p:nvPr/>
        </p:nvSpPr>
        <p:spPr>
          <a:xfrm>
            <a:off x="548640" y="4818888"/>
            <a:ext cx="11091672" cy="658368"/>
          </a:xfrm>
          <a:prstGeom prst="roundRect">
            <a:avLst>
              <a:gd name="adj" fmla="val 9722"/>
            </a:avLst>
          </a:prstGeom>
          <a:solidFill>
            <a:srgbClr val="E8F1EB"/>
          </a:solidFill>
          <a:ln w="9525">
            <a:solidFill>
              <a:srgbClr val="C9D5CE"/>
            </a:solidFill>
            <a:prstDash val="solid"/>
          </a:ln>
        </p:spPr>
      </p:sp>
      <p:sp>
        <p:nvSpPr>
          <p:cNvPr id="30" name="Text 28"/>
          <p:cNvSpPr txBox="1"/>
          <p:nvPr/>
        </p:nvSpPr>
        <p:spPr>
          <a:xfrm>
            <a:off x="731520" y="4892040"/>
            <a:ext cx="10725912" cy="201168"/>
          </a:xfrm>
          <a:prstGeom prst="rect">
            <a:avLst/>
          </a:prstGeom>
          <a:noFill/>
          <a:ln/>
        </p:spPr>
        <p:txBody>
          <a:bodyPr wrap="square" lIns="0" tIns="0" rIns="0" bIns="0" rtlCol="0" anchor="t"/>
          <a:lstStyle/>
          <a:p>
            <a:pPr indent="0" marL="0">
              <a:buNone/>
            </a:pPr>
            <a:r>
              <a:rPr lang="en-US" sz="1050" b="1" dirty="0">
                <a:solidFill>
                  <a:srgbClr val="154B36"/>
                </a:solidFill>
                <a:latin typeface="Calibri" pitchFamily="34" charset="0"/>
                <a:ea typeface="Calibri" pitchFamily="34" charset="-122"/>
                <a:cs typeface="Calibri" pitchFamily="34" charset="-120"/>
              </a:rPr>
              <a:t>HMW option 3</a:t>
            </a:r>
            <a:endParaRPr lang="en-US" sz="1050" dirty="0"/>
          </a:p>
        </p:txBody>
      </p:sp>
      <p:sp>
        <p:nvSpPr>
          <p:cNvPr id="31" name="Text 29"/>
          <p:cNvSpPr txBox="1"/>
          <p:nvPr/>
        </p:nvSpPr>
        <p:spPr>
          <a:xfrm>
            <a:off x="731520" y="5111496"/>
            <a:ext cx="10725912" cy="292608"/>
          </a:xfrm>
          <a:prstGeom prst="rect">
            <a:avLst/>
          </a:prstGeom>
          <a:noFill/>
          <a:ln/>
        </p:spPr>
        <p:txBody>
          <a:bodyPr wrap="square" lIns="0" tIns="0" rIns="0" bIns="0" rtlCol="0" anchor="t"/>
          <a:lstStyle/>
          <a:p>
            <a:pPr indent="0" marL="0">
              <a:lnSpc>
                <a:spcPct val="105000"/>
              </a:lnSpc>
              <a:buNone/>
            </a:pPr>
            <a:r>
              <a:rPr lang="en-US" sz="1150" dirty="0">
                <a:solidFill>
                  <a:srgbClr val="1F2A24"/>
                </a:solidFill>
                <a:latin typeface="Calibri" pitchFamily="34" charset="0"/>
                <a:ea typeface="Calibri" pitchFamily="34" charset="-122"/>
                <a:cs typeface="Calibri" pitchFamily="34" charset="-120"/>
              </a:rPr>
              <a:t>How might we make “does this fit me” as fast to answer online as it is slow and uncertain in a physical aisle?</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2F6F3"/>
        </a:solidFill>
      </p:bgPr>
    </p:bg>
    <p:spTree>
      <p:nvGrpSpPr>
        <p:cNvPr id="1" name=""/>
        <p:cNvGrpSpPr/>
        <p:nvPr/>
      </p:nvGrpSpPr>
      <p:grpSpPr>
        <a:xfrm>
          <a:off x="0" y="0"/>
          <a:ext cx="0" cy="0"/>
          <a:chOff x="0" y="0"/>
          <a:chExt cx="0" cy="0"/>
        </a:xfrm>
      </p:grpSpPr>
      <p:sp>
        <p:nvSpPr>
          <p:cNvPr id="2" name="Text 0"/>
          <p:cNvSpPr txBox="1"/>
          <p:nvPr/>
        </p:nvSpPr>
        <p:spPr>
          <a:xfrm>
            <a:off x="548640" y="292608"/>
            <a:ext cx="9692640" cy="228600"/>
          </a:xfrm>
          <a:prstGeom prst="rect">
            <a:avLst/>
          </a:prstGeom>
          <a:noFill/>
          <a:ln/>
        </p:spPr>
        <p:txBody>
          <a:bodyPr wrap="square" lIns="0" tIns="0" rIns="0" bIns="0" rtlCol="0" anchor="t"/>
          <a:lstStyle/>
          <a:p>
            <a:pPr indent="0" marL="0">
              <a:buNone/>
            </a:pPr>
            <a:r>
              <a:rPr lang="en-US" sz="1000" b="1" spc="200" kern="0" dirty="0">
                <a:solidFill>
                  <a:srgbClr val="5C6B63"/>
                </a:solidFill>
                <a:latin typeface="Calibri" pitchFamily="34" charset="0"/>
                <a:ea typeface="Calibri" pitchFamily="34" charset="-122"/>
                <a:cs typeface="Calibri" pitchFamily="34" charset="-120"/>
              </a:rPr>
              <a:t>SESSION 5 · OPPORTUNITY</a:t>
            </a:r>
            <a:endParaRPr lang="en-US" sz="1000" dirty="0"/>
          </a:p>
        </p:txBody>
      </p:sp>
      <p:sp>
        <p:nvSpPr>
          <p:cNvPr id="3" name="Shape 1"/>
          <p:cNvSpPr/>
          <p:nvPr/>
        </p:nvSpPr>
        <p:spPr>
          <a:xfrm>
            <a:off x="10643616" y="310896"/>
            <a:ext cx="155448" cy="155448"/>
          </a:xfrm>
          <a:prstGeom prst="rect">
            <a:avLst/>
          </a:prstGeom>
          <a:solidFill>
            <a:srgbClr val="038141"/>
          </a:solidFill>
          <a:ln/>
        </p:spPr>
      </p:sp>
      <p:sp>
        <p:nvSpPr>
          <p:cNvPr id="4" name="Shape 2"/>
          <p:cNvSpPr/>
          <p:nvPr/>
        </p:nvSpPr>
        <p:spPr>
          <a:xfrm>
            <a:off x="10853928" y="310896"/>
            <a:ext cx="155448" cy="155448"/>
          </a:xfrm>
          <a:prstGeom prst="rect">
            <a:avLst/>
          </a:prstGeom>
          <a:solidFill>
            <a:srgbClr val="85BB2F"/>
          </a:solidFill>
          <a:ln/>
        </p:spPr>
      </p:sp>
      <p:sp>
        <p:nvSpPr>
          <p:cNvPr id="5" name="Shape 3"/>
          <p:cNvSpPr/>
          <p:nvPr/>
        </p:nvSpPr>
        <p:spPr>
          <a:xfrm>
            <a:off x="11064240" y="310896"/>
            <a:ext cx="155448" cy="155448"/>
          </a:xfrm>
          <a:prstGeom prst="rect">
            <a:avLst/>
          </a:prstGeom>
          <a:solidFill>
            <a:srgbClr val="FECB02"/>
          </a:solidFill>
          <a:ln/>
        </p:spPr>
      </p:sp>
      <p:sp>
        <p:nvSpPr>
          <p:cNvPr id="6" name="Shape 4"/>
          <p:cNvSpPr/>
          <p:nvPr/>
        </p:nvSpPr>
        <p:spPr>
          <a:xfrm>
            <a:off x="11274552" y="310896"/>
            <a:ext cx="155448" cy="155448"/>
          </a:xfrm>
          <a:prstGeom prst="rect">
            <a:avLst/>
          </a:prstGeom>
          <a:solidFill>
            <a:srgbClr val="EE8100"/>
          </a:solidFill>
          <a:ln/>
        </p:spPr>
      </p:sp>
      <p:sp>
        <p:nvSpPr>
          <p:cNvPr id="7" name="Shape 5"/>
          <p:cNvSpPr/>
          <p:nvPr/>
        </p:nvSpPr>
        <p:spPr>
          <a:xfrm>
            <a:off x="11484864" y="310896"/>
            <a:ext cx="155448" cy="155448"/>
          </a:xfrm>
          <a:prstGeom prst="rect">
            <a:avLst/>
          </a:prstGeom>
          <a:solidFill>
            <a:srgbClr val="E63E11"/>
          </a:solidFill>
          <a:ln/>
        </p:spPr>
      </p:sp>
      <p:sp>
        <p:nvSpPr>
          <p:cNvPr id="8" name="Text 6"/>
          <p:cNvSpPr txBox="1"/>
          <p:nvPr/>
        </p:nvSpPr>
        <p:spPr>
          <a:xfrm>
            <a:off x="548640" y="603504"/>
            <a:ext cx="11064240" cy="822960"/>
          </a:xfrm>
          <a:prstGeom prst="rect">
            <a:avLst/>
          </a:prstGeom>
          <a:noFill/>
          <a:ln/>
        </p:spPr>
        <p:txBody>
          <a:bodyPr wrap="square" lIns="0" tIns="0" rIns="0" bIns="0" rtlCol="0" anchor="t"/>
          <a:lstStyle/>
          <a:p>
            <a:pPr indent="0" marL="0">
              <a:buNone/>
            </a:pPr>
            <a:r>
              <a:rPr lang="en-US" sz="2600" b="1" dirty="0">
                <a:solidFill>
                  <a:srgbClr val="154B36"/>
                </a:solidFill>
                <a:latin typeface="Cambria" pitchFamily="34" charset="0"/>
                <a:ea typeface="Cambria" pitchFamily="34" charset="-122"/>
                <a:cs typeface="Cambria" pitchFamily="34" charset="-120"/>
              </a:rPr>
              <a:t>Opportunity Frame Plate</a:t>
            </a:r>
            <a:endParaRPr lang="en-US" sz="2600" dirty="0"/>
          </a:p>
        </p:txBody>
      </p:sp>
      <p:sp>
        <p:nvSpPr>
          <p:cNvPr id="9" name="Text 7"/>
          <p:cNvSpPr txBox="1"/>
          <p:nvPr/>
        </p:nvSpPr>
        <p:spPr>
          <a:xfrm>
            <a:off x="548640" y="6199632"/>
            <a:ext cx="11064240" cy="219456"/>
          </a:xfrm>
          <a:prstGeom prst="rect">
            <a:avLst/>
          </a:prstGeom>
          <a:noFill/>
          <a:ln/>
        </p:spPr>
        <p:txBody>
          <a:bodyPr wrap="square" lIns="0" tIns="0" rIns="0" bIns="0" rtlCol="0" anchor="t"/>
          <a:lstStyle/>
          <a:p>
            <a:pPr indent="0" marL="0">
              <a:buNone/>
            </a:pPr>
            <a:r>
              <a:rPr lang="en-US" sz="900" i="1" dirty="0">
                <a:solidFill>
                  <a:srgbClr val="5C6B63"/>
                </a:solidFill>
                <a:latin typeface="Calibri" pitchFamily="34" charset="0"/>
                <a:ea typeface="Calibri" pitchFamily="34" charset="-122"/>
                <a:cs typeface="Calibri" pitchFamily="34" charset="-120"/>
              </a:rPr>
              <a:t>Use “without” to protect against risky or unrealistic concepts.</a:t>
            </a:r>
            <a:endParaRPr lang="en-US" sz="900" dirty="0"/>
          </a:p>
        </p:txBody>
      </p:sp>
      <p:sp>
        <p:nvSpPr>
          <p:cNvPr id="10" name="Text 8"/>
          <p:cNvSpPr txBox="1"/>
          <p:nvPr/>
        </p:nvSpPr>
        <p:spPr>
          <a:xfrm>
            <a:off x="548640" y="6510528"/>
            <a:ext cx="9601200" cy="182880"/>
          </a:xfrm>
          <a:prstGeom prst="rect">
            <a:avLst/>
          </a:prstGeom>
          <a:noFill/>
          <a:ln/>
        </p:spPr>
        <p:txBody>
          <a:bodyPr wrap="square" lIns="0" tIns="0" rIns="0" bIns="0" rtlCol="0" anchor="t"/>
          <a:lstStyle/>
          <a:p>
            <a:pPr indent="0" marL="0">
              <a:buNone/>
            </a:pPr>
            <a:r>
              <a:rPr lang="en-US" sz="900" dirty="0">
                <a:solidFill>
                  <a:srgbClr val="5C6B63"/>
                </a:solidFill>
                <a:latin typeface="Calibri" pitchFamily="34" charset="0"/>
                <a:ea typeface="Calibri" pitchFamily="34" charset="-122"/>
                <a:cs typeface="Calibri" pitchFamily="34" charset="-120"/>
              </a:rPr>
              <a:t>NutriScore Checkout Tool  |  NUT-04, JHUB Africa / AfyaVentures  |  Kibet, Project Lead</a:t>
            </a:r>
            <a:endParaRPr lang="en-US" sz="900" dirty="0"/>
          </a:p>
        </p:txBody>
      </p:sp>
      <p:sp>
        <p:nvSpPr>
          <p:cNvPr id="11" name="Text 9"/>
          <p:cNvSpPr txBox="1"/>
          <p:nvPr/>
        </p:nvSpPr>
        <p:spPr>
          <a:xfrm>
            <a:off x="10725912" y="6510528"/>
            <a:ext cx="914400" cy="182880"/>
          </a:xfrm>
          <a:prstGeom prst="rect">
            <a:avLst/>
          </a:prstGeom>
          <a:noFill/>
          <a:ln/>
        </p:spPr>
        <p:txBody>
          <a:bodyPr wrap="square" lIns="0" tIns="0" rIns="0" bIns="0" rtlCol="0" anchor="t"/>
          <a:lstStyle/>
          <a:p>
            <a:pPr algn="r" indent="0" marL="0">
              <a:buNone/>
            </a:pPr>
            <a:r>
              <a:rPr lang="en-US" sz="900" dirty="0">
                <a:solidFill>
                  <a:srgbClr val="5C6B63"/>
                </a:solidFill>
                <a:latin typeface="Calibri" pitchFamily="34" charset="0"/>
                <a:ea typeface="Calibri" pitchFamily="34" charset="-122"/>
                <a:cs typeface="Calibri" pitchFamily="34" charset="-120"/>
              </a:rPr>
              <a:t>5 / 10</a:t>
            </a:r>
            <a:endParaRPr lang="en-US" sz="900" dirty="0"/>
          </a:p>
        </p:txBody>
      </p:sp>
      <p:sp>
        <p:nvSpPr>
          <p:cNvPr id="12" name="Shape 10"/>
          <p:cNvSpPr/>
          <p:nvPr/>
        </p:nvSpPr>
        <p:spPr>
          <a:xfrm>
            <a:off x="548640" y="1508760"/>
            <a:ext cx="11091672" cy="658368"/>
          </a:xfrm>
          <a:prstGeom prst="roundRect">
            <a:avLst>
              <a:gd name="adj" fmla="val 9722"/>
            </a:avLst>
          </a:prstGeom>
          <a:solidFill>
            <a:srgbClr val="E8F1EB"/>
          </a:solidFill>
          <a:ln w="9525">
            <a:solidFill>
              <a:srgbClr val="C9D5CE"/>
            </a:solidFill>
            <a:prstDash val="solid"/>
          </a:ln>
        </p:spPr>
      </p:sp>
      <p:sp>
        <p:nvSpPr>
          <p:cNvPr id="13" name="Text 11"/>
          <p:cNvSpPr txBox="1"/>
          <p:nvPr/>
        </p:nvSpPr>
        <p:spPr>
          <a:xfrm>
            <a:off x="731520" y="1581912"/>
            <a:ext cx="10725912" cy="201168"/>
          </a:xfrm>
          <a:prstGeom prst="rect">
            <a:avLst/>
          </a:prstGeom>
          <a:noFill/>
          <a:ln/>
        </p:spPr>
        <p:txBody>
          <a:bodyPr wrap="square" lIns="0" tIns="0" rIns="0" bIns="0" rtlCol="0" anchor="t"/>
          <a:lstStyle/>
          <a:p>
            <a:pPr indent="0" marL="0">
              <a:buNone/>
            </a:pPr>
            <a:r>
              <a:rPr lang="en-US" sz="1050" b="1" dirty="0">
                <a:solidFill>
                  <a:srgbClr val="154B36"/>
                </a:solidFill>
                <a:latin typeface="Calibri" pitchFamily="34" charset="0"/>
                <a:ea typeface="Calibri" pitchFamily="34" charset="-122"/>
                <a:cs typeface="Calibri" pitchFamily="34" charset="-120"/>
              </a:rPr>
              <a:t>For</a:t>
            </a:r>
            <a:endParaRPr lang="en-US" sz="1050" dirty="0"/>
          </a:p>
        </p:txBody>
      </p:sp>
      <p:sp>
        <p:nvSpPr>
          <p:cNvPr id="14" name="Text 12"/>
          <p:cNvSpPr txBox="1"/>
          <p:nvPr/>
        </p:nvSpPr>
        <p:spPr>
          <a:xfrm>
            <a:off x="731520" y="1764792"/>
            <a:ext cx="8897112" cy="164592"/>
          </a:xfrm>
          <a:prstGeom prst="rect">
            <a:avLst/>
          </a:prstGeom>
          <a:noFill/>
          <a:ln/>
        </p:spPr>
        <p:txBody>
          <a:bodyPr wrap="square" lIns="0" tIns="0" rIns="0" bIns="0" rtlCol="0" anchor="t"/>
          <a:lstStyle/>
          <a:p>
            <a:pPr indent="0" marL="0">
              <a:buNone/>
            </a:pPr>
            <a:r>
              <a:rPr lang="en-US" sz="800" i="1" dirty="0">
                <a:solidFill>
                  <a:srgbClr val="5C6B63"/>
                </a:solidFill>
                <a:latin typeface="Calibri" pitchFamily="34" charset="0"/>
                <a:ea typeface="Calibri" pitchFamily="34" charset="-122"/>
                <a:cs typeface="Calibri" pitchFamily="34" charset="-120"/>
              </a:rPr>
              <a:t>specific user / segment</a:t>
            </a:r>
            <a:endParaRPr lang="en-US" sz="800" dirty="0"/>
          </a:p>
        </p:txBody>
      </p:sp>
      <p:sp>
        <p:nvSpPr>
          <p:cNvPr id="15" name="Text 13"/>
          <p:cNvSpPr txBox="1"/>
          <p:nvPr/>
        </p:nvSpPr>
        <p:spPr>
          <a:xfrm>
            <a:off x="731520" y="1947672"/>
            <a:ext cx="10725912" cy="146304"/>
          </a:xfrm>
          <a:prstGeom prst="rect">
            <a:avLst/>
          </a:prstGeom>
          <a:noFill/>
          <a:ln/>
        </p:spPr>
        <p:txBody>
          <a:bodyPr wrap="square" lIns="0" tIns="0" rIns="0" bIns="0" rtlCol="0" anchor="t"/>
          <a:lstStyle/>
          <a:p>
            <a:pPr indent="0" marL="0">
              <a:lnSpc>
                <a:spcPct val="105000"/>
              </a:lnSpc>
              <a:buNone/>
            </a:pPr>
            <a:r>
              <a:rPr lang="en-US" sz="1080" dirty="0">
                <a:solidFill>
                  <a:srgbClr val="1F2A24"/>
                </a:solidFill>
                <a:latin typeface="Calibri" pitchFamily="34" charset="0"/>
                <a:ea typeface="Calibri" pitchFamily="34" charset="-122"/>
                <a:cs typeface="Calibri" pitchFamily="34" charset="-120"/>
              </a:rPr>
              <a:t>Segment-A online grocery shoppers in Kenya — adults advised to limit sugar, salt or fat, who shop weekly.</a:t>
            </a:r>
            <a:endParaRPr lang="en-US" sz="1080" dirty="0"/>
          </a:p>
        </p:txBody>
      </p:sp>
      <p:sp>
        <p:nvSpPr>
          <p:cNvPr id="16" name="Shape 14"/>
          <p:cNvSpPr/>
          <p:nvPr/>
        </p:nvSpPr>
        <p:spPr>
          <a:xfrm>
            <a:off x="548640" y="2258568"/>
            <a:ext cx="11091672" cy="868680"/>
          </a:xfrm>
          <a:prstGeom prst="roundRect">
            <a:avLst>
              <a:gd name="adj" fmla="val 7368"/>
            </a:avLst>
          </a:prstGeom>
          <a:solidFill>
            <a:srgbClr val="FFFFFF"/>
          </a:solidFill>
          <a:ln w="9525">
            <a:solidFill>
              <a:srgbClr val="C9D5CE"/>
            </a:solidFill>
            <a:prstDash val="solid"/>
          </a:ln>
        </p:spPr>
      </p:sp>
      <p:sp>
        <p:nvSpPr>
          <p:cNvPr id="17" name="Text 15"/>
          <p:cNvSpPr txBox="1"/>
          <p:nvPr/>
        </p:nvSpPr>
        <p:spPr>
          <a:xfrm>
            <a:off x="731520" y="2331720"/>
            <a:ext cx="10725912" cy="201168"/>
          </a:xfrm>
          <a:prstGeom prst="rect">
            <a:avLst/>
          </a:prstGeom>
          <a:noFill/>
          <a:ln/>
        </p:spPr>
        <p:txBody>
          <a:bodyPr wrap="square" lIns="0" tIns="0" rIns="0" bIns="0" rtlCol="0" anchor="t"/>
          <a:lstStyle/>
          <a:p>
            <a:pPr indent="0" marL="0">
              <a:buNone/>
            </a:pPr>
            <a:r>
              <a:rPr lang="en-US" sz="1050" b="1" dirty="0">
                <a:solidFill>
                  <a:srgbClr val="154B36"/>
                </a:solidFill>
                <a:latin typeface="Calibri" pitchFamily="34" charset="0"/>
                <a:ea typeface="Calibri" pitchFamily="34" charset="-122"/>
                <a:cs typeface="Calibri" pitchFamily="34" charset="-120"/>
              </a:rPr>
              <a:t>Who experience</a:t>
            </a:r>
            <a:endParaRPr lang="en-US" sz="1050" dirty="0"/>
          </a:p>
        </p:txBody>
      </p:sp>
      <p:sp>
        <p:nvSpPr>
          <p:cNvPr id="18" name="Text 16"/>
          <p:cNvSpPr txBox="1"/>
          <p:nvPr/>
        </p:nvSpPr>
        <p:spPr>
          <a:xfrm>
            <a:off x="731520" y="2514600"/>
            <a:ext cx="8897112" cy="164592"/>
          </a:xfrm>
          <a:prstGeom prst="rect">
            <a:avLst/>
          </a:prstGeom>
          <a:noFill/>
          <a:ln/>
        </p:spPr>
        <p:txBody>
          <a:bodyPr wrap="square" lIns="0" tIns="0" rIns="0" bIns="0" rtlCol="0" anchor="t"/>
          <a:lstStyle/>
          <a:p>
            <a:pPr indent="0" marL="0">
              <a:buNone/>
            </a:pPr>
            <a:r>
              <a:rPr lang="en-US" sz="800" i="1" dirty="0">
                <a:solidFill>
                  <a:srgbClr val="5C6B63"/>
                </a:solidFill>
                <a:latin typeface="Calibri" pitchFamily="34" charset="0"/>
                <a:ea typeface="Calibri" pitchFamily="34" charset="-122"/>
                <a:cs typeface="Calibri" pitchFamily="34" charset="-120"/>
              </a:rPr>
              <a:t>evidence-backed barrier or pain</a:t>
            </a:r>
            <a:endParaRPr lang="en-US" sz="800" dirty="0"/>
          </a:p>
        </p:txBody>
      </p:sp>
      <p:sp>
        <p:nvSpPr>
          <p:cNvPr id="19" name="Text 17"/>
          <p:cNvSpPr txBox="1"/>
          <p:nvPr/>
        </p:nvSpPr>
        <p:spPr>
          <a:xfrm>
            <a:off x="731520" y="2697480"/>
            <a:ext cx="10725912" cy="356616"/>
          </a:xfrm>
          <a:prstGeom prst="rect">
            <a:avLst/>
          </a:prstGeom>
          <a:noFill/>
          <a:ln/>
        </p:spPr>
        <p:txBody>
          <a:bodyPr wrap="square" lIns="0" tIns="0" rIns="0" bIns="0" rtlCol="0" anchor="t"/>
          <a:lstStyle/>
          <a:p>
            <a:pPr indent="0" marL="0">
              <a:lnSpc>
                <a:spcPct val="105000"/>
              </a:lnSpc>
              <a:buNone/>
            </a:pPr>
            <a:r>
              <a:rPr lang="en-US" sz="1080" dirty="0">
                <a:solidFill>
                  <a:srgbClr val="1F2A24"/>
                </a:solidFill>
                <a:latin typeface="Calibri" pitchFamily="34" charset="0"/>
                <a:ea typeface="Calibri" pitchFamily="34" charset="-122"/>
                <a:cs typeface="Calibri" pitchFamily="34" charset="-120"/>
              </a:rPr>
              <a:t>Not being able to tell, at the moment of choosing a specific product, whether it fits their limits — no Kenyan retailer shows a signal, and labels omit fields like added sugar (Food-EPI 2020; ATNi/EAMA 2025).</a:t>
            </a:r>
            <a:endParaRPr lang="en-US" sz="1080" dirty="0"/>
          </a:p>
        </p:txBody>
      </p:sp>
      <p:sp>
        <p:nvSpPr>
          <p:cNvPr id="20" name="Shape 18"/>
          <p:cNvSpPr/>
          <p:nvPr/>
        </p:nvSpPr>
        <p:spPr>
          <a:xfrm>
            <a:off x="548640" y="3218688"/>
            <a:ext cx="11091672" cy="749808"/>
          </a:xfrm>
          <a:prstGeom prst="roundRect">
            <a:avLst>
              <a:gd name="adj" fmla="val 8537"/>
            </a:avLst>
          </a:prstGeom>
          <a:solidFill>
            <a:srgbClr val="E8F1EB"/>
          </a:solidFill>
          <a:ln w="9525">
            <a:solidFill>
              <a:srgbClr val="C9D5CE"/>
            </a:solidFill>
            <a:prstDash val="solid"/>
          </a:ln>
        </p:spPr>
      </p:sp>
      <p:sp>
        <p:nvSpPr>
          <p:cNvPr id="21" name="Text 19"/>
          <p:cNvSpPr txBox="1"/>
          <p:nvPr/>
        </p:nvSpPr>
        <p:spPr>
          <a:xfrm>
            <a:off x="731520" y="3291840"/>
            <a:ext cx="10725912" cy="201168"/>
          </a:xfrm>
          <a:prstGeom prst="rect">
            <a:avLst/>
          </a:prstGeom>
          <a:noFill/>
          <a:ln/>
        </p:spPr>
        <p:txBody>
          <a:bodyPr wrap="square" lIns="0" tIns="0" rIns="0" bIns="0" rtlCol="0" anchor="t"/>
          <a:lstStyle/>
          <a:p>
            <a:pPr indent="0" marL="0">
              <a:buNone/>
            </a:pPr>
            <a:r>
              <a:rPr lang="en-US" sz="1050" b="1" dirty="0">
                <a:solidFill>
                  <a:srgbClr val="154B36"/>
                </a:solidFill>
                <a:latin typeface="Calibri" pitchFamily="34" charset="0"/>
                <a:ea typeface="Calibri" pitchFamily="34" charset="-122"/>
                <a:cs typeface="Calibri" pitchFamily="34" charset="-120"/>
              </a:rPr>
              <a:t>Because</a:t>
            </a:r>
            <a:endParaRPr lang="en-US" sz="1050" dirty="0"/>
          </a:p>
        </p:txBody>
      </p:sp>
      <p:sp>
        <p:nvSpPr>
          <p:cNvPr id="22" name="Text 20"/>
          <p:cNvSpPr txBox="1"/>
          <p:nvPr/>
        </p:nvSpPr>
        <p:spPr>
          <a:xfrm>
            <a:off x="731520" y="3474720"/>
            <a:ext cx="8897112" cy="164592"/>
          </a:xfrm>
          <a:prstGeom prst="rect">
            <a:avLst/>
          </a:prstGeom>
          <a:noFill/>
          <a:ln/>
        </p:spPr>
        <p:txBody>
          <a:bodyPr wrap="square" lIns="0" tIns="0" rIns="0" bIns="0" rtlCol="0" anchor="t"/>
          <a:lstStyle/>
          <a:p>
            <a:pPr indent="0" marL="0">
              <a:buNone/>
            </a:pPr>
            <a:r>
              <a:rPr lang="en-US" sz="800" i="1" dirty="0">
                <a:solidFill>
                  <a:srgbClr val="5C6B63"/>
                </a:solidFill>
                <a:latin typeface="Calibri" pitchFamily="34" charset="0"/>
                <a:ea typeface="Calibri" pitchFamily="34" charset="-122"/>
                <a:cs typeface="Calibri" pitchFamily="34" charset="-120"/>
              </a:rPr>
              <a:t>root cause / constraint</a:t>
            </a:r>
            <a:endParaRPr lang="en-US" sz="800" dirty="0"/>
          </a:p>
        </p:txBody>
      </p:sp>
      <p:sp>
        <p:nvSpPr>
          <p:cNvPr id="23" name="Text 21"/>
          <p:cNvSpPr txBox="1"/>
          <p:nvPr/>
        </p:nvSpPr>
        <p:spPr>
          <a:xfrm>
            <a:off x="731520" y="3657600"/>
            <a:ext cx="10725912" cy="237744"/>
          </a:xfrm>
          <a:prstGeom prst="rect">
            <a:avLst/>
          </a:prstGeom>
          <a:noFill/>
          <a:ln/>
        </p:spPr>
        <p:txBody>
          <a:bodyPr wrap="square" lIns="0" tIns="0" rIns="0" bIns="0" rtlCol="0" anchor="t"/>
          <a:lstStyle/>
          <a:p>
            <a:pPr indent="0" marL="0">
              <a:lnSpc>
                <a:spcPct val="105000"/>
              </a:lnSpc>
              <a:buNone/>
            </a:pPr>
            <a:r>
              <a:rPr lang="en-US" sz="1080" dirty="0">
                <a:solidFill>
                  <a:srgbClr val="1F2A24"/>
                </a:solidFill>
                <a:latin typeface="Calibri" pitchFamily="34" charset="0"/>
                <a:ea typeface="Calibri" pitchFamily="34" charset="-122"/>
                <a:cs typeface="Calibri" pitchFamily="34" charset="-120"/>
              </a:rPr>
              <a:t>Nutrition-quality data and the online purchase decision are disconnected systems — nothing currently attaches an evidence-based grade to a specific product at the point of choice.</a:t>
            </a:r>
            <a:endParaRPr lang="en-US" sz="1080" dirty="0"/>
          </a:p>
        </p:txBody>
      </p:sp>
      <p:sp>
        <p:nvSpPr>
          <p:cNvPr id="24" name="Shape 22"/>
          <p:cNvSpPr/>
          <p:nvPr/>
        </p:nvSpPr>
        <p:spPr>
          <a:xfrm>
            <a:off x="548640" y="4059936"/>
            <a:ext cx="11091672" cy="749808"/>
          </a:xfrm>
          <a:prstGeom prst="roundRect">
            <a:avLst>
              <a:gd name="adj" fmla="val 8537"/>
            </a:avLst>
          </a:prstGeom>
          <a:solidFill>
            <a:srgbClr val="FFFFFF"/>
          </a:solidFill>
          <a:ln w="9525">
            <a:solidFill>
              <a:srgbClr val="C9D5CE"/>
            </a:solidFill>
            <a:prstDash val="solid"/>
          </a:ln>
        </p:spPr>
      </p:sp>
      <p:sp>
        <p:nvSpPr>
          <p:cNvPr id="25" name="Text 23"/>
          <p:cNvSpPr txBox="1"/>
          <p:nvPr/>
        </p:nvSpPr>
        <p:spPr>
          <a:xfrm>
            <a:off x="731520" y="4133088"/>
            <a:ext cx="10725912" cy="201168"/>
          </a:xfrm>
          <a:prstGeom prst="rect">
            <a:avLst/>
          </a:prstGeom>
          <a:noFill/>
          <a:ln/>
        </p:spPr>
        <p:txBody>
          <a:bodyPr wrap="square" lIns="0" tIns="0" rIns="0" bIns="0" rtlCol="0" anchor="t"/>
          <a:lstStyle/>
          <a:p>
            <a:pPr indent="0" marL="0">
              <a:buNone/>
            </a:pPr>
            <a:r>
              <a:rPr lang="en-US" sz="1050" b="1" dirty="0">
                <a:solidFill>
                  <a:srgbClr val="154B36"/>
                </a:solidFill>
                <a:latin typeface="Calibri" pitchFamily="34" charset="0"/>
                <a:ea typeface="Calibri" pitchFamily="34" charset="-122"/>
                <a:cs typeface="Calibri" pitchFamily="34" charset="-120"/>
              </a:rPr>
              <a:t>We have an opportunity to</a:t>
            </a:r>
            <a:endParaRPr lang="en-US" sz="1050" dirty="0"/>
          </a:p>
        </p:txBody>
      </p:sp>
      <p:sp>
        <p:nvSpPr>
          <p:cNvPr id="26" name="Text 24"/>
          <p:cNvSpPr txBox="1"/>
          <p:nvPr/>
        </p:nvSpPr>
        <p:spPr>
          <a:xfrm>
            <a:off x="731520" y="4315968"/>
            <a:ext cx="8897112" cy="164592"/>
          </a:xfrm>
          <a:prstGeom prst="rect">
            <a:avLst/>
          </a:prstGeom>
          <a:noFill/>
          <a:ln/>
        </p:spPr>
        <p:txBody>
          <a:bodyPr wrap="square" lIns="0" tIns="0" rIns="0" bIns="0" rtlCol="0" anchor="t"/>
          <a:lstStyle/>
          <a:p>
            <a:pPr indent="0" marL="0">
              <a:buNone/>
            </a:pPr>
            <a:r>
              <a:rPr lang="en-US" sz="800" i="1" dirty="0">
                <a:solidFill>
                  <a:srgbClr val="5C6B63"/>
                </a:solidFill>
                <a:latin typeface="Calibri" pitchFamily="34" charset="0"/>
                <a:ea typeface="Calibri" pitchFamily="34" charset="-122"/>
                <a:cs typeface="Calibri" pitchFamily="34" charset="-120"/>
              </a:rPr>
              <a:t>desired change / outcome</a:t>
            </a:r>
            <a:endParaRPr lang="en-US" sz="800" dirty="0"/>
          </a:p>
        </p:txBody>
      </p:sp>
      <p:sp>
        <p:nvSpPr>
          <p:cNvPr id="27" name="Text 25"/>
          <p:cNvSpPr txBox="1"/>
          <p:nvPr/>
        </p:nvSpPr>
        <p:spPr>
          <a:xfrm>
            <a:off x="731520" y="4498848"/>
            <a:ext cx="10725912" cy="237744"/>
          </a:xfrm>
          <a:prstGeom prst="rect">
            <a:avLst/>
          </a:prstGeom>
          <a:noFill/>
          <a:ln/>
        </p:spPr>
        <p:txBody>
          <a:bodyPr wrap="square" lIns="0" tIns="0" rIns="0" bIns="0" rtlCol="0" anchor="t"/>
          <a:lstStyle/>
          <a:p>
            <a:pPr indent="0" marL="0">
              <a:lnSpc>
                <a:spcPct val="105000"/>
              </a:lnSpc>
              <a:buNone/>
            </a:pPr>
            <a:r>
              <a:rPr lang="en-US" sz="1080" dirty="0">
                <a:solidFill>
                  <a:srgbClr val="1F2A24"/>
                </a:solidFill>
                <a:latin typeface="Calibri" pitchFamily="34" charset="0"/>
                <a:ea typeface="Calibri" pitchFamily="34" charset="-122"/>
                <a:cs typeface="Calibri" pitchFamily="34" charset="-120"/>
              </a:rPr>
              <a:t>Surface an instant, trustworthy fit signal at the exact moment a shopper evaluates a product — not just a general health score.</a:t>
            </a:r>
            <a:endParaRPr lang="en-US" sz="1080" dirty="0"/>
          </a:p>
        </p:txBody>
      </p:sp>
      <p:sp>
        <p:nvSpPr>
          <p:cNvPr id="28" name="Shape 26"/>
          <p:cNvSpPr/>
          <p:nvPr/>
        </p:nvSpPr>
        <p:spPr>
          <a:xfrm>
            <a:off x="548640" y="4901184"/>
            <a:ext cx="11091672" cy="822960"/>
          </a:xfrm>
          <a:prstGeom prst="roundRect">
            <a:avLst>
              <a:gd name="adj" fmla="val 7778"/>
            </a:avLst>
          </a:prstGeom>
          <a:solidFill>
            <a:srgbClr val="E8F1EB"/>
          </a:solidFill>
          <a:ln w="9525">
            <a:solidFill>
              <a:srgbClr val="C9D5CE"/>
            </a:solidFill>
            <a:prstDash val="solid"/>
          </a:ln>
        </p:spPr>
      </p:sp>
      <p:sp>
        <p:nvSpPr>
          <p:cNvPr id="29" name="Text 27"/>
          <p:cNvSpPr txBox="1"/>
          <p:nvPr/>
        </p:nvSpPr>
        <p:spPr>
          <a:xfrm>
            <a:off x="731520" y="4974336"/>
            <a:ext cx="10725912" cy="201168"/>
          </a:xfrm>
          <a:prstGeom prst="rect">
            <a:avLst/>
          </a:prstGeom>
          <a:noFill/>
          <a:ln/>
        </p:spPr>
        <p:txBody>
          <a:bodyPr wrap="square" lIns="0" tIns="0" rIns="0" bIns="0" rtlCol="0" anchor="t"/>
          <a:lstStyle/>
          <a:p>
            <a:pPr indent="0" marL="0">
              <a:buNone/>
            </a:pPr>
            <a:r>
              <a:rPr lang="en-US" sz="1050" b="1" dirty="0">
                <a:solidFill>
                  <a:srgbClr val="154B36"/>
                </a:solidFill>
                <a:latin typeface="Calibri" pitchFamily="34" charset="0"/>
                <a:ea typeface="Calibri" pitchFamily="34" charset="-122"/>
                <a:cs typeface="Calibri" pitchFamily="34" charset="-120"/>
              </a:rPr>
              <a:t>Without</a:t>
            </a:r>
            <a:endParaRPr lang="en-US" sz="1050" dirty="0"/>
          </a:p>
        </p:txBody>
      </p:sp>
      <p:sp>
        <p:nvSpPr>
          <p:cNvPr id="30" name="Text 28"/>
          <p:cNvSpPr txBox="1"/>
          <p:nvPr/>
        </p:nvSpPr>
        <p:spPr>
          <a:xfrm>
            <a:off x="731520" y="5157216"/>
            <a:ext cx="8897112" cy="164592"/>
          </a:xfrm>
          <a:prstGeom prst="rect">
            <a:avLst/>
          </a:prstGeom>
          <a:noFill/>
          <a:ln/>
        </p:spPr>
        <p:txBody>
          <a:bodyPr wrap="square" lIns="0" tIns="0" rIns="0" bIns="0" rtlCol="0" anchor="t"/>
          <a:lstStyle/>
          <a:p>
            <a:pPr indent="0" marL="0">
              <a:buNone/>
            </a:pPr>
            <a:r>
              <a:rPr lang="en-US" sz="800" i="1" dirty="0">
                <a:solidFill>
                  <a:srgbClr val="5C6B63"/>
                </a:solidFill>
                <a:latin typeface="Calibri" pitchFamily="34" charset="0"/>
                <a:ea typeface="Calibri" pitchFamily="34" charset="-122"/>
                <a:cs typeface="Calibri" pitchFamily="34" charset="-120"/>
              </a:rPr>
              <a:t>ethical, operational or strategic boundary</a:t>
            </a:r>
            <a:endParaRPr lang="en-US" sz="800" dirty="0"/>
          </a:p>
        </p:txBody>
      </p:sp>
      <p:sp>
        <p:nvSpPr>
          <p:cNvPr id="31" name="Text 29"/>
          <p:cNvSpPr txBox="1"/>
          <p:nvPr/>
        </p:nvSpPr>
        <p:spPr>
          <a:xfrm>
            <a:off x="731520" y="5340096"/>
            <a:ext cx="10725912" cy="310896"/>
          </a:xfrm>
          <a:prstGeom prst="rect">
            <a:avLst/>
          </a:prstGeom>
          <a:noFill/>
          <a:ln/>
        </p:spPr>
        <p:txBody>
          <a:bodyPr wrap="square" lIns="0" tIns="0" rIns="0" bIns="0" rtlCol="0" anchor="t"/>
          <a:lstStyle/>
          <a:p>
            <a:pPr indent="0" marL="0">
              <a:lnSpc>
                <a:spcPct val="105000"/>
              </a:lnSpc>
              <a:buNone/>
            </a:pPr>
            <a:r>
              <a:rPr lang="en-US" sz="1080" dirty="0">
                <a:solidFill>
                  <a:srgbClr val="1F2A24"/>
                </a:solidFill>
                <a:latin typeface="Calibri" pitchFamily="34" charset="0"/>
                <a:ea typeface="Calibri" pitchFamily="34" charset="-122"/>
                <a:cs typeface="Calibri" pitchFamily="34" charset="-120"/>
              </a:rPr>
              <a:t>requiring the shopper to leave their shopping flow or create a new account, or claiming certainty beyond what the catalogue supports — only 42–46% of SKUs currently carry a verified grade.</a:t>
            </a:r>
            <a:endParaRPr lang="en-US" sz="108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2F6F3"/>
        </a:solidFill>
      </p:bgPr>
    </p:bg>
    <p:spTree>
      <p:nvGrpSpPr>
        <p:cNvPr id="1" name=""/>
        <p:cNvGrpSpPr/>
        <p:nvPr/>
      </p:nvGrpSpPr>
      <p:grpSpPr>
        <a:xfrm>
          <a:off x="0" y="0"/>
          <a:ext cx="0" cy="0"/>
          <a:chOff x="0" y="0"/>
          <a:chExt cx="0" cy="0"/>
        </a:xfrm>
      </p:grpSpPr>
      <p:sp>
        <p:nvSpPr>
          <p:cNvPr id="2" name="Text 0"/>
          <p:cNvSpPr txBox="1"/>
          <p:nvPr/>
        </p:nvSpPr>
        <p:spPr>
          <a:xfrm>
            <a:off x="548640" y="292608"/>
            <a:ext cx="9692640" cy="228600"/>
          </a:xfrm>
          <a:prstGeom prst="rect">
            <a:avLst/>
          </a:prstGeom>
          <a:noFill/>
          <a:ln/>
        </p:spPr>
        <p:txBody>
          <a:bodyPr wrap="square" lIns="0" tIns="0" rIns="0" bIns="0" rtlCol="0" anchor="t"/>
          <a:lstStyle/>
          <a:p>
            <a:pPr indent="0" marL="0">
              <a:buNone/>
            </a:pPr>
            <a:r>
              <a:rPr lang="en-US" sz="1000" b="1" spc="200" kern="0" dirty="0">
                <a:solidFill>
                  <a:srgbClr val="5C6B63"/>
                </a:solidFill>
                <a:latin typeface="Calibri" pitchFamily="34" charset="0"/>
                <a:ea typeface="Calibri" pitchFamily="34" charset="-122"/>
                <a:cs typeface="Calibri" pitchFamily="34" charset="-120"/>
              </a:rPr>
              <a:t>SESSION 5 · DIVERGE (INDIVIDUAL)</a:t>
            </a:r>
            <a:endParaRPr lang="en-US" sz="1000" dirty="0"/>
          </a:p>
        </p:txBody>
      </p:sp>
      <p:sp>
        <p:nvSpPr>
          <p:cNvPr id="3" name="Shape 1"/>
          <p:cNvSpPr/>
          <p:nvPr/>
        </p:nvSpPr>
        <p:spPr>
          <a:xfrm>
            <a:off x="10643616" y="310896"/>
            <a:ext cx="155448" cy="155448"/>
          </a:xfrm>
          <a:prstGeom prst="rect">
            <a:avLst/>
          </a:prstGeom>
          <a:solidFill>
            <a:srgbClr val="038141"/>
          </a:solidFill>
          <a:ln/>
        </p:spPr>
      </p:sp>
      <p:sp>
        <p:nvSpPr>
          <p:cNvPr id="4" name="Shape 2"/>
          <p:cNvSpPr/>
          <p:nvPr/>
        </p:nvSpPr>
        <p:spPr>
          <a:xfrm>
            <a:off x="10853928" y="310896"/>
            <a:ext cx="155448" cy="155448"/>
          </a:xfrm>
          <a:prstGeom prst="rect">
            <a:avLst/>
          </a:prstGeom>
          <a:solidFill>
            <a:srgbClr val="85BB2F"/>
          </a:solidFill>
          <a:ln/>
        </p:spPr>
      </p:sp>
      <p:sp>
        <p:nvSpPr>
          <p:cNvPr id="5" name="Shape 3"/>
          <p:cNvSpPr/>
          <p:nvPr/>
        </p:nvSpPr>
        <p:spPr>
          <a:xfrm>
            <a:off x="11064240" y="310896"/>
            <a:ext cx="155448" cy="155448"/>
          </a:xfrm>
          <a:prstGeom prst="rect">
            <a:avLst/>
          </a:prstGeom>
          <a:solidFill>
            <a:srgbClr val="FECB02"/>
          </a:solidFill>
          <a:ln/>
        </p:spPr>
      </p:sp>
      <p:sp>
        <p:nvSpPr>
          <p:cNvPr id="6" name="Shape 4"/>
          <p:cNvSpPr/>
          <p:nvPr/>
        </p:nvSpPr>
        <p:spPr>
          <a:xfrm>
            <a:off x="11274552" y="310896"/>
            <a:ext cx="155448" cy="155448"/>
          </a:xfrm>
          <a:prstGeom prst="rect">
            <a:avLst/>
          </a:prstGeom>
          <a:solidFill>
            <a:srgbClr val="EE8100"/>
          </a:solidFill>
          <a:ln/>
        </p:spPr>
      </p:sp>
      <p:sp>
        <p:nvSpPr>
          <p:cNvPr id="7" name="Shape 5"/>
          <p:cNvSpPr/>
          <p:nvPr/>
        </p:nvSpPr>
        <p:spPr>
          <a:xfrm>
            <a:off x="11484864" y="310896"/>
            <a:ext cx="155448" cy="155448"/>
          </a:xfrm>
          <a:prstGeom prst="rect">
            <a:avLst/>
          </a:prstGeom>
          <a:solidFill>
            <a:srgbClr val="E63E11"/>
          </a:solidFill>
          <a:ln/>
        </p:spPr>
      </p:sp>
      <p:sp>
        <p:nvSpPr>
          <p:cNvPr id="8" name="Text 6"/>
          <p:cNvSpPr txBox="1"/>
          <p:nvPr/>
        </p:nvSpPr>
        <p:spPr>
          <a:xfrm>
            <a:off x="548640" y="603504"/>
            <a:ext cx="11064240" cy="822960"/>
          </a:xfrm>
          <a:prstGeom prst="rect">
            <a:avLst/>
          </a:prstGeom>
          <a:noFill/>
          <a:ln/>
        </p:spPr>
        <p:txBody>
          <a:bodyPr wrap="square" lIns="0" tIns="0" rIns="0" bIns="0" rtlCol="0" anchor="t"/>
          <a:lstStyle/>
          <a:p>
            <a:pPr indent="0" marL="0">
              <a:buNone/>
            </a:pPr>
            <a:r>
              <a:rPr lang="en-US" sz="2600" b="1" dirty="0">
                <a:solidFill>
                  <a:srgbClr val="154B36"/>
                </a:solidFill>
                <a:latin typeface="Cambria" pitchFamily="34" charset="0"/>
                <a:ea typeface="Cambria" pitchFamily="34" charset="-122"/>
                <a:cs typeface="Cambria" pitchFamily="34" charset="-120"/>
              </a:rPr>
              <a:t>Crazy 8s Sketch Plate</a:t>
            </a:r>
            <a:endParaRPr lang="en-US" sz="2600" dirty="0"/>
          </a:p>
        </p:txBody>
      </p:sp>
      <p:sp>
        <p:nvSpPr>
          <p:cNvPr id="9" name="Text 7"/>
          <p:cNvSpPr txBox="1"/>
          <p:nvPr/>
        </p:nvSpPr>
        <p:spPr>
          <a:xfrm>
            <a:off x="548640" y="6199632"/>
            <a:ext cx="11064240" cy="219456"/>
          </a:xfrm>
          <a:prstGeom prst="rect">
            <a:avLst/>
          </a:prstGeom>
          <a:noFill/>
          <a:ln/>
        </p:spPr>
        <p:txBody>
          <a:bodyPr wrap="square" lIns="0" tIns="0" rIns="0" bIns="0" rtlCol="0" anchor="t"/>
          <a:lstStyle/>
          <a:p>
            <a:pPr indent="0" marL="0">
              <a:buNone/>
            </a:pPr>
            <a:r>
              <a:rPr lang="en-US" sz="900" i="1" dirty="0">
                <a:solidFill>
                  <a:srgbClr val="5C6B63"/>
                </a:solidFill>
                <a:latin typeface="Calibri" pitchFamily="34" charset="0"/>
                <a:ea typeface="Calibri" pitchFamily="34" charset="-122"/>
                <a:cs typeface="Calibri" pitchFamily="34" charset="-120"/>
              </a:rPr>
              <a:t>Rule: no repeating the same idea eight times. Force variation.</a:t>
            </a:r>
            <a:endParaRPr lang="en-US" sz="900" dirty="0"/>
          </a:p>
        </p:txBody>
      </p:sp>
      <p:sp>
        <p:nvSpPr>
          <p:cNvPr id="10" name="Text 8"/>
          <p:cNvSpPr txBox="1"/>
          <p:nvPr/>
        </p:nvSpPr>
        <p:spPr>
          <a:xfrm>
            <a:off x="548640" y="6510528"/>
            <a:ext cx="9601200" cy="182880"/>
          </a:xfrm>
          <a:prstGeom prst="rect">
            <a:avLst/>
          </a:prstGeom>
          <a:noFill/>
          <a:ln/>
        </p:spPr>
        <p:txBody>
          <a:bodyPr wrap="square" lIns="0" tIns="0" rIns="0" bIns="0" rtlCol="0" anchor="t"/>
          <a:lstStyle/>
          <a:p>
            <a:pPr indent="0" marL="0">
              <a:buNone/>
            </a:pPr>
            <a:r>
              <a:rPr lang="en-US" sz="900" dirty="0">
                <a:solidFill>
                  <a:srgbClr val="5C6B63"/>
                </a:solidFill>
                <a:latin typeface="Calibri" pitchFamily="34" charset="0"/>
                <a:ea typeface="Calibri" pitchFamily="34" charset="-122"/>
                <a:cs typeface="Calibri" pitchFamily="34" charset="-120"/>
              </a:rPr>
              <a:t>NutriScore Checkout Tool  |  NUT-04, JHUB Africa / AfyaVentures  |  Kibet, Project Lead</a:t>
            </a:r>
            <a:endParaRPr lang="en-US" sz="900" dirty="0"/>
          </a:p>
        </p:txBody>
      </p:sp>
      <p:sp>
        <p:nvSpPr>
          <p:cNvPr id="11" name="Text 9"/>
          <p:cNvSpPr txBox="1"/>
          <p:nvPr/>
        </p:nvSpPr>
        <p:spPr>
          <a:xfrm>
            <a:off x="10725912" y="6510528"/>
            <a:ext cx="914400" cy="182880"/>
          </a:xfrm>
          <a:prstGeom prst="rect">
            <a:avLst/>
          </a:prstGeom>
          <a:noFill/>
          <a:ln/>
        </p:spPr>
        <p:txBody>
          <a:bodyPr wrap="square" lIns="0" tIns="0" rIns="0" bIns="0" rtlCol="0" anchor="t"/>
          <a:lstStyle/>
          <a:p>
            <a:pPr algn="r" indent="0" marL="0">
              <a:buNone/>
            </a:pPr>
            <a:r>
              <a:rPr lang="en-US" sz="900" dirty="0">
                <a:solidFill>
                  <a:srgbClr val="5C6B63"/>
                </a:solidFill>
                <a:latin typeface="Calibri" pitchFamily="34" charset="0"/>
                <a:ea typeface="Calibri" pitchFamily="34" charset="-122"/>
                <a:cs typeface="Calibri" pitchFamily="34" charset="-120"/>
              </a:rPr>
              <a:t>6 / 10</a:t>
            </a:r>
            <a:endParaRPr lang="en-US" sz="900" dirty="0"/>
          </a:p>
        </p:txBody>
      </p:sp>
      <p:sp>
        <p:nvSpPr>
          <p:cNvPr id="12" name="Shape 10"/>
          <p:cNvSpPr/>
          <p:nvPr/>
        </p:nvSpPr>
        <p:spPr>
          <a:xfrm>
            <a:off x="548640" y="1508760"/>
            <a:ext cx="11091672" cy="457200"/>
          </a:xfrm>
          <a:prstGeom prst="rect">
            <a:avLst/>
          </a:prstGeom>
          <a:solidFill>
            <a:srgbClr val="FFFFFF"/>
          </a:solidFill>
          <a:ln w="12700">
            <a:solidFill>
              <a:srgbClr val="154B36"/>
            </a:solidFill>
            <a:prstDash val="solid"/>
          </a:ln>
        </p:spPr>
      </p:sp>
      <p:sp>
        <p:nvSpPr>
          <p:cNvPr id="13" name="Text 11"/>
          <p:cNvSpPr txBox="1"/>
          <p:nvPr/>
        </p:nvSpPr>
        <p:spPr>
          <a:xfrm>
            <a:off x="777240" y="1508760"/>
            <a:ext cx="10607040" cy="457200"/>
          </a:xfrm>
          <a:prstGeom prst="rect">
            <a:avLst/>
          </a:prstGeom>
          <a:noFill/>
          <a:ln/>
        </p:spPr>
        <p:txBody>
          <a:bodyPr wrap="square" lIns="0" tIns="0" rIns="0" bIns="0" rtlCol="0" anchor="ctr"/>
          <a:lstStyle/>
          <a:p>
            <a:pPr indent="0" marL="0">
              <a:buNone/>
            </a:pPr>
            <a:r>
              <a:rPr lang="en-US" sz="1100" b="1" dirty="0">
                <a:solidFill>
                  <a:srgbClr val="154B36"/>
                </a:solidFill>
                <a:latin typeface="Calibri" pitchFamily="34" charset="0"/>
                <a:ea typeface="Calibri" pitchFamily="34" charset="-122"/>
                <a:cs typeface="Calibri" pitchFamily="34" charset="-120"/>
              </a:rPr>
              <a:t>HMW question:  </a:t>
            </a:r>
            <a:pPr indent="0" marL="0">
              <a:buNone/>
            </a:pPr>
            <a:r>
              <a:rPr lang="en-US" sz="1100" i="1" dirty="0">
                <a:solidFill>
                  <a:srgbClr val="1F2A24"/>
                </a:solidFill>
                <a:latin typeface="Calibri" pitchFamily="34" charset="0"/>
                <a:ea typeface="Calibri" pitchFamily="34" charset="-122"/>
                <a:cs typeface="Calibri" pitchFamily="34" charset="-120"/>
              </a:rPr>
              <a:t>How might we help Segment-A shoppers instantly judge whether a product fits their limits, at the exact moment they’re deciding to add it to their cart?</a:t>
            </a:r>
            <a:endParaRPr lang="en-US" sz="1100" dirty="0"/>
          </a:p>
        </p:txBody>
      </p:sp>
      <p:sp>
        <p:nvSpPr>
          <p:cNvPr id="14" name="Shape 12"/>
          <p:cNvSpPr/>
          <p:nvPr/>
        </p:nvSpPr>
        <p:spPr>
          <a:xfrm>
            <a:off x="548640" y="2103120"/>
            <a:ext cx="2670048" cy="1417320"/>
          </a:xfrm>
          <a:prstGeom prst="roundRect">
            <a:avLst>
              <a:gd name="adj" fmla="val 4516"/>
            </a:avLst>
          </a:prstGeom>
          <a:solidFill>
            <a:srgbClr val="E8F1EB"/>
          </a:solidFill>
          <a:ln w="9525">
            <a:solidFill>
              <a:srgbClr val="C9D5CE"/>
            </a:solidFill>
            <a:prstDash val="solid"/>
          </a:ln>
        </p:spPr>
      </p:sp>
      <p:sp>
        <p:nvSpPr>
          <p:cNvPr id="15" name="Text 13"/>
          <p:cNvSpPr txBox="1"/>
          <p:nvPr/>
        </p:nvSpPr>
        <p:spPr>
          <a:xfrm>
            <a:off x="676656" y="2194560"/>
            <a:ext cx="365760" cy="274320"/>
          </a:xfrm>
          <a:prstGeom prst="rect">
            <a:avLst/>
          </a:prstGeom>
          <a:noFill/>
          <a:ln/>
        </p:spPr>
        <p:txBody>
          <a:bodyPr wrap="square" lIns="0" tIns="0" rIns="0" bIns="0" rtlCol="0" anchor="t"/>
          <a:lstStyle/>
          <a:p>
            <a:pPr indent="0" marL="0">
              <a:buNone/>
            </a:pPr>
            <a:r>
              <a:rPr lang="en-US" sz="1300" b="1" dirty="0">
                <a:solidFill>
                  <a:srgbClr val="A85A00"/>
                </a:solidFill>
                <a:latin typeface="Cambria" pitchFamily="34" charset="0"/>
                <a:ea typeface="Cambria" pitchFamily="34" charset="-122"/>
                <a:cs typeface="Cambria" pitchFamily="34" charset="-120"/>
              </a:rPr>
              <a:t>1</a:t>
            </a:r>
            <a:endParaRPr lang="en-US" sz="1300" dirty="0"/>
          </a:p>
        </p:txBody>
      </p:sp>
      <p:sp>
        <p:nvSpPr>
          <p:cNvPr id="16" name="Text 14"/>
          <p:cNvSpPr txBox="1"/>
          <p:nvPr/>
        </p:nvSpPr>
        <p:spPr>
          <a:xfrm>
            <a:off x="676656" y="2468880"/>
            <a:ext cx="2414016" cy="365760"/>
          </a:xfrm>
          <a:prstGeom prst="rect">
            <a:avLst/>
          </a:prstGeom>
          <a:noFill/>
          <a:ln/>
        </p:spPr>
        <p:txBody>
          <a:bodyPr wrap="square" lIns="0" tIns="0" rIns="0" bIns="0" rtlCol="0" anchor="t"/>
          <a:lstStyle/>
          <a:p>
            <a:pPr indent="0" marL="0">
              <a:buNone/>
            </a:pPr>
            <a:r>
              <a:rPr lang="en-US" sz="1150" b="1" dirty="0">
                <a:solidFill>
                  <a:srgbClr val="154B36"/>
                </a:solidFill>
                <a:latin typeface="Cambria" pitchFamily="34" charset="0"/>
                <a:ea typeface="Cambria" pitchFamily="34" charset="-122"/>
                <a:cs typeface="Cambria" pitchFamily="34" charset="-120"/>
              </a:rPr>
              <a:t>Inline fit badge</a:t>
            </a:r>
            <a:endParaRPr lang="en-US" sz="1150" dirty="0"/>
          </a:p>
        </p:txBody>
      </p:sp>
      <p:sp>
        <p:nvSpPr>
          <p:cNvPr id="17" name="Text 15"/>
          <p:cNvSpPr txBox="1"/>
          <p:nvPr/>
        </p:nvSpPr>
        <p:spPr>
          <a:xfrm>
            <a:off x="676656" y="2852928"/>
            <a:ext cx="2414016" cy="594360"/>
          </a:xfrm>
          <a:prstGeom prst="rect">
            <a:avLst/>
          </a:prstGeom>
          <a:noFill/>
          <a:ln/>
        </p:spPr>
        <p:txBody>
          <a:bodyPr wrap="square" lIns="0" tIns="0" rIns="0" bIns="0" rtlCol="0" anchor="t"/>
          <a:lstStyle/>
          <a:p>
            <a:pPr indent="0" marL="0">
              <a:buNone/>
            </a:pPr>
            <a:r>
              <a:rPr lang="en-US" sz="880" dirty="0">
                <a:solidFill>
                  <a:srgbClr val="1F2A24"/>
                </a:solidFill>
                <a:latin typeface="Calibri" pitchFamily="34" charset="0"/>
                <a:ea typeface="Calibri" pitchFamily="34" charset="-122"/>
                <a:cs typeface="Calibri" pitchFamily="34" charset="-120"/>
              </a:rPr>
              <a:t>Colour-coded grade shown directly on the product tile in search and category results.</a:t>
            </a:r>
            <a:endParaRPr lang="en-US" sz="880" dirty="0"/>
          </a:p>
        </p:txBody>
      </p:sp>
      <p:sp>
        <p:nvSpPr>
          <p:cNvPr id="18" name="Shape 16"/>
          <p:cNvSpPr/>
          <p:nvPr/>
        </p:nvSpPr>
        <p:spPr>
          <a:xfrm>
            <a:off x="3355848" y="2103120"/>
            <a:ext cx="2670048" cy="1417320"/>
          </a:xfrm>
          <a:prstGeom prst="roundRect">
            <a:avLst>
              <a:gd name="adj" fmla="val 4516"/>
            </a:avLst>
          </a:prstGeom>
          <a:solidFill>
            <a:srgbClr val="FFFFFF"/>
          </a:solidFill>
          <a:ln w="9525">
            <a:solidFill>
              <a:srgbClr val="C9D5CE"/>
            </a:solidFill>
            <a:prstDash val="solid"/>
          </a:ln>
        </p:spPr>
      </p:sp>
      <p:sp>
        <p:nvSpPr>
          <p:cNvPr id="19" name="Text 17"/>
          <p:cNvSpPr txBox="1"/>
          <p:nvPr/>
        </p:nvSpPr>
        <p:spPr>
          <a:xfrm>
            <a:off x="3483864" y="2194560"/>
            <a:ext cx="365760" cy="274320"/>
          </a:xfrm>
          <a:prstGeom prst="rect">
            <a:avLst/>
          </a:prstGeom>
          <a:noFill/>
          <a:ln/>
        </p:spPr>
        <p:txBody>
          <a:bodyPr wrap="square" lIns="0" tIns="0" rIns="0" bIns="0" rtlCol="0" anchor="t"/>
          <a:lstStyle/>
          <a:p>
            <a:pPr indent="0" marL="0">
              <a:buNone/>
            </a:pPr>
            <a:r>
              <a:rPr lang="en-US" sz="1300" b="1" dirty="0">
                <a:solidFill>
                  <a:srgbClr val="A85A00"/>
                </a:solidFill>
                <a:latin typeface="Cambria" pitchFamily="34" charset="0"/>
                <a:ea typeface="Cambria" pitchFamily="34" charset="-122"/>
                <a:cs typeface="Cambria" pitchFamily="34" charset="-120"/>
              </a:rPr>
              <a:t>2</a:t>
            </a:r>
            <a:endParaRPr lang="en-US" sz="1300" dirty="0"/>
          </a:p>
        </p:txBody>
      </p:sp>
      <p:sp>
        <p:nvSpPr>
          <p:cNvPr id="20" name="Text 18"/>
          <p:cNvSpPr txBox="1"/>
          <p:nvPr/>
        </p:nvSpPr>
        <p:spPr>
          <a:xfrm>
            <a:off x="3483864" y="2468880"/>
            <a:ext cx="2414016" cy="365760"/>
          </a:xfrm>
          <a:prstGeom prst="rect">
            <a:avLst/>
          </a:prstGeom>
          <a:noFill/>
          <a:ln/>
        </p:spPr>
        <p:txBody>
          <a:bodyPr wrap="square" lIns="0" tIns="0" rIns="0" bIns="0" rtlCol="0" anchor="t"/>
          <a:lstStyle/>
          <a:p>
            <a:pPr indent="0" marL="0">
              <a:buNone/>
            </a:pPr>
            <a:r>
              <a:rPr lang="en-US" sz="1150" b="1" dirty="0">
                <a:solidFill>
                  <a:srgbClr val="154B36"/>
                </a:solidFill>
                <a:latin typeface="Cambria" pitchFamily="34" charset="0"/>
                <a:ea typeface="Cambria" pitchFamily="34" charset="-122"/>
                <a:cs typeface="Cambria" pitchFamily="34" charset="-120"/>
              </a:rPr>
              <a:t>Compare-while-choosing</a:t>
            </a:r>
            <a:endParaRPr lang="en-US" sz="1150" dirty="0"/>
          </a:p>
        </p:txBody>
      </p:sp>
      <p:sp>
        <p:nvSpPr>
          <p:cNvPr id="21" name="Text 19"/>
          <p:cNvSpPr txBox="1"/>
          <p:nvPr/>
        </p:nvSpPr>
        <p:spPr>
          <a:xfrm>
            <a:off x="3483864" y="2852928"/>
            <a:ext cx="2414016" cy="594360"/>
          </a:xfrm>
          <a:prstGeom prst="rect">
            <a:avLst/>
          </a:prstGeom>
          <a:noFill/>
          <a:ln/>
        </p:spPr>
        <p:txBody>
          <a:bodyPr wrap="square" lIns="0" tIns="0" rIns="0" bIns="0" rtlCol="0" anchor="t"/>
          <a:lstStyle/>
          <a:p>
            <a:pPr indent="0" marL="0">
              <a:buNone/>
            </a:pPr>
            <a:r>
              <a:rPr lang="en-US" sz="880" dirty="0">
                <a:solidFill>
                  <a:srgbClr val="1F2A24"/>
                </a:solidFill>
                <a:latin typeface="Calibri" pitchFamily="34" charset="0"/>
                <a:ea typeface="Calibri" pitchFamily="34" charset="-122"/>
                <a:cs typeface="Calibri" pitchFamily="34" charset="-120"/>
              </a:rPr>
              <a:t>Show 2–3 same-category alternatives that fit better, right when a low-grade product is opened.</a:t>
            </a:r>
            <a:endParaRPr lang="en-US" sz="880" dirty="0"/>
          </a:p>
        </p:txBody>
      </p:sp>
      <p:sp>
        <p:nvSpPr>
          <p:cNvPr id="22" name="Shape 20"/>
          <p:cNvSpPr/>
          <p:nvPr/>
        </p:nvSpPr>
        <p:spPr>
          <a:xfrm>
            <a:off x="6163056" y="2103120"/>
            <a:ext cx="2670048" cy="1417320"/>
          </a:xfrm>
          <a:prstGeom prst="roundRect">
            <a:avLst>
              <a:gd name="adj" fmla="val 4516"/>
            </a:avLst>
          </a:prstGeom>
          <a:solidFill>
            <a:srgbClr val="E8F1EB"/>
          </a:solidFill>
          <a:ln w="9525">
            <a:solidFill>
              <a:srgbClr val="C9D5CE"/>
            </a:solidFill>
            <a:prstDash val="solid"/>
          </a:ln>
        </p:spPr>
      </p:sp>
      <p:sp>
        <p:nvSpPr>
          <p:cNvPr id="23" name="Text 21"/>
          <p:cNvSpPr txBox="1"/>
          <p:nvPr/>
        </p:nvSpPr>
        <p:spPr>
          <a:xfrm>
            <a:off x="6291072" y="2194560"/>
            <a:ext cx="365760" cy="274320"/>
          </a:xfrm>
          <a:prstGeom prst="rect">
            <a:avLst/>
          </a:prstGeom>
          <a:noFill/>
          <a:ln/>
        </p:spPr>
        <p:txBody>
          <a:bodyPr wrap="square" lIns="0" tIns="0" rIns="0" bIns="0" rtlCol="0" anchor="t"/>
          <a:lstStyle/>
          <a:p>
            <a:pPr indent="0" marL="0">
              <a:buNone/>
            </a:pPr>
            <a:r>
              <a:rPr lang="en-US" sz="1300" b="1" dirty="0">
                <a:solidFill>
                  <a:srgbClr val="A85A00"/>
                </a:solidFill>
                <a:latin typeface="Cambria" pitchFamily="34" charset="0"/>
                <a:ea typeface="Cambria" pitchFamily="34" charset="-122"/>
                <a:cs typeface="Cambria" pitchFamily="34" charset="-120"/>
              </a:rPr>
              <a:t>3</a:t>
            </a:r>
            <a:endParaRPr lang="en-US" sz="1300" dirty="0"/>
          </a:p>
        </p:txBody>
      </p:sp>
      <p:sp>
        <p:nvSpPr>
          <p:cNvPr id="24" name="Text 22"/>
          <p:cNvSpPr txBox="1"/>
          <p:nvPr/>
        </p:nvSpPr>
        <p:spPr>
          <a:xfrm>
            <a:off x="6291072" y="2468880"/>
            <a:ext cx="2414016" cy="365760"/>
          </a:xfrm>
          <a:prstGeom prst="rect">
            <a:avLst/>
          </a:prstGeom>
          <a:noFill/>
          <a:ln/>
        </p:spPr>
        <p:txBody>
          <a:bodyPr wrap="square" lIns="0" tIns="0" rIns="0" bIns="0" rtlCol="0" anchor="t"/>
          <a:lstStyle/>
          <a:p>
            <a:pPr indent="0" marL="0">
              <a:buNone/>
            </a:pPr>
            <a:r>
              <a:rPr lang="en-US" sz="1150" b="1" dirty="0">
                <a:solidFill>
                  <a:srgbClr val="154B36"/>
                </a:solidFill>
                <a:latin typeface="Cambria" pitchFamily="34" charset="0"/>
                <a:ea typeface="Cambria" pitchFamily="34" charset="-122"/>
                <a:cs typeface="Cambria" pitchFamily="34" charset="-120"/>
              </a:rPr>
              <a:t>Cart-exit check</a:t>
            </a:r>
            <a:endParaRPr lang="en-US" sz="1150" dirty="0"/>
          </a:p>
        </p:txBody>
      </p:sp>
      <p:sp>
        <p:nvSpPr>
          <p:cNvPr id="25" name="Text 23"/>
          <p:cNvSpPr txBox="1"/>
          <p:nvPr/>
        </p:nvSpPr>
        <p:spPr>
          <a:xfrm>
            <a:off x="6291072" y="2852928"/>
            <a:ext cx="2414016" cy="594360"/>
          </a:xfrm>
          <a:prstGeom prst="rect">
            <a:avLst/>
          </a:prstGeom>
          <a:noFill/>
          <a:ln/>
        </p:spPr>
        <p:txBody>
          <a:bodyPr wrap="square" lIns="0" tIns="0" rIns="0" bIns="0" rtlCol="0" anchor="t"/>
          <a:lstStyle/>
          <a:p>
            <a:pPr indent="0" marL="0">
              <a:buNone/>
            </a:pPr>
            <a:r>
              <a:rPr lang="en-US" sz="880" dirty="0">
                <a:solidFill>
                  <a:srgbClr val="1F2A24"/>
                </a:solidFill>
                <a:latin typeface="Calibri" pitchFamily="34" charset="0"/>
                <a:ea typeface="Calibri" pitchFamily="34" charset="-122"/>
                <a:cs typeface="Calibri" pitchFamily="34" charset="-120"/>
              </a:rPr>
              <a:t>One pass over the whole cart just before checkout, flagging items that don’t fit with a one-tap swap.</a:t>
            </a:r>
            <a:endParaRPr lang="en-US" sz="880" dirty="0"/>
          </a:p>
        </p:txBody>
      </p:sp>
      <p:sp>
        <p:nvSpPr>
          <p:cNvPr id="26" name="Shape 24"/>
          <p:cNvSpPr/>
          <p:nvPr/>
        </p:nvSpPr>
        <p:spPr>
          <a:xfrm>
            <a:off x="8970264" y="2103120"/>
            <a:ext cx="2670048" cy="1417320"/>
          </a:xfrm>
          <a:prstGeom prst="roundRect">
            <a:avLst>
              <a:gd name="adj" fmla="val 4516"/>
            </a:avLst>
          </a:prstGeom>
          <a:solidFill>
            <a:srgbClr val="FFFFFF"/>
          </a:solidFill>
          <a:ln w="9525">
            <a:solidFill>
              <a:srgbClr val="C9D5CE"/>
            </a:solidFill>
            <a:prstDash val="solid"/>
          </a:ln>
        </p:spPr>
      </p:sp>
      <p:sp>
        <p:nvSpPr>
          <p:cNvPr id="27" name="Text 25"/>
          <p:cNvSpPr txBox="1"/>
          <p:nvPr/>
        </p:nvSpPr>
        <p:spPr>
          <a:xfrm>
            <a:off x="9098280" y="2194560"/>
            <a:ext cx="365760" cy="274320"/>
          </a:xfrm>
          <a:prstGeom prst="rect">
            <a:avLst/>
          </a:prstGeom>
          <a:noFill/>
          <a:ln/>
        </p:spPr>
        <p:txBody>
          <a:bodyPr wrap="square" lIns="0" tIns="0" rIns="0" bIns="0" rtlCol="0" anchor="t"/>
          <a:lstStyle/>
          <a:p>
            <a:pPr indent="0" marL="0">
              <a:buNone/>
            </a:pPr>
            <a:r>
              <a:rPr lang="en-US" sz="1300" b="1" dirty="0">
                <a:solidFill>
                  <a:srgbClr val="A85A00"/>
                </a:solidFill>
                <a:latin typeface="Cambria" pitchFamily="34" charset="0"/>
                <a:ea typeface="Cambria" pitchFamily="34" charset="-122"/>
                <a:cs typeface="Cambria" pitchFamily="34" charset="-120"/>
              </a:rPr>
              <a:t>4</a:t>
            </a:r>
            <a:endParaRPr lang="en-US" sz="1300" dirty="0"/>
          </a:p>
        </p:txBody>
      </p:sp>
      <p:sp>
        <p:nvSpPr>
          <p:cNvPr id="28" name="Text 26"/>
          <p:cNvSpPr txBox="1"/>
          <p:nvPr/>
        </p:nvSpPr>
        <p:spPr>
          <a:xfrm>
            <a:off x="9098280" y="2468880"/>
            <a:ext cx="2414016" cy="365760"/>
          </a:xfrm>
          <a:prstGeom prst="rect">
            <a:avLst/>
          </a:prstGeom>
          <a:noFill/>
          <a:ln/>
        </p:spPr>
        <p:txBody>
          <a:bodyPr wrap="square" lIns="0" tIns="0" rIns="0" bIns="0" rtlCol="0" anchor="t"/>
          <a:lstStyle/>
          <a:p>
            <a:pPr indent="0" marL="0">
              <a:buNone/>
            </a:pPr>
            <a:r>
              <a:rPr lang="en-US" sz="1150" b="1" dirty="0">
                <a:solidFill>
                  <a:srgbClr val="154B36"/>
                </a:solidFill>
                <a:latin typeface="Cambria" pitchFamily="34" charset="0"/>
                <a:ea typeface="Cambria" pitchFamily="34" charset="-122"/>
                <a:cs typeface="Cambria" pitchFamily="34" charset="-120"/>
              </a:rPr>
              <a:t>Photo label check</a:t>
            </a:r>
            <a:endParaRPr lang="en-US" sz="1150" dirty="0"/>
          </a:p>
        </p:txBody>
      </p:sp>
      <p:sp>
        <p:nvSpPr>
          <p:cNvPr id="29" name="Text 27"/>
          <p:cNvSpPr txBox="1"/>
          <p:nvPr/>
        </p:nvSpPr>
        <p:spPr>
          <a:xfrm>
            <a:off x="9098280" y="2852928"/>
            <a:ext cx="2414016" cy="594360"/>
          </a:xfrm>
          <a:prstGeom prst="rect">
            <a:avLst/>
          </a:prstGeom>
          <a:noFill/>
          <a:ln/>
        </p:spPr>
        <p:txBody>
          <a:bodyPr wrap="square" lIns="0" tIns="0" rIns="0" bIns="0" rtlCol="0" anchor="t"/>
          <a:lstStyle/>
          <a:p>
            <a:pPr indent="0" marL="0">
              <a:buNone/>
            </a:pPr>
            <a:r>
              <a:rPr lang="en-US" sz="880" dirty="0">
                <a:solidFill>
                  <a:srgbClr val="1F2A24"/>
                </a:solidFill>
                <a:latin typeface="Calibri" pitchFamily="34" charset="0"/>
                <a:ea typeface="Calibri" pitchFamily="34" charset="-122"/>
                <a:cs typeface="Calibri" pitchFamily="34" charset="-120"/>
              </a:rPr>
              <a:t>Shopper photographs a physical pack for items without a product page; gets an instant verdict.</a:t>
            </a:r>
            <a:endParaRPr lang="en-US" sz="880" dirty="0"/>
          </a:p>
        </p:txBody>
      </p:sp>
      <p:sp>
        <p:nvSpPr>
          <p:cNvPr id="30" name="Shape 28"/>
          <p:cNvSpPr/>
          <p:nvPr/>
        </p:nvSpPr>
        <p:spPr>
          <a:xfrm>
            <a:off x="548640" y="3657600"/>
            <a:ext cx="2670048" cy="1417320"/>
          </a:xfrm>
          <a:prstGeom prst="roundRect">
            <a:avLst>
              <a:gd name="adj" fmla="val 4516"/>
            </a:avLst>
          </a:prstGeom>
          <a:solidFill>
            <a:srgbClr val="E8F1EB"/>
          </a:solidFill>
          <a:ln w="9525">
            <a:solidFill>
              <a:srgbClr val="C9D5CE"/>
            </a:solidFill>
            <a:prstDash val="solid"/>
          </a:ln>
        </p:spPr>
      </p:sp>
      <p:sp>
        <p:nvSpPr>
          <p:cNvPr id="31" name="Text 29"/>
          <p:cNvSpPr txBox="1"/>
          <p:nvPr/>
        </p:nvSpPr>
        <p:spPr>
          <a:xfrm>
            <a:off x="676656" y="3749040"/>
            <a:ext cx="365760" cy="274320"/>
          </a:xfrm>
          <a:prstGeom prst="rect">
            <a:avLst/>
          </a:prstGeom>
          <a:noFill/>
          <a:ln/>
        </p:spPr>
        <p:txBody>
          <a:bodyPr wrap="square" lIns="0" tIns="0" rIns="0" bIns="0" rtlCol="0" anchor="t"/>
          <a:lstStyle/>
          <a:p>
            <a:pPr indent="0" marL="0">
              <a:buNone/>
            </a:pPr>
            <a:r>
              <a:rPr lang="en-US" sz="1300" b="1" dirty="0">
                <a:solidFill>
                  <a:srgbClr val="A85A00"/>
                </a:solidFill>
                <a:latin typeface="Cambria" pitchFamily="34" charset="0"/>
                <a:ea typeface="Cambria" pitchFamily="34" charset="-122"/>
                <a:cs typeface="Cambria" pitchFamily="34" charset="-120"/>
              </a:rPr>
              <a:t>5</a:t>
            </a:r>
            <a:endParaRPr lang="en-US" sz="1300" dirty="0"/>
          </a:p>
        </p:txBody>
      </p:sp>
      <p:sp>
        <p:nvSpPr>
          <p:cNvPr id="32" name="Text 30"/>
          <p:cNvSpPr txBox="1"/>
          <p:nvPr/>
        </p:nvSpPr>
        <p:spPr>
          <a:xfrm>
            <a:off x="676656" y="4023360"/>
            <a:ext cx="2414016" cy="365760"/>
          </a:xfrm>
          <a:prstGeom prst="rect">
            <a:avLst/>
          </a:prstGeom>
          <a:noFill/>
          <a:ln/>
        </p:spPr>
        <p:txBody>
          <a:bodyPr wrap="square" lIns="0" tIns="0" rIns="0" bIns="0" rtlCol="0" anchor="t"/>
          <a:lstStyle/>
          <a:p>
            <a:pPr indent="0" marL="0">
              <a:buNone/>
            </a:pPr>
            <a:r>
              <a:rPr lang="en-US" sz="1150" b="1" dirty="0">
                <a:solidFill>
                  <a:srgbClr val="154B36"/>
                </a:solidFill>
                <a:latin typeface="Cambria" pitchFamily="34" charset="0"/>
                <a:ea typeface="Cambria" pitchFamily="34" charset="-122"/>
                <a:cs typeface="Cambria" pitchFamily="34" charset="-120"/>
              </a:rPr>
              <a:t>Weekly fit digest</a:t>
            </a:r>
            <a:endParaRPr lang="en-US" sz="1150" dirty="0"/>
          </a:p>
        </p:txBody>
      </p:sp>
      <p:sp>
        <p:nvSpPr>
          <p:cNvPr id="33" name="Text 31"/>
          <p:cNvSpPr txBox="1"/>
          <p:nvPr/>
        </p:nvSpPr>
        <p:spPr>
          <a:xfrm>
            <a:off x="676656" y="4407408"/>
            <a:ext cx="2414016" cy="594360"/>
          </a:xfrm>
          <a:prstGeom prst="rect">
            <a:avLst/>
          </a:prstGeom>
          <a:noFill/>
          <a:ln/>
        </p:spPr>
        <p:txBody>
          <a:bodyPr wrap="square" lIns="0" tIns="0" rIns="0" bIns="0" rtlCol="0" anchor="t"/>
          <a:lstStyle/>
          <a:p>
            <a:pPr indent="0" marL="0">
              <a:buNone/>
            </a:pPr>
            <a:r>
              <a:rPr lang="en-US" sz="880" dirty="0">
                <a:solidFill>
                  <a:srgbClr val="1F2A24"/>
                </a:solidFill>
                <a:latin typeface="Calibri" pitchFamily="34" charset="0"/>
                <a:ea typeface="Calibri" pitchFamily="34" charset="-122"/>
                <a:cs typeface="Calibri" pitchFamily="34" charset="-120"/>
              </a:rPr>
              <a:t>A short after-order summary of how many items fit vs didn’t — builds awareness over time.</a:t>
            </a:r>
            <a:endParaRPr lang="en-US" sz="880" dirty="0"/>
          </a:p>
        </p:txBody>
      </p:sp>
      <p:sp>
        <p:nvSpPr>
          <p:cNvPr id="34" name="Shape 32"/>
          <p:cNvSpPr/>
          <p:nvPr/>
        </p:nvSpPr>
        <p:spPr>
          <a:xfrm>
            <a:off x="3355848" y="3657600"/>
            <a:ext cx="2670048" cy="1417320"/>
          </a:xfrm>
          <a:prstGeom prst="roundRect">
            <a:avLst>
              <a:gd name="adj" fmla="val 4516"/>
            </a:avLst>
          </a:prstGeom>
          <a:solidFill>
            <a:srgbClr val="FFFFFF"/>
          </a:solidFill>
          <a:ln w="9525">
            <a:solidFill>
              <a:srgbClr val="C9D5CE"/>
            </a:solidFill>
            <a:prstDash val="solid"/>
          </a:ln>
        </p:spPr>
      </p:sp>
      <p:sp>
        <p:nvSpPr>
          <p:cNvPr id="35" name="Text 33"/>
          <p:cNvSpPr txBox="1"/>
          <p:nvPr/>
        </p:nvSpPr>
        <p:spPr>
          <a:xfrm>
            <a:off x="3483864" y="3749040"/>
            <a:ext cx="365760" cy="274320"/>
          </a:xfrm>
          <a:prstGeom prst="rect">
            <a:avLst/>
          </a:prstGeom>
          <a:noFill/>
          <a:ln/>
        </p:spPr>
        <p:txBody>
          <a:bodyPr wrap="square" lIns="0" tIns="0" rIns="0" bIns="0" rtlCol="0" anchor="t"/>
          <a:lstStyle/>
          <a:p>
            <a:pPr indent="0" marL="0">
              <a:buNone/>
            </a:pPr>
            <a:r>
              <a:rPr lang="en-US" sz="1300" b="1" dirty="0">
                <a:solidFill>
                  <a:srgbClr val="A85A00"/>
                </a:solidFill>
                <a:latin typeface="Cambria" pitchFamily="34" charset="0"/>
                <a:ea typeface="Cambria" pitchFamily="34" charset="-122"/>
                <a:cs typeface="Cambria" pitchFamily="34" charset="-120"/>
              </a:rPr>
              <a:t>6</a:t>
            </a:r>
            <a:endParaRPr lang="en-US" sz="1300" dirty="0"/>
          </a:p>
        </p:txBody>
      </p:sp>
      <p:sp>
        <p:nvSpPr>
          <p:cNvPr id="36" name="Text 34"/>
          <p:cNvSpPr txBox="1"/>
          <p:nvPr/>
        </p:nvSpPr>
        <p:spPr>
          <a:xfrm>
            <a:off x="3483864" y="4023360"/>
            <a:ext cx="2414016" cy="365760"/>
          </a:xfrm>
          <a:prstGeom prst="rect">
            <a:avLst/>
          </a:prstGeom>
          <a:noFill/>
          <a:ln/>
        </p:spPr>
        <p:txBody>
          <a:bodyPr wrap="square" lIns="0" tIns="0" rIns="0" bIns="0" rtlCol="0" anchor="t"/>
          <a:lstStyle/>
          <a:p>
            <a:pPr indent="0" marL="0">
              <a:buNone/>
            </a:pPr>
            <a:r>
              <a:rPr lang="en-US" sz="1150" b="1" dirty="0">
                <a:solidFill>
                  <a:srgbClr val="154B36"/>
                </a:solidFill>
                <a:latin typeface="Cambria" pitchFamily="34" charset="0"/>
                <a:ea typeface="Cambria" pitchFamily="34" charset="-122"/>
                <a:cs typeface="Cambria" pitchFamily="34" charset="-120"/>
              </a:rPr>
              <a:t>SMS / USSD check</a:t>
            </a:r>
            <a:endParaRPr lang="en-US" sz="1150" dirty="0"/>
          </a:p>
        </p:txBody>
      </p:sp>
      <p:sp>
        <p:nvSpPr>
          <p:cNvPr id="37" name="Text 35"/>
          <p:cNvSpPr txBox="1"/>
          <p:nvPr/>
        </p:nvSpPr>
        <p:spPr>
          <a:xfrm>
            <a:off x="3483864" y="4407408"/>
            <a:ext cx="2414016" cy="594360"/>
          </a:xfrm>
          <a:prstGeom prst="rect">
            <a:avLst/>
          </a:prstGeom>
          <a:noFill/>
          <a:ln/>
        </p:spPr>
        <p:txBody>
          <a:bodyPr wrap="square" lIns="0" tIns="0" rIns="0" bIns="0" rtlCol="0" anchor="t"/>
          <a:lstStyle/>
          <a:p>
            <a:pPr indent="0" marL="0">
              <a:buNone/>
            </a:pPr>
            <a:r>
              <a:rPr lang="en-US" sz="880" dirty="0">
                <a:solidFill>
                  <a:srgbClr val="1F2A24"/>
                </a:solidFill>
                <a:latin typeface="Calibri" pitchFamily="34" charset="0"/>
                <a:ea typeface="Calibri" pitchFamily="34" charset="-122"/>
                <a:cs typeface="Calibri" pitchFamily="34" charset="-120"/>
              </a:rPr>
              <a:t>A non-digital channel: check one product by barcode or name over SMS, for low-bandwidth shoppers.</a:t>
            </a:r>
            <a:endParaRPr lang="en-US" sz="880" dirty="0"/>
          </a:p>
        </p:txBody>
      </p:sp>
      <p:sp>
        <p:nvSpPr>
          <p:cNvPr id="38" name="Shape 36"/>
          <p:cNvSpPr/>
          <p:nvPr/>
        </p:nvSpPr>
        <p:spPr>
          <a:xfrm>
            <a:off x="6163056" y="3657600"/>
            <a:ext cx="2670048" cy="1417320"/>
          </a:xfrm>
          <a:prstGeom prst="roundRect">
            <a:avLst>
              <a:gd name="adj" fmla="val 4516"/>
            </a:avLst>
          </a:prstGeom>
          <a:solidFill>
            <a:srgbClr val="E8F1EB"/>
          </a:solidFill>
          <a:ln w="9525">
            <a:solidFill>
              <a:srgbClr val="C9D5CE"/>
            </a:solidFill>
            <a:prstDash val="solid"/>
          </a:ln>
        </p:spPr>
      </p:sp>
      <p:sp>
        <p:nvSpPr>
          <p:cNvPr id="39" name="Text 37"/>
          <p:cNvSpPr txBox="1"/>
          <p:nvPr/>
        </p:nvSpPr>
        <p:spPr>
          <a:xfrm>
            <a:off x="6291072" y="3749040"/>
            <a:ext cx="365760" cy="274320"/>
          </a:xfrm>
          <a:prstGeom prst="rect">
            <a:avLst/>
          </a:prstGeom>
          <a:noFill/>
          <a:ln/>
        </p:spPr>
        <p:txBody>
          <a:bodyPr wrap="square" lIns="0" tIns="0" rIns="0" bIns="0" rtlCol="0" anchor="t"/>
          <a:lstStyle/>
          <a:p>
            <a:pPr indent="0" marL="0">
              <a:buNone/>
            </a:pPr>
            <a:r>
              <a:rPr lang="en-US" sz="1300" b="1" dirty="0">
                <a:solidFill>
                  <a:srgbClr val="A85A00"/>
                </a:solidFill>
                <a:latin typeface="Cambria" pitchFamily="34" charset="0"/>
                <a:ea typeface="Cambria" pitchFamily="34" charset="-122"/>
                <a:cs typeface="Cambria" pitchFamily="34" charset="-120"/>
              </a:rPr>
              <a:t>7</a:t>
            </a:r>
            <a:endParaRPr lang="en-US" sz="1300" dirty="0"/>
          </a:p>
        </p:txBody>
      </p:sp>
      <p:sp>
        <p:nvSpPr>
          <p:cNvPr id="40" name="Text 38"/>
          <p:cNvSpPr txBox="1"/>
          <p:nvPr/>
        </p:nvSpPr>
        <p:spPr>
          <a:xfrm>
            <a:off x="6291072" y="4023360"/>
            <a:ext cx="2414016" cy="365760"/>
          </a:xfrm>
          <a:prstGeom prst="rect">
            <a:avLst/>
          </a:prstGeom>
          <a:noFill/>
          <a:ln/>
        </p:spPr>
        <p:txBody>
          <a:bodyPr wrap="square" lIns="0" tIns="0" rIns="0" bIns="0" rtlCol="0" anchor="t"/>
          <a:lstStyle/>
          <a:p>
            <a:pPr indent="0" marL="0">
              <a:buNone/>
            </a:pPr>
            <a:r>
              <a:rPr lang="en-US" sz="1150" b="1" dirty="0">
                <a:solidFill>
                  <a:srgbClr val="154B36"/>
                </a:solidFill>
                <a:latin typeface="Cambria" pitchFamily="34" charset="0"/>
                <a:ea typeface="Cambria" pitchFamily="34" charset="-122"/>
                <a:cs typeface="Cambria" pitchFamily="34" charset="-120"/>
              </a:rPr>
              <a:t>In-store shelf-talker</a:t>
            </a:r>
            <a:endParaRPr lang="en-US" sz="1150" dirty="0"/>
          </a:p>
        </p:txBody>
      </p:sp>
      <p:sp>
        <p:nvSpPr>
          <p:cNvPr id="41" name="Text 39"/>
          <p:cNvSpPr txBox="1"/>
          <p:nvPr/>
        </p:nvSpPr>
        <p:spPr>
          <a:xfrm>
            <a:off x="6291072" y="4407408"/>
            <a:ext cx="2414016" cy="594360"/>
          </a:xfrm>
          <a:prstGeom prst="rect">
            <a:avLst/>
          </a:prstGeom>
          <a:noFill/>
          <a:ln/>
        </p:spPr>
        <p:txBody>
          <a:bodyPr wrap="square" lIns="0" tIns="0" rIns="0" bIns="0" rtlCol="0" anchor="t"/>
          <a:lstStyle/>
          <a:p>
            <a:pPr indent="0" marL="0">
              <a:buNone/>
            </a:pPr>
            <a:r>
              <a:rPr lang="en-US" sz="880" dirty="0">
                <a:solidFill>
                  <a:srgbClr val="1F2A24"/>
                </a:solidFill>
                <a:latin typeface="Calibri" pitchFamily="34" charset="0"/>
                <a:ea typeface="Calibri" pitchFamily="34" charset="-122"/>
                <a:cs typeface="Calibri" pitchFamily="34" charset="-120"/>
              </a:rPr>
              <a:t>A physical tag carrying the same grade in the retailer’s physical branches.</a:t>
            </a:r>
            <a:endParaRPr lang="en-US" sz="880" dirty="0"/>
          </a:p>
        </p:txBody>
      </p:sp>
      <p:sp>
        <p:nvSpPr>
          <p:cNvPr id="42" name="Shape 40"/>
          <p:cNvSpPr/>
          <p:nvPr/>
        </p:nvSpPr>
        <p:spPr>
          <a:xfrm>
            <a:off x="8970264" y="3657600"/>
            <a:ext cx="2670048" cy="1417320"/>
          </a:xfrm>
          <a:prstGeom prst="roundRect">
            <a:avLst>
              <a:gd name="adj" fmla="val 4516"/>
            </a:avLst>
          </a:prstGeom>
          <a:solidFill>
            <a:srgbClr val="FFFFFF"/>
          </a:solidFill>
          <a:ln w="9525">
            <a:solidFill>
              <a:srgbClr val="C9D5CE"/>
            </a:solidFill>
            <a:prstDash val="solid"/>
          </a:ln>
        </p:spPr>
      </p:sp>
      <p:sp>
        <p:nvSpPr>
          <p:cNvPr id="43" name="Text 41"/>
          <p:cNvSpPr txBox="1"/>
          <p:nvPr/>
        </p:nvSpPr>
        <p:spPr>
          <a:xfrm>
            <a:off x="9098280" y="3749040"/>
            <a:ext cx="365760" cy="274320"/>
          </a:xfrm>
          <a:prstGeom prst="rect">
            <a:avLst/>
          </a:prstGeom>
          <a:noFill/>
          <a:ln/>
        </p:spPr>
        <p:txBody>
          <a:bodyPr wrap="square" lIns="0" tIns="0" rIns="0" bIns="0" rtlCol="0" anchor="t"/>
          <a:lstStyle/>
          <a:p>
            <a:pPr indent="0" marL="0">
              <a:buNone/>
            </a:pPr>
            <a:r>
              <a:rPr lang="en-US" sz="1300" b="1" dirty="0">
                <a:solidFill>
                  <a:srgbClr val="A85A00"/>
                </a:solidFill>
                <a:latin typeface="Cambria" pitchFamily="34" charset="0"/>
                <a:ea typeface="Cambria" pitchFamily="34" charset="-122"/>
                <a:cs typeface="Cambria" pitchFamily="34" charset="-120"/>
              </a:rPr>
              <a:t>8</a:t>
            </a:r>
            <a:endParaRPr lang="en-US" sz="1300" dirty="0"/>
          </a:p>
        </p:txBody>
      </p:sp>
      <p:sp>
        <p:nvSpPr>
          <p:cNvPr id="44" name="Text 42"/>
          <p:cNvSpPr txBox="1"/>
          <p:nvPr/>
        </p:nvSpPr>
        <p:spPr>
          <a:xfrm>
            <a:off x="9098280" y="4023360"/>
            <a:ext cx="2414016" cy="365760"/>
          </a:xfrm>
          <a:prstGeom prst="rect">
            <a:avLst/>
          </a:prstGeom>
          <a:noFill/>
          <a:ln/>
        </p:spPr>
        <p:txBody>
          <a:bodyPr wrap="square" lIns="0" tIns="0" rIns="0" bIns="0" rtlCol="0" anchor="t"/>
          <a:lstStyle/>
          <a:p>
            <a:pPr indent="0" marL="0">
              <a:buNone/>
            </a:pPr>
            <a:r>
              <a:rPr lang="en-US" sz="1150" b="1" dirty="0">
                <a:solidFill>
                  <a:srgbClr val="154B36"/>
                </a:solidFill>
                <a:latin typeface="Cambria" pitchFamily="34" charset="0"/>
                <a:ea typeface="Cambria" pitchFamily="34" charset="-122"/>
                <a:cs typeface="Cambria" pitchFamily="34" charset="-120"/>
              </a:rPr>
              <a:t>Clinician safe-list</a:t>
            </a:r>
            <a:endParaRPr lang="en-US" sz="1150" dirty="0"/>
          </a:p>
        </p:txBody>
      </p:sp>
      <p:sp>
        <p:nvSpPr>
          <p:cNvPr id="45" name="Text 43"/>
          <p:cNvSpPr txBox="1"/>
          <p:nvPr/>
        </p:nvSpPr>
        <p:spPr>
          <a:xfrm>
            <a:off x="9098280" y="4407408"/>
            <a:ext cx="2414016" cy="594360"/>
          </a:xfrm>
          <a:prstGeom prst="rect">
            <a:avLst/>
          </a:prstGeom>
          <a:noFill/>
          <a:ln/>
        </p:spPr>
        <p:txBody>
          <a:bodyPr wrap="square" lIns="0" tIns="0" rIns="0" bIns="0" rtlCol="0" anchor="t"/>
          <a:lstStyle/>
          <a:p>
            <a:pPr indent="0" marL="0">
              <a:buNone/>
            </a:pPr>
            <a:r>
              <a:rPr lang="en-US" sz="880" dirty="0">
                <a:solidFill>
                  <a:srgbClr val="1F2A24"/>
                </a:solidFill>
                <a:latin typeface="Calibri" pitchFamily="34" charset="0"/>
                <a:ea typeface="Calibri" pitchFamily="34" charset="-122"/>
                <a:cs typeface="Calibri" pitchFamily="34" charset="-120"/>
              </a:rPr>
              <a:t>A dietitian pre-builds a “safe list” that pre-filters a patient’s search results.</a:t>
            </a:r>
            <a:endParaRPr lang="en-US" sz="88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2F6F3"/>
        </a:solidFill>
      </p:bgPr>
    </p:bg>
    <p:spTree>
      <p:nvGrpSpPr>
        <p:cNvPr id="1" name=""/>
        <p:cNvGrpSpPr/>
        <p:nvPr/>
      </p:nvGrpSpPr>
      <p:grpSpPr>
        <a:xfrm>
          <a:off x="0" y="0"/>
          <a:ext cx="0" cy="0"/>
          <a:chOff x="0" y="0"/>
          <a:chExt cx="0" cy="0"/>
        </a:xfrm>
      </p:grpSpPr>
      <p:sp>
        <p:nvSpPr>
          <p:cNvPr id="2" name="Text 0"/>
          <p:cNvSpPr txBox="1"/>
          <p:nvPr/>
        </p:nvSpPr>
        <p:spPr>
          <a:xfrm>
            <a:off x="548640" y="292608"/>
            <a:ext cx="9692640" cy="228600"/>
          </a:xfrm>
          <a:prstGeom prst="rect">
            <a:avLst/>
          </a:prstGeom>
          <a:noFill/>
          <a:ln/>
        </p:spPr>
        <p:txBody>
          <a:bodyPr wrap="square" lIns="0" tIns="0" rIns="0" bIns="0" rtlCol="0" anchor="t"/>
          <a:lstStyle/>
          <a:p>
            <a:pPr indent="0" marL="0">
              <a:buNone/>
            </a:pPr>
            <a:r>
              <a:rPr lang="en-US" sz="1000" b="1" spc="200" kern="0" dirty="0">
                <a:solidFill>
                  <a:srgbClr val="5C6B63"/>
                </a:solidFill>
                <a:latin typeface="Calibri" pitchFamily="34" charset="0"/>
                <a:ea typeface="Calibri" pitchFamily="34" charset="-122"/>
                <a:cs typeface="Calibri" pitchFamily="34" charset="-120"/>
              </a:rPr>
              <a:t>SESSION 5 · DIVERGE (TEAM)</a:t>
            </a:r>
            <a:endParaRPr lang="en-US" sz="1000" dirty="0"/>
          </a:p>
        </p:txBody>
      </p:sp>
      <p:sp>
        <p:nvSpPr>
          <p:cNvPr id="3" name="Shape 1"/>
          <p:cNvSpPr/>
          <p:nvPr/>
        </p:nvSpPr>
        <p:spPr>
          <a:xfrm>
            <a:off x="10643616" y="310896"/>
            <a:ext cx="155448" cy="155448"/>
          </a:xfrm>
          <a:prstGeom prst="rect">
            <a:avLst/>
          </a:prstGeom>
          <a:solidFill>
            <a:srgbClr val="038141"/>
          </a:solidFill>
          <a:ln/>
        </p:spPr>
      </p:sp>
      <p:sp>
        <p:nvSpPr>
          <p:cNvPr id="4" name="Shape 2"/>
          <p:cNvSpPr/>
          <p:nvPr/>
        </p:nvSpPr>
        <p:spPr>
          <a:xfrm>
            <a:off x="10853928" y="310896"/>
            <a:ext cx="155448" cy="155448"/>
          </a:xfrm>
          <a:prstGeom prst="rect">
            <a:avLst/>
          </a:prstGeom>
          <a:solidFill>
            <a:srgbClr val="85BB2F"/>
          </a:solidFill>
          <a:ln/>
        </p:spPr>
      </p:sp>
      <p:sp>
        <p:nvSpPr>
          <p:cNvPr id="5" name="Shape 3"/>
          <p:cNvSpPr/>
          <p:nvPr/>
        </p:nvSpPr>
        <p:spPr>
          <a:xfrm>
            <a:off x="11064240" y="310896"/>
            <a:ext cx="155448" cy="155448"/>
          </a:xfrm>
          <a:prstGeom prst="rect">
            <a:avLst/>
          </a:prstGeom>
          <a:solidFill>
            <a:srgbClr val="FECB02"/>
          </a:solidFill>
          <a:ln/>
        </p:spPr>
      </p:sp>
      <p:sp>
        <p:nvSpPr>
          <p:cNvPr id="6" name="Shape 4"/>
          <p:cNvSpPr/>
          <p:nvPr/>
        </p:nvSpPr>
        <p:spPr>
          <a:xfrm>
            <a:off x="11274552" y="310896"/>
            <a:ext cx="155448" cy="155448"/>
          </a:xfrm>
          <a:prstGeom prst="rect">
            <a:avLst/>
          </a:prstGeom>
          <a:solidFill>
            <a:srgbClr val="EE8100"/>
          </a:solidFill>
          <a:ln/>
        </p:spPr>
      </p:sp>
      <p:sp>
        <p:nvSpPr>
          <p:cNvPr id="7" name="Shape 5"/>
          <p:cNvSpPr/>
          <p:nvPr/>
        </p:nvSpPr>
        <p:spPr>
          <a:xfrm>
            <a:off x="11484864" y="310896"/>
            <a:ext cx="155448" cy="155448"/>
          </a:xfrm>
          <a:prstGeom prst="rect">
            <a:avLst/>
          </a:prstGeom>
          <a:solidFill>
            <a:srgbClr val="E63E11"/>
          </a:solidFill>
          <a:ln/>
        </p:spPr>
      </p:sp>
      <p:sp>
        <p:nvSpPr>
          <p:cNvPr id="8" name="Text 6"/>
          <p:cNvSpPr txBox="1"/>
          <p:nvPr/>
        </p:nvSpPr>
        <p:spPr>
          <a:xfrm>
            <a:off x="548640" y="603504"/>
            <a:ext cx="11064240" cy="822960"/>
          </a:xfrm>
          <a:prstGeom prst="rect">
            <a:avLst/>
          </a:prstGeom>
          <a:noFill/>
          <a:ln/>
        </p:spPr>
        <p:txBody>
          <a:bodyPr wrap="square" lIns="0" tIns="0" rIns="0" bIns="0" rtlCol="0" anchor="t"/>
          <a:lstStyle/>
          <a:p>
            <a:pPr indent="0" marL="0">
              <a:buNone/>
            </a:pPr>
            <a:r>
              <a:rPr lang="en-US" sz="2600" b="1" dirty="0">
                <a:solidFill>
                  <a:srgbClr val="154B36"/>
                </a:solidFill>
                <a:latin typeface="Cambria" pitchFamily="34" charset="0"/>
                <a:ea typeface="Cambria" pitchFamily="34" charset="-122"/>
                <a:cs typeface="Cambria" pitchFamily="34" charset="-120"/>
              </a:rPr>
              <a:t>Alternative Solution Concepts Plate</a:t>
            </a:r>
            <a:endParaRPr lang="en-US" sz="2600" dirty="0"/>
          </a:p>
        </p:txBody>
      </p:sp>
      <p:sp>
        <p:nvSpPr>
          <p:cNvPr id="9" name="Text 7"/>
          <p:cNvSpPr txBox="1"/>
          <p:nvPr/>
        </p:nvSpPr>
        <p:spPr>
          <a:xfrm>
            <a:off x="548640" y="6199632"/>
            <a:ext cx="11064240" cy="219456"/>
          </a:xfrm>
          <a:prstGeom prst="rect">
            <a:avLst/>
          </a:prstGeom>
          <a:noFill/>
          <a:ln/>
        </p:spPr>
        <p:txBody>
          <a:bodyPr wrap="square" lIns="0" tIns="0" rIns="0" bIns="0" rtlCol="0" anchor="t"/>
          <a:lstStyle/>
          <a:p>
            <a:pPr indent="0" marL="0">
              <a:buNone/>
            </a:pPr>
            <a:r>
              <a:rPr lang="en-US" sz="900" i="1" dirty="0">
                <a:solidFill>
                  <a:srgbClr val="5C6B63"/>
                </a:solidFill>
                <a:latin typeface="Calibri" pitchFamily="34" charset="0"/>
                <a:ea typeface="Calibri" pitchFamily="34" charset="-122"/>
                <a:cs typeface="Calibri" pitchFamily="34" charset="-120"/>
              </a:rPr>
              <a:t>Try to include at least one non-digital concept.</a:t>
            </a:r>
            <a:endParaRPr lang="en-US" sz="900" dirty="0"/>
          </a:p>
        </p:txBody>
      </p:sp>
      <p:sp>
        <p:nvSpPr>
          <p:cNvPr id="10" name="Text 8"/>
          <p:cNvSpPr txBox="1"/>
          <p:nvPr/>
        </p:nvSpPr>
        <p:spPr>
          <a:xfrm>
            <a:off x="548640" y="6510528"/>
            <a:ext cx="9601200" cy="182880"/>
          </a:xfrm>
          <a:prstGeom prst="rect">
            <a:avLst/>
          </a:prstGeom>
          <a:noFill/>
          <a:ln/>
        </p:spPr>
        <p:txBody>
          <a:bodyPr wrap="square" lIns="0" tIns="0" rIns="0" bIns="0" rtlCol="0" anchor="t"/>
          <a:lstStyle/>
          <a:p>
            <a:pPr indent="0" marL="0">
              <a:buNone/>
            </a:pPr>
            <a:r>
              <a:rPr lang="en-US" sz="900" dirty="0">
                <a:solidFill>
                  <a:srgbClr val="5C6B63"/>
                </a:solidFill>
                <a:latin typeface="Calibri" pitchFamily="34" charset="0"/>
                <a:ea typeface="Calibri" pitchFamily="34" charset="-122"/>
                <a:cs typeface="Calibri" pitchFamily="34" charset="-120"/>
              </a:rPr>
              <a:t>NutriScore Checkout Tool  |  NUT-04, JHUB Africa / AfyaVentures  |  Kibet, Project Lead</a:t>
            </a:r>
            <a:endParaRPr lang="en-US" sz="900" dirty="0"/>
          </a:p>
        </p:txBody>
      </p:sp>
      <p:sp>
        <p:nvSpPr>
          <p:cNvPr id="11" name="Text 9"/>
          <p:cNvSpPr txBox="1"/>
          <p:nvPr/>
        </p:nvSpPr>
        <p:spPr>
          <a:xfrm>
            <a:off x="10725912" y="6510528"/>
            <a:ext cx="914400" cy="182880"/>
          </a:xfrm>
          <a:prstGeom prst="rect">
            <a:avLst/>
          </a:prstGeom>
          <a:noFill/>
          <a:ln/>
        </p:spPr>
        <p:txBody>
          <a:bodyPr wrap="square" lIns="0" tIns="0" rIns="0" bIns="0" rtlCol="0" anchor="t"/>
          <a:lstStyle/>
          <a:p>
            <a:pPr algn="r" indent="0" marL="0">
              <a:buNone/>
            </a:pPr>
            <a:r>
              <a:rPr lang="en-US" sz="900" dirty="0">
                <a:solidFill>
                  <a:srgbClr val="5C6B63"/>
                </a:solidFill>
                <a:latin typeface="Calibri" pitchFamily="34" charset="0"/>
                <a:ea typeface="Calibri" pitchFamily="34" charset="-122"/>
                <a:cs typeface="Calibri" pitchFamily="34" charset="-120"/>
              </a:rPr>
              <a:t>7 / 10</a:t>
            </a:r>
            <a:endParaRPr lang="en-US" sz="900" dirty="0"/>
          </a:p>
        </p:txBody>
      </p:sp>
      <p:sp>
        <p:nvSpPr>
          <p:cNvPr id="12" name="Shape 10"/>
          <p:cNvSpPr/>
          <p:nvPr/>
        </p:nvSpPr>
        <p:spPr>
          <a:xfrm>
            <a:off x="548640" y="1508760"/>
            <a:ext cx="3575304" cy="2103120"/>
          </a:xfrm>
          <a:prstGeom prst="roundRect">
            <a:avLst>
              <a:gd name="adj" fmla="val 3478"/>
            </a:avLst>
          </a:prstGeom>
          <a:solidFill>
            <a:srgbClr val="FFFFFF"/>
          </a:solidFill>
          <a:ln w="9525">
            <a:solidFill>
              <a:srgbClr val="C9D5CE"/>
            </a:solidFill>
            <a:prstDash val="solid"/>
          </a:ln>
        </p:spPr>
      </p:sp>
      <p:sp>
        <p:nvSpPr>
          <p:cNvPr id="13" name="Text 11"/>
          <p:cNvSpPr txBox="1"/>
          <p:nvPr/>
        </p:nvSpPr>
        <p:spPr>
          <a:xfrm>
            <a:off x="713232" y="1618488"/>
            <a:ext cx="3209544" cy="201168"/>
          </a:xfrm>
          <a:prstGeom prst="rect">
            <a:avLst/>
          </a:prstGeom>
          <a:noFill/>
          <a:ln/>
        </p:spPr>
        <p:txBody>
          <a:bodyPr wrap="square" lIns="0" tIns="0" rIns="0" bIns="0" rtlCol="0" anchor="t"/>
          <a:lstStyle/>
          <a:p>
            <a:pPr indent="0" marL="0">
              <a:buNone/>
            </a:pPr>
            <a:r>
              <a:rPr lang="en-US" sz="850" b="1" spc="100" kern="0" dirty="0">
                <a:solidFill>
                  <a:srgbClr val="5C6B63"/>
                </a:solidFill>
                <a:latin typeface="Calibri" pitchFamily="34" charset="0"/>
                <a:ea typeface="Calibri" pitchFamily="34" charset="-122"/>
                <a:cs typeface="Calibri" pitchFamily="34" charset="-120"/>
              </a:rPr>
              <a:t>Concept 1</a:t>
            </a:r>
            <a:endParaRPr lang="en-US" sz="850" dirty="0"/>
          </a:p>
        </p:txBody>
      </p:sp>
      <p:sp>
        <p:nvSpPr>
          <p:cNvPr id="14" name="Text 12"/>
          <p:cNvSpPr txBox="1"/>
          <p:nvPr/>
        </p:nvSpPr>
        <p:spPr>
          <a:xfrm>
            <a:off x="713232" y="1819656"/>
            <a:ext cx="3246120" cy="365760"/>
          </a:xfrm>
          <a:prstGeom prst="rect">
            <a:avLst/>
          </a:prstGeom>
          <a:noFill/>
          <a:ln/>
        </p:spPr>
        <p:txBody>
          <a:bodyPr wrap="square" lIns="0" tIns="0" rIns="0" bIns="0" rtlCol="0" anchor="t"/>
          <a:lstStyle/>
          <a:p>
            <a:pPr indent="0" marL="0">
              <a:buNone/>
            </a:pPr>
            <a:r>
              <a:rPr lang="en-US" sz="1350" b="1" dirty="0">
                <a:solidFill>
                  <a:srgbClr val="154B36"/>
                </a:solidFill>
                <a:latin typeface="Cambria" pitchFamily="34" charset="0"/>
                <a:ea typeface="Cambria" pitchFamily="34" charset="-122"/>
                <a:cs typeface="Cambria" pitchFamily="34" charset="-120"/>
              </a:rPr>
              <a:t>Inline Fit Badge</a:t>
            </a:r>
            <a:endParaRPr lang="en-US" sz="1350" dirty="0"/>
          </a:p>
        </p:txBody>
      </p:sp>
      <p:sp>
        <p:nvSpPr>
          <p:cNvPr id="15" name="Text 13"/>
          <p:cNvSpPr txBox="1"/>
          <p:nvPr/>
        </p:nvSpPr>
        <p:spPr>
          <a:xfrm>
            <a:off x="713232" y="2221992"/>
            <a:ext cx="3246120" cy="1280160"/>
          </a:xfrm>
          <a:prstGeom prst="rect">
            <a:avLst/>
          </a:prstGeom>
          <a:noFill/>
          <a:ln/>
        </p:spPr>
        <p:txBody>
          <a:bodyPr wrap="square" lIns="0" tIns="0" rIns="0" bIns="0" rtlCol="0" anchor="t"/>
          <a:lstStyle/>
          <a:p>
            <a:pPr indent="0" marL="0">
              <a:lnSpc>
                <a:spcPct val="100000"/>
              </a:lnSpc>
              <a:buNone/>
            </a:pPr>
            <a:r>
              <a:rPr lang="en-US" sz="850" b="1" dirty="0">
                <a:solidFill>
                  <a:srgbClr val="154B36"/>
                </a:solidFill>
                <a:latin typeface="Calibri" pitchFamily="34" charset="0"/>
                <a:ea typeface="Calibri" pitchFamily="34" charset="-122"/>
                <a:cs typeface="Calibri" pitchFamily="34" charset="-120"/>
              </a:rPr>
              <a:t>Mechanism  </a:t>
            </a:r>
            <a:endParaRPr lang="en-US" sz="1200" dirty="0"/>
          </a:p>
          <a:p>
            <a:pPr indent="0" marL="0">
              <a:lnSpc>
                <a:spcPct val="100000"/>
              </a:lnSpc>
              <a:buNone/>
            </a:pPr>
            <a:r>
              <a:rPr lang="en-US" sz="900" dirty="0">
                <a:solidFill>
                  <a:srgbClr val="1F2A24"/>
                </a:solidFill>
                <a:latin typeface="Calibri" pitchFamily="34" charset="0"/>
                <a:ea typeface="Calibri" pitchFamily="34" charset="-122"/>
                <a:cs typeface="Calibri" pitchFamily="34" charset="-120"/>
              </a:rPr>
              <a:t>Client-side grade badge on every product tile.
</a:t>
            </a:r>
            <a:endParaRPr lang="en-US" sz="1200" dirty="0"/>
          </a:p>
          <a:p>
            <a:pPr indent="0" marL="0">
              <a:lnSpc>
                <a:spcPct val="100000"/>
              </a:lnSpc>
              <a:buNone/>
            </a:pPr>
            <a:r>
              <a:rPr lang="en-US" sz="850" b="1" dirty="0">
                <a:solidFill>
                  <a:srgbClr val="154B36"/>
                </a:solidFill>
                <a:latin typeface="Calibri" pitchFamily="34" charset="0"/>
                <a:ea typeface="Calibri" pitchFamily="34" charset="-122"/>
                <a:cs typeface="Calibri" pitchFamily="34" charset="-120"/>
              </a:rPr>
              <a:t>Who  </a:t>
            </a:r>
            <a:endParaRPr lang="en-US" sz="1200" dirty="0"/>
          </a:p>
          <a:p>
            <a:pPr indent="0" marL="0">
              <a:lnSpc>
                <a:spcPct val="100000"/>
              </a:lnSpc>
              <a:buNone/>
            </a:pPr>
            <a:r>
              <a:rPr lang="en-US" sz="900" dirty="0">
                <a:solidFill>
                  <a:srgbClr val="1F2A24"/>
                </a:solidFill>
                <a:latin typeface="Calibri" pitchFamily="34" charset="0"/>
                <a:ea typeface="Calibri" pitchFamily="34" charset="-122"/>
                <a:cs typeface="Calibri" pitchFamily="34" charset="-120"/>
              </a:rPr>
              <a:t>All Segment-A shoppers.
</a:t>
            </a:r>
            <a:endParaRPr lang="en-US" sz="1200" dirty="0"/>
          </a:p>
          <a:p>
            <a:pPr indent="0" marL="0">
              <a:lnSpc>
                <a:spcPct val="100000"/>
              </a:lnSpc>
              <a:buNone/>
            </a:pPr>
            <a:r>
              <a:rPr lang="en-US" sz="850" b="1" dirty="0">
                <a:solidFill>
                  <a:srgbClr val="154B36"/>
                </a:solidFill>
                <a:latin typeface="Calibri" pitchFamily="34" charset="0"/>
                <a:ea typeface="Calibri" pitchFamily="34" charset="-122"/>
                <a:cs typeface="Calibri" pitchFamily="34" charset="-120"/>
              </a:rPr>
              <a:t>Why it might work  </a:t>
            </a:r>
            <a:endParaRPr lang="en-US" sz="1200" dirty="0"/>
          </a:p>
          <a:p>
            <a:pPr indent="0" marL="0">
              <a:lnSpc>
                <a:spcPct val="100000"/>
              </a:lnSpc>
              <a:buNone/>
            </a:pPr>
            <a:r>
              <a:rPr lang="en-US" sz="900" dirty="0">
                <a:solidFill>
                  <a:srgbClr val="1F2A24"/>
                </a:solidFill>
                <a:latin typeface="Calibri" pitchFamily="34" charset="0"/>
                <a:ea typeface="Calibri" pitchFamily="34" charset="-122"/>
                <a:cs typeface="Calibri" pitchFamily="34" charset="-120"/>
              </a:rPr>
              <a:t>Already shipped and reaches 42–46% of the catalogue — fastest to extend.</a:t>
            </a:r>
            <a:endParaRPr lang="en-US" sz="1200" dirty="0"/>
          </a:p>
        </p:txBody>
      </p:sp>
      <p:sp>
        <p:nvSpPr>
          <p:cNvPr id="16" name="Shape 14"/>
          <p:cNvSpPr/>
          <p:nvPr/>
        </p:nvSpPr>
        <p:spPr>
          <a:xfrm>
            <a:off x="4306824" y="1508760"/>
            <a:ext cx="3575304" cy="2103120"/>
          </a:xfrm>
          <a:prstGeom prst="roundRect">
            <a:avLst>
              <a:gd name="adj" fmla="val 3478"/>
            </a:avLst>
          </a:prstGeom>
          <a:solidFill>
            <a:srgbClr val="E8F1EB"/>
          </a:solidFill>
          <a:ln w="15875">
            <a:solidFill>
              <a:srgbClr val="154B36"/>
            </a:solidFill>
            <a:prstDash val="solid"/>
          </a:ln>
        </p:spPr>
      </p:sp>
      <p:sp>
        <p:nvSpPr>
          <p:cNvPr id="17" name="Shape 15"/>
          <p:cNvSpPr/>
          <p:nvPr/>
        </p:nvSpPr>
        <p:spPr>
          <a:xfrm>
            <a:off x="6967728" y="1618488"/>
            <a:ext cx="868680" cy="201168"/>
          </a:xfrm>
          <a:prstGeom prst="roundRect">
            <a:avLst>
              <a:gd name="adj" fmla="val 45455"/>
            </a:avLst>
          </a:prstGeom>
          <a:solidFill>
            <a:srgbClr val="EE8100"/>
          </a:solidFill>
          <a:ln/>
        </p:spPr>
      </p:sp>
      <p:sp>
        <p:nvSpPr>
          <p:cNvPr id="18" name="Text 16"/>
          <p:cNvSpPr txBox="1"/>
          <p:nvPr/>
        </p:nvSpPr>
        <p:spPr>
          <a:xfrm>
            <a:off x="6967728" y="1618488"/>
            <a:ext cx="868680" cy="201168"/>
          </a:xfrm>
          <a:prstGeom prst="rect">
            <a:avLst/>
          </a:prstGeom>
          <a:noFill/>
          <a:ln/>
        </p:spPr>
        <p:txBody>
          <a:bodyPr wrap="square" lIns="0" tIns="0" rIns="0" bIns="0" rtlCol="0" anchor="ctr"/>
          <a:lstStyle/>
          <a:p>
            <a:pPr algn="ctr" indent="0" marL="0">
              <a:buNone/>
            </a:pPr>
            <a:r>
              <a:rPr lang="en-US" sz="700" b="1" spc="50" kern="0" dirty="0">
                <a:solidFill>
                  <a:srgbClr val="1F2A24"/>
                </a:solidFill>
                <a:latin typeface="Calibri" pitchFamily="34" charset="0"/>
                <a:ea typeface="Calibri" pitchFamily="34" charset="-122"/>
                <a:cs typeface="Calibri" pitchFamily="34" charset="-120"/>
              </a:rPr>
              <a:t>CONVERGED</a:t>
            </a:r>
            <a:endParaRPr lang="en-US" sz="700" dirty="0"/>
          </a:p>
        </p:txBody>
      </p:sp>
      <p:sp>
        <p:nvSpPr>
          <p:cNvPr id="19" name="Text 17"/>
          <p:cNvSpPr txBox="1"/>
          <p:nvPr/>
        </p:nvSpPr>
        <p:spPr>
          <a:xfrm>
            <a:off x="4471416" y="1618488"/>
            <a:ext cx="3209544" cy="201168"/>
          </a:xfrm>
          <a:prstGeom prst="rect">
            <a:avLst/>
          </a:prstGeom>
          <a:noFill/>
          <a:ln/>
        </p:spPr>
        <p:txBody>
          <a:bodyPr wrap="square" lIns="0" tIns="0" rIns="0" bIns="0" rtlCol="0" anchor="t"/>
          <a:lstStyle/>
          <a:p>
            <a:pPr indent="0" marL="0">
              <a:buNone/>
            </a:pPr>
            <a:r>
              <a:rPr lang="en-US" sz="850" b="1" spc="100" kern="0" dirty="0">
                <a:solidFill>
                  <a:srgbClr val="5C6B63"/>
                </a:solidFill>
                <a:latin typeface="Calibri" pitchFamily="34" charset="0"/>
                <a:ea typeface="Calibri" pitchFamily="34" charset="-122"/>
                <a:cs typeface="Calibri" pitchFamily="34" charset="-120"/>
              </a:rPr>
              <a:t>Concept 2</a:t>
            </a:r>
            <a:endParaRPr lang="en-US" sz="850" dirty="0"/>
          </a:p>
        </p:txBody>
      </p:sp>
      <p:sp>
        <p:nvSpPr>
          <p:cNvPr id="20" name="Text 18"/>
          <p:cNvSpPr txBox="1"/>
          <p:nvPr/>
        </p:nvSpPr>
        <p:spPr>
          <a:xfrm>
            <a:off x="4471416" y="1819656"/>
            <a:ext cx="3246120" cy="365760"/>
          </a:xfrm>
          <a:prstGeom prst="rect">
            <a:avLst/>
          </a:prstGeom>
          <a:noFill/>
          <a:ln/>
        </p:spPr>
        <p:txBody>
          <a:bodyPr wrap="square" lIns="0" tIns="0" rIns="0" bIns="0" rtlCol="0" anchor="t"/>
          <a:lstStyle/>
          <a:p>
            <a:pPr indent="0" marL="0">
              <a:buNone/>
            </a:pPr>
            <a:r>
              <a:rPr lang="en-US" sz="1350" b="1" dirty="0">
                <a:solidFill>
                  <a:srgbClr val="154B36"/>
                </a:solidFill>
                <a:latin typeface="Cambria" pitchFamily="34" charset="0"/>
                <a:ea typeface="Cambria" pitchFamily="34" charset="-122"/>
                <a:cs typeface="Cambria" pitchFamily="34" charset="-120"/>
              </a:rPr>
              <a:t>Smart Compare &amp; Swap</a:t>
            </a:r>
            <a:endParaRPr lang="en-US" sz="1350" dirty="0"/>
          </a:p>
        </p:txBody>
      </p:sp>
      <p:sp>
        <p:nvSpPr>
          <p:cNvPr id="21" name="Text 19"/>
          <p:cNvSpPr txBox="1"/>
          <p:nvPr/>
        </p:nvSpPr>
        <p:spPr>
          <a:xfrm>
            <a:off x="4471416" y="2221992"/>
            <a:ext cx="3246120" cy="1280160"/>
          </a:xfrm>
          <a:prstGeom prst="rect">
            <a:avLst/>
          </a:prstGeom>
          <a:noFill/>
          <a:ln/>
        </p:spPr>
        <p:txBody>
          <a:bodyPr wrap="square" lIns="0" tIns="0" rIns="0" bIns="0" rtlCol="0" anchor="t"/>
          <a:lstStyle/>
          <a:p>
            <a:pPr indent="0" marL="0">
              <a:lnSpc>
                <a:spcPct val="100000"/>
              </a:lnSpc>
              <a:buNone/>
            </a:pPr>
            <a:r>
              <a:rPr lang="en-US" sz="850" b="1" dirty="0">
                <a:solidFill>
                  <a:srgbClr val="154B36"/>
                </a:solidFill>
                <a:latin typeface="Calibri" pitchFamily="34" charset="0"/>
                <a:ea typeface="Calibri" pitchFamily="34" charset="-122"/>
                <a:cs typeface="Calibri" pitchFamily="34" charset="-120"/>
              </a:rPr>
              <a:t>Mechanism  </a:t>
            </a:r>
            <a:endParaRPr lang="en-US" sz="1200" dirty="0"/>
          </a:p>
          <a:p>
            <a:pPr indent="0" marL="0">
              <a:lnSpc>
                <a:spcPct val="100000"/>
              </a:lnSpc>
              <a:buNone/>
            </a:pPr>
            <a:r>
              <a:rPr lang="en-US" sz="900" dirty="0">
                <a:solidFill>
                  <a:srgbClr val="1F2A24"/>
                </a:solidFill>
                <a:latin typeface="Calibri" pitchFamily="34" charset="0"/>
                <a:ea typeface="Calibri" pitchFamily="34" charset="-122"/>
                <a:cs typeface="Calibri" pitchFamily="34" charset="-120"/>
              </a:rPr>
              <a:t>At the evaluation moment, surface 2–3 better-fitting alternatives.
</a:t>
            </a:r>
            <a:endParaRPr lang="en-US" sz="1200" dirty="0"/>
          </a:p>
          <a:p>
            <a:pPr indent="0" marL="0">
              <a:lnSpc>
                <a:spcPct val="100000"/>
              </a:lnSpc>
              <a:buNone/>
            </a:pPr>
            <a:r>
              <a:rPr lang="en-US" sz="850" b="1" dirty="0">
                <a:solidFill>
                  <a:srgbClr val="154B36"/>
                </a:solidFill>
                <a:latin typeface="Calibri" pitchFamily="34" charset="0"/>
                <a:ea typeface="Calibri" pitchFamily="34" charset="-122"/>
                <a:cs typeface="Calibri" pitchFamily="34" charset="-120"/>
              </a:rPr>
              <a:t>Who  </a:t>
            </a:r>
            <a:endParaRPr lang="en-US" sz="1200" dirty="0"/>
          </a:p>
          <a:p>
            <a:pPr indent="0" marL="0">
              <a:lnSpc>
                <a:spcPct val="100000"/>
              </a:lnSpc>
              <a:buNone/>
            </a:pPr>
            <a:r>
              <a:rPr lang="en-US" sz="900" dirty="0">
                <a:solidFill>
                  <a:srgbClr val="1F2A24"/>
                </a:solidFill>
                <a:latin typeface="Calibri" pitchFamily="34" charset="0"/>
                <a:ea typeface="Calibri" pitchFamily="34" charset="-122"/>
                <a:cs typeface="Calibri" pitchFamily="34" charset="-120"/>
              </a:rPr>
              <a:t>Shoppers who see a low grade and want a next step.
</a:t>
            </a:r>
            <a:endParaRPr lang="en-US" sz="1200" dirty="0"/>
          </a:p>
          <a:p>
            <a:pPr indent="0" marL="0">
              <a:lnSpc>
                <a:spcPct val="100000"/>
              </a:lnSpc>
              <a:buNone/>
            </a:pPr>
            <a:r>
              <a:rPr lang="en-US" sz="850" b="1" dirty="0">
                <a:solidFill>
                  <a:srgbClr val="154B36"/>
                </a:solidFill>
                <a:latin typeface="Calibri" pitchFamily="34" charset="0"/>
                <a:ea typeface="Calibri" pitchFamily="34" charset="-122"/>
                <a:cs typeface="Calibri" pitchFamily="34" charset="-120"/>
              </a:rPr>
              <a:t>Why it might work  </a:t>
            </a:r>
            <a:endParaRPr lang="en-US" sz="1200" dirty="0"/>
          </a:p>
          <a:p>
            <a:pPr indent="0" marL="0">
              <a:lnSpc>
                <a:spcPct val="100000"/>
              </a:lnSpc>
              <a:buNone/>
            </a:pPr>
            <a:r>
              <a:rPr lang="en-US" sz="900" dirty="0">
                <a:solidFill>
                  <a:srgbClr val="1F2A24"/>
                </a:solidFill>
                <a:latin typeface="Calibri" pitchFamily="34" charset="0"/>
                <a:ea typeface="Calibri" pitchFamily="34" charset="-122"/>
                <a:cs typeface="Calibri" pitchFamily="34" charset="-120"/>
              </a:rPr>
              <a:t>Directly targets the journey map’s flagged peak-friction stage.</a:t>
            </a:r>
            <a:endParaRPr lang="en-US" sz="1200" dirty="0"/>
          </a:p>
        </p:txBody>
      </p:sp>
      <p:sp>
        <p:nvSpPr>
          <p:cNvPr id="22" name="Shape 20"/>
          <p:cNvSpPr/>
          <p:nvPr/>
        </p:nvSpPr>
        <p:spPr>
          <a:xfrm>
            <a:off x="8065008" y="1508760"/>
            <a:ext cx="3575304" cy="2103120"/>
          </a:xfrm>
          <a:prstGeom prst="roundRect">
            <a:avLst>
              <a:gd name="adj" fmla="val 3478"/>
            </a:avLst>
          </a:prstGeom>
          <a:solidFill>
            <a:srgbClr val="FFFFFF"/>
          </a:solidFill>
          <a:ln w="9525">
            <a:solidFill>
              <a:srgbClr val="C9D5CE"/>
            </a:solidFill>
            <a:prstDash val="solid"/>
          </a:ln>
        </p:spPr>
      </p:sp>
      <p:sp>
        <p:nvSpPr>
          <p:cNvPr id="23" name="Text 21"/>
          <p:cNvSpPr txBox="1"/>
          <p:nvPr/>
        </p:nvSpPr>
        <p:spPr>
          <a:xfrm>
            <a:off x="8229600" y="1618488"/>
            <a:ext cx="3209544" cy="201168"/>
          </a:xfrm>
          <a:prstGeom prst="rect">
            <a:avLst/>
          </a:prstGeom>
          <a:noFill/>
          <a:ln/>
        </p:spPr>
        <p:txBody>
          <a:bodyPr wrap="square" lIns="0" tIns="0" rIns="0" bIns="0" rtlCol="0" anchor="t"/>
          <a:lstStyle/>
          <a:p>
            <a:pPr indent="0" marL="0">
              <a:buNone/>
            </a:pPr>
            <a:r>
              <a:rPr lang="en-US" sz="850" b="1" spc="100" kern="0" dirty="0">
                <a:solidFill>
                  <a:srgbClr val="5C6B63"/>
                </a:solidFill>
                <a:latin typeface="Calibri" pitchFamily="34" charset="0"/>
                <a:ea typeface="Calibri" pitchFamily="34" charset="-122"/>
                <a:cs typeface="Calibri" pitchFamily="34" charset="-120"/>
              </a:rPr>
              <a:t>Concept 3</a:t>
            </a:r>
            <a:endParaRPr lang="en-US" sz="850" dirty="0"/>
          </a:p>
        </p:txBody>
      </p:sp>
      <p:sp>
        <p:nvSpPr>
          <p:cNvPr id="24" name="Text 22"/>
          <p:cNvSpPr txBox="1"/>
          <p:nvPr/>
        </p:nvSpPr>
        <p:spPr>
          <a:xfrm>
            <a:off x="8229600" y="1819656"/>
            <a:ext cx="3246120" cy="365760"/>
          </a:xfrm>
          <a:prstGeom prst="rect">
            <a:avLst/>
          </a:prstGeom>
          <a:noFill/>
          <a:ln/>
        </p:spPr>
        <p:txBody>
          <a:bodyPr wrap="square" lIns="0" tIns="0" rIns="0" bIns="0" rtlCol="0" anchor="t"/>
          <a:lstStyle/>
          <a:p>
            <a:pPr indent="0" marL="0">
              <a:buNone/>
            </a:pPr>
            <a:r>
              <a:rPr lang="en-US" sz="1350" b="1" dirty="0">
                <a:solidFill>
                  <a:srgbClr val="154B36"/>
                </a:solidFill>
                <a:latin typeface="Cambria" pitchFamily="34" charset="0"/>
                <a:ea typeface="Cambria" pitchFamily="34" charset="-122"/>
                <a:cs typeface="Cambria" pitchFamily="34" charset="-120"/>
              </a:rPr>
              <a:t>Cart-Exit Guardrail</a:t>
            </a:r>
            <a:endParaRPr lang="en-US" sz="1350" dirty="0"/>
          </a:p>
        </p:txBody>
      </p:sp>
      <p:sp>
        <p:nvSpPr>
          <p:cNvPr id="25" name="Text 23"/>
          <p:cNvSpPr txBox="1"/>
          <p:nvPr/>
        </p:nvSpPr>
        <p:spPr>
          <a:xfrm>
            <a:off x="8229600" y="2221992"/>
            <a:ext cx="3246120" cy="1280160"/>
          </a:xfrm>
          <a:prstGeom prst="rect">
            <a:avLst/>
          </a:prstGeom>
          <a:noFill/>
          <a:ln/>
        </p:spPr>
        <p:txBody>
          <a:bodyPr wrap="square" lIns="0" tIns="0" rIns="0" bIns="0" rtlCol="0" anchor="t"/>
          <a:lstStyle/>
          <a:p>
            <a:pPr indent="0" marL="0">
              <a:lnSpc>
                <a:spcPct val="100000"/>
              </a:lnSpc>
              <a:buNone/>
            </a:pPr>
            <a:r>
              <a:rPr lang="en-US" sz="850" b="1" dirty="0">
                <a:solidFill>
                  <a:srgbClr val="154B36"/>
                </a:solidFill>
                <a:latin typeface="Calibri" pitchFamily="34" charset="0"/>
                <a:ea typeface="Calibri" pitchFamily="34" charset="-122"/>
                <a:cs typeface="Calibri" pitchFamily="34" charset="-120"/>
              </a:rPr>
              <a:t>Mechanism  </a:t>
            </a:r>
            <a:endParaRPr lang="en-US" sz="1200" dirty="0"/>
          </a:p>
          <a:p>
            <a:pPr indent="0" marL="0">
              <a:lnSpc>
                <a:spcPct val="100000"/>
              </a:lnSpc>
              <a:buNone/>
            </a:pPr>
            <a:r>
              <a:rPr lang="en-US" sz="900" dirty="0">
                <a:solidFill>
                  <a:srgbClr val="1F2A24"/>
                </a:solidFill>
                <a:latin typeface="Calibri" pitchFamily="34" charset="0"/>
                <a:ea typeface="Calibri" pitchFamily="34" charset="-122"/>
                <a:cs typeface="Calibri" pitchFamily="34" charset="-120"/>
              </a:rPr>
              <a:t>One consolidated fit-check pass just before checkout.
</a:t>
            </a:r>
            <a:endParaRPr lang="en-US" sz="1200" dirty="0"/>
          </a:p>
          <a:p>
            <a:pPr indent="0" marL="0">
              <a:lnSpc>
                <a:spcPct val="100000"/>
              </a:lnSpc>
              <a:buNone/>
            </a:pPr>
            <a:r>
              <a:rPr lang="en-US" sz="850" b="1" dirty="0">
                <a:solidFill>
                  <a:srgbClr val="154B36"/>
                </a:solidFill>
                <a:latin typeface="Calibri" pitchFamily="34" charset="0"/>
                <a:ea typeface="Calibri" pitchFamily="34" charset="-122"/>
                <a:cs typeface="Calibri" pitchFamily="34" charset="-120"/>
              </a:rPr>
              <a:t>Who  </a:t>
            </a:r>
            <a:endParaRPr lang="en-US" sz="1200" dirty="0"/>
          </a:p>
          <a:p>
            <a:pPr indent="0" marL="0">
              <a:lnSpc>
                <a:spcPct val="100000"/>
              </a:lnSpc>
              <a:buNone/>
            </a:pPr>
            <a:r>
              <a:rPr lang="en-US" sz="900" dirty="0">
                <a:solidFill>
                  <a:srgbClr val="1F2A24"/>
                </a:solidFill>
                <a:latin typeface="Calibri" pitchFamily="34" charset="0"/>
                <a:ea typeface="Calibri" pitchFamily="34" charset="-122"/>
                <a:cs typeface="Calibri" pitchFamily="34" charset="-120"/>
              </a:rPr>
              <a:t>Time-pressed shoppers who skim product tiles.
</a:t>
            </a:r>
            <a:endParaRPr lang="en-US" sz="1200" dirty="0"/>
          </a:p>
          <a:p>
            <a:pPr indent="0" marL="0">
              <a:lnSpc>
                <a:spcPct val="100000"/>
              </a:lnSpc>
              <a:buNone/>
            </a:pPr>
            <a:r>
              <a:rPr lang="en-US" sz="850" b="1" dirty="0">
                <a:solidFill>
                  <a:srgbClr val="154B36"/>
                </a:solidFill>
                <a:latin typeface="Calibri" pitchFamily="34" charset="0"/>
                <a:ea typeface="Calibri" pitchFamily="34" charset="-122"/>
                <a:cs typeface="Calibri" pitchFamily="34" charset="-120"/>
              </a:rPr>
              <a:t>Why it might work  </a:t>
            </a:r>
            <a:endParaRPr lang="en-US" sz="1200" dirty="0"/>
          </a:p>
          <a:p>
            <a:pPr indent="0" marL="0">
              <a:lnSpc>
                <a:spcPct val="100000"/>
              </a:lnSpc>
              <a:buNone/>
            </a:pPr>
            <a:r>
              <a:rPr lang="en-US" sz="900" dirty="0">
                <a:solidFill>
                  <a:srgbClr val="1F2A24"/>
                </a:solidFill>
                <a:latin typeface="Calibri" pitchFamily="34" charset="0"/>
                <a:ea typeface="Calibri" pitchFamily="34" charset="-122"/>
                <a:cs typeface="Calibri" pitchFamily="34" charset="-120"/>
              </a:rPr>
              <a:t>Catches what the badge-only flow might get skimmed past.</a:t>
            </a:r>
            <a:endParaRPr lang="en-US" sz="1200" dirty="0"/>
          </a:p>
        </p:txBody>
      </p:sp>
      <p:sp>
        <p:nvSpPr>
          <p:cNvPr id="26" name="Shape 24"/>
          <p:cNvSpPr/>
          <p:nvPr/>
        </p:nvSpPr>
        <p:spPr>
          <a:xfrm>
            <a:off x="548640" y="3794760"/>
            <a:ext cx="3575304" cy="2103120"/>
          </a:xfrm>
          <a:prstGeom prst="roundRect">
            <a:avLst>
              <a:gd name="adj" fmla="val 3478"/>
            </a:avLst>
          </a:prstGeom>
          <a:solidFill>
            <a:srgbClr val="FFFFFF"/>
          </a:solidFill>
          <a:ln w="9525">
            <a:solidFill>
              <a:srgbClr val="C9D5CE"/>
            </a:solidFill>
            <a:prstDash val="solid"/>
          </a:ln>
        </p:spPr>
      </p:sp>
      <p:sp>
        <p:nvSpPr>
          <p:cNvPr id="27" name="Text 25"/>
          <p:cNvSpPr txBox="1"/>
          <p:nvPr/>
        </p:nvSpPr>
        <p:spPr>
          <a:xfrm>
            <a:off x="713232" y="3904488"/>
            <a:ext cx="3209544" cy="201168"/>
          </a:xfrm>
          <a:prstGeom prst="rect">
            <a:avLst/>
          </a:prstGeom>
          <a:noFill/>
          <a:ln/>
        </p:spPr>
        <p:txBody>
          <a:bodyPr wrap="square" lIns="0" tIns="0" rIns="0" bIns="0" rtlCol="0" anchor="t"/>
          <a:lstStyle/>
          <a:p>
            <a:pPr indent="0" marL="0">
              <a:buNone/>
            </a:pPr>
            <a:r>
              <a:rPr lang="en-US" sz="850" b="1" spc="100" kern="0" dirty="0">
                <a:solidFill>
                  <a:srgbClr val="5C6B63"/>
                </a:solidFill>
                <a:latin typeface="Calibri" pitchFamily="34" charset="0"/>
                <a:ea typeface="Calibri" pitchFamily="34" charset="-122"/>
                <a:cs typeface="Calibri" pitchFamily="34" charset="-120"/>
              </a:rPr>
              <a:t>Concept 4</a:t>
            </a:r>
            <a:endParaRPr lang="en-US" sz="850" dirty="0"/>
          </a:p>
        </p:txBody>
      </p:sp>
      <p:sp>
        <p:nvSpPr>
          <p:cNvPr id="28" name="Text 26"/>
          <p:cNvSpPr txBox="1"/>
          <p:nvPr/>
        </p:nvSpPr>
        <p:spPr>
          <a:xfrm>
            <a:off x="713232" y="4105656"/>
            <a:ext cx="3246120" cy="365760"/>
          </a:xfrm>
          <a:prstGeom prst="rect">
            <a:avLst/>
          </a:prstGeom>
          <a:noFill/>
          <a:ln/>
        </p:spPr>
        <p:txBody>
          <a:bodyPr wrap="square" lIns="0" tIns="0" rIns="0" bIns="0" rtlCol="0" anchor="t"/>
          <a:lstStyle/>
          <a:p>
            <a:pPr indent="0" marL="0">
              <a:buNone/>
            </a:pPr>
            <a:r>
              <a:rPr lang="en-US" sz="1350" b="1" dirty="0">
                <a:solidFill>
                  <a:srgbClr val="154B36"/>
                </a:solidFill>
                <a:latin typeface="Cambria" pitchFamily="34" charset="0"/>
                <a:ea typeface="Cambria" pitchFamily="34" charset="-122"/>
                <a:cs typeface="Cambria" pitchFamily="34" charset="-120"/>
              </a:rPr>
              <a:t>Clinician Safe-List</a:t>
            </a:r>
            <a:endParaRPr lang="en-US" sz="1350" dirty="0"/>
          </a:p>
        </p:txBody>
      </p:sp>
      <p:sp>
        <p:nvSpPr>
          <p:cNvPr id="29" name="Text 27"/>
          <p:cNvSpPr txBox="1"/>
          <p:nvPr/>
        </p:nvSpPr>
        <p:spPr>
          <a:xfrm>
            <a:off x="713232" y="4507992"/>
            <a:ext cx="3246120" cy="1280160"/>
          </a:xfrm>
          <a:prstGeom prst="rect">
            <a:avLst/>
          </a:prstGeom>
          <a:noFill/>
          <a:ln/>
        </p:spPr>
        <p:txBody>
          <a:bodyPr wrap="square" lIns="0" tIns="0" rIns="0" bIns="0" rtlCol="0" anchor="t"/>
          <a:lstStyle/>
          <a:p>
            <a:pPr indent="0" marL="0">
              <a:lnSpc>
                <a:spcPct val="100000"/>
              </a:lnSpc>
              <a:buNone/>
            </a:pPr>
            <a:r>
              <a:rPr lang="en-US" sz="850" b="1" dirty="0">
                <a:solidFill>
                  <a:srgbClr val="154B36"/>
                </a:solidFill>
                <a:latin typeface="Calibri" pitchFamily="34" charset="0"/>
                <a:ea typeface="Calibri" pitchFamily="34" charset="-122"/>
                <a:cs typeface="Calibri" pitchFamily="34" charset="-120"/>
              </a:rPr>
              <a:t>Mechanism  </a:t>
            </a:r>
            <a:endParaRPr lang="en-US" sz="1200" dirty="0"/>
          </a:p>
          <a:p>
            <a:pPr indent="0" marL="0">
              <a:lnSpc>
                <a:spcPct val="100000"/>
              </a:lnSpc>
              <a:buNone/>
            </a:pPr>
            <a:r>
              <a:rPr lang="en-US" sz="900" dirty="0">
                <a:solidFill>
                  <a:srgbClr val="1F2A24"/>
                </a:solidFill>
                <a:latin typeface="Calibri" pitchFamily="34" charset="0"/>
                <a:ea typeface="Calibri" pitchFamily="34" charset="-122"/>
                <a:cs typeface="Calibri" pitchFamily="34" charset="-120"/>
              </a:rPr>
              <a:t>A dietitian-built, pre-filtered shopping list shared with a patient.
</a:t>
            </a:r>
            <a:endParaRPr lang="en-US" sz="1200" dirty="0"/>
          </a:p>
          <a:p>
            <a:pPr indent="0" marL="0">
              <a:lnSpc>
                <a:spcPct val="100000"/>
              </a:lnSpc>
              <a:buNone/>
            </a:pPr>
            <a:r>
              <a:rPr lang="en-US" sz="850" b="1" dirty="0">
                <a:solidFill>
                  <a:srgbClr val="154B36"/>
                </a:solidFill>
                <a:latin typeface="Calibri" pitchFamily="34" charset="0"/>
                <a:ea typeface="Calibri" pitchFamily="34" charset="-122"/>
                <a:cs typeface="Calibri" pitchFamily="34" charset="-120"/>
              </a:rPr>
              <a:t>Who  </a:t>
            </a:r>
            <a:endParaRPr lang="en-US" sz="1200" dirty="0"/>
          </a:p>
          <a:p>
            <a:pPr indent="0" marL="0">
              <a:lnSpc>
                <a:spcPct val="100000"/>
              </a:lnSpc>
              <a:buNone/>
            </a:pPr>
            <a:r>
              <a:rPr lang="en-US" sz="900" dirty="0">
                <a:solidFill>
                  <a:srgbClr val="1F2A24"/>
                </a:solidFill>
                <a:latin typeface="Calibri" pitchFamily="34" charset="0"/>
                <a:ea typeface="Calibri" pitchFamily="34" charset="-122"/>
                <a:cs typeface="Calibri" pitchFamily="34" charset="-120"/>
              </a:rPr>
              <a:t>Newly diagnosed or high-risk patients.
</a:t>
            </a:r>
            <a:endParaRPr lang="en-US" sz="1200" dirty="0"/>
          </a:p>
          <a:p>
            <a:pPr indent="0" marL="0">
              <a:lnSpc>
                <a:spcPct val="100000"/>
              </a:lnSpc>
              <a:buNone/>
            </a:pPr>
            <a:r>
              <a:rPr lang="en-US" sz="850" b="1" dirty="0">
                <a:solidFill>
                  <a:srgbClr val="154B36"/>
                </a:solidFill>
                <a:latin typeface="Calibri" pitchFamily="34" charset="0"/>
                <a:ea typeface="Calibri" pitchFamily="34" charset="-122"/>
                <a:cs typeface="Calibri" pitchFamily="34" charset="-120"/>
              </a:rPr>
              <a:t>Why it might work  </a:t>
            </a:r>
            <a:endParaRPr lang="en-US" sz="1200" dirty="0"/>
          </a:p>
          <a:p>
            <a:pPr indent="0" marL="0">
              <a:lnSpc>
                <a:spcPct val="100000"/>
              </a:lnSpc>
              <a:buNone/>
            </a:pPr>
            <a:r>
              <a:rPr lang="en-US" sz="900" dirty="0">
                <a:solidFill>
                  <a:srgbClr val="1F2A24"/>
                </a:solidFill>
                <a:latin typeface="Calibri" pitchFamily="34" charset="0"/>
                <a:ea typeface="Calibri" pitchFamily="34" charset="-122"/>
                <a:cs typeface="Calibri" pitchFamily="34" charset="-120"/>
              </a:rPr>
              <a:t>Taps the clinician/KNDI trust relationship already named as a top stakeholder.</a:t>
            </a:r>
            <a:endParaRPr lang="en-US" sz="1200" dirty="0"/>
          </a:p>
        </p:txBody>
      </p:sp>
      <p:sp>
        <p:nvSpPr>
          <p:cNvPr id="30" name="Shape 28"/>
          <p:cNvSpPr/>
          <p:nvPr/>
        </p:nvSpPr>
        <p:spPr>
          <a:xfrm>
            <a:off x="4306824" y="3794760"/>
            <a:ext cx="3575304" cy="2103120"/>
          </a:xfrm>
          <a:prstGeom prst="roundRect">
            <a:avLst>
              <a:gd name="adj" fmla="val 3478"/>
            </a:avLst>
          </a:prstGeom>
          <a:solidFill>
            <a:srgbClr val="FFFFFF"/>
          </a:solidFill>
          <a:ln w="9525">
            <a:solidFill>
              <a:srgbClr val="C9D5CE"/>
            </a:solidFill>
            <a:prstDash val="solid"/>
          </a:ln>
        </p:spPr>
      </p:sp>
      <p:sp>
        <p:nvSpPr>
          <p:cNvPr id="31" name="Text 29"/>
          <p:cNvSpPr txBox="1"/>
          <p:nvPr/>
        </p:nvSpPr>
        <p:spPr>
          <a:xfrm>
            <a:off x="4471416" y="3904488"/>
            <a:ext cx="3209544" cy="201168"/>
          </a:xfrm>
          <a:prstGeom prst="rect">
            <a:avLst/>
          </a:prstGeom>
          <a:noFill/>
          <a:ln/>
        </p:spPr>
        <p:txBody>
          <a:bodyPr wrap="square" lIns="0" tIns="0" rIns="0" bIns="0" rtlCol="0" anchor="t"/>
          <a:lstStyle/>
          <a:p>
            <a:pPr indent="0" marL="0">
              <a:buNone/>
            </a:pPr>
            <a:r>
              <a:rPr lang="en-US" sz="850" b="1" spc="100" kern="0" dirty="0">
                <a:solidFill>
                  <a:srgbClr val="5C6B63"/>
                </a:solidFill>
                <a:latin typeface="Calibri" pitchFamily="34" charset="0"/>
                <a:ea typeface="Calibri" pitchFamily="34" charset="-122"/>
                <a:cs typeface="Calibri" pitchFamily="34" charset="-120"/>
              </a:rPr>
              <a:t>Concept 5</a:t>
            </a:r>
            <a:endParaRPr lang="en-US" sz="850" dirty="0"/>
          </a:p>
        </p:txBody>
      </p:sp>
      <p:sp>
        <p:nvSpPr>
          <p:cNvPr id="32" name="Text 30"/>
          <p:cNvSpPr txBox="1"/>
          <p:nvPr/>
        </p:nvSpPr>
        <p:spPr>
          <a:xfrm>
            <a:off x="4471416" y="4105656"/>
            <a:ext cx="3246120" cy="365760"/>
          </a:xfrm>
          <a:prstGeom prst="rect">
            <a:avLst/>
          </a:prstGeom>
          <a:noFill/>
          <a:ln/>
        </p:spPr>
        <p:txBody>
          <a:bodyPr wrap="square" lIns="0" tIns="0" rIns="0" bIns="0" rtlCol="0" anchor="t"/>
          <a:lstStyle/>
          <a:p>
            <a:pPr indent="0" marL="0">
              <a:buNone/>
            </a:pPr>
            <a:r>
              <a:rPr lang="en-US" sz="1350" b="1" dirty="0">
                <a:solidFill>
                  <a:srgbClr val="154B36"/>
                </a:solidFill>
                <a:latin typeface="Cambria" pitchFamily="34" charset="0"/>
                <a:ea typeface="Cambria" pitchFamily="34" charset="-122"/>
                <a:cs typeface="Cambria" pitchFamily="34" charset="-120"/>
              </a:rPr>
              <a:t>SMS / USSD Fit-Check</a:t>
            </a:r>
            <a:endParaRPr lang="en-US" sz="1350" dirty="0"/>
          </a:p>
        </p:txBody>
      </p:sp>
      <p:sp>
        <p:nvSpPr>
          <p:cNvPr id="33" name="Text 31"/>
          <p:cNvSpPr txBox="1"/>
          <p:nvPr/>
        </p:nvSpPr>
        <p:spPr>
          <a:xfrm>
            <a:off x="4471416" y="4507992"/>
            <a:ext cx="3246120" cy="1280160"/>
          </a:xfrm>
          <a:prstGeom prst="rect">
            <a:avLst/>
          </a:prstGeom>
          <a:noFill/>
          <a:ln/>
        </p:spPr>
        <p:txBody>
          <a:bodyPr wrap="square" lIns="0" tIns="0" rIns="0" bIns="0" rtlCol="0" anchor="t"/>
          <a:lstStyle/>
          <a:p>
            <a:pPr indent="0" marL="0">
              <a:lnSpc>
                <a:spcPct val="100000"/>
              </a:lnSpc>
              <a:buNone/>
            </a:pPr>
            <a:r>
              <a:rPr lang="en-US" sz="850" b="1" dirty="0">
                <a:solidFill>
                  <a:srgbClr val="154B36"/>
                </a:solidFill>
                <a:latin typeface="Calibri" pitchFamily="34" charset="0"/>
                <a:ea typeface="Calibri" pitchFamily="34" charset="-122"/>
                <a:cs typeface="Calibri" pitchFamily="34" charset="-120"/>
              </a:rPr>
              <a:t>Mechanism  </a:t>
            </a:r>
            <a:endParaRPr lang="en-US" sz="1200" dirty="0"/>
          </a:p>
          <a:p>
            <a:pPr indent="0" marL="0">
              <a:lnSpc>
                <a:spcPct val="100000"/>
              </a:lnSpc>
              <a:buNone/>
            </a:pPr>
            <a:r>
              <a:rPr lang="en-US" sz="900" dirty="0">
                <a:solidFill>
                  <a:srgbClr val="1F2A24"/>
                </a:solidFill>
                <a:latin typeface="Calibri" pitchFamily="34" charset="0"/>
                <a:ea typeface="Calibri" pitchFamily="34" charset="-122"/>
                <a:cs typeface="Calibri" pitchFamily="34" charset="-120"/>
              </a:rPr>
              <a:t>Barcode or name lookup over SMS, no app or browser needed.
</a:t>
            </a:r>
            <a:endParaRPr lang="en-US" sz="1200" dirty="0"/>
          </a:p>
          <a:p>
            <a:pPr indent="0" marL="0">
              <a:lnSpc>
                <a:spcPct val="100000"/>
              </a:lnSpc>
              <a:buNone/>
            </a:pPr>
            <a:r>
              <a:rPr lang="en-US" sz="850" b="1" dirty="0">
                <a:solidFill>
                  <a:srgbClr val="154B36"/>
                </a:solidFill>
                <a:latin typeface="Calibri" pitchFamily="34" charset="0"/>
                <a:ea typeface="Calibri" pitchFamily="34" charset="-122"/>
                <a:cs typeface="Calibri" pitchFamily="34" charset="-120"/>
              </a:rPr>
              <a:t>Who  </a:t>
            </a:r>
            <a:endParaRPr lang="en-US" sz="1200" dirty="0"/>
          </a:p>
          <a:p>
            <a:pPr indent="0" marL="0">
              <a:lnSpc>
                <a:spcPct val="100000"/>
              </a:lnSpc>
              <a:buNone/>
            </a:pPr>
            <a:r>
              <a:rPr lang="en-US" sz="900" dirty="0">
                <a:solidFill>
                  <a:srgbClr val="1F2A24"/>
                </a:solidFill>
                <a:latin typeface="Calibri" pitchFamily="34" charset="0"/>
                <a:ea typeface="Calibri" pitchFamily="34" charset="-122"/>
                <a:cs typeface="Calibri" pitchFamily="34" charset="-120"/>
              </a:rPr>
              <a:t>Shoppers with limited data or older phones.
</a:t>
            </a:r>
            <a:endParaRPr lang="en-US" sz="1200" dirty="0"/>
          </a:p>
          <a:p>
            <a:pPr indent="0" marL="0">
              <a:lnSpc>
                <a:spcPct val="100000"/>
              </a:lnSpc>
              <a:buNone/>
            </a:pPr>
            <a:r>
              <a:rPr lang="en-US" sz="850" b="1" dirty="0">
                <a:solidFill>
                  <a:srgbClr val="154B36"/>
                </a:solidFill>
                <a:latin typeface="Calibri" pitchFamily="34" charset="0"/>
                <a:ea typeface="Calibri" pitchFamily="34" charset="-122"/>
                <a:cs typeface="Calibri" pitchFamily="34" charset="-120"/>
              </a:rPr>
              <a:t>Why it might work  </a:t>
            </a:r>
            <a:endParaRPr lang="en-US" sz="1200" dirty="0"/>
          </a:p>
          <a:p>
            <a:pPr indent="0" marL="0">
              <a:lnSpc>
                <a:spcPct val="100000"/>
              </a:lnSpc>
              <a:buNone/>
            </a:pPr>
            <a:r>
              <a:rPr lang="en-US" sz="900" dirty="0">
                <a:solidFill>
                  <a:srgbClr val="1F2A24"/>
                </a:solidFill>
                <a:latin typeface="Calibri" pitchFamily="34" charset="0"/>
                <a:ea typeface="Calibri" pitchFamily="34" charset="-122"/>
                <a:cs typeface="Calibri" pitchFamily="34" charset="-120"/>
              </a:rPr>
              <a:t>Non-digital option — extends reach beyond desktop-Chrome households.</a:t>
            </a:r>
            <a:endParaRPr lang="en-US" sz="1200" dirty="0"/>
          </a:p>
        </p:txBody>
      </p:sp>
      <p:sp>
        <p:nvSpPr>
          <p:cNvPr id="34" name="Shape 32"/>
          <p:cNvSpPr/>
          <p:nvPr/>
        </p:nvSpPr>
        <p:spPr>
          <a:xfrm>
            <a:off x="8065008" y="3794760"/>
            <a:ext cx="3575304" cy="2103120"/>
          </a:xfrm>
          <a:prstGeom prst="roundRect">
            <a:avLst>
              <a:gd name="adj" fmla="val 3478"/>
            </a:avLst>
          </a:prstGeom>
          <a:solidFill>
            <a:srgbClr val="FFFFFF"/>
          </a:solidFill>
          <a:ln w="9525">
            <a:solidFill>
              <a:srgbClr val="C9D5CE"/>
            </a:solidFill>
            <a:prstDash val="solid"/>
          </a:ln>
        </p:spPr>
      </p:sp>
      <p:sp>
        <p:nvSpPr>
          <p:cNvPr id="35" name="Text 33"/>
          <p:cNvSpPr txBox="1"/>
          <p:nvPr/>
        </p:nvSpPr>
        <p:spPr>
          <a:xfrm>
            <a:off x="8229600" y="3904488"/>
            <a:ext cx="3209544" cy="201168"/>
          </a:xfrm>
          <a:prstGeom prst="rect">
            <a:avLst/>
          </a:prstGeom>
          <a:noFill/>
          <a:ln/>
        </p:spPr>
        <p:txBody>
          <a:bodyPr wrap="square" lIns="0" tIns="0" rIns="0" bIns="0" rtlCol="0" anchor="t"/>
          <a:lstStyle/>
          <a:p>
            <a:pPr indent="0" marL="0">
              <a:buNone/>
            </a:pPr>
            <a:r>
              <a:rPr lang="en-US" sz="850" b="1" spc="100" kern="0" dirty="0">
                <a:solidFill>
                  <a:srgbClr val="5C6B63"/>
                </a:solidFill>
                <a:latin typeface="Calibri" pitchFamily="34" charset="0"/>
                <a:ea typeface="Calibri" pitchFamily="34" charset="-122"/>
                <a:cs typeface="Calibri" pitchFamily="34" charset="-120"/>
              </a:rPr>
              <a:t>Concept 6</a:t>
            </a:r>
            <a:endParaRPr lang="en-US" sz="850" dirty="0"/>
          </a:p>
        </p:txBody>
      </p:sp>
      <p:sp>
        <p:nvSpPr>
          <p:cNvPr id="36" name="Text 34"/>
          <p:cNvSpPr txBox="1"/>
          <p:nvPr/>
        </p:nvSpPr>
        <p:spPr>
          <a:xfrm>
            <a:off x="8229600" y="4105656"/>
            <a:ext cx="3246120" cy="365760"/>
          </a:xfrm>
          <a:prstGeom prst="rect">
            <a:avLst/>
          </a:prstGeom>
          <a:noFill/>
          <a:ln/>
        </p:spPr>
        <p:txBody>
          <a:bodyPr wrap="square" lIns="0" tIns="0" rIns="0" bIns="0" rtlCol="0" anchor="t"/>
          <a:lstStyle/>
          <a:p>
            <a:pPr indent="0" marL="0">
              <a:buNone/>
            </a:pPr>
            <a:r>
              <a:rPr lang="en-US" sz="1350" b="1" dirty="0">
                <a:solidFill>
                  <a:srgbClr val="154B36"/>
                </a:solidFill>
                <a:latin typeface="Cambria" pitchFamily="34" charset="0"/>
                <a:ea typeface="Cambria" pitchFamily="34" charset="-122"/>
                <a:cs typeface="Cambria" pitchFamily="34" charset="-120"/>
              </a:rPr>
              <a:t>Photo Label Check</a:t>
            </a:r>
            <a:endParaRPr lang="en-US" sz="1350" dirty="0"/>
          </a:p>
        </p:txBody>
      </p:sp>
      <p:sp>
        <p:nvSpPr>
          <p:cNvPr id="37" name="Text 35"/>
          <p:cNvSpPr txBox="1"/>
          <p:nvPr/>
        </p:nvSpPr>
        <p:spPr>
          <a:xfrm>
            <a:off x="8229600" y="4507992"/>
            <a:ext cx="3246120" cy="1280160"/>
          </a:xfrm>
          <a:prstGeom prst="rect">
            <a:avLst/>
          </a:prstGeom>
          <a:noFill/>
          <a:ln/>
        </p:spPr>
        <p:txBody>
          <a:bodyPr wrap="square" lIns="0" tIns="0" rIns="0" bIns="0" rtlCol="0" anchor="t"/>
          <a:lstStyle/>
          <a:p>
            <a:pPr indent="0" marL="0">
              <a:lnSpc>
                <a:spcPct val="100000"/>
              </a:lnSpc>
              <a:buNone/>
            </a:pPr>
            <a:r>
              <a:rPr lang="en-US" sz="850" b="1" dirty="0">
                <a:solidFill>
                  <a:srgbClr val="154B36"/>
                </a:solidFill>
                <a:latin typeface="Calibri" pitchFamily="34" charset="0"/>
                <a:ea typeface="Calibri" pitchFamily="34" charset="-122"/>
                <a:cs typeface="Calibri" pitchFamily="34" charset="-120"/>
              </a:rPr>
              <a:t>Mechanism  </a:t>
            </a:r>
            <a:endParaRPr lang="en-US" sz="1200" dirty="0"/>
          </a:p>
          <a:p>
            <a:pPr indent="0" marL="0">
              <a:lnSpc>
                <a:spcPct val="100000"/>
              </a:lnSpc>
              <a:buNone/>
            </a:pPr>
            <a:r>
              <a:rPr lang="en-US" sz="900" dirty="0">
                <a:solidFill>
                  <a:srgbClr val="1F2A24"/>
                </a:solidFill>
                <a:latin typeface="Calibri" pitchFamily="34" charset="0"/>
                <a:ea typeface="Calibri" pitchFamily="34" charset="-122"/>
                <a:cs typeface="Calibri" pitchFamily="34" charset="-120"/>
              </a:rPr>
              <a:t>Snap a pack photo for an instant verdict.
</a:t>
            </a:r>
            <a:endParaRPr lang="en-US" sz="1200" dirty="0"/>
          </a:p>
          <a:p>
            <a:pPr indent="0" marL="0">
              <a:lnSpc>
                <a:spcPct val="100000"/>
              </a:lnSpc>
              <a:buNone/>
            </a:pPr>
            <a:r>
              <a:rPr lang="en-US" sz="850" b="1" dirty="0">
                <a:solidFill>
                  <a:srgbClr val="154B36"/>
                </a:solidFill>
                <a:latin typeface="Calibri" pitchFamily="34" charset="0"/>
                <a:ea typeface="Calibri" pitchFamily="34" charset="-122"/>
                <a:cs typeface="Calibri" pitchFamily="34" charset="-120"/>
              </a:rPr>
              <a:t>Who  </a:t>
            </a:r>
            <a:endParaRPr lang="en-US" sz="1200" dirty="0"/>
          </a:p>
          <a:p>
            <a:pPr indent="0" marL="0">
              <a:lnSpc>
                <a:spcPct val="100000"/>
              </a:lnSpc>
              <a:buNone/>
            </a:pPr>
            <a:r>
              <a:rPr lang="en-US" sz="900" dirty="0">
                <a:solidFill>
                  <a:srgbClr val="1F2A24"/>
                </a:solidFill>
                <a:latin typeface="Calibri" pitchFamily="34" charset="0"/>
                <a:ea typeface="Calibri" pitchFamily="34" charset="-122"/>
                <a:cs typeface="Calibri" pitchFamily="34" charset="-120"/>
              </a:rPr>
              <a:t>Shoppers buying unlisted or new products.
</a:t>
            </a:r>
            <a:endParaRPr lang="en-US" sz="1200" dirty="0"/>
          </a:p>
          <a:p>
            <a:pPr indent="0" marL="0">
              <a:lnSpc>
                <a:spcPct val="100000"/>
              </a:lnSpc>
              <a:buNone/>
            </a:pPr>
            <a:r>
              <a:rPr lang="en-US" sz="850" b="1" dirty="0">
                <a:solidFill>
                  <a:srgbClr val="154B36"/>
                </a:solidFill>
                <a:latin typeface="Calibri" pitchFamily="34" charset="0"/>
                <a:ea typeface="Calibri" pitchFamily="34" charset="-122"/>
                <a:cs typeface="Calibri" pitchFamily="34" charset="-120"/>
              </a:rPr>
              <a:t>Why it might work  </a:t>
            </a:r>
            <a:endParaRPr lang="en-US" sz="1200" dirty="0"/>
          </a:p>
          <a:p>
            <a:pPr indent="0" marL="0">
              <a:lnSpc>
                <a:spcPct val="100000"/>
              </a:lnSpc>
              <a:buNone/>
            </a:pPr>
            <a:r>
              <a:rPr lang="en-US" sz="900" dirty="0">
                <a:solidFill>
                  <a:srgbClr val="1F2A24"/>
                </a:solidFill>
                <a:latin typeface="Calibri" pitchFamily="34" charset="0"/>
                <a:ea typeface="Calibri" pitchFamily="34" charset="-122"/>
                <a:cs typeface="Calibri" pitchFamily="34" charset="-120"/>
              </a:rPr>
              <a:t>Covers the 54% of the catalogue still unverified.</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2F6F3"/>
        </a:solidFill>
      </p:bgPr>
    </p:bg>
    <p:spTree>
      <p:nvGrpSpPr>
        <p:cNvPr id="1" name=""/>
        <p:cNvGrpSpPr/>
        <p:nvPr/>
      </p:nvGrpSpPr>
      <p:grpSpPr>
        <a:xfrm>
          <a:off x="0" y="0"/>
          <a:ext cx="0" cy="0"/>
          <a:chOff x="0" y="0"/>
          <a:chExt cx="0" cy="0"/>
        </a:xfrm>
      </p:grpSpPr>
      <p:sp>
        <p:nvSpPr>
          <p:cNvPr id="2" name="Text 0"/>
          <p:cNvSpPr txBox="1"/>
          <p:nvPr/>
        </p:nvSpPr>
        <p:spPr>
          <a:xfrm>
            <a:off x="548640" y="292608"/>
            <a:ext cx="9692640" cy="228600"/>
          </a:xfrm>
          <a:prstGeom prst="rect">
            <a:avLst/>
          </a:prstGeom>
          <a:noFill/>
          <a:ln/>
        </p:spPr>
        <p:txBody>
          <a:bodyPr wrap="square" lIns="0" tIns="0" rIns="0" bIns="0" rtlCol="0" anchor="t"/>
          <a:lstStyle/>
          <a:p>
            <a:pPr indent="0" marL="0">
              <a:buNone/>
            </a:pPr>
            <a:r>
              <a:rPr lang="en-US" sz="1000" b="1" spc="200" kern="0" dirty="0">
                <a:solidFill>
                  <a:srgbClr val="5C6B63"/>
                </a:solidFill>
                <a:latin typeface="Calibri" pitchFamily="34" charset="0"/>
                <a:ea typeface="Calibri" pitchFamily="34" charset="-122"/>
                <a:cs typeface="Calibri" pitchFamily="34" charset="-120"/>
              </a:rPr>
              <a:t>SESSION 5 · CONVERGE</a:t>
            </a:r>
            <a:endParaRPr lang="en-US" sz="1000" dirty="0"/>
          </a:p>
        </p:txBody>
      </p:sp>
      <p:sp>
        <p:nvSpPr>
          <p:cNvPr id="3" name="Shape 1"/>
          <p:cNvSpPr/>
          <p:nvPr/>
        </p:nvSpPr>
        <p:spPr>
          <a:xfrm>
            <a:off x="10643616" y="310896"/>
            <a:ext cx="155448" cy="155448"/>
          </a:xfrm>
          <a:prstGeom prst="rect">
            <a:avLst/>
          </a:prstGeom>
          <a:solidFill>
            <a:srgbClr val="038141"/>
          </a:solidFill>
          <a:ln/>
        </p:spPr>
      </p:sp>
      <p:sp>
        <p:nvSpPr>
          <p:cNvPr id="4" name="Shape 2"/>
          <p:cNvSpPr/>
          <p:nvPr/>
        </p:nvSpPr>
        <p:spPr>
          <a:xfrm>
            <a:off x="10853928" y="310896"/>
            <a:ext cx="155448" cy="155448"/>
          </a:xfrm>
          <a:prstGeom prst="rect">
            <a:avLst/>
          </a:prstGeom>
          <a:solidFill>
            <a:srgbClr val="85BB2F"/>
          </a:solidFill>
          <a:ln/>
        </p:spPr>
      </p:sp>
      <p:sp>
        <p:nvSpPr>
          <p:cNvPr id="5" name="Shape 3"/>
          <p:cNvSpPr/>
          <p:nvPr/>
        </p:nvSpPr>
        <p:spPr>
          <a:xfrm>
            <a:off x="11064240" y="310896"/>
            <a:ext cx="155448" cy="155448"/>
          </a:xfrm>
          <a:prstGeom prst="rect">
            <a:avLst/>
          </a:prstGeom>
          <a:solidFill>
            <a:srgbClr val="FECB02"/>
          </a:solidFill>
          <a:ln/>
        </p:spPr>
      </p:sp>
      <p:sp>
        <p:nvSpPr>
          <p:cNvPr id="6" name="Shape 4"/>
          <p:cNvSpPr/>
          <p:nvPr/>
        </p:nvSpPr>
        <p:spPr>
          <a:xfrm>
            <a:off x="11274552" y="310896"/>
            <a:ext cx="155448" cy="155448"/>
          </a:xfrm>
          <a:prstGeom prst="rect">
            <a:avLst/>
          </a:prstGeom>
          <a:solidFill>
            <a:srgbClr val="EE8100"/>
          </a:solidFill>
          <a:ln/>
        </p:spPr>
      </p:sp>
      <p:sp>
        <p:nvSpPr>
          <p:cNvPr id="7" name="Shape 5"/>
          <p:cNvSpPr/>
          <p:nvPr/>
        </p:nvSpPr>
        <p:spPr>
          <a:xfrm>
            <a:off x="11484864" y="310896"/>
            <a:ext cx="155448" cy="155448"/>
          </a:xfrm>
          <a:prstGeom prst="rect">
            <a:avLst/>
          </a:prstGeom>
          <a:solidFill>
            <a:srgbClr val="E63E11"/>
          </a:solidFill>
          <a:ln/>
        </p:spPr>
      </p:sp>
      <p:sp>
        <p:nvSpPr>
          <p:cNvPr id="8" name="Text 6"/>
          <p:cNvSpPr txBox="1"/>
          <p:nvPr/>
        </p:nvSpPr>
        <p:spPr>
          <a:xfrm>
            <a:off x="548640" y="603504"/>
            <a:ext cx="11064240" cy="822960"/>
          </a:xfrm>
          <a:prstGeom prst="rect">
            <a:avLst/>
          </a:prstGeom>
          <a:noFill/>
          <a:ln/>
        </p:spPr>
        <p:txBody>
          <a:bodyPr wrap="square" lIns="0" tIns="0" rIns="0" bIns="0" rtlCol="0" anchor="t"/>
          <a:lstStyle/>
          <a:p>
            <a:pPr indent="0" marL="0">
              <a:buNone/>
            </a:pPr>
            <a:r>
              <a:rPr lang="en-US" sz="2600" b="1" dirty="0">
                <a:solidFill>
                  <a:srgbClr val="154B36"/>
                </a:solidFill>
                <a:latin typeface="Cambria" pitchFamily="34" charset="0"/>
                <a:ea typeface="Cambria" pitchFamily="34" charset="-122"/>
                <a:cs typeface="Cambria" pitchFamily="34" charset="-120"/>
              </a:rPr>
              <a:t>Idea Convergence Matrix</a:t>
            </a:r>
            <a:endParaRPr lang="en-US" sz="2600" dirty="0"/>
          </a:p>
        </p:txBody>
      </p:sp>
      <p:sp>
        <p:nvSpPr>
          <p:cNvPr id="9" name="Text 7"/>
          <p:cNvSpPr txBox="1"/>
          <p:nvPr/>
        </p:nvSpPr>
        <p:spPr>
          <a:xfrm>
            <a:off x="548640" y="6199632"/>
            <a:ext cx="11064240" cy="219456"/>
          </a:xfrm>
          <a:prstGeom prst="rect">
            <a:avLst/>
          </a:prstGeom>
          <a:noFill/>
          <a:ln/>
        </p:spPr>
        <p:txBody>
          <a:bodyPr wrap="square" lIns="0" tIns="0" rIns="0" bIns="0" rtlCol="0" anchor="t"/>
          <a:lstStyle/>
          <a:p>
            <a:pPr indent="0" marL="0">
              <a:buNone/>
            </a:pPr>
            <a:r>
              <a:rPr lang="en-US" sz="900" i="1" dirty="0">
                <a:solidFill>
                  <a:srgbClr val="5C6B63"/>
                </a:solidFill>
                <a:latin typeface="Calibri" pitchFamily="34" charset="0"/>
                <a:ea typeface="Calibri" pitchFamily="34" charset="-122"/>
                <a:cs typeface="Calibri" pitchFamily="34" charset="-120"/>
              </a:rPr>
              <a:t>Score lightly. Discuss deeply. 1–5 scores only structure the conversation — the evidence behind each score matters more.</a:t>
            </a:r>
            <a:endParaRPr lang="en-US" sz="900" dirty="0"/>
          </a:p>
        </p:txBody>
      </p:sp>
      <p:sp>
        <p:nvSpPr>
          <p:cNvPr id="10" name="Text 8"/>
          <p:cNvSpPr txBox="1"/>
          <p:nvPr/>
        </p:nvSpPr>
        <p:spPr>
          <a:xfrm>
            <a:off x="548640" y="6510528"/>
            <a:ext cx="9601200" cy="182880"/>
          </a:xfrm>
          <a:prstGeom prst="rect">
            <a:avLst/>
          </a:prstGeom>
          <a:noFill/>
          <a:ln/>
        </p:spPr>
        <p:txBody>
          <a:bodyPr wrap="square" lIns="0" tIns="0" rIns="0" bIns="0" rtlCol="0" anchor="t"/>
          <a:lstStyle/>
          <a:p>
            <a:pPr indent="0" marL="0">
              <a:buNone/>
            </a:pPr>
            <a:r>
              <a:rPr lang="en-US" sz="900" dirty="0">
                <a:solidFill>
                  <a:srgbClr val="5C6B63"/>
                </a:solidFill>
                <a:latin typeface="Calibri" pitchFamily="34" charset="0"/>
                <a:ea typeface="Calibri" pitchFamily="34" charset="-122"/>
                <a:cs typeface="Calibri" pitchFamily="34" charset="-120"/>
              </a:rPr>
              <a:t>NutriScore Checkout Tool  |  NUT-04, JHUB Africa / AfyaVentures  |  Kibet, Project Lead</a:t>
            </a:r>
            <a:endParaRPr lang="en-US" sz="900" dirty="0"/>
          </a:p>
        </p:txBody>
      </p:sp>
      <p:sp>
        <p:nvSpPr>
          <p:cNvPr id="11" name="Text 9"/>
          <p:cNvSpPr txBox="1"/>
          <p:nvPr/>
        </p:nvSpPr>
        <p:spPr>
          <a:xfrm>
            <a:off x="10725912" y="6510528"/>
            <a:ext cx="914400" cy="182880"/>
          </a:xfrm>
          <a:prstGeom prst="rect">
            <a:avLst/>
          </a:prstGeom>
          <a:noFill/>
          <a:ln/>
        </p:spPr>
        <p:txBody>
          <a:bodyPr wrap="square" lIns="0" tIns="0" rIns="0" bIns="0" rtlCol="0" anchor="t"/>
          <a:lstStyle/>
          <a:p>
            <a:pPr algn="r" indent="0" marL="0">
              <a:buNone/>
            </a:pPr>
            <a:r>
              <a:rPr lang="en-US" sz="900" dirty="0">
                <a:solidFill>
                  <a:srgbClr val="5C6B63"/>
                </a:solidFill>
                <a:latin typeface="Calibri" pitchFamily="34" charset="0"/>
                <a:ea typeface="Calibri" pitchFamily="34" charset="-122"/>
                <a:cs typeface="Calibri" pitchFamily="34" charset="-120"/>
              </a:rPr>
              <a:t>8 / 10</a:t>
            </a:r>
            <a:endParaRPr lang="en-US" sz="9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91672" cy="914400"/>
        </p:xfrm>
        <a:graphic>
          <a:graphicData uri="http://schemas.openxmlformats.org/drawingml/2006/table">
            <a:tbl>
              <a:tblPr/>
              <a:tblGrid>
                <a:gridCol w="2834640"/>
                <a:gridCol w="1463040"/>
                <a:gridCol w="1463040"/>
                <a:gridCol w="1463040"/>
                <a:gridCol w="1554480"/>
                <a:gridCol w="2313432"/>
              </a:tblGrid>
              <a:tr h="384048">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Concept</a:t>
                      </a:r>
                      <a:endParaRPr lang="en-US" sz="1100" dirty="0">
                        <a:latin typeface="Calibri" charset="0"/>
                        <a:ea typeface="Calibri" charset="0"/>
                        <a:cs typeface="Calibri" charset="0"/>
                      </a:endParaRPr>
                    </a:p>
                  </a:txBody>
                  <a:tcPr marL="91440" marR="91440" marT="0" marB="0" anchor="ctr">
                    <a:lnL w="9525" cap="flat" cmpd="sng" algn="ctr">
                      <a:solidFill>
                        <a:srgbClr val="C9D5CE"/>
                      </a:solidFill>
                      <a:prstDash val="solid"/>
                      <a:round/>
                      <a:headEnd type="none" w="med" len="med"/>
                      <a:tailEnd type="none" w="med" len="med"/>
                    </a:lnL>
                    <a:lnR w="9525" cap="flat" cmpd="sng" algn="ctr">
                      <a:solidFill>
                        <a:srgbClr val="C9D5CE"/>
                      </a:solidFill>
                      <a:prstDash val="solid"/>
                      <a:round/>
                      <a:headEnd type="none" w="med" len="med"/>
                      <a:tailEnd type="none" w="med" len="med"/>
                    </a:lnR>
                    <a:lnT w="9525" cap="flat" cmpd="sng" algn="ctr">
                      <a:solidFill>
                        <a:srgbClr val="C9D5CE"/>
                      </a:solidFill>
                      <a:prstDash val="solid"/>
                      <a:round/>
                      <a:headEnd type="none" w="med" len="med"/>
                      <a:tailEnd type="none" w="med" len="med"/>
                    </a:lnT>
                    <a:lnB w="9525" cap="flat" cmpd="sng" algn="ctr">
                      <a:solidFill>
                        <a:srgbClr val="C9D5CE"/>
                      </a:solidFill>
                      <a:prstDash val="solid"/>
                      <a:round/>
                      <a:headEnd type="none" w="med" len="med"/>
                      <a:tailEnd type="none" w="med" len="med"/>
                    </a:lnB>
                    <a:solidFill>
                      <a:srgbClr val="154B36"/>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Desirable</a:t>
                      </a:r>
                      <a:endParaRPr lang="en-US" sz="1100" dirty="0">
                        <a:latin typeface="Calibri" charset="0"/>
                        <a:ea typeface="Calibri" charset="0"/>
                        <a:cs typeface="Calibri" charset="0"/>
                      </a:endParaRPr>
                    </a:p>
                  </a:txBody>
                  <a:tcPr marL="91440" marR="91440" marT="0" marB="0" anchor="ctr">
                    <a:lnL w="9525" cap="flat" cmpd="sng" algn="ctr">
                      <a:solidFill>
                        <a:srgbClr val="C9D5CE"/>
                      </a:solidFill>
                      <a:prstDash val="solid"/>
                      <a:round/>
                      <a:headEnd type="none" w="med" len="med"/>
                      <a:tailEnd type="none" w="med" len="med"/>
                    </a:lnL>
                    <a:lnR w="9525" cap="flat" cmpd="sng" algn="ctr">
                      <a:solidFill>
                        <a:srgbClr val="C9D5CE"/>
                      </a:solidFill>
                      <a:prstDash val="solid"/>
                      <a:round/>
                      <a:headEnd type="none" w="med" len="med"/>
                      <a:tailEnd type="none" w="med" len="med"/>
                    </a:lnR>
                    <a:lnT w="9525" cap="flat" cmpd="sng" algn="ctr">
                      <a:solidFill>
                        <a:srgbClr val="C9D5CE"/>
                      </a:solidFill>
                      <a:prstDash val="solid"/>
                      <a:round/>
                      <a:headEnd type="none" w="med" len="med"/>
                      <a:tailEnd type="none" w="med" len="med"/>
                    </a:lnT>
                    <a:lnB w="9525" cap="flat" cmpd="sng" algn="ctr">
                      <a:solidFill>
                        <a:srgbClr val="C9D5CE"/>
                      </a:solidFill>
                      <a:prstDash val="solid"/>
                      <a:round/>
                      <a:headEnd type="none" w="med" len="med"/>
                      <a:tailEnd type="none" w="med" len="med"/>
                    </a:lnB>
                    <a:solidFill>
                      <a:srgbClr val="154B36"/>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Feasible</a:t>
                      </a:r>
                      <a:endParaRPr lang="en-US" sz="1100" dirty="0">
                        <a:latin typeface="Calibri" charset="0"/>
                        <a:ea typeface="Calibri" charset="0"/>
                        <a:cs typeface="Calibri" charset="0"/>
                      </a:endParaRPr>
                    </a:p>
                  </a:txBody>
                  <a:tcPr marL="91440" marR="91440" marT="0" marB="0" anchor="ctr">
                    <a:lnL w="9525" cap="flat" cmpd="sng" algn="ctr">
                      <a:solidFill>
                        <a:srgbClr val="C9D5CE"/>
                      </a:solidFill>
                      <a:prstDash val="solid"/>
                      <a:round/>
                      <a:headEnd type="none" w="med" len="med"/>
                      <a:tailEnd type="none" w="med" len="med"/>
                    </a:lnL>
                    <a:lnR w="9525" cap="flat" cmpd="sng" algn="ctr">
                      <a:solidFill>
                        <a:srgbClr val="C9D5CE"/>
                      </a:solidFill>
                      <a:prstDash val="solid"/>
                      <a:round/>
                      <a:headEnd type="none" w="med" len="med"/>
                      <a:tailEnd type="none" w="med" len="med"/>
                    </a:lnR>
                    <a:lnT w="9525" cap="flat" cmpd="sng" algn="ctr">
                      <a:solidFill>
                        <a:srgbClr val="C9D5CE"/>
                      </a:solidFill>
                      <a:prstDash val="solid"/>
                      <a:round/>
                      <a:headEnd type="none" w="med" len="med"/>
                      <a:tailEnd type="none" w="med" len="med"/>
                    </a:lnT>
                    <a:lnB w="9525" cap="flat" cmpd="sng" algn="ctr">
                      <a:solidFill>
                        <a:srgbClr val="C9D5CE"/>
                      </a:solidFill>
                      <a:prstDash val="solid"/>
                      <a:round/>
                      <a:headEnd type="none" w="med" len="med"/>
                      <a:tailEnd type="none" w="med" len="med"/>
                    </a:lnB>
                    <a:solidFill>
                      <a:srgbClr val="154B36"/>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Viable</a:t>
                      </a:r>
                      <a:endParaRPr lang="en-US" sz="1100" dirty="0">
                        <a:latin typeface="Calibri" charset="0"/>
                        <a:ea typeface="Calibri" charset="0"/>
                        <a:cs typeface="Calibri" charset="0"/>
                      </a:endParaRPr>
                    </a:p>
                  </a:txBody>
                  <a:tcPr marL="91440" marR="91440" marT="0" marB="0" anchor="ctr">
                    <a:lnL w="9525" cap="flat" cmpd="sng" algn="ctr">
                      <a:solidFill>
                        <a:srgbClr val="C9D5CE"/>
                      </a:solidFill>
                      <a:prstDash val="solid"/>
                      <a:round/>
                      <a:headEnd type="none" w="med" len="med"/>
                      <a:tailEnd type="none" w="med" len="med"/>
                    </a:lnL>
                    <a:lnR w="9525" cap="flat" cmpd="sng" algn="ctr">
                      <a:solidFill>
                        <a:srgbClr val="C9D5CE"/>
                      </a:solidFill>
                      <a:prstDash val="solid"/>
                      <a:round/>
                      <a:headEnd type="none" w="med" len="med"/>
                      <a:tailEnd type="none" w="med" len="med"/>
                    </a:lnR>
                    <a:lnT w="9525" cap="flat" cmpd="sng" algn="ctr">
                      <a:solidFill>
                        <a:srgbClr val="C9D5CE"/>
                      </a:solidFill>
                      <a:prstDash val="solid"/>
                      <a:round/>
                      <a:headEnd type="none" w="med" len="med"/>
                      <a:tailEnd type="none" w="med" len="med"/>
                    </a:lnT>
                    <a:lnB w="9525" cap="flat" cmpd="sng" algn="ctr">
                      <a:solidFill>
                        <a:srgbClr val="C9D5CE"/>
                      </a:solidFill>
                      <a:prstDash val="solid"/>
                      <a:round/>
                      <a:headEnd type="none" w="med" len="med"/>
                      <a:tailEnd type="none" w="med" len="med"/>
                    </a:lnB>
                    <a:solidFill>
                      <a:srgbClr val="154B36"/>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Responsible</a:t>
                      </a:r>
                      <a:endParaRPr lang="en-US" sz="1100" dirty="0">
                        <a:latin typeface="Calibri" charset="0"/>
                        <a:ea typeface="Calibri" charset="0"/>
                        <a:cs typeface="Calibri" charset="0"/>
                      </a:endParaRPr>
                    </a:p>
                  </a:txBody>
                  <a:tcPr marL="91440" marR="91440" marT="0" marB="0" anchor="ctr">
                    <a:lnL w="9525" cap="flat" cmpd="sng" algn="ctr">
                      <a:solidFill>
                        <a:srgbClr val="C9D5CE"/>
                      </a:solidFill>
                      <a:prstDash val="solid"/>
                      <a:round/>
                      <a:headEnd type="none" w="med" len="med"/>
                      <a:tailEnd type="none" w="med" len="med"/>
                    </a:lnL>
                    <a:lnR w="9525" cap="flat" cmpd="sng" algn="ctr">
                      <a:solidFill>
                        <a:srgbClr val="C9D5CE"/>
                      </a:solidFill>
                      <a:prstDash val="solid"/>
                      <a:round/>
                      <a:headEnd type="none" w="med" len="med"/>
                      <a:tailEnd type="none" w="med" len="med"/>
                    </a:lnR>
                    <a:lnT w="9525" cap="flat" cmpd="sng" algn="ctr">
                      <a:solidFill>
                        <a:srgbClr val="C9D5CE"/>
                      </a:solidFill>
                      <a:prstDash val="solid"/>
                      <a:round/>
                      <a:headEnd type="none" w="med" len="med"/>
                      <a:tailEnd type="none" w="med" len="med"/>
                    </a:lnT>
                    <a:lnB w="9525" cap="flat" cmpd="sng" algn="ctr">
                      <a:solidFill>
                        <a:srgbClr val="C9D5CE"/>
                      </a:solidFill>
                      <a:prstDash val="solid"/>
                      <a:round/>
                      <a:headEnd type="none" w="med" len="med"/>
                      <a:tailEnd type="none" w="med" len="med"/>
                    </a:lnB>
                    <a:solidFill>
                      <a:srgbClr val="154B36"/>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Decision</a:t>
                      </a:r>
                      <a:endParaRPr lang="en-US" sz="1100" dirty="0">
                        <a:latin typeface="Calibri" charset="0"/>
                        <a:ea typeface="Calibri" charset="0"/>
                        <a:cs typeface="Calibri" charset="0"/>
                      </a:endParaRPr>
                    </a:p>
                  </a:txBody>
                  <a:tcPr marL="91440" marR="91440" marT="0" marB="0" anchor="ctr">
                    <a:lnL w="9525" cap="flat" cmpd="sng" algn="ctr">
                      <a:solidFill>
                        <a:srgbClr val="C9D5CE"/>
                      </a:solidFill>
                      <a:prstDash val="solid"/>
                      <a:round/>
                      <a:headEnd type="none" w="med" len="med"/>
                      <a:tailEnd type="none" w="med" len="med"/>
                    </a:lnL>
                    <a:lnR w="9525" cap="flat" cmpd="sng" algn="ctr">
                      <a:solidFill>
                        <a:srgbClr val="C9D5CE"/>
                      </a:solidFill>
                      <a:prstDash val="solid"/>
                      <a:round/>
                      <a:headEnd type="none" w="med" len="med"/>
                      <a:tailEnd type="none" w="med" len="med"/>
                    </a:lnR>
                    <a:lnT w="9525" cap="flat" cmpd="sng" algn="ctr">
                      <a:solidFill>
                        <a:srgbClr val="C9D5CE"/>
                      </a:solidFill>
                      <a:prstDash val="solid"/>
                      <a:round/>
                      <a:headEnd type="none" w="med" len="med"/>
                      <a:tailEnd type="none" w="med" len="med"/>
                    </a:lnT>
                    <a:lnB w="9525" cap="flat" cmpd="sng" algn="ctr">
                      <a:solidFill>
                        <a:srgbClr val="C9D5CE"/>
                      </a:solidFill>
                      <a:prstDash val="solid"/>
                      <a:round/>
                      <a:headEnd type="none" w="med" len="med"/>
                      <a:tailEnd type="none" w="med" len="med"/>
                    </a:lnB>
                    <a:solidFill>
                      <a:srgbClr val="154B36"/>
                    </a:solidFill>
                  </a:tcPr>
                </a:tc>
              </a:tr>
              <a:tr h="566928">
                <a:tc>
                  <a:txBody>
                    <a:bodyPr/>
                    <a:lstStyle/>
                    <a:p>
                      <a:pPr indent="0" marL="0">
                        <a:buNone/>
                      </a:pPr>
                      <a:r>
                        <a:rPr lang="en-US" sz="1050" b="1" dirty="0">
                          <a:solidFill>
                            <a:srgbClr val="154B36"/>
                          </a:solidFill>
                          <a:latin typeface="Calibri" pitchFamily="34" charset="0"/>
                          <a:ea typeface="Calibri" pitchFamily="34" charset="-122"/>
                          <a:cs typeface="Calibri" pitchFamily="34" charset="-120"/>
                        </a:rPr>
                        <a:t>Inline Fit Badge</a:t>
                      </a:r>
                      <a:endParaRPr lang="en-US" sz="1050" dirty="0">
                        <a:latin typeface="Calibri" charset="0"/>
                        <a:ea typeface="Calibri" charset="0"/>
                        <a:cs typeface="Calibri" charset="0"/>
                      </a:endParaRPr>
                    </a:p>
                  </a:txBody>
                  <a:tcPr marL="91440" marR="91440" marT="0" marB="0" anchor="ctr">
                    <a:lnL w="9525" cap="flat" cmpd="sng" algn="ctr">
                      <a:solidFill>
                        <a:srgbClr val="C9D5CE"/>
                      </a:solidFill>
                      <a:prstDash val="solid"/>
                      <a:round/>
                      <a:headEnd type="none" w="med" len="med"/>
                      <a:tailEnd type="none" w="med" len="med"/>
                    </a:lnL>
                    <a:lnR w="9525" cap="flat" cmpd="sng" algn="ctr">
                      <a:solidFill>
                        <a:srgbClr val="C9D5CE"/>
                      </a:solidFill>
                      <a:prstDash val="solid"/>
                      <a:round/>
                      <a:headEnd type="none" w="med" len="med"/>
                      <a:tailEnd type="none" w="med" len="med"/>
                    </a:lnR>
                    <a:lnT w="9525" cap="flat" cmpd="sng" algn="ctr">
                      <a:solidFill>
                        <a:srgbClr val="C9D5CE"/>
                      </a:solidFill>
                      <a:prstDash val="solid"/>
                      <a:round/>
                      <a:headEnd type="none" w="med" len="med"/>
                      <a:tailEnd type="none" w="med" len="med"/>
                    </a:lnT>
                    <a:lnB w="9525" cap="flat" cmpd="sng" algn="ctr">
                      <a:solidFill>
                        <a:srgbClr val="C9D5CE"/>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A85A00"/>
                          </a:solidFill>
                          <a:latin typeface="Cambria" pitchFamily="34" charset="0"/>
                          <a:ea typeface="Cambria" pitchFamily="34" charset="-122"/>
                          <a:cs typeface="Cambria" pitchFamily="34" charset="-120"/>
                        </a:rPr>
                        <a:t>4</a:t>
                      </a:r>
                      <a:endParaRPr lang="en-US" sz="1400" dirty="0">
                        <a:latin typeface="Cambria" charset="0"/>
                        <a:ea typeface="Cambria" charset="0"/>
                        <a:cs typeface="Cambria" charset="0"/>
                      </a:endParaRPr>
                    </a:p>
                  </a:txBody>
                  <a:tcPr marL="91440" marR="91440" marT="0" marB="0" anchor="ctr">
                    <a:lnL w="9525" cap="flat" cmpd="sng" algn="ctr">
                      <a:solidFill>
                        <a:srgbClr val="C9D5CE"/>
                      </a:solidFill>
                      <a:prstDash val="solid"/>
                      <a:round/>
                      <a:headEnd type="none" w="med" len="med"/>
                      <a:tailEnd type="none" w="med" len="med"/>
                    </a:lnL>
                    <a:lnR w="9525" cap="flat" cmpd="sng" algn="ctr">
                      <a:solidFill>
                        <a:srgbClr val="C9D5CE"/>
                      </a:solidFill>
                      <a:prstDash val="solid"/>
                      <a:round/>
                      <a:headEnd type="none" w="med" len="med"/>
                      <a:tailEnd type="none" w="med" len="med"/>
                    </a:lnR>
                    <a:lnT w="9525" cap="flat" cmpd="sng" algn="ctr">
                      <a:solidFill>
                        <a:srgbClr val="C9D5CE"/>
                      </a:solidFill>
                      <a:prstDash val="solid"/>
                      <a:round/>
                      <a:headEnd type="none" w="med" len="med"/>
                      <a:tailEnd type="none" w="med" len="med"/>
                    </a:lnT>
                    <a:lnB w="9525" cap="flat" cmpd="sng" algn="ctr">
                      <a:solidFill>
                        <a:srgbClr val="C9D5CE"/>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A85A00"/>
                          </a:solidFill>
                          <a:latin typeface="Cambria" pitchFamily="34" charset="0"/>
                          <a:ea typeface="Cambria" pitchFamily="34" charset="-122"/>
                          <a:cs typeface="Cambria" pitchFamily="34" charset="-120"/>
                        </a:rPr>
                        <a:t>5</a:t>
                      </a:r>
                      <a:endParaRPr lang="en-US" sz="1400" dirty="0">
                        <a:latin typeface="Cambria" charset="0"/>
                        <a:ea typeface="Cambria" charset="0"/>
                        <a:cs typeface="Cambria" charset="0"/>
                      </a:endParaRPr>
                    </a:p>
                  </a:txBody>
                  <a:tcPr marL="91440" marR="91440" marT="0" marB="0" anchor="ctr">
                    <a:lnL w="9525" cap="flat" cmpd="sng" algn="ctr">
                      <a:solidFill>
                        <a:srgbClr val="C9D5CE"/>
                      </a:solidFill>
                      <a:prstDash val="solid"/>
                      <a:round/>
                      <a:headEnd type="none" w="med" len="med"/>
                      <a:tailEnd type="none" w="med" len="med"/>
                    </a:lnL>
                    <a:lnR w="9525" cap="flat" cmpd="sng" algn="ctr">
                      <a:solidFill>
                        <a:srgbClr val="C9D5CE"/>
                      </a:solidFill>
                      <a:prstDash val="solid"/>
                      <a:round/>
                      <a:headEnd type="none" w="med" len="med"/>
                      <a:tailEnd type="none" w="med" len="med"/>
                    </a:lnR>
                    <a:lnT w="9525" cap="flat" cmpd="sng" algn="ctr">
                      <a:solidFill>
                        <a:srgbClr val="C9D5CE"/>
                      </a:solidFill>
                      <a:prstDash val="solid"/>
                      <a:round/>
                      <a:headEnd type="none" w="med" len="med"/>
                      <a:tailEnd type="none" w="med" len="med"/>
                    </a:lnT>
                    <a:lnB w="9525" cap="flat" cmpd="sng" algn="ctr">
                      <a:solidFill>
                        <a:srgbClr val="C9D5CE"/>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A85A00"/>
                          </a:solidFill>
                          <a:latin typeface="Cambria" pitchFamily="34" charset="0"/>
                          <a:ea typeface="Cambria" pitchFamily="34" charset="-122"/>
                          <a:cs typeface="Cambria" pitchFamily="34" charset="-120"/>
                        </a:rPr>
                        <a:t>3</a:t>
                      </a:r>
                      <a:endParaRPr lang="en-US" sz="1400" dirty="0">
                        <a:latin typeface="Cambria" charset="0"/>
                        <a:ea typeface="Cambria" charset="0"/>
                        <a:cs typeface="Cambria" charset="0"/>
                      </a:endParaRPr>
                    </a:p>
                  </a:txBody>
                  <a:tcPr marL="91440" marR="91440" marT="0" marB="0" anchor="ctr">
                    <a:lnL w="9525" cap="flat" cmpd="sng" algn="ctr">
                      <a:solidFill>
                        <a:srgbClr val="C9D5CE"/>
                      </a:solidFill>
                      <a:prstDash val="solid"/>
                      <a:round/>
                      <a:headEnd type="none" w="med" len="med"/>
                      <a:tailEnd type="none" w="med" len="med"/>
                    </a:lnL>
                    <a:lnR w="9525" cap="flat" cmpd="sng" algn="ctr">
                      <a:solidFill>
                        <a:srgbClr val="C9D5CE"/>
                      </a:solidFill>
                      <a:prstDash val="solid"/>
                      <a:round/>
                      <a:headEnd type="none" w="med" len="med"/>
                      <a:tailEnd type="none" w="med" len="med"/>
                    </a:lnR>
                    <a:lnT w="9525" cap="flat" cmpd="sng" algn="ctr">
                      <a:solidFill>
                        <a:srgbClr val="C9D5CE"/>
                      </a:solidFill>
                      <a:prstDash val="solid"/>
                      <a:round/>
                      <a:headEnd type="none" w="med" len="med"/>
                      <a:tailEnd type="none" w="med" len="med"/>
                    </a:lnT>
                    <a:lnB w="9525" cap="flat" cmpd="sng" algn="ctr">
                      <a:solidFill>
                        <a:srgbClr val="C9D5CE"/>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A85A00"/>
                          </a:solidFill>
                          <a:latin typeface="Cambria" pitchFamily="34" charset="0"/>
                          <a:ea typeface="Cambria" pitchFamily="34" charset="-122"/>
                          <a:cs typeface="Cambria" pitchFamily="34" charset="-120"/>
                        </a:rPr>
                        <a:t>4</a:t>
                      </a:r>
                      <a:endParaRPr lang="en-US" sz="1400" dirty="0">
                        <a:latin typeface="Cambria" charset="0"/>
                        <a:ea typeface="Cambria" charset="0"/>
                        <a:cs typeface="Cambria" charset="0"/>
                      </a:endParaRPr>
                    </a:p>
                  </a:txBody>
                  <a:tcPr marL="91440" marR="91440" marT="0" marB="0" anchor="ctr">
                    <a:lnL w="9525" cap="flat" cmpd="sng" algn="ctr">
                      <a:solidFill>
                        <a:srgbClr val="C9D5CE"/>
                      </a:solidFill>
                      <a:prstDash val="solid"/>
                      <a:round/>
                      <a:headEnd type="none" w="med" len="med"/>
                      <a:tailEnd type="none" w="med" len="med"/>
                    </a:lnL>
                    <a:lnR w="9525" cap="flat" cmpd="sng" algn="ctr">
                      <a:solidFill>
                        <a:srgbClr val="C9D5CE"/>
                      </a:solidFill>
                      <a:prstDash val="solid"/>
                      <a:round/>
                      <a:headEnd type="none" w="med" len="med"/>
                      <a:tailEnd type="none" w="med" len="med"/>
                    </a:lnR>
                    <a:lnT w="9525" cap="flat" cmpd="sng" algn="ctr">
                      <a:solidFill>
                        <a:srgbClr val="C9D5CE"/>
                      </a:solidFill>
                      <a:prstDash val="solid"/>
                      <a:round/>
                      <a:headEnd type="none" w="med" len="med"/>
                      <a:tailEnd type="none" w="med" len="med"/>
                    </a:lnT>
                    <a:lnB w="9525" cap="flat" cmpd="sng" algn="ctr">
                      <a:solidFill>
                        <a:srgbClr val="C9D5CE"/>
                      </a:solidFill>
                      <a:prstDash val="solid"/>
                      <a:round/>
                      <a:headEnd type="none" w="med" len="med"/>
                      <a:tailEnd type="none" w="med" len="med"/>
                    </a:lnB>
                    <a:solidFill>
                      <a:srgbClr val="FFFFFF"/>
                    </a:solidFill>
                  </a:tcPr>
                </a:tc>
                <a:tc>
                  <a:txBody>
                    <a:bodyPr/>
                    <a:lstStyle/>
                    <a:p>
                      <a:pPr indent="0" marL="0">
                        <a:buNone/>
                      </a:pPr>
                      <a:r>
                        <a:rPr lang="en-US" sz="950" dirty="0">
                          <a:solidFill>
                            <a:srgbClr val="1F2A24"/>
                          </a:solidFill>
                          <a:latin typeface="Calibri" pitchFamily="34" charset="0"/>
                          <a:ea typeface="Calibri" pitchFamily="34" charset="-122"/>
                          <a:cs typeface="Calibri" pitchFamily="34" charset="-120"/>
                        </a:rPr>
                        <a:t>Proceed — already shipped, extend coverage</a:t>
                      </a:r>
                      <a:endParaRPr lang="en-US" sz="950" dirty="0">
                        <a:latin typeface="Calibri" charset="0"/>
                        <a:ea typeface="Calibri" charset="0"/>
                        <a:cs typeface="Calibri" charset="0"/>
                      </a:endParaRPr>
                    </a:p>
                  </a:txBody>
                  <a:tcPr marL="91440" marR="91440" marT="0" marB="0" anchor="ctr">
                    <a:lnL w="9525" cap="flat" cmpd="sng" algn="ctr">
                      <a:solidFill>
                        <a:srgbClr val="C9D5CE"/>
                      </a:solidFill>
                      <a:prstDash val="solid"/>
                      <a:round/>
                      <a:headEnd type="none" w="med" len="med"/>
                      <a:tailEnd type="none" w="med" len="med"/>
                    </a:lnL>
                    <a:lnR w="9525" cap="flat" cmpd="sng" algn="ctr">
                      <a:solidFill>
                        <a:srgbClr val="C9D5CE"/>
                      </a:solidFill>
                      <a:prstDash val="solid"/>
                      <a:round/>
                      <a:headEnd type="none" w="med" len="med"/>
                      <a:tailEnd type="none" w="med" len="med"/>
                    </a:lnR>
                    <a:lnT w="9525" cap="flat" cmpd="sng" algn="ctr">
                      <a:solidFill>
                        <a:srgbClr val="C9D5CE"/>
                      </a:solidFill>
                      <a:prstDash val="solid"/>
                      <a:round/>
                      <a:headEnd type="none" w="med" len="med"/>
                      <a:tailEnd type="none" w="med" len="med"/>
                    </a:lnT>
                    <a:lnB w="9525" cap="flat" cmpd="sng" algn="ctr">
                      <a:solidFill>
                        <a:srgbClr val="C9D5CE"/>
                      </a:solidFill>
                      <a:prstDash val="solid"/>
                      <a:round/>
                      <a:headEnd type="none" w="med" len="med"/>
                      <a:tailEnd type="none" w="med" len="med"/>
                    </a:lnB>
                    <a:solidFill>
                      <a:srgbClr val="FFFFFF"/>
                    </a:solidFill>
                  </a:tcPr>
                </a:tc>
              </a:tr>
              <a:tr h="566928">
                <a:tc>
                  <a:txBody>
                    <a:bodyPr/>
                    <a:lstStyle/>
                    <a:p>
                      <a:pPr indent="0" marL="0">
                        <a:buNone/>
                      </a:pPr>
                      <a:r>
                        <a:rPr lang="en-US" sz="1050" b="1" dirty="0">
                          <a:solidFill>
                            <a:srgbClr val="154B36"/>
                          </a:solidFill>
                          <a:latin typeface="Calibri" pitchFamily="34" charset="0"/>
                          <a:ea typeface="Calibri" pitchFamily="34" charset="-122"/>
                          <a:cs typeface="Calibri" pitchFamily="34" charset="-120"/>
                        </a:rPr>
                        <a:t>Smart Compare &amp; Swap</a:t>
                      </a:r>
                      <a:endParaRPr lang="en-US" sz="1050" dirty="0">
                        <a:latin typeface="Calibri" charset="0"/>
                        <a:ea typeface="Calibri" charset="0"/>
                        <a:cs typeface="Calibri" charset="0"/>
                      </a:endParaRPr>
                    </a:p>
                  </a:txBody>
                  <a:tcPr marL="91440" marR="91440" marT="0" marB="0" anchor="ctr">
                    <a:lnL w="9525" cap="flat" cmpd="sng" algn="ctr">
                      <a:solidFill>
                        <a:srgbClr val="C9D5CE"/>
                      </a:solidFill>
                      <a:prstDash val="solid"/>
                      <a:round/>
                      <a:headEnd type="none" w="med" len="med"/>
                      <a:tailEnd type="none" w="med" len="med"/>
                    </a:lnL>
                    <a:lnR w="9525" cap="flat" cmpd="sng" algn="ctr">
                      <a:solidFill>
                        <a:srgbClr val="C9D5CE"/>
                      </a:solidFill>
                      <a:prstDash val="solid"/>
                      <a:round/>
                      <a:headEnd type="none" w="med" len="med"/>
                      <a:tailEnd type="none" w="med" len="med"/>
                    </a:lnR>
                    <a:lnT w="9525" cap="flat" cmpd="sng" algn="ctr">
                      <a:solidFill>
                        <a:srgbClr val="C9D5CE"/>
                      </a:solidFill>
                      <a:prstDash val="solid"/>
                      <a:round/>
                      <a:headEnd type="none" w="med" len="med"/>
                      <a:tailEnd type="none" w="med" len="med"/>
                    </a:lnT>
                    <a:lnB w="9525" cap="flat" cmpd="sng" algn="ctr">
                      <a:solidFill>
                        <a:srgbClr val="C9D5CE"/>
                      </a:solidFill>
                      <a:prstDash val="solid"/>
                      <a:round/>
                      <a:headEnd type="none" w="med" len="med"/>
                      <a:tailEnd type="none" w="med" len="med"/>
                    </a:lnB>
                    <a:solidFill>
                      <a:srgbClr val="E8F1EB"/>
                    </a:solidFill>
                  </a:tcPr>
                </a:tc>
                <a:tc>
                  <a:txBody>
                    <a:bodyPr/>
                    <a:lstStyle/>
                    <a:p>
                      <a:pPr algn="ctr" indent="0" marL="0">
                        <a:buNone/>
                      </a:pPr>
                      <a:r>
                        <a:rPr lang="en-US" sz="1400" b="1" dirty="0">
                          <a:solidFill>
                            <a:srgbClr val="A85A00"/>
                          </a:solidFill>
                          <a:latin typeface="Cambria" pitchFamily="34" charset="0"/>
                          <a:ea typeface="Cambria" pitchFamily="34" charset="-122"/>
                          <a:cs typeface="Cambria" pitchFamily="34" charset="-120"/>
                        </a:rPr>
                        <a:t>5</a:t>
                      </a:r>
                      <a:endParaRPr lang="en-US" sz="1400" dirty="0">
                        <a:latin typeface="Cambria" charset="0"/>
                        <a:ea typeface="Cambria" charset="0"/>
                        <a:cs typeface="Cambria" charset="0"/>
                      </a:endParaRPr>
                    </a:p>
                  </a:txBody>
                  <a:tcPr marL="91440" marR="91440" marT="0" marB="0" anchor="ctr">
                    <a:lnL w="9525" cap="flat" cmpd="sng" algn="ctr">
                      <a:solidFill>
                        <a:srgbClr val="C9D5CE"/>
                      </a:solidFill>
                      <a:prstDash val="solid"/>
                      <a:round/>
                      <a:headEnd type="none" w="med" len="med"/>
                      <a:tailEnd type="none" w="med" len="med"/>
                    </a:lnL>
                    <a:lnR w="9525" cap="flat" cmpd="sng" algn="ctr">
                      <a:solidFill>
                        <a:srgbClr val="C9D5CE"/>
                      </a:solidFill>
                      <a:prstDash val="solid"/>
                      <a:round/>
                      <a:headEnd type="none" w="med" len="med"/>
                      <a:tailEnd type="none" w="med" len="med"/>
                    </a:lnR>
                    <a:lnT w="9525" cap="flat" cmpd="sng" algn="ctr">
                      <a:solidFill>
                        <a:srgbClr val="C9D5CE"/>
                      </a:solidFill>
                      <a:prstDash val="solid"/>
                      <a:round/>
                      <a:headEnd type="none" w="med" len="med"/>
                      <a:tailEnd type="none" w="med" len="med"/>
                    </a:lnT>
                    <a:lnB w="9525" cap="flat" cmpd="sng" algn="ctr">
                      <a:solidFill>
                        <a:srgbClr val="C9D5CE"/>
                      </a:solidFill>
                      <a:prstDash val="solid"/>
                      <a:round/>
                      <a:headEnd type="none" w="med" len="med"/>
                      <a:tailEnd type="none" w="med" len="med"/>
                    </a:lnB>
                    <a:solidFill>
                      <a:srgbClr val="E8F1EB"/>
                    </a:solidFill>
                  </a:tcPr>
                </a:tc>
                <a:tc>
                  <a:txBody>
                    <a:bodyPr/>
                    <a:lstStyle/>
                    <a:p>
                      <a:pPr algn="ctr" indent="0" marL="0">
                        <a:buNone/>
                      </a:pPr>
                      <a:r>
                        <a:rPr lang="en-US" sz="1400" b="1" dirty="0">
                          <a:solidFill>
                            <a:srgbClr val="A85A00"/>
                          </a:solidFill>
                          <a:latin typeface="Cambria" pitchFamily="34" charset="0"/>
                          <a:ea typeface="Cambria" pitchFamily="34" charset="-122"/>
                          <a:cs typeface="Cambria" pitchFamily="34" charset="-120"/>
                        </a:rPr>
                        <a:t>3</a:t>
                      </a:r>
                      <a:endParaRPr lang="en-US" sz="1400" dirty="0">
                        <a:latin typeface="Cambria" charset="0"/>
                        <a:ea typeface="Cambria" charset="0"/>
                        <a:cs typeface="Cambria" charset="0"/>
                      </a:endParaRPr>
                    </a:p>
                  </a:txBody>
                  <a:tcPr marL="91440" marR="91440" marT="0" marB="0" anchor="ctr">
                    <a:lnL w="9525" cap="flat" cmpd="sng" algn="ctr">
                      <a:solidFill>
                        <a:srgbClr val="C9D5CE"/>
                      </a:solidFill>
                      <a:prstDash val="solid"/>
                      <a:round/>
                      <a:headEnd type="none" w="med" len="med"/>
                      <a:tailEnd type="none" w="med" len="med"/>
                    </a:lnL>
                    <a:lnR w="9525" cap="flat" cmpd="sng" algn="ctr">
                      <a:solidFill>
                        <a:srgbClr val="C9D5CE"/>
                      </a:solidFill>
                      <a:prstDash val="solid"/>
                      <a:round/>
                      <a:headEnd type="none" w="med" len="med"/>
                      <a:tailEnd type="none" w="med" len="med"/>
                    </a:lnR>
                    <a:lnT w="9525" cap="flat" cmpd="sng" algn="ctr">
                      <a:solidFill>
                        <a:srgbClr val="C9D5CE"/>
                      </a:solidFill>
                      <a:prstDash val="solid"/>
                      <a:round/>
                      <a:headEnd type="none" w="med" len="med"/>
                      <a:tailEnd type="none" w="med" len="med"/>
                    </a:lnT>
                    <a:lnB w="9525" cap="flat" cmpd="sng" algn="ctr">
                      <a:solidFill>
                        <a:srgbClr val="C9D5CE"/>
                      </a:solidFill>
                      <a:prstDash val="solid"/>
                      <a:round/>
                      <a:headEnd type="none" w="med" len="med"/>
                      <a:tailEnd type="none" w="med" len="med"/>
                    </a:lnB>
                    <a:solidFill>
                      <a:srgbClr val="E8F1EB"/>
                    </a:solidFill>
                  </a:tcPr>
                </a:tc>
                <a:tc>
                  <a:txBody>
                    <a:bodyPr/>
                    <a:lstStyle/>
                    <a:p>
                      <a:pPr algn="ctr" indent="0" marL="0">
                        <a:buNone/>
                      </a:pPr>
                      <a:r>
                        <a:rPr lang="en-US" sz="1400" b="1" dirty="0">
                          <a:solidFill>
                            <a:srgbClr val="A85A00"/>
                          </a:solidFill>
                          <a:latin typeface="Cambria" pitchFamily="34" charset="0"/>
                          <a:ea typeface="Cambria" pitchFamily="34" charset="-122"/>
                          <a:cs typeface="Cambria" pitchFamily="34" charset="-120"/>
                        </a:rPr>
                        <a:t>3</a:t>
                      </a:r>
                      <a:endParaRPr lang="en-US" sz="1400" dirty="0">
                        <a:latin typeface="Cambria" charset="0"/>
                        <a:ea typeface="Cambria" charset="0"/>
                        <a:cs typeface="Cambria" charset="0"/>
                      </a:endParaRPr>
                    </a:p>
                  </a:txBody>
                  <a:tcPr marL="91440" marR="91440" marT="0" marB="0" anchor="ctr">
                    <a:lnL w="9525" cap="flat" cmpd="sng" algn="ctr">
                      <a:solidFill>
                        <a:srgbClr val="C9D5CE"/>
                      </a:solidFill>
                      <a:prstDash val="solid"/>
                      <a:round/>
                      <a:headEnd type="none" w="med" len="med"/>
                      <a:tailEnd type="none" w="med" len="med"/>
                    </a:lnL>
                    <a:lnR w="9525" cap="flat" cmpd="sng" algn="ctr">
                      <a:solidFill>
                        <a:srgbClr val="C9D5CE"/>
                      </a:solidFill>
                      <a:prstDash val="solid"/>
                      <a:round/>
                      <a:headEnd type="none" w="med" len="med"/>
                      <a:tailEnd type="none" w="med" len="med"/>
                    </a:lnR>
                    <a:lnT w="9525" cap="flat" cmpd="sng" algn="ctr">
                      <a:solidFill>
                        <a:srgbClr val="C9D5CE"/>
                      </a:solidFill>
                      <a:prstDash val="solid"/>
                      <a:round/>
                      <a:headEnd type="none" w="med" len="med"/>
                      <a:tailEnd type="none" w="med" len="med"/>
                    </a:lnT>
                    <a:lnB w="9525" cap="flat" cmpd="sng" algn="ctr">
                      <a:solidFill>
                        <a:srgbClr val="C9D5CE"/>
                      </a:solidFill>
                      <a:prstDash val="solid"/>
                      <a:round/>
                      <a:headEnd type="none" w="med" len="med"/>
                      <a:tailEnd type="none" w="med" len="med"/>
                    </a:lnB>
                    <a:solidFill>
                      <a:srgbClr val="E8F1EB"/>
                    </a:solidFill>
                  </a:tcPr>
                </a:tc>
                <a:tc>
                  <a:txBody>
                    <a:bodyPr/>
                    <a:lstStyle/>
                    <a:p>
                      <a:pPr algn="ctr" indent="0" marL="0">
                        <a:buNone/>
                      </a:pPr>
                      <a:r>
                        <a:rPr lang="en-US" sz="1400" b="1" dirty="0">
                          <a:solidFill>
                            <a:srgbClr val="A85A00"/>
                          </a:solidFill>
                          <a:latin typeface="Cambria" pitchFamily="34" charset="0"/>
                          <a:ea typeface="Cambria" pitchFamily="34" charset="-122"/>
                          <a:cs typeface="Cambria" pitchFamily="34" charset="-120"/>
                        </a:rPr>
                        <a:t>4</a:t>
                      </a:r>
                      <a:endParaRPr lang="en-US" sz="1400" dirty="0">
                        <a:latin typeface="Cambria" charset="0"/>
                        <a:ea typeface="Cambria" charset="0"/>
                        <a:cs typeface="Cambria" charset="0"/>
                      </a:endParaRPr>
                    </a:p>
                  </a:txBody>
                  <a:tcPr marL="91440" marR="91440" marT="0" marB="0" anchor="ctr">
                    <a:lnL w="9525" cap="flat" cmpd="sng" algn="ctr">
                      <a:solidFill>
                        <a:srgbClr val="C9D5CE"/>
                      </a:solidFill>
                      <a:prstDash val="solid"/>
                      <a:round/>
                      <a:headEnd type="none" w="med" len="med"/>
                      <a:tailEnd type="none" w="med" len="med"/>
                    </a:lnL>
                    <a:lnR w="9525" cap="flat" cmpd="sng" algn="ctr">
                      <a:solidFill>
                        <a:srgbClr val="C9D5CE"/>
                      </a:solidFill>
                      <a:prstDash val="solid"/>
                      <a:round/>
                      <a:headEnd type="none" w="med" len="med"/>
                      <a:tailEnd type="none" w="med" len="med"/>
                    </a:lnR>
                    <a:lnT w="9525" cap="flat" cmpd="sng" algn="ctr">
                      <a:solidFill>
                        <a:srgbClr val="C9D5CE"/>
                      </a:solidFill>
                      <a:prstDash val="solid"/>
                      <a:round/>
                      <a:headEnd type="none" w="med" len="med"/>
                      <a:tailEnd type="none" w="med" len="med"/>
                    </a:lnT>
                    <a:lnB w="9525" cap="flat" cmpd="sng" algn="ctr">
                      <a:solidFill>
                        <a:srgbClr val="C9D5CE"/>
                      </a:solidFill>
                      <a:prstDash val="solid"/>
                      <a:round/>
                      <a:headEnd type="none" w="med" len="med"/>
                      <a:tailEnd type="none" w="med" len="med"/>
                    </a:lnB>
                    <a:solidFill>
                      <a:srgbClr val="E8F1EB"/>
                    </a:solidFill>
                  </a:tcPr>
                </a:tc>
                <a:tc>
                  <a:txBody>
                    <a:bodyPr/>
                    <a:lstStyle/>
                    <a:p>
                      <a:pPr indent="0" marL="0">
                        <a:buNone/>
                      </a:pPr>
                      <a:r>
                        <a:rPr lang="en-US" sz="950" b="1" dirty="0">
                          <a:solidFill>
                            <a:srgbClr val="154B36"/>
                          </a:solidFill>
                          <a:latin typeface="Calibri" pitchFamily="34" charset="0"/>
                          <a:ea typeface="Calibri" pitchFamily="34" charset="-122"/>
                          <a:cs typeface="Calibri" pitchFamily="34" charset="-120"/>
                        </a:rPr>
                        <a:t>Priority next build</a:t>
                      </a:r>
                      <a:endParaRPr lang="en-US" sz="950" dirty="0">
                        <a:latin typeface="Calibri" charset="0"/>
                        <a:ea typeface="Calibri" charset="0"/>
                        <a:cs typeface="Calibri" charset="0"/>
                      </a:endParaRPr>
                    </a:p>
                  </a:txBody>
                  <a:tcPr marL="91440" marR="91440" marT="0" marB="0" anchor="ctr">
                    <a:lnL w="9525" cap="flat" cmpd="sng" algn="ctr">
                      <a:solidFill>
                        <a:srgbClr val="C9D5CE"/>
                      </a:solidFill>
                      <a:prstDash val="solid"/>
                      <a:round/>
                      <a:headEnd type="none" w="med" len="med"/>
                      <a:tailEnd type="none" w="med" len="med"/>
                    </a:lnL>
                    <a:lnR w="9525" cap="flat" cmpd="sng" algn="ctr">
                      <a:solidFill>
                        <a:srgbClr val="C9D5CE"/>
                      </a:solidFill>
                      <a:prstDash val="solid"/>
                      <a:round/>
                      <a:headEnd type="none" w="med" len="med"/>
                      <a:tailEnd type="none" w="med" len="med"/>
                    </a:lnR>
                    <a:lnT w="9525" cap="flat" cmpd="sng" algn="ctr">
                      <a:solidFill>
                        <a:srgbClr val="C9D5CE"/>
                      </a:solidFill>
                      <a:prstDash val="solid"/>
                      <a:round/>
                      <a:headEnd type="none" w="med" len="med"/>
                      <a:tailEnd type="none" w="med" len="med"/>
                    </a:lnT>
                    <a:lnB w="9525" cap="flat" cmpd="sng" algn="ctr">
                      <a:solidFill>
                        <a:srgbClr val="C9D5CE"/>
                      </a:solidFill>
                      <a:prstDash val="solid"/>
                      <a:round/>
                      <a:headEnd type="none" w="med" len="med"/>
                      <a:tailEnd type="none" w="med" len="med"/>
                    </a:lnB>
                    <a:solidFill>
                      <a:srgbClr val="E8F1EB"/>
                    </a:solidFill>
                  </a:tcPr>
                </a:tc>
              </a:tr>
              <a:tr h="566928">
                <a:tc>
                  <a:txBody>
                    <a:bodyPr/>
                    <a:lstStyle/>
                    <a:p>
                      <a:pPr indent="0" marL="0">
                        <a:buNone/>
                      </a:pPr>
                      <a:r>
                        <a:rPr lang="en-US" sz="1050" b="1" dirty="0">
                          <a:solidFill>
                            <a:srgbClr val="154B36"/>
                          </a:solidFill>
                          <a:latin typeface="Calibri" pitchFamily="34" charset="0"/>
                          <a:ea typeface="Calibri" pitchFamily="34" charset="-122"/>
                          <a:cs typeface="Calibri" pitchFamily="34" charset="-120"/>
                        </a:rPr>
                        <a:t>Cart-Exit Guardrail</a:t>
                      </a:r>
                      <a:endParaRPr lang="en-US" sz="1050" dirty="0">
                        <a:latin typeface="Calibri" charset="0"/>
                        <a:ea typeface="Calibri" charset="0"/>
                        <a:cs typeface="Calibri" charset="0"/>
                      </a:endParaRPr>
                    </a:p>
                  </a:txBody>
                  <a:tcPr marL="91440" marR="91440" marT="0" marB="0" anchor="ctr">
                    <a:lnL w="9525" cap="flat" cmpd="sng" algn="ctr">
                      <a:solidFill>
                        <a:srgbClr val="C9D5CE"/>
                      </a:solidFill>
                      <a:prstDash val="solid"/>
                      <a:round/>
                      <a:headEnd type="none" w="med" len="med"/>
                      <a:tailEnd type="none" w="med" len="med"/>
                    </a:lnL>
                    <a:lnR w="9525" cap="flat" cmpd="sng" algn="ctr">
                      <a:solidFill>
                        <a:srgbClr val="C9D5CE"/>
                      </a:solidFill>
                      <a:prstDash val="solid"/>
                      <a:round/>
                      <a:headEnd type="none" w="med" len="med"/>
                      <a:tailEnd type="none" w="med" len="med"/>
                    </a:lnR>
                    <a:lnT w="9525" cap="flat" cmpd="sng" algn="ctr">
                      <a:solidFill>
                        <a:srgbClr val="C9D5CE"/>
                      </a:solidFill>
                      <a:prstDash val="solid"/>
                      <a:round/>
                      <a:headEnd type="none" w="med" len="med"/>
                      <a:tailEnd type="none" w="med" len="med"/>
                    </a:lnT>
                    <a:lnB w="9525" cap="flat" cmpd="sng" algn="ctr">
                      <a:solidFill>
                        <a:srgbClr val="C9D5CE"/>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A85A00"/>
                          </a:solidFill>
                          <a:latin typeface="Cambria" pitchFamily="34" charset="0"/>
                          <a:ea typeface="Cambria" pitchFamily="34" charset="-122"/>
                          <a:cs typeface="Cambria" pitchFamily="34" charset="-120"/>
                        </a:rPr>
                        <a:t>3</a:t>
                      </a:r>
                      <a:endParaRPr lang="en-US" sz="1400" dirty="0">
                        <a:latin typeface="Cambria" charset="0"/>
                        <a:ea typeface="Cambria" charset="0"/>
                        <a:cs typeface="Cambria" charset="0"/>
                      </a:endParaRPr>
                    </a:p>
                  </a:txBody>
                  <a:tcPr marL="91440" marR="91440" marT="0" marB="0" anchor="ctr">
                    <a:lnL w="9525" cap="flat" cmpd="sng" algn="ctr">
                      <a:solidFill>
                        <a:srgbClr val="C9D5CE"/>
                      </a:solidFill>
                      <a:prstDash val="solid"/>
                      <a:round/>
                      <a:headEnd type="none" w="med" len="med"/>
                      <a:tailEnd type="none" w="med" len="med"/>
                    </a:lnL>
                    <a:lnR w="9525" cap="flat" cmpd="sng" algn="ctr">
                      <a:solidFill>
                        <a:srgbClr val="C9D5CE"/>
                      </a:solidFill>
                      <a:prstDash val="solid"/>
                      <a:round/>
                      <a:headEnd type="none" w="med" len="med"/>
                      <a:tailEnd type="none" w="med" len="med"/>
                    </a:lnR>
                    <a:lnT w="9525" cap="flat" cmpd="sng" algn="ctr">
                      <a:solidFill>
                        <a:srgbClr val="C9D5CE"/>
                      </a:solidFill>
                      <a:prstDash val="solid"/>
                      <a:round/>
                      <a:headEnd type="none" w="med" len="med"/>
                      <a:tailEnd type="none" w="med" len="med"/>
                    </a:lnT>
                    <a:lnB w="9525" cap="flat" cmpd="sng" algn="ctr">
                      <a:solidFill>
                        <a:srgbClr val="C9D5CE"/>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A85A00"/>
                          </a:solidFill>
                          <a:latin typeface="Cambria" pitchFamily="34" charset="0"/>
                          <a:ea typeface="Cambria" pitchFamily="34" charset="-122"/>
                          <a:cs typeface="Cambria" pitchFamily="34" charset="-120"/>
                        </a:rPr>
                        <a:t>4</a:t>
                      </a:r>
                      <a:endParaRPr lang="en-US" sz="1400" dirty="0">
                        <a:latin typeface="Cambria" charset="0"/>
                        <a:ea typeface="Cambria" charset="0"/>
                        <a:cs typeface="Cambria" charset="0"/>
                      </a:endParaRPr>
                    </a:p>
                  </a:txBody>
                  <a:tcPr marL="91440" marR="91440" marT="0" marB="0" anchor="ctr">
                    <a:lnL w="9525" cap="flat" cmpd="sng" algn="ctr">
                      <a:solidFill>
                        <a:srgbClr val="C9D5CE"/>
                      </a:solidFill>
                      <a:prstDash val="solid"/>
                      <a:round/>
                      <a:headEnd type="none" w="med" len="med"/>
                      <a:tailEnd type="none" w="med" len="med"/>
                    </a:lnL>
                    <a:lnR w="9525" cap="flat" cmpd="sng" algn="ctr">
                      <a:solidFill>
                        <a:srgbClr val="C9D5CE"/>
                      </a:solidFill>
                      <a:prstDash val="solid"/>
                      <a:round/>
                      <a:headEnd type="none" w="med" len="med"/>
                      <a:tailEnd type="none" w="med" len="med"/>
                    </a:lnR>
                    <a:lnT w="9525" cap="flat" cmpd="sng" algn="ctr">
                      <a:solidFill>
                        <a:srgbClr val="C9D5CE"/>
                      </a:solidFill>
                      <a:prstDash val="solid"/>
                      <a:round/>
                      <a:headEnd type="none" w="med" len="med"/>
                      <a:tailEnd type="none" w="med" len="med"/>
                    </a:lnT>
                    <a:lnB w="9525" cap="flat" cmpd="sng" algn="ctr">
                      <a:solidFill>
                        <a:srgbClr val="C9D5CE"/>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A85A00"/>
                          </a:solidFill>
                          <a:latin typeface="Cambria" pitchFamily="34" charset="0"/>
                          <a:ea typeface="Cambria" pitchFamily="34" charset="-122"/>
                          <a:cs typeface="Cambria" pitchFamily="34" charset="-120"/>
                        </a:rPr>
                        <a:t>3</a:t>
                      </a:r>
                      <a:endParaRPr lang="en-US" sz="1400" dirty="0">
                        <a:latin typeface="Cambria" charset="0"/>
                        <a:ea typeface="Cambria" charset="0"/>
                        <a:cs typeface="Cambria" charset="0"/>
                      </a:endParaRPr>
                    </a:p>
                  </a:txBody>
                  <a:tcPr marL="91440" marR="91440" marT="0" marB="0" anchor="ctr">
                    <a:lnL w="9525" cap="flat" cmpd="sng" algn="ctr">
                      <a:solidFill>
                        <a:srgbClr val="C9D5CE"/>
                      </a:solidFill>
                      <a:prstDash val="solid"/>
                      <a:round/>
                      <a:headEnd type="none" w="med" len="med"/>
                      <a:tailEnd type="none" w="med" len="med"/>
                    </a:lnL>
                    <a:lnR w="9525" cap="flat" cmpd="sng" algn="ctr">
                      <a:solidFill>
                        <a:srgbClr val="C9D5CE"/>
                      </a:solidFill>
                      <a:prstDash val="solid"/>
                      <a:round/>
                      <a:headEnd type="none" w="med" len="med"/>
                      <a:tailEnd type="none" w="med" len="med"/>
                    </a:lnR>
                    <a:lnT w="9525" cap="flat" cmpd="sng" algn="ctr">
                      <a:solidFill>
                        <a:srgbClr val="C9D5CE"/>
                      </a:solidFill>
                      <a:prstDash val="solid"/>
                      <a:round/>
                      <a:headEnd type="none" w="med" len="med"/>
                      <a:tailEnd type="none" w="med" len="med"/>
                    </a:lnT>
                    <a:lnB w="9525" cap="flat" cmpd="sng" algn="ctr">
                      <a:solidFill>
                        <a:srgbClr val="C9D5CE"/>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A85A00"/>
                          </a:solidFill>
                          <a:latin typeface="Cambria" pitchFamily="34" charset="0"/>
                          <a:ea typeface="Cambria" pitchFamily="34" charset="-122"/>
                          <a:cs typeface="Cambria" pitchFamily="34" charset="-120"/>
                        </a:rPr>
                        <a:t>4</a:t>
                      </a:r>
                      <a:endParaRPr lang="en-US" sz="1400" dirty="0">
                        <a:latin typeface="Cambria" charset="0"/>
                        <a:ea typeface="Cambria" charset="0"/>
                        <a:cs typeface="Cambria" charset="0"/>
                      </a:endParaRPr>
                    </a:p>
                  </a:txBody>
                  <a:tcPr marL="91440" marR="91440" marT="0" marB="0" anchor="ctr">
                    <a:lnL w="9525" cap="flat" cmpd="sng" algn="ctr">
                      <a:solidFill>
                        <a:srgbClr val="C9D5CE"/>
                      </a:solidFill>
                      <a:prstDash val="solid"/>
                      <a:round/>
                      <a:headEnd type="none" w="med" len="med"/>
                      <a:tailEnd type="none" w="med" len="med"/>
                    </a:lnL>
                    <a:lnR w="9525" cap="flat" cmpd="sng" algn="ctr">
                      <a:solidFill>
                        <a:srgbClr val="C9D5CE"/>
                      </a:solidFill>
                      <a:prstDash val="solid"/>
                      <a:round/>
                      <a:headEnd type="none" w="med" len="med"/>
                      <a:tailEnd type="none" w="med" len="med"/>
                    </a:lnR>
                    <a:lnT w="9525" cap="flat" cmpd="sng" algn="ctr">
                      <a:solidFill>
                        <a:srgbClr val="C9D5CE"/>
                      </a:solidFill>
                      <a:prstDash val="solid"/>
                      <a:round/>
                      <a:headEnd type="none" w="med" len="med"/>
                      <a:tailEnd type="none" w="med" len="med"/>
                    </a:lnT>
                    <a:lnB w="9525" cap="flat" cmpd="sng" algn="ctr">
                      <a:solidFill>
                        <a:srgbClr val="C9D5CE"/>
                      </a:solidFill>
                      <a:prstDash val="solid"/>
                      <a:round/>
                      <a:headEnd type="none" w="med" len="med"/>
                      <a:tailEnd type="none" w="med" len="med"/>
                    </a:lnB>
                    <a:solidFill>
                      <a:srgbClr val="FFFFFF"/>
                    </a:solidFill>
                  </a:tcPr>
                </a:tc>
                <a:tc>
                  <a:txBody>
                    <a:bodyPr/>
                    <a:lstStyle/>
                    <a:p>
                      <a:pPr indent="0" marL="0">
                        <a:buNone/>
                      </a:pPr>
                      <a:r>
                        <a:rPr lang="en-US" sz="950" dirty="0">
                          <a:solidFill>
                            <a:srgbClr val="1F2A24"/>
                          </a:solidFill>
                          <a:latin typeface="Calibri" pitchFamily="34" charset="0"/>
                          <a:ea typeface="Calibri" pitchFamily="34" charset="-122"/>
                          <a:cs typeface="Calibri" pitchFamily="34" charset="-120"/>
                        </a:rPr>
                        <a:t>Backlog</a:t>
                      </a:r>
                      <a:endParaRPr lang="en-US" sz="950" dirty="0">
                        <a:latin typeface="Calibri" charset="0"/>
                        <a:ea typeface="Calibri" charset="0"/>
                        <a:cs typeface="Calibri" charset="0"/>
                      </a:endParaRPr>
                    </a:p>
                  </a:txBody>
                  <a:tcPr marL="91440" marR="91440" marT="0" marB="0" anchor="ctr">
                    <a:lnL w="9525" cap="flat" cmpd="sng" algn="ctr">
                      <a:solidFill>
                        <a:srgbClr val="C9D5CE"/>
                      </a:solidFill>
                      <a:prstDash val="solid"/>
                      <a:round/>
                      <a:headEnd type="none" w="med" len="med"/>
                      <a:tailEnd type="none" w="med" len="med"/>
                    </a:lnL>
                    <a:lnR w="9525" cap="flat" cmpd="sng" algn="ctr">
                      <a:solidFill>
                        <a:srgbClr val="C9D5CE"/>
                      </a:solidFill>
                      <a:prstDash val="solid"/>
                      <a:round/>
                      <a:headEnd type="none" w="med" len="med"/>
                      <a:tailEnd type="none" w="med" len="med"/>
                    </a:lnR>
                    <a:lnT w="9525" cap="flat" cmpd="sng" algn="ctr">
                      <a:solidFill>
                        <a:srgbClr val="C9D5CE"/>
                      </a:solidFill>
                      <a:prstDash val="solid"/>
                      <a:round/>
                      <a:headEnd type="none" w="med" len="med"/>
                      <a:tailEnd type="none" w="med" len="med"/>
                    </a:lnT>
                    <a:lnB w="9525" cap="flat" cmpd="sng" algn="ctr">
                      <a:solidFill>
                        <a:srgbClr val="C9D5CE"/>
                      </a:solidFill>
                      <a:prstDash val="solid"/>
                      <a:round/>
                      <a:headEnd type="none" w="med" len="med"/>
                      <a:tailEnd type="none" w="med" len="med"/>
                    </a:lnB>
                    <a:solidFill>
                      <a:srgbClr val="FFFFFF"/>
                    </a:solidFill>
                  </a:tcPr>
                </a:tc>
              </a:tr>
              <a:tr h="566928">
                <a:tc>
                  <a:txBody>
                    <a:bodyPr/>
                    <a:lstStyle/>
                    <a:p>
                      <a:pPr indent="0" marL="0">
                        <a:buNone/>
                      </a:pPr>
                      <a:r>
                        <a:rPr lang="en-US" sz="1050" b="1" dirty="0">
                          <a:solidFill>
                            <a:srgbClr val="154B36"/>
                          </a:solidFill>
                          <a:latin typeface="Calibri" pitchFamily="34" charset="0"/>
                          <a:ea typeface="Calibri" pitchFamily="34" charset="-122"/>
                          <a:cs typeface="Calibri" pitchFamily="34" charset="-120"/>
                        </a:rPr>
                        <a:t>Clinician Safe-List</a:t>
                      </a:r>
                      <a:endParaRPr lang="en-US" sz="1050" dirty="0">
                        <a:latin typeface="Calibri" charset="0"/>
                        <a:ea typeface="Calibri" charset="0"/>
                        <a:cs typeface="Calibri" charset="0"/>
                      </a:endParaRPr>
                    </a:p>
                  </a:txBody>
                  <a:tcPr marL="91440" marR="91440" marT="0" marB="0" anchor="ctr">
                    <a:lnL w="9525" cap="flat" cmpd="sng" algn="ctr">
                      <a:solidFill>
                        <a:srgbClr val="C9D5CE"/>
                      </a:solidFill>
                      <a:prstDash val="solid"/>
                      <a:round/>
                      <a:headEnd type="none" w="med" len="med"/>
                      <a:tailEnd type="none" w="med" len="med"/>
                    </a:lnL>
                    <a:lnR w="9525" cap="flat" cmpd="sng" algn="ctr">
                      <a:solidFill>
                        <a:srgbClr val="C9D5CE"/>
                      </a:solidFill>
                      <a:prstDash val="solid"/>
                      <a:round/>
                      <a:headEnd type="none" w="med" len="med"/>
                      <a:tailEnd type="none" w="med" len="med"/>
                    </a:lnR>
                    <a:lnT w="9525" cap="flat" cmpd="sng" algn="ctr">
                      <a:solidFill>
                        <a:srgbClr val="C9D5CE"/>
                      </a:solidFill>
                      <a:prstDash val="solid"/>
                      <a:round/>
                      <a:headEnd type="none" w="med" len="med"/>
                      <a:tailEnd type="none" w="med" len="med"/>
                    </a:lnT>
                    <a:lnB w="9525" cap="flat" cmpd="sng" algn="ctr">
                      <a:solidFill>
                        <a:srgbClr val="C9D5CE"/>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A85A00"/>
                          </a:solidFill>
                          <a:latin typeface="Cambria" pitchFamily="34" charset="0"/>
                          <a:ea typeface="Cambria" pitchFamily="34" charset="-122"/>
                          <a:cs typeface="Cambria" pitchFamily="34" charset="-120"/>
                        </a:rPr>
                        <a:t>4</a:t>
                      </a:r>
                      <a:endParaRPr lang="en-US" sz="1400" dirty="0">
                        <a:latin typeface="Cambria" charset="0"/>
                        <a:ea typeface="Cambria" charset="0"/>
                        <a:cs typeface="Cambria" charset="0"/>
                      </a:endParaRPr>
                    </a:p>
                  </a:txBody>
                  <a:tcPr marL="91440" marR="91440" marT="0" marB="0" anchor="ctr">
                    <a:lnL w="9525" cap="flat" cmpd="sng" algn="ctr">
                      <a:solidFill>
                        <a:srgbClr val="C9D5CE"/>
                      </a:solidFill>
                      <a:prstDash val="solid"/>
                      <a:round/>
                      <a:headEnd type="none" w="med" len="med"/>
                      <a:tailEnd type="none" w="med" len="med"/>
                    </a:lnL>
                    <a:lnR w="9525" cap="flat" cmpd="sng" algn="ctr">
                      <a:solidFill>
                        <a:srgbClr val="C9D5CE"/>
                      </a:solidFill>
                      <a:prstDash val="solid"/>
                      <a:round/>
                      <a:headEnd type="none" w="med" len="med"/>
                      <a:tailEnd type="none" w="med" len="med"/>
                    </a:lnR>
                    <a:lnT w="9525" cap="flat" cmpd="sng" algn="ctr">
                      <a:solidFill>
                        <a:srgbClr val="C9D5CE"/>
                      </a:solidFill>
                      <a:prstDash val="solid"/>
                      <a:round/>
                      <a:headEnd type="none" w="med" len="med"/>
                      <a:tailEnd type="none" w="med" len="med"/>
                    </a:lnT>
                    <a:lnB w="9525" cap="flat" cmpd="sng" algn="ctr">
                      <a:solidFill>
                        <a:srgbClr val="C9D5CE"/>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A85A00"/>
                          </a:solidFill>
                          <a:latin typeface="Cambria" pitchFamily="34" charset="0"/>
                          <a:ea typeface="Cambria" pitchFamily="34" charset="-122"/>
                          <a:cs typeface="Cambria" pitchFamily="34" charset="-120"/>
                        </a:rPr>
                        <a:t>2</a:t>
                      </a:r>
                      <a:endParaRPr lang="en-US" sz="1400" dirty="0">
                        <a:latin typeface="Cambria" charset="0"/>
                        <a:ea typeface="Cambria" charset="0"/>
                        <a:cs typeface="Cambria" charset="0"/>
                      </a:endParaRPr>
                    </a:p>
                  </a:txBody>
                  <a:tcPr marL="91440" marR="91440" marT="0" marB="0" anchor="ctr">
                    <a:lnL w="9525" cap="flat" cmpd="sng" algn="ctr">
                      <a:solidFill>
                        <a:srgbClr val="C9D5CE"/>
                      </a:solidFill>
                      <a:prstDash val="solid"/>
                      <a:round/>
                      <a:headEnd type="none" w="med" len="med"/>
                      <a:tailEnd type="none" w="med" len="med"/>
                    </a:lnL>
                    <a:lnR w="9525" cap="flat" cmpd="sng" algn="ctr">
                      <a:solidFill>
                        <a:srgbClr val="C9D5CE"/>
                      </a:solidFill>
                      <a:prstDash val="solid"/>
                      <a:round/>
                      <a:headEnd type="none" w="med" len="med"/>
                      <a:tailEnd type="none" w="med" len="med"/>
                    </a:lnR>
                    <a:lnT w="9525" cap="flat" cmpd="sng" algn="ctr">
                      <a:solidFill>
                        <a:srgbClr val="C9D5CE"/>
                      </a:solidFill>
                      <a:prstDash val="solid"/>
                      <a:round/>
                      <a:headEnd type="none" w="med" len="med"/>
                      <a:tailEnd type="none" w="med" len="med"/>
                    </a:lnT>
                    <a:lnB w="9525" cap="flat" cmpd="sng" algn="ctr">
                      <a:solidFill>
                        <a:srgbClr val="C9D5CE"/>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A85A00"/>
                          </a:solidFill>
                          <a:latin typeface="Cambria" pitchFamily="34" charset="0"/>
                          <a:ea typeface="Cambria" pitchFamily="34" charset="-122"/>
                          <a:cs typeface="Cambria" pitchFamily="34" charset="-120"/>
                        </a:rPr>
                        <a:t>2</a:t>
                      </a:r>
                      <a:endParaRPr lang="en-US" sz="1400" dirty="0">
                        <a:latin typeface="Cambria" charset="0"/>
                        <a:ea typeface="Cambria" charset="0"/>
                        <a:cs typeface="Cambria" charset="0"/>
                      </a:endParaRPr>
                    </a:p>
                  </a:txBody>
                  <a:tcPr marL="91440" marR="91440" marT="0" marB="0" anchor="ctr">
                    <a:lnL w="9525" cap="flat" cmpd="sng" algn="ctr">
                      <a:solidFill>
                        <a:srgbClr val="C9D5CE"/>
                      </a:solidFill>
                      <a:prstDash val="solid"/>
                      <a:round/>
                      <a:headEnd type="none" w="med" len="med"/>
                      <a:tailEnd type="none" w="med" len="med"/>
                    </a:lnL>
                    <a:lnR w="9525" cap="flat" cmpd="sng" algn="ctr">
                      <a:solidFill>
                        <a:srgbClr val="C9D5CE"/>
                      </a:solidFill>
                      <a:prstDash val="solid"/>
                      <a:round/>
                      <a:headEnd type="none" w="med" len="med"/>
                      <a:tailEnd type="none" w="med" len="med"/>
                    </a:lnR>
                    <a:lnT w="9525" cap="flat" cmpd="sng" algn="ctr">
                      <a:solidFill>
                        <a:srgbClr val="C9D5CE"/>
                      </a:solidFill>
                      <a:prstDash val="solid"/>
                      <a:round/>
                      <a:headEnd type="none" w="med" len="med"/>
                      <a:tailEnd type="none" w="med" len="med"/>
                    </a:lnT>
                    <a:lnB w="9525" cap="flat" cmpd="sng" algn="ctr">
                      <a:solidFill>
                        <a:srgbClr val="C9D5CE"/>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A85A00"/>
                          </a:solidFill>
                          <a:latin typeface="Cambria" pitchFamily="34" charset="0"/>
                          <a:ea typeface="Cambria" pitchFamily="34" charset="-122"/>
                          <a:cs typeface="Cambria" pitchFamily="34" charset="-120"/>
                        </a:rPr>
                        <a:t>5</a:t>
                      </a:r>
                      <a:endParaRPr lang="en-US" sz="1400" dirty="0">
                        <a:latin typeface="Cambria" charset="0"/>
                        <a:ea typeface="Cambria" charset="0"/>
                        <a:cs typeface="Cambria" charset="0"/>
                      </a:endParaRPr>
                    </a:p>
                  </a:txBody>
                  <a:tcPr marL="91440" marR="91440" marT="0" marB="0" anchor="ctr">
                    <a:lnL w="9525" cap="flat" cmpd="sng" algn="ctr">
                      <a:solidFill>
                        <a:srgbClr val="C9D5CE"/>
                      </a:solidFill>
                      <a:prstDash val="solid"/>
                      <a:round/>
                      <a:headEnd type="none" w="med" len="med"/>
                      <a:tailEnd type="none" w="med" len="med"/>
                    </a:lnL>
                    <a:lnR w="9525" cap="flat" cmpd="sng" algn="ctr">
                      <a:solidFill>
                        <a:srgbClr val="C9D5CE"/>
                      </a:solidFill>
                      <a:prstDash val="solid"/>
                      <a:round/>
                      <a:headEnd type="none" w="med" len="med"/>
                      <a:tailEnd type="none" w="med" len="med"/>
                    </a:lnR>
                    <a:lnT w="9525" cap="flat" cmpd="sng" algn="ctr">
                      <a:solidFill>
                        <a:srgbClr val="C9D5CE"/>
                      </a:solidFill>
                      <a:prstDash val="solid"/>
                      <a:round/>
                      <a:headEnd type="none" w="med" len="med"/>
                      <a:tailEnd type="none" w="med" len="med"/>
                    </a:lnT>
                    <a:lnB w="9525" cap="flat" cmpd="sng" algn="ctr">
                      <a:solidFill>
                        <a:srgbClr val="C9D5CE"/>
                      </a:solidFill>
                      <a:prstDash val="solid"/>
                      <a:round/>
                      <a:headEnd type="none" w="med" len="med"/>
                      <a:tailEnd type="none" w="med" len="med"/>
                    </a:lnB>
                    <a:solidFill>
                      <a:srgbClr val="FFFFFF"/>
                    </a:solidFill>
                  </a:tcPr>
                </a:tc>
                <a:tc>
                  <a:txBody>
                    <a:bodyPr/>
                    <a:lstStyle/>
                    <a:p>
                      <a:pPr indent="0" marL="0">
                        <a:buNone/>
                      </a:pPr>
                      <a:r>
                        <a:rPr lang="en-US" sz="950" dirty="0">
                          <a:solidFill>
                            <a:srgbClr val="1F2A24"/>
                          </a:solidFill>
                          <a:latin typeface="Calibri" pitchFamily="34" charset="0"/>
                          <a:ea typeface="Calibri" pitchFamily="34" charset="-122"/>
                          <a:cs typeface="Calibri" pitchFamily="34" charset="-120"/>
                        </a:rPr>
                        <a:t>Park pending KNDI engagement</a:t>
                      </a:r>
                      <a:endParaRPr lang="en-US" sz="950" dirty="0">
                        <a:latin typeface="Calibri" charset="0"/>
                        <a:ea typeface="Calibri" charset="0"/>
                        <a:cs typeface="Calibri" charset="0"/>
                      </a:endParaRPr>
                    </a:p>
                  </a:txBody>
                  <a:tcPr marL="91440" marR="91440" marT="0" marB="0" anchor="ctr">
                    <a:lnL w="9525" cap="flat" cmpd="sng" algn="ctr">
                      <a:solidFill>
                        <a:srgbClr val="C9D5CE"/>
                      </a:solidFill>
                      <a:prstDash val="solid"/>
                      <a:round/>
                      <a:headEnd type="none" w="med" len="med"/>
                      <a:tailEnd type="none" w="med" len="med"/>
                    </a:lnL>
                    <a:lnR w="9525" cap="flat" cmpd="sng" algn="ctr">
                      <a:solidFill>
                        <a:srgbClr val="C9D5CE"/>
                      </a:solidFill>
                      <a:prstDash val="solid"/>
                      <a:round/>
                      <a:headEnd type="none" w="med" len="med"/>
                      <a:tailEnd type="none" w="med" len="med"/>
                    </a:lnR>
                    <a:lnT w="9525" cap="flat" cmpd="sng" algn="ctr">
                      <a:solidFill>
                        <a:srgbClr val="C9D5CE"/>
                      </a:solidFill>
                      <a:prstDash val="solid"/>
                      <a:round/>
                      <a:headEnd type="none" w="med" len="med"/>
                      <a:tailEnd type="none" w="med" len="med"/>
                    </a:lnT>
                    <a:lnB w="9525" cap="flat" cmpd="sng" algn="ctr">
                      <a:solidFill>
                        <a:srgbClr val="C9D5CE"/>
                      </a:solidFill>
                      <a:prstDash val="solid"/>
                      <a:round/>
                      <a:headEnd type="none" w="med" len="med"/>
                      <a:tailEnd type="none" w="med" len="med"/>
                    </a:lnB>
                    <a:solidFill>
                      <a:srgbClr val="FFFFFF"/>
                    </a:solidFill>
                  </a:tcPr>
                </a:tc>
              </a:tr>
              <a:tr h="566928">
                <a:tc>
                  <a:txBody>
                    <a:bodyPr/>
                    <a:lstStyle/>
                    <a:p>
                      <a:pPr indent="0" marL="0">
                        <a:buNone/>
                      </a:pPr>
                      <a:r>
                        <a:rPr lang="en-US" sz="1050" b="1" dirty="0">
                          <a:solidFill>
                            <a:srgbClr val="154B36"/>
                          </a:solidFill>
                          <a:latin typeface="Calibri" pitchFamily="34" charset="0"/>
                          <a:ea typeface="Calibri" pitchFamily="34" charset="-122"/>
                          <a:cs typeface="Calibri" pitchFamily="34" charset="-120"/>
                        </a:rPr>
                        <a:t>SMS / USSD Fit-Check</a:t>
                      </a:r>
                      <a:endParaRPr lang="en-US" sz="1050" dirty="0">
                        <a:latin typeface="Calibri" charset="0"/>
                        <a:ea typeface="Calibri" charset="0"/>
                        <a:cs typeface="Calibri" charset="0"/>
                      </a:endParaRPr>
                    </a:p>
                  </a:txBody>
                  <a:tcPr marL="91440" marR="91440" marT="0" marB="0" anchor="ctr">
                    <a:lnL w="9525" cap="flat" cmpd="sng" algn="ctr">
                      <a:solidFill>
                        <a:srgbClr val="C9D5CE"/>
                      </a:solidFill>
                      <a:prstDash val="solid"/>
                      <a:round/>
                      <a:headEnd type="none" w="med" len="med"/>
                      <a:tailEnd type="none" w="med" len="med"/>
                    </a:lnL>
                    <a:lnR w="9525" cap="flat" cmpd="sng" algn="ctr">
                      <a:solidFill>
                        <a:srgbClr val="C9D5CE"/>
                      </a:solidFill>
                      <a:prstDash val="solid"/>
                      <a:round/>
                      <a:headEnd type="none" w="med" len="med"/>
                      <a:tailEnd type="none" w="med" len="med"/>
                    </a:lnR>
                    <a:lnT w="9525" cap="flat" cmpd="sng" algn="ctr">
                      <a:solidFill>
                        <a:srgbClr val="C9D5CE"/>
                      </a:solidFill>
                      <a:prstDash val="solid"/>
                      <a:round/>
                      <a:headEnd type="none" w="med" len="med"/>
                      <a:tailEnd type="none" w="med" len="med"/>
                    </a:lnT>
                    <a:lnB w="9525" cap="flat" cmpd="sng" algn="ctr">
                      <a:solidFill>
                        <a:srgbClr val="C9D5CE"/>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A85A00"/>
                          </a:solidFill>
                          <a:latin typeface="Cambria" pitchFamily="34" charset="0"/>
                          <a:ea typeface="Cambria" pitchFamily="34" charset="-122"/>
                          <a:cs typeface="Cambria" pitchFamily="34" charset="-120"/>
                        </a:rPr>
                        <a:t>3</a:t>
                      </a:r>
                      <a:endParaRPr lang="en-US" sz="1400" dirty="0">
                        <a:latin typeface="Cambria" charset="0"/>
                        <a:ea typeface="Cambria" charset="0"/>
                        <a:cs typeface="Cambria" charset="0"/>
                      </a:endParaRPr>
                    </a:p>
                  </a:txBody>
                  <a:tcPr marL="91440" marR="91440" marT="0" marB="0" anchor="ctr">
                    <a:lnL w="9525" cap="flat" cmpd="sng" algn="ctr">
                      <a:solidFill>
                        <a:srgbClr val="C9D5CE"/>
                      </a:solidFill>
                      <a:prstDash val="solid"/>
                      <a:round/>
                      <a:headEnd type="none" w="med" len="med"/>
                      <a:tailEnd type="none" w="med" len="med"/>
                    </a:lnL>
                    <a:lnR w="9525" cap="flat" cmpd="sng" algn="ctr">
                      <a:solidFill>
                        <a:srgbClr val="C9D5CE"/>
                      </a:solidFill>
                      <a:prstDash val="solid"/>
                      <a:round/>
                      <a:headEnd type="none" w="med" len="med"/>
                      <a:tailEnd type="none" w="med" len="med"/>
                    </a:lnR>
                    <a:lnT w="9525" cap="flat" cmpd="sng" algn="ctr">
                      <a:solidFill>
                        <a:srgbClr val="C9D5CE"/>
                      </a:solidFill>
                      <a:prstDash val="solid"/>
                      <a:round/>
                      <a:headEnd type="none" w="med" len="med"/>
                      <a:tailEnd type="none" w="med" len="med"/>
                    </a:lnT>
                    <a:lnB w="9525" cap="flat" cmpd="sng" algn="ctr">
                      <a:solidFill>
                        <a:srgbClr val="C9D5CE"/>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A85A00"/>
                          </a:solidFill>
                          <a:latin typeface="Cambria" pitchFamily="34" charset="0"/>
                          <a:ea typeface="Cambria" pitchFamily="34" charset="-122"/>
                          <a:cs typeface="Cambria" pitchFamily="34" charset="-120"/>
                        </a:rPr>
                        <a:t>2</a:t>
                      </a:r>
                      <a:endParaRPr lang="en-US" sz="1400" dirty="0">
                        <a:latin typeface="Cambria" charset="0"/>
                        <a:ea typeface="Cambria" charset="0"/>
                        <a:cs typeface="Cambria" charset="0"/>
                      </a:endParaRPr>
                    </a:p>
                  </a:txBody>
                  <a:tcPr marL="91440" marR="91440" marT="0" marB="0" anchor="ctr">
                    <a:lnL w="9525" cap="flat" cmpd="sng" algn="ctr">
                      <a:solidFill>
                        <a:srgbClr val="C9D5CE"/>
                      </a:solidFill>
                      <a:prstDash val="solid"/>
                      <a:round/>
                      <a:headEnd type="none" w="med" len="med"/>
                      <a:tailEnd type="none" w="med" len="med"/>
                    </a:lnL>
                    <a:lnR w="9525" cap="flat" cmpd="sng" algn="ctr">
                      <a:solidFill>
                        <a:srgbClr val="C9D5CE"/>
                      </a:solidFill>
                      <a:prstDash val="solid"/>
                      <a:round/>
                      <a:headEnd type="none" w="med" len="med"/>
                      <a:tailEnd type="none" w="med" len="med"/>
                    </a:lnR>
                    <a:lnT w="9525" cap="flat" cmpd="sng" algn="ctr">
                      <a:solidFill>
                        <a:srgbClr val="C9D5CE"/>
                      </a:solidFill>
                      <a:prstDash val="solid"/>
                      <a:round/>
                      <a:headEnd type="none" w="med" len="med"/>
                      <a:tailEnd type="none" w="med" len="med"/>
                    </a:lnT>
                    <a:lnB w="9525" cap="flat" cmpd="sng" algn="ctr">
                      <a:solidFill>
                        <a:srgbClr val="C9D5CE"/>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A85A00"/>
                          </a:solidFill>
                          <a:latin typeface="Cambria" pitchFamily="34" charset="0"/>
                          <a:ea typeface="Cambria" pitchFamily="34" charset="-122"/>
                          <a:cs typeface="Cambria" pitchFamily="34" charset="-120"/>
                        </a:rPr>
                        <a:t>2</a:t>
                      </a:r>
                      <a:endParaRPr lang="en-US" sz="1400" dirty="0">
                        <a:latin typeface="Cambria" charset="0"/>
                        <a:ea typeface="Cambria" charset="0"/>
                        <a:cs typeface="Cambria" charset="0"/>
                      </a:endParaRPr>
                    </a:p>
                  </a:txBody>
                  <a:tcPr marL="91440" marR="91440" marT="0" marB="0" anchor="ctr">
                    <a:lnL w="9525" cap="flat" cmpd="sng" algn="ctr">
                      <a:solidFill>
                        <a:srgbClr val="C9D5CE"/>
                      </a:solidFill>
                      <a:prstDash val="solid"/>
                      <a:round/>
                      <a:headEnd type="none" w="med" len="med"/>
                      <a:tailEnd type="none" w="med" len="med"/>
                    </a:lnL>
                    <a:lnR w="9525" cap="flat" cmpd="sng" algn="ctr">
                      <a:solidFill>
                        <a:srgbClr val="C9D5CE"/>
                      </a:solidFill>
                      <a:prstDash val="solid"/>
                      <a:round/>
                      <a:headEnd type="none" w="med" len="med"/>
                      <a:tailEnd type="none" w="med" len="med"/>
                    </a:lnR>
                    <a:lnT w="9525" cap="flat" cmpd="sng" algn="ctr">
                      <a:solidFill>
                        <a:srgbClr val="C9D5CE"/>
                      </a:solidFill>
                      <a:prstDash val="solid"/>
                      <a:round/>
                      <a:headEnd type="none" w="med" len="med"/>
                      <a:tailEnd type="none" w="med" len="med"/>
                    </a:lnT>
                    <a:lnB w="9525" cap="flat" cmpd="sng" algn="ctr">
                      <a:solidFill>
                        <a:srgbClr val="C9D5CE"/>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A85A00"/>
                          </a:solidFill>
                          <a:latin typeface="Cambria" pitchFamily="34" charset="0"/>
                          <a:ea typeface="Cambria" pitchFamily="34" charset="-122"/>
                          <a:cs typeface="Cambria" pitchFamily="34" charset="-120"/>
                        </a:rPr>
                        <a:t>4</a:t>
                      </a:r>
                      <a:endParaRPr lang="en-US" sz="1400" dirty="0">
                        <a:latin typeface="Cambria" charset="0"/>
                        <a:ea typeface="Cambria" charset="0"/>
                        <a:cs typeface="Cambria" charset="0"/>
                      </a:endParaRPr>
                    </a:p>
                  </a:txBody>
                  <a:tcPr marL="91440" marR="91440" marT="0" marB="0" anchor="ctr">
                    <a:lnL w="9525" cap="flat" cmpd="sng" algn="ctr">
                      <a:solidFill>
                        <a:srgbClr val="C9D5CE"/>
                      </a:solidFill>
                      <a:prstDash val="solid"/>
                      <a:round/>
                      <a:headEnd type="none" w="med" len="med"/>
                      <a:tailEnd type="none" w="med" len="med"/>
                    </a:lnL>
                    <a:lnR w="9525" cap="flat" cmpd="sng" algn="ctr">
                      <a:solidFill>
                        <a:srgbClr val="C9D5CE"/>
                      </a:solidFill>
                      <a:prstDash val="solid"/>
                      <a:round/>
                      <a:headEnd type="none" w="med" len="med"/>
                      <a:tailEnd type="none" w="med" len="med"/>
                    </a:lnR>
                    <a:lnT w="9525" cap="flat" cmpd="sng" algn="ctr">
                      <a:solidFill>
                        <a:srgbClr val="C9D5CE"/>
                      </a:solidFill>
                      <a:prstDash val="solid"/>
                      <a:round/>
                      <a:headEnd type="none" w="med" len="med"/>
                      <a:tailEnd type="none" w="med" len="med"/>
                    </a:lnT>
                    <a:lnB w="9525" cap="flat" cmpd="sng" algn="ctr">
                      <a:solidFill>
                        <a:srgbClr val="C9D5CE"/>
                      </a:solidFill>
                      <a:prstDash val="solid"/>
                      <a:round/>
                      <a:headEnd type="none" w="med" len="med"/>
                      <a:tailEnd type="none" w="med" len="med"/>
                    </a:lnB>
                    <a:solidFill>
                      <a:srgbClr val="FFFFFF"/>
                    </a:solidFill>
                  </a:tcPr>
                </a:tc>
                <a:tc>
                  <a:txBody>
                    <a:bodyPr/>
                    <a:lstStyle/>
                    <a:p>
                      <a:pPr indent="0" marL="0">
                        <a:buNone/>
                      </a:pPr>
                      <a:r>
                        <a:rPr lang="en-US" sz="950" dirty="0">
                          <a:solidFill>
                            <a:srgbClr val="1F2A24"/>
                          </a:solidFill>
                          <a:latin typeface="Calibri" pitchFamily="34" charset="0"/>
                          <a:ea typeface="Calibri" pitchFamily="34" charset="-122"/>
                          <a:cs typeface="Calibri" pitchFamily="34" charset="-120"/>
                        </a:rPr>
                        <a:t>Park — needs telco integration</a:t>
                      </a:r>
                      <a:endParaRPr lang="en-US" sz="950" dirty="0">
                        <a:latin typeface="Calibri" charset="0"/>
                        <a:ea typeface="Calibri" charset="0"/>
                        <a:cs typeface="Calibri" charset="0"/>
                      </a:endParaRPr>
                    </a:p>
                  </a:txBody>
                  <a:tcPr marL="91440" marR="91440" marT="0" marB="0" anchor="ctr">
                    <a:lnL w="9525" cap="flat" cmpd="sng" algn="ctr">
                      <a:solidFill>
                        <a:srgbClr val="C9D5CE"/>
                      </a:solidFill>
                      <a:prstDash val="solid"/>
                      <a:round/>
                      <a:headEnd type="none" w="med" len="med"/>
                      <a:tailEnd type="none" w="med" len="med"/>
                    </a:lnL>
                    <a:lnR w="9525" cap="flat" cmpd="sng" algn="ctr">
                      <a:solidFill>
                        <a:srgbClr val="C9D5CE"/>
                      </a:solidFill>
                      <a:prstDash val="solid"/>
                      <a:round/>
                      <a:headEnd type="none" w="med" len="med"/>
                      <a:tailEnd type="none" w="med" len="med"/>
                    </a:lnR>
                    <a:lnT w="9525" cap="flat" cmpd="sng" algn="ctr">
                      <a:solidFill>
                        <a:srgbClr val="C9D5CE"/>
                      </a:solidFill>
                      <a:prstDash val="solid"/>
                      <a:round/>
                      <a:headEnd type="none" w="med" len="med"/>
                      <a:tailEnd type="none" w="med" len="med"/>
                    </a:lnT>
                    <a:lnB w="9525" cap="flat" cmpd="sng" algn="ctr">
                      <a:solidFill>
                        <a:srgbClr val="C9D5CE"/>
                      </a:solidFill>
                      <a:prstDash val="solid"/>
                      <a:round/>
                      <a:headEnd type="none" w="med" len="med"/>
                      <a:tailEnd type="none" w="med" len="med"/>
                    </a:lnB>
                    <a:solidFill>
                      <a:srgbClr val="FFFFFF"/>
                    </a:solidFill>
                  </a:tcPr>
                </a:tc>
              </a:tr>
              <a:tr h="566928">
                <a:tc>
                  <a:txBody>
                    <a:bodyPr/>
                    <a:lstStyle/>
                    <a:p>
                      <a:pPr indent="0" marL="0">
                        <a:buNone/>
                      </a:pPr>
                      <a:r>
                        <a:rPr lang="en-US" sz="1050" b="1" dirty="0">
                          <a:solidFill>
                            <a:srgbClr val="154B36"/>
                          </a:solidFill>
                          <a:latin typeface="Calibri" pitchFamily="34" charset="0"/>
                          <a:ea typeface="Calibri" pitchFamily="34" charset="-122"/>
                          <a:cs typeface="Calibri" pitchFamily="34" charset="-120"/>
                        </a:rPr>
                        <a:t>Photo Label Check</a:t>
                      </a:r>
                      <a:endParaRPr lang="en-US" sz="1050" dirty="0">
                        <a:latin typeface="Calibri" charset="0"/>
                        <a:ea typeface="Calibri" charset="0"/>
                        <a:cs typeface="Calibri" charset="0"/>
                      </a:endParaRPr>
                    </a:p>
                  </a:txBody>
                  <a:tcPr marL="91440" marR="91440" marT="0" marB="0" anchor="ctr">
                    <a:lnL w="9525" cap="flat" cmpd="sng" algn="ctr">
                      <a:solidFill>
                        <a:srgbClr val="C9D5CE"/>
                      </a:solidFill>
                      <a:prstDash val="solid"/>
                      <a:round/>
                      <a:headEnd type="none" w="med" len="med"/>
                      <a:tailEnd type="none" w="med" len="med"/>
                    </a:lnL>
                    <a:lnR w="9525" cap="flat" cmpd="sng" algn="ctr">
                      <a:solidFill>
                        <a:srgbClr val="C9D5CE"/>
                      </a:solidFill>
                      <a:prstDash val="solid"/>
                      <a:round/>
                      <a:headEnd type="none" w="med" len="med"/>
                      <a:tailEnd type="none" w="med" len="med"/>
                    </a:lnR>
                    <a:lnT w="9525" cap="flat" cmpd="sng" algn="ctr">
                      <a:solidFill>
                        <a:srgbClr val="C9D5CE"/>
                      </a:solidFill>
                      <a:prstDash val="solid"/>
                      <a:round/>
                      <a:headEnd type="none" w="med" len="med"/>
                      <a:tailEnd type="none" w="med" len="med"/>
                    </a:lnT>
                    <a:lnB w="9525" cap="flat" cmpd="sng" algn="ctr">
                      <a:solidFill>
                        <a:srgbClr val="C9D5CE"/>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A85A00"/>
                          </a:solidFill>
                          <a:latin typeface="Cambria" pitchFamily="34" charset="0"/>
                          <a:ea typeface="Cambria" pitchFamily="34" charset="-122"/>
                          <a:cs typeface="Cambria" pitchFamily="34" charset="-120"/>
                        </a:rPr>
                        <a:t>3</a:t>
                      </a:r>
                      <a:endParaRPr lang="en-US" sz="1400" dirty="0">
                        <a:latin typeface="Cambria" charset="0"/>
                        <a:ea typeface="Cambria" charset="0"/>
                        <a:cs typeface="Cambria" charset="0"/>
                      </a:endParaRPr>
                    </a:p>
                  </a:txBody>
                  <a:tcPr marL="91440" marR="91440" marT="0" marB="0" anchor="ctr">
                    <a:lnL w="9525" cap="flat" cmpd="sng" algn="ctr">
                      <a:solidFill>
                        <a:srgbClr val="C9D5CE"/>
                      </a:solidFill>
                      <a:prstDash val="solid"/>
                      <a:round/>
                      <a:headEnd type="none" w="med" len="med"/>
                      <a:tailEnd type="none" w="med" len="med"/>
                    </a:lnL>
                    <a:lnR w="9525" cap="flat" cmpd="sng" algn="ctr">
                      <a:solidFill>
                        <a:srgbClr val="C9D5CE"/>
                      </a:solidFill>
                      <a:prstDash val="solid"/>
                      <a:round/>
                      <a:headEnd type="none" w="med" len="med"/>
                      <a:tailEnd type="none" w="med" len="med"/>
                    </a:lnR>
                    <a:lnT w="9525" cap="flat" cmpd="sng" algn="ctr">
                      <a:solidFill>
                        <a:srgbClr val="C9D5CE"/>
                      </a:solidFill>
                      <a:prstDash val="solid"/>
                      <a:round/>
                      <a:headEnd type="none" w="med" len="med"/>
                      <a:tailEnd type="none" w="med" len="med"/>
                    </a:lnT>
                    <a:lnB w="9525" cap="flat" cmpd="sng" algn="ctr">
                      <a:solidFill>
                        <a:srgbClr val="C9D5CE"/>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A85A00"/>
                          </a:solidFill>
                          <a:latin typeface="Cambria" pitchFamily="34" charset="0"/>
                          <a:ea typeface="Cambria" pitchFamily="34" charset="-122"/>
                          <a:cs typeface="Cambria" pitchFamily="34" charset="-120"/>
                        </a:rPr>
                        <a:t>2</a:t>
                      </a:r>
                      <a:endParaRPr lang="en-US" sz="1400" dirty="0">
                        <a:latin typeface="Cambria" charset="0"/>
                        <a:ea typeface="Cambria" charset="0"/>
                        <a:cs typeface="Cambria" charset="0"/>
                      </a:endParaRPr>
                    </a:p>
                  </a:txBody>
                  <a:tcPr marL="91440" marR="91440" marT="0" marB="0" anchor="ctr">
                    <a:lnL w="9525" cap="flat" cmpd="sng" algn="ctr">
                      <a:solidFill>
                        <a:srgbClr val="C9D5CE"/>
                      </a:solidFill>
                      <a:prstDash val="solid"/>
                      <a:round/>
                      <a:headEnd type="none" w="med" len="med"/>
                      <a:tailEnd type="none" w="med" len="med"/>
                    </a:lnL>
                    <a:lnR w="9525" cap="flat" cmpd="sng" algn="ctr">
                      <a:solidFill>
                        <a:srgbClr val="C9D5CE"/>
                      </a:solidFill>
                      <a:prstDash val="solid"/>
                      <a:round/>
                      <a:headEnd type="none" w="med" len="med"/>
                      <a:tailEnd type="none" w="med" len="med"/>
                    </a:lnR>
                    <a:lnT w="9525" cap="flat" cmpd="sng" algn="ctr">
                      <a:solidFill>
                        <a:srgbClr val="C9D5CE"/>
                      </a:solidFill>
                      <a:prstDash val="solid"/>
                      <a:round/>
                      <a:headEnd type="none" w="med" len="med"/>
                      <a:tailEnd type="none" w="med" len="med"/>
                    </a:lnT>
                    <a:lnB w="9525" cap="flat" cmpd="sng" algn="ctr">
                      <a:solidFill>
                        <a:srgbClr val="C9D5CE"/>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A85A00"/>
                          </a:solidFill>
                          <a:latin typeface="Cambria" pitchFamily="34" charset="0"/>
                          <a:ea typeface="Cambria" pitchFamily="34" charset="-122"/>
                          <a:cs typeface="Cambria" pitchFamily="34" charset="-120"/>
                        </a:rPr>
                        <a:t>2</a:t>
                      </a:r>
                      <a:endParaRPr lang="en-US" sz="1400" dirty="0">
                        <a:latin typeface="Cambria" charset="0"/>
                        <a:ea typeface="Cambria" charset="0"/>
                        <a:cs typeface="Cambria" charset="0"/>
                      </a:endParaRPr>
                    </a:p>
                  </a:txBody>
                  <a:tcPr marL="91440" marR="91440" marT="0" marB="0" anchor="ctr">
                    <a:lnL w="9525" cap="flat" cmpd="sng" algn="ctr">
                      <a:solidFill>
                        <a:srgbClr val="C9D5CE"/>
                      </a:solidFill>
                      <a:prstDash val="solid"/>
                      <a:round/>
                      <a:headEnd type="none" w="med" len="med"/>
                      <a:tailEnd type="none" w="med" len="med"/>
                    </a:lnL>
                    <a:lnR w="9525" cap="flat" cmpd="sng" algn="ctr">
                      <a:solidFill>
                        <a:srgbClr val="C9D5CE"/>
                      </a:solidFill>
                      <a:prstDash val="solid"/>
                      <a:round/>
                      <a:headEnd type="none" w="med" len="med"/>
                      <a:tailEnd type="none" w="med" len="med"/>
                    </a:lnR>
                    <a:lnT w="9525" cap="flat" cmpd="sng" algn="ctr">
                      <a:solidFill>
                        <a:srgbClr val="C9D5CE"/>
                      </a:solidFill>
                      <a:prstDash val="solid"/>
                      <a:round/>
                      <a:headEnd type="none" w="med" len="med"/>
                      <a:tailEnd type="none" w="med" len="med"/>
                    </a:lnT>
                    <a:lnB w="9525" cap="flat" cmpd="sng" algn="ctr">
                      <a:solidFill>
                        <a:srgbClr val="C9D5CE"/>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A85A00"/>
                          </a:solidFill>
                          <a:latin typeface="Cambria" pitchFamily="34" charset="0"/>
                          <a:ea typeface="Cambria" pitchFamily="34" charset="-122"/>
                          <a:cs typeface="Cambria" pitchFamily="34" charset="-120"/>
                        </a:rPr>
                        <a:t>3</a:t>
                      </a:r>
                      <a:endParaRPr lang="en-US" sz="1400" dirty="0">
                        <a:latin typeface="Cambria" charset="0"/>
                        <a:ea typeface="Cambria" charset="0"/>
                        <a:cs typeface="Cambria" charset="0"/>
                      </a:endParaRPr>
                    </a:p>
                  </a:txBody>
                  <a:tcPr marL="91440" marR="91440" marT="0" marB="0" anchor="ctr">
                    <a:lnL w="9525" cap="flat" cmpd="sng" algn="ctr">
                      <a:solidFill>
                        <a:srgbClr val="C9D5CE"/>
                      </a:solidFill>
                      <a:prstDash val="solid"/>
                      <a:round/>
                      <a:headEnd type="none" w="med" len="med"/>
                      <a:tailEnd type="none" w="med" len="med"/>
                    </a:lnL>
                    <a:lnR w="9525" cap="flat" cmpd="sng" algn="ctr">
                      <a:solidFill>
                        <a:srgbClr val="C9D5CE"/>
                      </a:solidFill>
                      <a:prstDash val="solid"/>
                      <a:round/>
                      <a:headEnd type="none" w="med" len="med"/>
                      <a:tailEnd type="none" w="med" len="med"/>
                    </a:lnR>
                    <a:lnT w="9525" cap="flat" cmpd="sng" algn="ctr">
                      <a:solidFill>
                        <a:srgbClr val="C9D5CE"/>
                      </a:solidFill>
                      <a:prstDash val="solid"/>
                      <a:round/>
                      <a:headEnd type="none" w="med" len="med"/>
                      <a:tailEnd type="none" w="med" len="med"/>
                    </a:lnT>
                    <a:lnB w="9525" cap="flat" cmpd="sng" algn="ctr">
                      <a:solidFill>
                        <a:srgbClr val="C9D5CE"/>
                      </a:solidFill>
                      <a:prstDash val="solid"/>
                      <a:round/>
                      <a:headEnd type="none" w="med" len="med"/>
                      <a:tailEnd type="none" w="med" len="med"/>
                    </a:lnB>
                    <a:solidFill>
                      <a:srgbClr val="FFFFFF"/>
                    </a:solidFill>
                  </a:tcPr>
                </a:tc>
                <a:tc>
                  <a:txBody>
                    <a:bodyPr/>
                    <a:lstStyle/>
                    <a:p>
                      <a:pPr indent="0" marL="0">
                        <a:buNone/>
                      </a:pPr>
                      <a:r>
                        <a:rPr lang="en-US" sz="950" dirty="0">
                          <a:solidFill>
                            <a:srgbClr val="1F2A24"/>
                          </a:solidFill>
                          <a:latin typeface="Calibri" pitchFamily="34" charset="0"/>
                          <a:ea typeface="Calibri" pitchFamily="34" charset="-122"/>
                          <a:cs typeface="Calibri" pitchFamily="34" charset="-120"/>
                        </a:rPr>
                        <a:t>Park — needs an image/OCR pipeline</a:t>
                      </a:r>
                      <a:endParaRPr lang="en-US" sz="950" dirty="0">
                        <a:latin typeface="Calibri" charset="0"/>
                        <a:ea typeface="Calibri" charset="0"/>
                        <a:cs typeface="Calibri" charset="0"/>
                      </a:endParaRPr>
                    </a:p>
                  </a:txBody>
                  <a:tcPr marL="91440" marR="91440" marT="0" marB="0" anchor="ctr">
                    <a:lnL w="9525" cap="flat" cmpd="sng" algn="ctr">
                      <a:solidFill>
                        <a:srgbClr val="C9D5CE"/>
                      </a:solidFill>
                      <a:prstDash val="solid"/>
                      <a:round/>
                      <a:headEnd type="none" w="med" len="med"/>
                      <a:tailEnd type="none" w="med" len="med"/>
                    </a:lnL>
                    <a:lnR w="9525" cap="flat" cmpd="sng" algn="ctr">
                      <a:solidFill>
                        <a:srgbClr val="C9D5CE"/>
                      </a:solidFill>
                      <a:prstDash val="solid"/>
                      <a:round/>
                      <a:headEnd type="none" w="med" len="med"/>
                      <a:tailEnd type="none" w="med" len="med"/>
                    </a:lnR>
                    <a:lnT w="9525" cap="flat" cmpd="sng" algn="ctr">
                      <a:solidFill>
                        <a:srgbClr val="C9D5CE"/>
                      </a:solidFill>
                      <a:prstDash val="solid"/>
                      <a:round/>
                      <a:headEnd type="none" w="med" len="med"/>
                      <a:tailEnd type="none" w="med" len="med"/>
                    </a:lnT>
                    <a:lnB w="9525" cap="flat" cmpd="sng" algn="ctr">
                      <a:solidFill>
                        <a:srgbClr val="C9D5CE"/>
                      </a:solidFill>
                      <a:prstDash val="solid"/>
                      <a:round/>
                      <a:headEnd type="none" w="med" len="med"/>
                      <a:tailEnd type="none" w="med" len="med"/>
                    </a:lnB>
                    <a:solidFill>
                      <a:srgbClr val="FFFFFF"/>
                    </a:solidFill>
                  </a:tcPr>
                </a:tc>
              </a:tr>
            </a:tbl>
          </a:graphicData>
        </a:graphic>
      </p:graphicFrame>
      <p:sp>
        <p:nvSpPr>
          <p:cNvPr id="13" name="Text 10"/>
          <p:cNvSpPr txBox="1"/>
          <p:nvPr/>
        </p:nvSpPr>
        <p:spPr>
          <a:xfrm>
            <a:off x="548640" y="5623560"/>
            <a:ext cx="11091672" cy="274320"/>
          </a:xfrm>
          <a:prstGeom prst="rect">
            <a:avLst/>
          </a:prstGeom>
          <a:noFill/>
          <a:ln/>
        </p:spPr>
        <p:txBody>
          <a:bodyPr wrap="square" lIns="0" tIns="0" rIns="0" bIns="0" rtlCol="0" anchor="t"/>
          <a:lstStyle/>
          <a:p>
            <a:pPr indent="0" marL="0">
              <a:buNone/>
            </a:pPr>
            <a:r>
              <a:rPr lang="en-US" sz="950" i="1" dirty="0">
                <a:solidFill>
                  <a:srgbClr val="5C6B63"/>
                </a:solidFill>
                <a:latin typeface="Calibri" pitchFamily="34" charset="0"/>
                <a:ea typeface="Calibri" pitchFamily="34" charset="-122"/>
                <a:cs typeface="Calibri" pitchFamily="34" charset="-120"/>
              </a:rPr>
              <a:t>Desirable: does Segment A want this?   Feasible: can we build it on the shipped architecture?   Viable: is there a path to sustain it?   Responsible: privacy, trust and safety risk.</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2F6F3"/>
        </a:solidFill>
      </p:bgPr>
    </p:bg>
    <p:spTree>
      <p:nvGrpSpPr>
        <p:cNvPr id="1" name=""/>
        <p:cNvGrpSpPr/>
        <p:nvPr/>
      </p:nvGrpSpPr>
      <p:grpSpPr>
        <a:xfrm>
          <a:off x="0" y="0"/>
          <a:ext cx="0" cy="0"/>
          <a:chOff x="0" y="0"/>
          <a:chExt cx="0" cy="0"/>
        </a:xfrm>
      </p:grpSpPr>
      <p:sp>
        <p:nvSpPr>
          <p:cNvPr id="2" name="Text 0"/>
          <p:cNvSpPr txBox="1"/>
          <p:nvPr/>
        </p:nvSpPr>
        <p:spPr>
          <a:xfrm>
            <a:off x="548640" y="292608"/>
            <a:ext cx="9692640" cy="228600"/>
          </a:xfrm>
          <a:prstGeom prst="rect">
            <a:avLst/>
          </a:prstGeom>
          <a:noFill/>
          <a:ln/>
        </p:spPr>
        <p:txBody>
          <a:bodyPr wrap="square" lIns="0" tIns="0" rIns="0" bIns="0" rtlCol="0" anchor="t"/>
          <a:lstStyle/>
          <a:p>
            <a:pPr indent="0" marL="0">
              <a:buNone/>
            </a:pPr>
            <a:r>
              <a:rPr lang="en-US" sz="1000" b="1" spc="200" kern="0" dirty="0">
                <a:solidFill>
                  <a:srgbClr val="5C6B63"/>
                </a:solidFill>
                <a:latin typeface="Calibri" pitchFamily="34" charset="0"/>
                <a:ea typeface="Calibri" pitchFamily="34" charset="-122"/>
                <a:cs typeface="Calibri" pitchFamily="34" charset="-120"/>
              </a:rPr>
              <a:t>SESSION 5 · CONCEPT</a:t>
            </a:r>
            <a:endParaRPr lang="en-US" sz="1000" dirty="0"/>
          </a:p>
        </p:txBody>
      </p:sp>
      <p:sp>
        <p:nvSpPr>
          <p:cNvPr id="3" name="Shape 1"/>
          <p:cNvSpPr/>
          <p:nvPr/>
        </p:nvSpPr>
        <p:spPr>
          <a:xfrm>
            <a:off x="10643616" y="310896"/>
            <a:ext cx="155448" cy="155448"/>
          </a:xfrm>
          <a:prstGeom prst="rect">
            <a:avLst/>
          </a:prstGeom>
          <a:solidFill>
            <a:srgbClr val="038141"/>
          </a:solidFill>
          <a:ln/>
        </p:spPr>
      </p:sp>
      <p:sp>
        <p:nvSpPr>
          <p:cNvPr id="4" name="Shape 2"/>
          <p:cNvSpPr/>
          <p:nvPr/>
        </p:nvSpPr>
        <p:spPr>
          <a:xfrm>
            <a:off x="10853928" y="310896"/>
            <a:ext cx="155448" cy="155448"/>
          </a:xfrm>
          <a:prstGeom prst="rect">
            <a:avLst/>
          </a:prstGeom>
          <a:solidFill>
            <a:srgbClr val="85BB2F"/>
          </a:solidFill>
          <a:ln/>
        </p:spPr>
      </p:sp>
      <p:sp>
        <p:nvSpPr>
          <p:cNvPr id="5" name="Shape 3"/>
          <p:cNvSpPr/>
          <p:nvPr/>
        </p:nvSpPr>
        <p:spPr>
          <a:xfrm>
            <a:off x="11064240" y="310896"/>
            <a:ext cx="155448" cy="155448"/>
          </a:xfrm>
          <a:prstGeom prst="rect">
            <a:avLst/>
          </a:prstGeom>
          <a:solidFill>
            <a:srgbClr val="FECB02"/>
          </a:solidFill>
          <a:ln/>
        </p:spPr>
      </p:sp>
      <p:sp>
        <p:nvSpPr>
          <p:cNvPr id="6" name="Shape 4"/>
          <p:cNvSpPr/>
          <p:nvPr/>
        </p:nvSpPr>
        <p:spPr>
          <a:xfrm>
            <a:off x="11274552" y="310896"/>
            <a:ext cx="155448" cy="155448"/>
          </a:xfrm>
          <a:prstGeom prst="rect">
            <a:avLst/>
          </a:prstGeom>
          <a:solidFill>
            <a:srgbClr val="EE8100"/>
          </a:solidFill>
          <a:ln/>
        </p:spPr>
      </p:sp>
      <p:sp>
        <p:nvSpPr>
          <p:cNvPr id="7" name="Shape 5"/>
          <p:cNvSpPr/>
          <p:nvPr/>
        </p:nvSpPr>
        <p:spPr>
          <a:xfrm>
            <a:off x="11484864" y="310896"/>
            <a:ext cx="155448" cy="155448"/>
          </a:xfrm>
          <a:prstGeom prst="rect">
            <a:avLst/>
          </a:prstGeom>
          <a:solidFill>
            <a:srgbClr val="E63E11"/>
          </a:solidFill>
          <a:ln/>
        </p:spPr>
      </p:sp>
      <p:sp>
        <p:nvSpPr>
          <p:cNvPr id="8" name="Text 6"/>
          <p:cNvSpPr txBox="1"/>
          <p:nvPr/>
        </p:nvSpPr>
        <p:spPr>
          <a:xfrm>
            <a:off x="548640" y="603504"/>
            <a:ext cx="11064240" cy="822960"/>
          </a:xfrm>
          <a:prstGeom prst="rect">
            <a:avLst/>
          </a:prstGeom>
          <a:noFill/>
          <a:ln/>
        </p:spPr>
        <p:txBody>
          <a:bodyPr wrap="square" lIns="0" tIns="0" rIns="0" bIns="0" rtlCol="0" anchor="t"/>
          <a:lstStyle/>
          <a:p>
            <a:pPr indent="0" marL="0">
              <a:buNone/>
            </a:pPr>
            <a:r>
              <a:rPr lang="en-US" sz="2600" b="1" dirty="0">
                <a:solidFill>
                  <a:srgbClr val="154B36"/>
                </a:solidFill>
                <a:latin typeface="Cambria" pitchFamily="34" charset="0"/>
                <a:ea typeface="Cambria" pitchFamily="34" charset="-122"/>
                <a:cs typeface="Cambria" pitchFamily="34" charset="-120"/>
              </a:rPr>
              <a:t>Concept Card</a:t>
            </a:r>
            <a:endParaRPr lang="en-US" sz="2600" dirty="0"/>
          </a:p>
        </p:txBody>
      </p:sp>
      <p:sp>
        <p:nvSpPr>
          <p:cNvPr id="9" name="Text 7"/>
          <p:cNvSpPr txBox="1"/>
          <p:nvPr/>
        </p:nvSpPr>
        <p:spPr>
          <a:xfrm>
            <a:off x="548640" y="6199632"/>
            <a:ext cx="11064240" cy="219456"/>
          </a:xfrm>
          <a:prstGeom prst="rect">
            <a:avLst/>
          </a:prstGeom>
          <a:noFill/>
          <a:ln/>
        </p:spPr>
        <p:txBody>
          <a:bodyPr wrap="square" lIns="0" tIns="0" rIns="0" bIns="0" rtlCol="0" anchor="t"/>
          <a:lstStyle/>
          <a:p>
            <a:pPr indent="0" marL="0">
              <a:buNone/>
            </a:pPr>
            <a:r>
              <a:rPr lang="en-US" sz="900" i="1" dirty="0">
                <a:solidFill>
                  <a:srgbClr val="5C6B63"/>
                </a:solidFill>
                <a:latin typeface="Calibri" pitchFamily="34" charset="0"/>
                <a:ea typeface="Calibri" pitchFamily="34" charset="-122"/>
                <a:cs typeface="Calibri" pitchFamily="34" charset="-120"/>
              </a:rPr>
              <a:t>Keep the concept testable. Do not overbuild it.</a:t>
            </a:r>
            <a:endParaRPr lang="en-US" sz="900" dirty="0"/>
          </a:p>
        </p:txBody>
      </p:sp>
      <p:sp>
        <p:nvSpPr>
          <p:cNvPr id="10" name="Text 8"/>
          <p:cNvSpPr txBox="1"/>
          <p:nvPr/>
        </p:nvSpPr>
        <p:spPr>
          <a:xfrm>
            <a:off x="548640" y="6510528"/>
            <a:ext cx="9601200" cy="182880"/>
          </a:xfrm>
          <a:prstGeom prst="rect">
            <a:avLst/>
          </a:prstGeom>
          <a:noFill/>
          <a:ln/>
        </p:spPr>
        <p:txBody>
          <a:bodyPr wrap="square" lIns="0" tIns="0" rIns="0" bIns="0" rtlCol="0" anchor="t"/>
          <a:lstStyle/>
          <a:p>
            <a:pPr indent="0" marL="0">
              <a:buNone/>
            </a:pPr>
            <a:r>
              <a:rPr lang="en-US" sz="900" dirty="0">
                <a:solidFill>
                  <a:srgbClr val="5C6B63"/>
                </a:solidFill>
                <a:latin typeface="Calibri" pitchFamily="34" charset="0"/>
                <a:ea typeface="Calibri" pitchFamily="34" charset="-122"/>
                <a:cs typeface="Calibri" pitchFamily="34" charset="-120"/>
              </a:rPr>
              <a:t>NutriScore Checkout Tool  |  NUT-04, JHUB Africa / AfyaVentures  |  Kibet, Project Lead</a:t>
            </a:r>
            <a:endParaRPr lang="en-US" sz="900" dirty="0"/>
          </a:p>
        </p:txBody>
      </p:sp>
      <p:sp>
        <p:nvSpPr>
          <p:cNvPr id="11" name="Text 9"/>
          <p:cNvSpPr txBox="1"/>
          <p:nvPr/>
        </p:nvSpPr>
        <p:spPr>
          <a:xfrm>
            <a:off x="10725912" y="6510528"/>
            <a:ext cx="914400" cy="182880"/>
          </a:xfrm>
          <a:prstGeom prst="rect">
            <a:avLst/>
          </a:prstGeom>
          <a:noFill/>
          <a:ln/>
        </p:spPr>
        <p:txBody>
          <a:bodyPr wrap="square" lIns="0" tIns="0" rIns="0" bIns="0" rtlCol="0" anchor="t"/>
          <a:lstStyle/>
          <a:p>
            <a:pPr algn="r" indent="0" marL="0">
              <a:buNone/>
            </a:pPr>
            <a:r>
              <a:rPr lang="en-US" sz="900" dirty="0">
                <a:solidFill>
                  <a:srgbClr val="5C6B63"/>
                </a:solidFill>
                <a:latin typeface="Calibri" pitchFamily="34" charset="0"/>
                <a:ea typeface="Calibri" pitchFamily="34" charset="-122"/>
                <a:cs typeface="Calibri" pitchFamily="34" charset="-120"/>
              </a:rPr>
              <a:t>9 / 10</a:t>
            </a:r>
            <a:endParaRPr lang="en-US" sz="900" dirty="0"/>
          </a:p>
        </p:txBody>
      </p:sp>
      <p:sp>
        <p:nvSpPr>
          <p:cNvPr id="12" name="Shape 10"/>
          <p:cNvSpPr/>
          <p:nvPr/>
        </p:nvSpPr>
        <p:spPr>
          <a:xfrm>
            <a:off x="548640" y="1508760"/>
            <a:ext cx="5440680" cy="512064"/>
          </a:xfrm>
          <a:prstGeom prst="roundRect">
            <a:avLst>
              <a:gd name="adj" fmla="val 12500"/>
            </a:avLst>
          </a:prstGeom>
          <a:solidFill>
            <a:srgbClr val="E8F1EB"/>
          </a:solidFill>
          <a:ln w="9525">
            <a:solidFill>
              <a:srgbClr val="C9D5CE"/>
            </a:solidFill>
            <a:prstDash val="solid"/>
          </a:ln>
        </p:spPr>
      </p:sp>
      <p:sp>
        <p:nvSpPr>
          <p:cNvPr id="13" name="Text 11"/>
          <p:cNvSpPr txBox="1"/>
          <p:nvPr/>
        </p:nvSpPr>
        <p:spPr>
          <a:xfrm>
            <a:off x="731520" y="1581912"/>
            <a:ext cx="5074920" cy="201168"/>
          </a:xfrm>
          <a:prstGeom prst="rect">
            <a:avLst/>
          </a:prstGeom>
          <a:noFill/>
          <a:ln/>
        </p:spPr>
        <p:txBody>
          <a:bodyPr wrap="square" lIns="0" tIns="0" rIns="0" bIns="0" rtlCol="0" anchor="t"/>
          <a:lstStyle/>
          <a:p>
            <a:pPr indent="0" marL="0">
              <a:buNone/>
            </a:pPr>
            <a:r>
              <a:rPr lang="en-US" sz="1050" b="1" dirty="0">
                <a:solidFill>
                  <a:srgbClr val="154B36"/>
                </a:solidFill>
                <a:latin typeface="Calibri" pitchFamily="34" charset="0"/>
                <a:ea typeface="Calibri" pitchFamily="34" charset="-122"/>
                <a:cs typeface="Calibri" pitchFamily="34" charset="-120"/>
              </a:rPr>
              <a:t>Concept name</a:t>
            </a:r>
            <a:endParaRPr lang="en-US" sz="1050" dirty="0"/>
          </a:p>
        </p:txBody>
      </p:sp>
      <p:sp>
        <p:nvSpPr>
          <p:cNvPr id="14" name="Text 12"/>
          <p:cNvSpPr txBox="1"/>
          <p:nvPr/>
        </p:nvSpPr>
        <p:spPr>
          <a:xfrm>
            <a:off x="731520" y="1801368"/>
            <a:ext cx="5074920" cy="146304"/>
          </a:xfrm>
          <a:prstGeom prst="rect">
            <a:avLst/>
          </a:prstGeom>
          <a:noFill/>
          <a:ln/>
        </p:spPr>
        <p:txBody>
          <a:bodyPr wrap="square" lIns="0" tIns="0" rIns="0" bIns="0" rtlCol="0" anchor="t"/>
          <a:lstStyle/>
          <a:p>
            <a:pPr indent="0" marL="0">
              <a:lnSpc>
                <a:spcPct val="105000"/>
              </a:lnSpc>
              <a:buNone/>
            </a:pPr>
            <a:r>
              <a:rPr lang="en-US" sz="1050" dirty="0">
                <a:solidFill>
                  <a:srgbClr val="1F2A24"/>
                </a:solidFill>
                <a:latin typeface="Calibri" pitchFamily="34" charset="0"/>
                <a:ea typeface="Calibri" pitchFamily="34" charset="-122"/>
                <a:cs typeface="Calibri" pitchFamily="34" charset="-120"/>
              </a:rPr>
              <a:t>Smart Compare &amp; Swap</a:t>
            </a:r>
            <a:endParaRPr lang="en-US" sz="1050" dirty="0"/>
          </a:p>
        </p:txBody>
      </p:sp>
      <p:sp>
        <p:nvSpPr>
          <p:cNvPr id="15" name="Shape 13"/>
          <p:cNvSpPr/>
          <p:nvPr/>
        </p:nvSpPr>
        <p:spPr>
          <a:xfrm>
            <a:off x="548640" y="2112264"/>
            <a:ext cx="5440680" cy="1051560"/>
          </a:xfrm>
          <a:prstGeom prst="roundRect">
            <a:avLst>
              <a:gd name="adj" fmla="val 6087"/>
            </a:avLst>
          </a:prstGeom>
          <a:solidFill>
            <a:srgbClr val="E8F1EB"/>
          </a:solidFill>
          <a:ln w="9525">
            <a:solidFill>
              <a:srgbClr val="C9D5CE"/>
            </a:solidFill>
            <a:prstDash val="solid"/>
          </a:ln>
        </p:spPr>
      </p:sp>
      <p:sp>
        <p:nvSpPr>
          <p:cNvPr id="16" name="Text 14"/>
          <p:cNvSpPr txBox="1"/>
          <p:nvPr/>
        </p:nvSpPr>
        <p:spPr>
          <a:xfrm>
            <a:off x="731520" y="2185416"/>
            <a:ext cx="5074920" cy="201168"/>
          </a:xfrm>
          <a:prstGeom prst="rect">
            <a:avLst/>
          </a:prstGeom>
          <a:noFill/>
          <a:ln/>
        </p:spPr>
        <p:txBody>
          <a:bodyPr wrap="square" lIns="0" tIns="0" rIns="0" bIns="0" rtlCol="0" anchor="t"/>
          <a:lstStyle/>
          <a:p>
            <a:pPr indent="0" marL="0">
              <a:buNone/>
            </a:pPr>
            <a:r>
              <a:rPr lang="en-US" sz="1050" b="1" dirty="0">
                <a:solidFill>
                  <a:srgbClr val="154B36"/>
                </a:solidFill>
                <a:latin typeface="Calibri" pitchFamily="34" charset="0"/>
                <a:ea typeface="Calibri" pitchFamily="34" charset="-122"/>
                <a:cs typeface="Calibri" pitchFamily="34" charset="-120"/>
              </a:rPr>
              <a:t>Problem addressed</a:t>
            </a:r>
            <a:endParaRPr lang="en-US" sz="1050" dirty="0"/>
          </a:p>
        </p:txBody>
      </p:sp>
      <p:sp>
        <p:nvSpPr>
          <p:cNvPr id="17" name="Text 15"/>
          <p:cNvSpPr txBox="1"/>
          <p:nvPr/>
        </p:nvSpPr>
        <p:spPr>
          <a:xfrm>
            <a:off x="731520" y="2404872"/>
            <a:ext cx="5074920" cy="685800"/>
          </a:xfrm>
          <a:prstGeom prst="rect">
            <a:avLst/>
          </a:prstGeom>
          <a:noFill/>
          <a:ln/>
        </p:spPr>
        <p:txBody>
          <a:bodyPr wrap="square" lIns="0" tIns="0" rIns="0" bIns="0" rtlCol="0" anchor="t"/>
          <a:lstStyle/>
          <a:p>
            <a:pPr indent="0" marL="0">
              <a:lnSpc>
                <a:spcPct val="105000"/>
              </a:lnSpc>
              <a:buNone/>
            </a:pPr>
            <a:r>
              <a:rPr lang="en-US" sz="1050" dirty="0">
                <a:solidFill>
                  <a:srgbClr val="1F2A24"/>
                </a:solidFill>
                <a:latin typeface="Calibri" pitchFamily="34" charset="0"/>
                <a:ea typeface="Calibri" pitchFamily="34" charset="-122"/>
                <a:cs typeface="Calibri" pitchFamily="34" charset="-120"/>
              </a:rPr>
              <a:t>At the moment a Segment-A shopper evaluates a product, they can see (via the existing badge) that it doesn’t fit — but have no fast way to find one that does, so they skip the category or guess.</a:t>
            </a:r>
            <a:endParaRPr lang="en-US" sz="1050" dirty="0"/>
          </a:p>
        </p:txBody>
      </p:sp>
      <p:sp>
        <p:nvSpPr>
          <p:cNvPr id="18" name="Shape 16"/>
          <p:cNvSpPr/>
          <p:nvPr/>
        </p:nvSpPr>
        <p:spPr>
          <a:xfrm>
            <a:off x="548640" y="3255264"/>
            <a:ext cx="5440680" cy="1051560"/>
          </a:xfrm>
          <a:prstGeom prst="roundRect">
            <a:avLst>
              <a:gd name="adj" fmla="val 6087"/>
            </a:avLst>
          </a:prstGeom>
          <a:solidFill>
            <a:srgbClr val="E8F1EB"/>
          </a:solidFill>
          <a:ln w="9525">
            <a:solidFill>
              <a:srgbClr val="C9D5CE"/>
            </a:solidFill>
            <a:prstDash val="solid"/>
          </a:ln>
        </p:spPr>
      </p:sp>
      <p:sp>
        <p:nvSpPr>
          <p:cNvPr id="19" name="Text 17"/>
          <p:cNvSpPr txBox="1"/>
          <p:nvPr/>
        </p:nvSpPr>
        <p:spPr>
          <a:xfrm>
            <a:off x="731520" y="3328416"/>
            <a:ext cx="5074920" cy="201168"/>
          </a:xfrm>
          <a:prstGeom prst="rect">
            <a:avLst/>
          </a:prstGeom>
          <a:noFill/>
          <a:ln/>
        </p:spPr>
        <p:txBody>
          <a:bodyPr wrap="square" lIns="0" tIns="0" rIns="0" bIns="0" rtlCol="0" anchor="t"/>
          <a:lstStyle/>
          <a:p>
            <a:pPr indent="0" marL="0">
              <a:buNone/>
            </a:pPr>
            <a:r>
              <a:rPr lang="en-US" sz="1050" b="1" dirty="0">
                <a:solidFill>
                  <a:srgbClr val="154B36"/>
                </a:solidFill>
                <a:latin typeface="Calibri" pitchFamily="34" charset="0"/>
                <a:ea typeface="Calibri" pitchFamily="34" charset="-122"/>
                <a:cs typeface="Calibri" pitchFamily="34" charset="-120"/>
              </a:rPr>
              <a:t>Why it might work</a:t>
            </a:r>
            <a:endParaRPr lang="en-US" sz="1050" dirty="0"/>
          </a:p>
        </p:txBody>
      </p:sp>
      <p:sp>
        <p:nvSpPr>
          <p:cNvPr id="20" name="Text 18"/>
          <p:cNvSpPr txBox="1"/>
          <p:nvPr/>
        </p:nvSpPr>
        <p:spPr>
          <a:xfrm>
            <a:off x="731520" y="3547872"/>
            <a:ext cx="5074920" cy="685800"/>
          </a:xfrm>
          <a:prstGeom prst="rect">
            <a:avLst/>
          </a:prstGeom>
          <a:noFill/>
          <a:ln/>
        </p:spPr>
        <p:txBody>
          <a:bodyPr wrap="square" lIns="0" tIns="0" rIns="0" bIns="0" rtlCol="0" anchor="t"/>
          <a:lstStyle/>
          <a:p>
            <a:pPr indent="0" marL="0">
              <a:lnSpc>
                <a:spcPct val="105000"/>
              </a:lnSpc>
              <a:buNone/>
            </a:pPr>
            <a:r>
              <a:rPr lang="en-US" sz="1050" dirty="0">
                <a:solidFill>
                  <a:srgbClr val="1F2A24"/>
                </a:solidFill>
                <a:latin typeface="Calibri" pitchFamily="34" charset="0"/>
                <a:ea typeface="Calibri" pitchFamily="34" charset="-122"/>
                <a:cs typeface="Calibri" pitchFamily="34" charset="-120"/>
              </a:rPr>
              <a:t>It completes the pipeline NutriScore already designed but never shipped — the “Suggest” step was spec’d but never coded; the category tagging and scoring it needs already exist in the shipped build.</a:t>
            </a:r>
            <a:endParaRPr lang="en-US" sz="1050" dirty="0"/>
          </a:p>
        </p:txBody>
      </p:sp>
      <p:sp>
        <p:nvSpPr>
          <p:cNvPr id="21" name="Shape 19"/>
          <p:cNvSpPr/>
          <p:nvPr/>
        </p:nvSpPr>
        <p:spPr>
          <a:xfrm>
            <a:off x="548640" y="4398264"/>
            <a:ext cx="5440680" cy="1188720"/>
          </a:xfrm>
          <a:prstGeom prst="roundRect">
            <a:avLst>
              <a:gd name="adj" fmla="val 5385"/>
            </a:avLst>
          </a:prstGeom>
          <a:solidFill>
            <a:srgbClr val="E8F1EB"/>
          </a:solidFill>
          <a:ln w="9525">
            <a:solidFill>
              <a:srgbClr val="C9D5CE"/>
            </a:solidFill>
            <a:prstDash val="solid"/>
          </a:ln>
        </p:spPr>
      </p:sp>
      <p:sp>
        <p:nvSpPr>
          <p:cNvPr id="22" name="Text 20"/>
          <p:cNvSpPr txBox="1"/>
          <p:nvPr/>
        </p:nvSpPr>
        <p:spPr>
          <a:xfrm>
            <a:off x="731520" y="4471416"/>
            <a:ext cx="5074920" cy="201168"/>
          </a:xfrm>
          <a:prstGeom prst="rect">
            <a:avLst/>
          </a:prstGeom>
          <a:noFill/>
          <a:ln/>
        </p:spPr>
        <p:txBody>
          <a:bodyPr wrap="square" lIns="0" tIns="0" rIns="0" bIns="0" rtlCol="0" anchor="t"/>
          <a:lstStyle/>
          <a:p>
            <a:pPr indent="0" marL="0">
              <a:buNone/>
            </a:pPr>
            <a:r>
              <a:rPr lang="en-US" sz="1050" b="1" dirty="0">
                <a:solidFill>
                  <a:srgbClr val="154B36"/>
                </a:solidFill>
                <a:latin typeface="Calibri" pitchFamily="34" charset="0"/>
                <a:ea typeface="Calibri" pitchFamily="34" charset="-122"/>
                <a:cs typeface="Calibri" pitchFamily="34" charset="-120"/>
              </a:rPr>
              <a:t>Smallest test</a:t>
            </a:r>
            <a:endParaRPr lang="en-US" sz="1050" dirty="0"/>
          </a:p>
        </p:txBody>
      </p:sp>
      <p:sp>
        <p:nvSpPr>
          <p:cNvPr id="23" name="Shape 21"/>
          <p:cNvSpPr/>
          <p:nvPr/>
        </p:nvSpPr>
        <p:spPr>
          <a:xfrm>
            <a:off x="3904488" y="4489704"/>
            <a:ext cx="1920240" cy="201168"/>
          </a:xfrm>
          <a:prstGeom prst="roundRect">
            <a:avLst>
              <a:gd name="adj" fmla="val 45455"/>
            </a:avLst>
          </a:prstGeom>
          <a:solidFill>
            <a:srgbClr val="EE8100"/>
          </a:solidFill>
          <a:ln/>
        </p:spPr>
      </p:sp>
      <p:sp>
        <p:nvSpPr>
          <p:cNvPr id="24" name="Text 22"/>
          <p:cNvSpPr txBox="1"/>
          <p:nvPr/>
        </p:nvSpPr>
        <p:spPr>
          <a:xfrm>
            <a:off x="3904488" y="4489704"/>
            <a:ext cx="1920240" cy="201168"/>
          </a:xfrm>
          <a:prstGeom prst="rect">
            <a:avLst/>
          </a:prstGeom>
          <a:noFill/>
          <a:ln/>
        </p:spPr>
        <p:txBody>
          <a:bodyPr wrap="square" lIns="0" tIns="0" rIns="0" bIns="0" rtlCol="0" anchor="ctr"/>
          <a:lstStyle/>
          <a:p>
            <a:pPr algn="ctr" indent="0" marL="0">
              <a:buNone/>
            </a:pPr>
            <a:r>
              <a:rPr lang="en-US" sz="700" b="1" spc="50" kern="0" dirty="0">
                <a:solidFill>
                  <a:srgbClr val="1F2A24"/>
                </a:solidFill>
                <a:latin typeface="Calibri" pitchFamily="34" charset="0"/>
                <a:ea typeface="Calibri" pitchFamily="34" charset="-122"/>
                <a:cs typeface="Calibri" pitchFamily="34" charset="-120"/>
              </a:rPr>
              <a:t>NEXT VALIDATION STEP</a:t>
            </a:r>
            <a:endParaRPr lang="en-US" sz="700" dirty="0"/>
          </a:p>
        </p:txBody>
      </p:sp>
      <p:sp>
        <p:nvSpPr>
          <p:cNvPr id="25" name="Text 23"/>
          <p:cNvSpPr txBox="1"/>
          <p:nvPr/>
        </p:nvSpPr>
        <p:spPr>
          <a:xfrm>
            <a:off x="731520" y="4690872"/>
            <a:ext cx="5074920" cy="822960"/>
          </a:xfrm>
          <a:prstGeom prst="rect">
            <a:avLst/>
          </a:prstGeom>
          <a:noFill/>
          <a:ln/>
        </p:spPr>
        <p:txBody>
          <a:bodyPr wrap="square" lIns="0" tIns="0" rIns="0" bIns="0" rtlCol="0" anchor="t"/>
          <a:lstStyle/>
          <a:p>
            <a:pPr indent="0" marL="0">
              <a:lnSpc>
                <a:spcPct val="105000"/>
              </a:lnSpc>
              <a:buNone/>
            </a:pPr>
            <a:r>
              <a:rPr lang="en-US" sz="1050" dirty="0">
                <a:solidFill>
                  <a:srgbClr val="1F2A24"/>
                </a:solidFill>
                <a:latin typeface="Calibri" pitchFamily="34" charset="0"/>
                <a:ea typeface="Calibri" pitchFamily="34" charset="-122"/>
                <a:cs typeface="Calibri" pitchFamily="34" charset="-120"/>
              </a:rPr>
              <a:t>A 1-week moderated pilot with 3–5 Segment-A participants: show a clickable prototype of the compare panel on 10 real product pages (mixing verified and unverified items), and watch whether they use it, ignore it, or hit an empty result.</a:t>
            </a:r>
            <a:endParaRPr lang="en-US" sz="1050" dirty="0"/>
          </a:p>
        </p:txBody>
      </p:sp>
      <p:sp>
        <p:nvSpPr>
          <p:cNvPr id="26" name="Shape 24"/>
          <p:cNvSpPr/>
          <p:nvPr/>
        </p:nvSpPr>
        <p:spPr>
          <a:xfrm>
            <a:off x="6199632" y="1508760"/>
            <a:ext cx="5440680" cy="822960"/>
          </a:xfrm>
          <a:prstGeom prst="roundRect">
            <a:avLst>
              <a:gd name="adj" fmla="val 7778"/>
            </a:avLst>
          </a:prstGeom>
          <a:solidFill>
            <a:srgbClr val="FFFFFF"/>
          </a:solidFill>
          <a:ln w="9525">
            <a:solidFill>
              <a:srgbClr val="C9D5CE"/>
            </a:solidFill>
            <a:prstDash val="solid"/>
          </a:ln>
        </p:spPr>
      </p:sp>
      <p:sp>
        <p:nvSpPr>
          <p:cNvPr id="27" name="Text 25"/>
          <p:cNvSpPr txBox="1"/>
          <p:nvPr/>
        </p:nvSpPr>
        <p:spPr>
          <a:xfrm>
            <a:off x="6382512" y="1581912"/>
            <a:ext cx="5074920" cy="201168"/>
          </a:xfrm>
          <a:prstGeom prst="rect">
            <a:avLst/>
          </a:prstGeom>
          <a:noFill/>
          <a:ln/>
        </p:spPr>
        <p:txBody>
          <a:bodyPr wrap="square" lIns="0" tIns="0" rIns="0" bIns="0" rtlCol="0" anchor="t"/>
          <a:lstStyle/>
          <a:p>
            <a:pPr indent="0" marL="0">
              <a:buNone/>
            </a:pPr>
            <a:r>
              <a:rPr lang="en-US" sz="1050" b="1" dirty="0">
                <a:solidFill>
                  <a:srgbClr val="154B36"/>
                </a:solidFill>
                <a:latin typeface="Calibri" pitchFamily="34" charset="0"/>
                <a:ea typeface="Calibri" pitchFamily="34" charset="-122"/>
                <a:cs typeface="Calibri" pitchFamily="34" charset="-120"/>
              </a:rPr>
              <a:t>Priority user</a:t>
            </a:r>
            <a:endParaRPr lang="en-US" sz="1050" dirty="0"/>
          </a:p>
        </p:txBody>
      </p:sp>
      <p:sp>
        <p:nvSpPr>
          <p:cNvPr id="28" name="Text 26"/>
          <p:cNvSpPr txBox="1"/>
          <p:nvPr/>
        </p:nvSpPr>
        <p:spPr>
          <a:xfrm>
            <a:off x="6382512" y="1801368"/>
            <a:ext cx="5074920" cy="457200"/>
          </a:xfrm>
          <a:prstGeom prst="rect">
            <a:avLst/>
          </a:prstGeom>
          <a:noFill/>
          <a:ln/>
        </p:spPr>
        <p:txBody>
          <a:bodyPr wrap="square" lIns="0" tIns="0" rIns="0" bIns="0" rtlCol="0" anchor="t"/>
          <a:lstStyle/>
          <a:p>
            <a:pPr indent="0" marL="0">
              <a:lnSpc>
                <a:spcPct val="105000"/>
              </a:lnSpc>
              <a:buNone/>
            </a:pPr>
            <a:r>
              <a:rPr lang="en-US" sz="1050" dirty="0">
                <a:solidFill>
                  <a:srgbClr val="1F2A24"/>
                </a:solidFill>
                <a:latin typeface="Calibri" pitchFamily="34" charset="0"/>
                <a:ea typeface="Calibri" pitchFamily="34" charset="-122"/>
                <a:cs typeface="Calibri" pitchFamily="34" charset="-120"/>
              </a:rPr>
              <a:t>Segment-A shoppers who already see a badge grade but need a next step at the point of choice.</a:t>
            </a:r>
            <a:endParaRPr lang="en-US" sz="1050" dirty="0"/>
          </a:p>
        </p:txBody>
      </p:sp>
      <p:sp>
        <p:nvSpPr>
          <p:cNvPr id="29" name="Shape 27"/>
          <p:cNvSpPr/>
          <p:nvPr/>
        </p:nvSpPr>
        <p:spPr>
          <a:xfrm>
            <a:off x="6199632" y="2423160"/>
            <a:ext cx="5440680" cy="1371600"/>
          </a:xfrm>
          <a:prstGeom prst="roundRect">
            <a:avLst>
              <a:gd name="adj" fmla="val 4667"/>
            </a:avLst>
          </a:prstGeom>
          <a:solidFill>
            <a:srgbClr val="FFFFFF"/>
          </a:solidFill>
          <a:ln w="9525">
            <a:solidFill>
              <a:srgbClr val="C9D5CE"/>
            </a:solidFill>
            <a:prstDash val="solid"/>
          </a:ln>
        </p:spPr>
      </p:sp>
      <p:sp>
        <p:nvSpPr>
          <p:cNvPr id="30" name="Text 28"/>
          <p:cNvSpPr txBox="1"/>
          <p:nvPr/>
        </p:nvSpPr>
        <p:spPr>
          <a:xfrm>
            <a:off x="6382512" y="2496312"/>
            <a:ext cx="5074920" cy="201168"/>
          </a:xfrm>
          <a:prstGeom prst="rect">
            <a:avLst/>
          </a:prstGeom>
          <a:noFill/>
          <a:ln/>
        </p:spPr>
        <p:txBody>
          <a:bodyPr wrap="square" lIns="0" tIns="0" rIns="0" bIns="0" rtlCol="0" anchor="t"/>
          <a:lstStyle/>
          <a:p>
            <a:pPr indent="0" marL="0">
              <a:buNone/>
            </a:pPr>
            <a:r>
              <a:rPr lang="en-US" sz="1050" b="1" dirty="0">
                <a:solidFill>
                  <a:srgbClr val="154B36"/>
                </a:solidFill>
                <a:latin typeface="Calibri" pitchFamily="34" charset="0"/>
                <a:ea typeface="Calibri" pitchFamily="34" charset="-122"/>
                <a:cs typeface="Calibri" pitchFamily="34" charset="-120"/>
              </a:rPr>
              <a:t>How it works</a:t>
            </a:r>
            <a:endParaRPr lang="en-US" sz="1050" dirty="0"/>
          </a:p>
        </p:txBody>
      </p:sp>
      <p:sp>
        <p:nvSpPr>
          <p:cNvPr id="31" name="Text 29"/>
          <p:cNvSpPr txBox="1"/>
          <p:nvPr/>
        </p:nvSpPr>
        <p:spPr>
          <a:xfrm>
            <a:off x="6382512" y="2715768"/>
            <a:ext cx="5074920" cy="1005840"/>
          </a:xfrm>
          <a:prstGeom prst="rect">
            <a:avLst/>
          </a:prstGeom>
          <a:noFill/>
          <a:ln/>
        </p:spPr>
        <p:txBody>
          <a:bodyPr wrap="square" lIns="0" tIns="0" rIns="0" bIns="0" rtlCol="0" anchor="t"/>
          <a:lstStyle/>
          <a:p>
            <a:pPr indent="0" marL="0">
              <a:lnSpc>
                <a:spcPct val="105000"/>
              </a:lnSpc>
              <a:buNone/>
            </a:pPr>
            <a:r>
              <a:rPr lang="en-US" sz="1050" dirty="0">
                <a:solidFill>
                  <a:srgbClr val="1F2A24"/>
                </a:solidFill>
                <a:latin typeface="Calibri" pitchFamily="34" charset="0"/>
                <a:ea typeface="Calibri" pitchFamily="34" charset="-122"/>
                <a:cs typeface="Calibri" pitchFamily="34" charset="-120"/>
              </a:rPr>
              <a:t>When a product’s grade is C–E for the shopper’s flagged concern, the extension surfaces 2–3 same-category products with a better grade, ranked by closeness of fit, pulled from the existing 10,518-SKU dataset — no new data source required.</a:t>
            </a:r>
            <a:endParaRPr lang="en-US" sz="1050" dirty="0"/>
          </a:p>
        </p:txBody>
      </p:sp>
      <p:sp>
        <p:nvSpPr>
          <p:cNvPr id="32" name="Shape 30"/>
          <p:cNvSpPr/>
          <p:nvPr/>
        </p:nvSpPr>
        <p:spPr>
          <a:xfrm>
            <a:off x="6199632" y="3886200"/>
            <a:ext cx="5440680" cy="1005840"/>
          </a:xfrm>
          <a:prstGeom prst="roundRect">
            <a:avLst>
              <a:gd name="adj" fmla="val 6364"/>
            </a:avLst>
          </a:prstGeom>
          <a:solidFill>
            <a:srgbClr val="FFFFFF"/>
          </a:solidFill>
          <a:ln w="9525">
            <a:solidFill>
              <a:srgbClr val="C9D5CE"/>
            </a:solidFill>
            <a:prstDash val="solid"/>
          </a:ln>
        </p:spPr>
      </p:sp>
      <p:sp>
        <p:nvSpPr>
          <p:cNvPr id="33" name="Text 31"/>
          <p:cNvSpPr txBox="1"/>
          <p:nvPr/>
        </p:nvSpPr>
        <p:spPr>
          <a:xfrm>
            <a:off x="6382512" y="3959352"/>
            <a:ext cx="5074920" cy="201168"/>
          </a:xfrm>
          <a:prstGeom prst="rect">
            <a:avLst/>
          </a:prstGeom>
          <a:noFill/>
          <a:ln/>
        </p:spPr>
        <p:txBody>
          <a:bodyPr wrap="square" lIns="0" tIns="0" rIns="0" bIns="0" rtlCol="0" anchor="t"/>
          <a:lstStyle/>
          <a:p>
            <a:pPr indent="0" marL="0">
              <a:buNone/>
            </a:pPr>
            <a:r>
              <a:rPr lang="en-US" sz="1050" b="1" dirty="0">
                <a:solidFill>
                  <a:srgbClr val="154B36"/>
                </a:solidFill>
                <a:latin typeface="Calibri" pitchFamily="34" charset="0"/>
                <a:ea typeface="Calibri" pitchFamily="34" charset="-122"/>
                <a:cs typeface="Calibri" pitchFamily="34" charset="-120"/>
              </a:rPr>
              <a:t>Key risk</a:t>
            </a:r>
            <a:endParaRPr lang="en-US" sz="1050" dirty="0"/>
          </a:p>
        </p:txBody>
      </p:sp>
      <p:sp>
        <p:nvSpPr>
          <p:cNvPr id="34" name="Text 32"/>
          <p:cNvSpPr txBox="1"/>
          <p:nvPr/>
        </p:nvSpPr>
        <p:spPr>
          <a:xfrm>
            <a:off x="6382512" y="4178808"/>
            <a:ext cx="5074920" cy="640080"/>
          </a:xfrm>
          <a:prstGeom prst="rect">
            <a:avLst/>
          </a:prstGeom>
          <a:noFill/>
          <a:ln/>
        </p:spPr>
        <p:txBody>
          <a:bodyPr wrap="square" lIns="0" tIns="0" rIns="0" bIns="0" rtlCol="0" anchor="t"/>
          <a:lstStyle/>
          <a:p>
            <a:pPr indent="0" marL="0">
              <a:lnSpc>
                <a:spcPct val="105000"/>
              </a:lnSpc>
              <a:buNone/>
            </a:pPr>
            <a:r>
              <a:rPr lang="en-US" sz="1050" dirty="0">
                <a:solidFill>
                  <a:srgbClr val="1F2A24"/>
                </a:solidFill>
                <a:latin typeface="Calibri" pitchFamily="34" charset="0"/>
                <a:ea typeface="Calibri" pitchFamily="34" charset="-122"/>
                <a:cs typeface="Calibri" pitchFamily="34" charset="-120"/>
              </a:rPr>
              <a:t>Only 42–46% of the catalogue can currently show a grade, so a fitting alternative may not always exist in the verified portion — the suggestion could come up empty exactly when it’s needed most.</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2F6F3"/>
        </a:solidFill>
      </p:bgPr>
    </p:bg>
    <p:spTree>
      <p:nvGrpSpPr>
        <p:cNvPr id="1" name=""/>
        <p:cNvGrpSpPr/>
        <p:nvPr/>
      </p:nvGrpSpPr>
      <p:grpSpPr>
        <a:xfrm>
          <a:off x="0" y="0"/>
          <a:ext cx="0" cy="0"/>
          <a:chOff x="0" y="0"/>
          <a:chExt cx="0" cy="0"/>
        </a:xfrm>
      </p:grpSpPr>
      <p:sp>
        <p:nvSpPr>
          <p:cNvPr id="2" name="Text 0"/>
          <p:cNvSpPr txBox="1"/>
          <p:nvPr/>
        </p:nvSpPr>
        <p:spPr>
          <a:xfrm>
            <a:off x="548640" y="292608"/>
            <a:ext cx="9692640" cy="228600"/>
          </a:xfrm>
          <a:prstGeom prst="rect">
            <a:avLst/>
          </a:prstGeom>
          <a:noFill/>
          <a:ln/>
        </p:spPr>
        <p:txBody>
          <a:bodyPr wrap="square" lIns="0" tIns="0" rIns="0" bIns="0" rtlCol="0" anchor="t"/>
          <a:lstStyle/>
          <a:p>
            <a:pPr indent="0" marL="0">
              <a:buNone/>
            </a:pPr>
            <a:r>
              <a:rPr lang="en-US" sz="1000" b="1" spc="200" kern="0" dirty="0">
                <a:solidFill>
                  <a:srgbClr val="5C6B63"/>
                </a:solidFill>
                <a:latin typeface="Calibri" pitchFamily="34" charset="0"/>
                <a:ea typeface="Calibri" pitchFamily="34" charset="-122"/>
                <a:cs typeface="Calibri" pitchFamily="34" charset="-120"/>
              </a:rPr>
              <a:t>SESSION 5 · VALUE</a:t>
            </a:r>
            <a:endParaRPr lang="en-US" sz="1000" dirty="0"/>
          </a:p>
        </p:txBody>
      </p:sp>
      <p:sp>
        <p:nvSpPr>
          <p:cNvPr id="3" name="Shape 1"/>
          <p:cNvSpPr/>
          <p:nvPr/>
        </p:nvSpPr>
        <p:spPr>
          <a:xfrm>
            <a:off x="10643616" y="310896"/>
            <a:ext cx="155448" cy="155448"/>
          </a:xfrm>
          <a:prstGeom prst="rect">
            <a:avLst/>
          </a:prstGeom>
          <a:solidFill>
            <a:srgbClr val="038141"/>
          </a:solidFill>
          <a:ln/>
        </p:spPr>
      </p:sp>
      <p:sp>
        <p:nvSpPr>
          <p:cNvPr id="4" name="Shape 2"/>
          <p:cNvSpPr/>
          <p:nvPr/>
        </p:nvSpPr>
        <p:spPr>
          <a:xfrm>
            <a:off x="10853928" y="310896"/>
            <a:ext cx="155448" cy="155448"/>
          </a:xfrm>
          <a:prstGeom prst="rect">
            <a:avLst/>
          </a:prstGeom>
          <a:solidFill>
            <a:srgbClr val="85BB2F"/>
          </a:solidFill>
          <a:ln/>
        </p:spPr>
      </p:sp>
      <p:sp>
        <p:nvSpPr>
          <p:cNvPr id="5" name="Shape 3"/>
          <p:cNvSpPr/>
          <p:nvPr/>
        </p:nvSpPr>
        <p:spPr>
          <a:xfrm>
            <a:off x="11064240" y="310896"/>
            <a:ext cx="155448" cy="155448"/>
          </a:xfrm>
          <a:prstGeom prst="rect">
            <a:avLst/>
          </a:prstGeom>
          <a:solidFill>
            <a:srgbClr val="FECB02"/>
          </a:solidFill>
          <a:ln/>
        </p:spPr>
      </p:sp>
      <p:sp>
        <p:nvSpPr>
          <p:cNvPr id="6" name="Shape 4"/>
          <p:cNvSpPr/>
          <p:nvPr/>
        </p:nvSpPr>
        <p:spPr>
          <a:xfrm>
            <a:off x="11274552" y="310896"/>
            <a:ext cx="155448" cy="155448"/>
          </a:xfrm>
          <a:prstGeom prst="rect">
            <a:avLst/>
          </a:prstGeom>
          <a:solidFill>
            <a:srgbClr val="EE8100"/>
          </a:solidFill>
          <a:ln/>
        </p:spPr>
      </p:sp>
      <p:sp>
        <p:nvSpPr>
          <p:cNvPr id="7" name="Shape 5"/>
          <p:cNvSpPr/>
          <p:nvPr/>
        </p:nvSpPr>
        <p:spPr>
          <a:xfrm>
            <a:off x="11484864" y="310896"/>
            <a:ext cx="155448" cy="155448"/>
          </a:xfrm>
          <a:prstGeom prst="rect">
            <a:avLst/>
          </a:prstGeom>
          <a:solidFill>
            <a:srgbClr val="E63E11"/>
          </a:solidFill>
          <a:ln/>
        </p:spPr>
      </p:sp>
      <p:sp>
        <p:nvSpPr>
          <p:cNvPr id="8" name="Text 6"/>
          <p:cNvSpPr txBox="1"/>
          <p:nvPr/>
        </p:nvSpPr>
        <p:spPr>
          <a:xfrm>
            <a:off x="548640" y="603504"/>
            <a:ext cx="11064240" cy="822960"/>
          </a:xfrm>
          <a:prstGeom prst="rect">
            <a:avLst/>
          </a:prstGeom>
          <a:noFill/>
          <a:ln/>
        </p:spPr>
        <p:txBody>
          <a:bodyPr wrap="square" lIns="0" tIns="0" rIns="0" bIns="0" rtlCol="0" anchor="t"/>
          <a:lstStyle/>
          <a:p>
            <a:pPr indent="0" marL="0">
              <a:buNone/>
            </a:pPr>
            <a:r>
              <a:rPr lang="en-US" sz="2600" b="1" dirty="0">
                <a:solidFill>
                  <a:srgbClr val="154B36"/>
                </a:solidFill>
                <a:latin typeface="Cambria" pitchFamily="34" charset="0"/>
                <a:ea typeface="Cambria" pitchFamily="34" charset="-122"/>
                <a:cs typeface="Cambria" pitchFamily="34" charset="-120"/>
              </a:rPr>
              <a:t>Value Proposition Plate</a:t>
            </a:r>
            <a:endParaRPr lang="en-US" sz="2600" dirty="0"/>
          </a:p>
        </p:txBody>
      </p:sp>
      <p:sp>
        <p:nvSpPr>
          <p:cNvPr id="9" name="Text 7"/>
          <p:cNvSpPr txBox="1"/>
          <p:nvPr/>
        </p:nvSpPr>
        <p:spPr>
          <a:xfrm>
            <a:off x="548640" y="6199632"/>
            <a:ext cx="11064240" cy="219456"/>
          </a:xfrm>
          <a:prstGeom prst="rect">
            <a:avLst/>
          </a:prstGeom>
          <a:noFill/>
          <a:ln/>
        </p:spPr>
        <p:txBody>
          <a:bodyPr wrap="square" lIns="0" tIns="0" rIns="0" bIns="0" rtlCol="0" anchor="t"/>
          <a:lstStyle/>
          <a:p>
            <a:pPr indent="0" marL="0">
              <a:buNone/>
            </a:pPr>
            <a:r>
              <a:rPr lang="en-US" sz="900" i="1" dirty="0">
                <a:solidFill>
                  <a:srgbClr val="5C6B63"/>
                </a:solidFill>
                <a:latin typeface="Calibri" pitchFamily="34" charset="0"/>
                <a:ea typeface="Calibri" pitchFamily="34" charset="-122"/>
                <a:cs typeface="Calibri" pitchFamily="34" charset="-120"/>
              </a:rPr>
              <a:t>The proposition should be clear before the team designs screens or features.</a:t>
            </a:r>
            <a:endParaRPr lang="en-US" sz="900" dirty="0"/>
          </a:p>
        </p:txBody>
      </p:sp>
      <p:sp>
        <p:nvSpPr>
          <p:cNvPr id="10" name="Text 8"/>
          <p:cNvSpPr txBox="1"/>
          <p:nvPr/>
        </p:nvSpPr>
        <p:spPr>
          <a:xfrm>
            <a:off x="548640" y="6510528"/>
            <a:ext cx="9601200" cy="182880"/>
          </a:xfrm>
          <a:prstGeom prst="rect">
            <a:avLst/>
          </a:prstGeom>
          <a:noFill/>
          <a:ln/>
        </p:spPr>
        <p:txBody>
          <a:bodyPr wrap="square" lIns="0" tIns="0" rIns="0" bIns="0" rtlCol="0" anchor="t"/>
          <a:lstStyle/>
          <a:p>
            <a:pPr indent="0" marL="0">
              <a:buNone/>
            </a:pPr>
            <a:r>
              <a:rPr lang="en-US" sz="900" dirty="0">
                <a:solidFill>
                  <a:srgbClr val="5C6B63"/>
                </a:solidFill>
                <a:latin typeface="Calibri" pitchFamily="34" charset="0"/>
                <a:ea typeface="Calibri" pitchFamily="34" charset="-122"/>
                <a:cs typeface="Calibri" pitchFamily="34" charset="-120"/>
              </a:rPr>
              <a:t>NutriScore Checkout Tool  |  NUT-04, JHUB Africa / AfyaVentures  |  Kibet, Project Lead</a:t>
            </a:r>
            <a:endParaRPr lang="en-US" sz="900" dirty="0"/>
          </a:p>
        </p:txBody>
      </p:sp>
      <p:sp>
        <p:nvSpPr>
          <p:cNvPr id="11" name="Text 9"/>
          <p:cNvSpPr txBox="1"/>
          <p:nvPr/>
        </p:nvSpPr>
        <p:spPr>
          <a:xfrm>
            <a:off x="10725912" y="6510528"/>
            <a:ext cx="914400" cy="182880"/>
          </a:xfrm>
          <a:prstGeom prst="rect">
            <a:avLst/>
          </a:prstGeom>
          <a:noFill/>
          <a:ln/>
        </p:spPr>
        <p:txBody>
          <a:bodyPr wrap="square" lIns="0" tIns="0" rIns="0" bIns="0" rtlCol="0" anchor="t"/>
          <a:lstStyle/>
          <a:p>
            <a:pPr algn="r" indent="0" marL="0">
              <a:buNone/>
            </a:pPr>
            <a:r>
              <a:rPr lang="en-US" sz="900" dirty="0">
                <a:solidFill>
                  <a:srgbClr val="5C6B63"/>
                </a:solidFill>
                <a:latin typeface="Calibri" pitchFamily="34" charset="0"/>
                <a:ea typeface="Calibri" pitchFamily="34" charset="-122"/>
                <a:cs typeface="Calibri" pitchFamily="34" charset="-120"/>
              </a:rPr>
              <a:t>10 / 10</a:t>
            </a:r>
            <a:endParaRPr lang="en-US" sz="900" dirty="0"/>
          </a:p>
        </p:txBody>
      </p:sp>
      <p:sp>
        <p:nvSpPr>
          <p:cNvPr id="12" name="Shape 10"/>
          <p:cNvSpPr/>
          <p:nvPr/>
        </p:nvSpPr>
        <p:spPr>
          <a:xfrm>
            <a:off x="548640" y="1508760"/>
            <a:ext cx="11091672" cy="566928"/>
          </a:xfrm>
          <a:prstGeom prst="roundRect">
            <a:avLst>
              <a:gd name="adj" fmla="val 11290"/>
            </a:avLst>
          </a:prstGeom>
          <a:solidFill>
            <a:srgbClr val="E8F1EB"/>
          </a:solidFill>
          <a:ln w="9525">
            <a:solidFill>
              <a:srgbClr val="C9D5CE"/>
            </a:solidFill>
            <a:prstDash val="solid"/>
          </a:ln>
        </p:spPr>
      </p:sp>
      <p:sp>
        <p:nvSpPr>
          <p:cNvPr id="13" name="Text 11"/>
          <p:cNvSpPr txBox="1"/>
          <p:nvPr/>
        </p:nvSpPr>
        <p:spPr>
          <a:xfrm>
            <a:off x="731520" y="1581912"/>
            <a:ext cx="10725912" cy="201168"/>
          </a:xfrm>
          <a:prstGeom prst="rect">
            <a:avLst/>
          </a:prstGeom>
          <a:noFill/>
          <a:ln/>
        </p:spPr>
        <p:txBody>
          <a:bodyPr wrap="square" lIns="0" tIns="0" rIns="0" bIns="0" rtlCol="0" anchor="t"/>
          <a:lstStyle/>
          <a:p>
            <a:pPr indent="0" marL="0">
              <a:buNone/>
            </a:pPr>
            <a:r>
              <a:rPr lang="en-US" sz="1050" b="1" dirty="0">
                <a:solidFill>
                  <a:srgbClr val="154B36"/>
                </a:solidFill>
                <a:latin typeface="Calibri" pitchFamily="34" charset="0"/>
                <a:ea typeface="Calibri" pitchFamily="34" charset="-122"/>
                <a:cs typeface="Calibri" pitchFamily="34" charset="-120"/>
              </a:rPr>
              <a:t>For</a:t>
            </a:r>
            <a:endParaRPr lang="en-US" sz="1050" dirty="0"/>
          </a:p>
        </p:txBody>
      </p:sp>
      <p:sp>
        <p:nvSpPr>
          <p:cNvPr id="14" name="Text 12"/>
          <p:cNvSpPr txBox="1"/>
          <p:nvPr/>
        </p:nvSpPr>
        <p:spPr>
          <a:xfrm>
            <a:off x="731520" y="1764792"/>
            <a:ext cx="8897112" cy="164592"/>
          </a:xfrm>
          <a:prstGeom prst="rect">
            <a:avLst/>
          </a:prstGeom>
          <a:noFill/>
          <a:ln/>
        </p:spPr>
        <p:txBody>
          <a:bodyPr wrap="square" lIns="0" tIns="0" rIns="0" bIns="0" rtlCol="0" anchor="t"/>
          <a:lstStyle/>
          <a:p>
            <a:pPr indent="0" marL="0">
              <a:buNone/>
            </a:pPr>
            <a:r>
              <a:rPr lang="en-US" sz="800" i="1" dirty="0">
                <a:solidFill>
                  <a:srgbClr val="5C6B63"/>
                </a:solidFill>
                <a:latin typeface="Calibri" pitchFamily="34" charset="0"/>
                <a:ea typeface="Calibri" pitchFamily="34" charset="-122"/>
                <a:cs typeface="Calibri" pitchFamily="34" charset="-120"/>
              </a:rPr>
              <a:t>priority user</a:t>
            </a:r>
            <a:endParaRPr lang="en-US" sz="800" dirty="0"/>
          </a:p>
        </p:txBody>
      </p:sp>
      <p:sp>
        <p:nvSpPr>
          <p:cNvPr id="15" name="Text 13"/>
          <p:cNvSpPr txBox="1"/>
          <p:nvPr/>
        </p:nvSpPr>
        <p:spPr>
          <a:xfrm>
            <a:off x="731520" y="1947672"/>
            <a:ext cx="10725912" cy="54864"/>
          </a:xfrm>
          <a:prstGeom prst="rect">
            <a:avLst/>
          </a:prstGeom>
          <a:noFill/>
          <a:ln/>
        </p:spPr>
        <p:txBody>
          <a:bodyPr wrap="square" lIns="0" tIns="0" rIns="0" bIns="0" rtlCol="0" anchor="t"/>
          <a:lstStyle/>
          <a:p>
            <a:pPr indent="0" marL="0">
              <a:lnSpc>
                <a:spcPct val="105000"/>
              </a:lnSpc>
              <a:buNone/>
            </a:pPr>
            <a:r>
              <a:rPr lang="en-US" sz="1030" dirty="0">
                <a:solidFill>
                  <a:srgbClr val="1F2A24"/>
                </a:solidFill>
                <a:latin typeface="Calibri" pitchFamily="34" charset="0"/>
                <a:ea typeface="Calibri" pitchFamily="34" charset="-122"/>
                <a:cs typeface="Calibri" pitchFamily="34" charset="-120"/>
              </a:rPr>
              <a:t>Segment-A online grocery shoppers in Kenya — adults managing a diet-sensitive condition.</a:t>
            </a:r>
            <a:endParaRPr lang="en-US" sz="1030" dirty="0"/>
          </a:p>
        </p:txBody>
      </p:sp>
      <p:sp>
        <p:nvSpPr>
          <p:cNvPr id="16" name="Shape 14"/>
          <p:cNvSpPr/>
          <p:nvPr/>
        </p:nvSpPr>
        <p:spPr>
          <a:xfrm>
            <a:off x="548640" y="2148840"/>
            <a:ext cx="11091672" cy="713232"/>
          </a:xfrm>
          <a:prstGeom prst="roundRect">
            <a:avLst>
              <a:gd name="adj" fmla="val 8974"/>
            </a:avLst>
          </a:prstGeom>
          <a:solidFill>
            <a:srgbClr val="FFFFFF"/>
          </a:solidFill>
          <a:ln w="9525">
            <a:solidFill>
              <a:srgbClr val="C9D5CE"/>
            </a:solidFill>
            <a:prstDash val="solid"/>
          </a:ln>
        </p:spPr>
      </p:sp>
      <p:sp>
        <p:nvSpPr>
          <p:cNvPr id="17" name="Text 15"/>
          <p:cNvSpPr txBox="1"/>
          <p:nvPr/>
        </p:nvSpPr>
        <p:spPr>
          <a:xfrm>
            <a:off x="731520" y="2221992"/>
            <a:ext cx="10725912" cy="201168"/>
          </a:xfrm>
          <a:prstGeom prst="rect">
            <a:avLst/>
          </a:prstGeom>
          <a:noFill/>
          <a:ln/>
        </p:spPr>
        <p:txBody>
          <a:bodyPr wrap="square" lIns="0" tIns="0" rIns="0" bIns="0" rtlCol="0" anchor="t"/>
          <a:lstStyle/>
          <a:p>
            <a:pPr indent="0" marL="0">
              <a:buNone/>
            </a:pPr>
            <a:r>
              <a:rPr lang="en-US" sz="1050" b="1" dirty="0">
                <a:solidFill>
                  <a:srgbClr val="154B36"/>
                </a:solidFill>
                <a:latin typeface="Calibri" pitchFamily="34" charset="0"/>
                <a:ea typeface="Calibri" pitchFamily="34" charset="-122"/>
                <a:cs typeface="Calibri" pitchFamily="34" charset="-120"/>
              </a:rPr>
              <a:t>Who struggle with</a:t>
            </a:r>
            <a:endParaRPr lang="en-US" sz="1050" dirty="0"/>
          </a:p>
        </p:txBody>
      </p:sp>
      <p:sp>
        <p:nvSpPr>
          <p:cNvPr id="18" name="Text 16"/>
          <p:cNvSpPr txBox="1"/>
          <p:nvPr/>
        </p:nvSpPr>
        <p:spPr>
          <a:xfrm>
            <a:off x="731520" y="2404872"/>
            <a:ext cx="8897112" cy="164592"/>
          </a:xfrm>
          <a:prstGeom prst="rect">
            <a:avLst/>
          </a:prstGeom>
          <a:noFill/>
          <a:ln/>
        </p:spPr>
        <p:txBody>
          <a:bodyPr wrap="square" lIns="0" tIns="0" rIns="0" bIns="0" rtlCol="0" anchor="t"/>
          <a:lstStyle/>
          <a:p>
            <a:pPr indent="0" marL="0">
              <a:buNone/>
            </a:pPr>
            <a:r>
              <a:rPr lang="en-US" sz="800" i="1" dirty="0">
                <a:solidFill>
                  <a:srgbClr val="5C6B63"/>
                </a:solidFill>
                <a:latin typeface="Calibri" pitchFamily="34" charset="0"/>
                <a:ea typeface="Calibri" pitchFamily="34" charset="-122"/>
                <a:cs typeface="Calibri" pitchFamily="34" charset="-120"/>
              </a:rPr>
              <a:t>validated pain / job / barrier</a:t>
            </a:r>
            <a:endParaRPr lang="en-US" sz="800" dirty="0"/>
          </a:p>
        </p:txBody>
      </p:sp>
      <p:sp>
        <p:nvSpPr>
          <p:cNvPr id="19" name="Text 17"/>
          <p:cNvSpPr txBox="1"/>
          <p:nvPr/>
        </p:nvSpPr>
        <p:spPr>
          <a:xfrm>
            <a:off x="731520" y="2587752"/>
            <a:ext cx="10725912" cy="201168"/>
          </a:xfrm>
          <a:prstGeom prst="rect">
            <a:avLst/>
          </a:prstGeom>
          <a:noFill/>
          <a:ln/>
        </p:spPr>
        <p:txBody>
          <a:bodyPr wrap="square" lIns="0" tIns="0" rIns="0" bIns="0" rtlCol="0" anchor="t"/>
          <a:lstStyle/>
          <a:p>
            <a:pPr indent="0" marL="0">
              <a:lnSpc>
                <a:spcPct val="105000"/>
              </a:lnSpc>
              <a:buNone/>
            </a:pPr>
            <a:r>
              <a:rPr lang="en-US" sz="1030" dirty="0">
                <a:solidFill>
                  <a:srgbClr val="1F2A24"/>
                </a:solidFill>
                <a:latin typeface="Calibri" pitchFamily="34" charset="0"/>
                <a:ea typeface="Calibri" pitchFamily="34" charset="-122"/>
                <a:cs typeface="Calibri" pitchFamily="34" charset="-120"/>
              </a:rPr>
              <a:t>Knowing a product doesn’t fit their limits but having no fast way to find one that does, at the exact moment they’re choosing.</a:t>
            </a:r>
            <a:endParaRPr lang="en-US" sz="1030" dirty="0"/>
          </a:p>
        </p:txBody>
      </p:sp>
      <p:sp>
        <p:nvSpPr>
          <p:cNvPr id="20" name="Shape 18"/>
          <p:cNvSpPr/>
          <p:nvPr/>
        </p:nvSpPr>
        <p:spPr>
          <a:xfrm>
            <a:off x="548640" y="2935224"/>
            <a:ext cx="11091672" cy="713232"/>
          </a:xfrm>
          <a:prstGeom prst="roundRect">
            <a:avLst>
              <a:gd name="adj" fmla="val 8974"/>
            </a:avLst>
          </a:prstGeom>
          <a:solidFill>
            <a:srgbClr val="E8F1EB"/>
          </a:solidFill>
          <a:ln w="9525">
            <a:solidFill>
              <a:srgbClr val="C9D5CE"/>
            </a:solidFill>
            <a:prstDash val="solid"/>
          </a:ln>
        </p:spPr>
      </p:sp>
      <p:sp>
        <p:nvSpPr>
          <p:cNvPr id="21" name="Text 19"/>
          <p:cNvSpPr txBox="1"/>
          <p:nvPr/>
        </p:nvSpPr>
        <p:spPr>
          <a:xfrm>
            <a:off x="731520" y="3008376"/>
            <a:ext cx="10725912" cy="201168"/>
          </a:xfrm>
          <a:prstGeom prst="rect">
            <a:avLst/>
          </a:prstGeom>
          <a:noFill/>
          <a:ln/>
        </p:spPr>
        <p:txBody>
          <a:bodyPr wrap="square" lIns="0" tIns="0" rIns="0" bIns="0" rtlCol="0" anchor="t"/>
          <a:lstStyle/>
          <a:p>
            <a:pPr indent="0" marL="0">
              <a:buNone/>
            </a:pPr>
            <a:r>
              <a:rPr lang="en-US" sz="1050" b="1" dirty="0">
                <a:solidFill>
                  <a:srgbClr val="154B36"/>
                </a:solidFill>
                <a:latin typeface="Calibri" pitchFamily="34" charset="0"/>
                <a:ea typeface="Calibri" pitchFamily="34" charset="-122"/>
                <a:cs typeface="Calibri" pitchFamily="34" charset="-120"/>
              </a:rPr>
              <a:t>Our concept helps them</a:t>
            </a:r>
            <a:endParaRPr lang="en-US" sz="1050" dirty="0"/>
          </a:p>
        </p:txBody>
      </p:sp>
      <p:sp>
        <p:nvSpPr>
          <p:cNvPr id="22" name="Text 20"/>
          <p:cNvSpPr txBox="1"/>
          <p:nvPr/>
        </p:nvSpPr>
        <p:spPr>
          <a:xfrm>
            <a:off x="731520" y="3191256"/>
            <a:ext cx="8897112" cy="164592"/>
          </a:xfrm>
          <a:prstGeom prst="rect">
            <a:avLst/>
          </a:prstGeom>
          <a:noFill/>
          <a:ln/>
        </p:spPr>
        <p:txBody>
          <a:bodyPr wrap="square" lIns="0" tIns="0" rIns="0" bIns="0" rtlCol="0" anchor="t"/>
          <a:lstStyle/>
          <a:p>
            <a:pPr indent="0" marL="0">
              <a:buNone/>
            </a:pPr>
            <a:r>
              <a:rPr lang="en-US" sz="800" i="1" dirty="0">
                <a:solidFill>
                  <a:srgbClr val="5C6B63"/>
                </a:solidFill>
                <a:latin typeface="Calibri" pitchFamily="34" charset="0"/>
                <a:ea typeface="Calibri" pitchFamily="34" charset="-122"/>
                <a:cs typeface="Calibri" pitchFamily="34" charset="-120"/>
              </a:rPr>
              <a:t>desired outcome</a:t>
            </a:r>
            <a:endParaRPr lang="en-US" sz="800" dirty="0"/>
          </a:p>
        </p:txBody>
      </p:sp>
      <p:sp>
        <p:nvSpPr>
          <p:cNvPr id="23" name="Text 21"/>
          <p:cNvSpPr txBox="1"/>
          <p:nvPr/>
        </p:nvSpPr>
        <p:spPr>
          <a:xfrm>
            <a:off x="731520" y="3374136"/>
            <a:ext cx="10725912" cy="201168"/>
          </a:xfrm>
          <a:prstGeom prst="rect">
            <a:avLst/>
          </a:prstGeom>
          <a:noFill/>
          <a:ln/>
        </p:spPr>
        <p:txBody>
          <a:bodyPr wrap="square" lIns="0" tIns="0" rIns="0" bIns="0" rtlCol="0" anchor="t"/>
          <a:lstStyle/>
          <a:p>
            <a:pPr indent="0" marL="0">
              <a:lnSpc>
                <a:spcPct val="105000"/>
              </a:lnSpc>
              <a:buNone/>
            </a:pPr>
            <a:r>
              <a:rPr lang="en-US" sz="1030" dirty="0">
                <a:solidFill>
                  <a:srgbClr val="1F2A24"/>
                </a:solidFill>
                <a:latin typeface="Calibri" pitchFamily="34" charset="0"/>
                <a:ea typeface="Calibri" pitchFamily="34" charset="-122"/>
                <a:cs typeface="Calibri" pitchFamily="34" charset="-120"/>
              </a:rPr>
              <a:t>See a better-fitting alternative in the same category, right where they’re already deciding — without leaving the page or starting a new search.</a:t>
            </a:r>
            <a:endParaRPr lang="en-US" sz="1030" dirty="0"/>
          </a:p>
        </p:txBody>
      </p:sp>
      <p:sp>
        <p:nvSpPr>
          <p:cNvPr id="24" name="Shape 22"/>
          <p:cNvSpPr/>
          <p:nvPr/>
        </p:nvSpPr>
        <p:spPr>
          <a:xfrm>
            <a:off x="548640" y="3721608"/>
            <a:ext cx="11091672" cy="713232"/>
          </a:xfrm>
          <a:prstGeom prst="roundRect">
            <a:avLst>
              <a:gd name="adj" fmla="val 8974"/>
            </a:avLst>
          </a:prstGeom>
          <a:solidFill>
            <a:srgbClr val="FFFFFF"/>
          </a:solidFill>
          <a:ln w="9525">
            <a:solidFill>
              <a:srgbClr val="C9D5CE"/>
            </a:solidFill>
            <a:prstDash val="solid"/>
          </a:ln>
        </p:spPr>
      </p:sp>
      <p:sp>
        <p:nvSpPr>
          <p:cNvPr id="25" name="Text 23"/>
          <p:cNvSpPr txBox="1"/>
          <p:nvPr/>
        </p:nvSpPr>
        <p:spPr>
          <a:xfrm>
            <a:off x="731520" y="3794760"/>
            <a:ext cx="10725912" cy="201168"/>
          </a:xfrm>
          <a:prstGeom prst="rect">
            <a:avLst/>
          </a:prstGeom>
          <a:noFill/>
          <a:ln/>
        </p:spPr>
        <p:txBody>
          <a:bodyPr wrap="square" lIns="0" tIns="0" rIns="0" bIns="0" rtlCol="0" anchor="t"/>
          <a:lstStyle/>
          <a:p>
            <a:pPr indent="0" marL="0">
              <a:buNone/>
            </a:pPr>
            <a:r>
              <a:rPr lang="en-US" sz="1050" b="1" dirty="0">
                <a:solidFill>
                  <a:srgbClr val="154B36"/>
                </a:solidFill>
                <a:latin typeface="Calibri" pitchFamily="34" charset="0"/>
                <a:ea typeface="Calibri" pitchFamily="34" charset="-122"/>
                <a:cs typeface="Calibri" pitchFamily="34" charset="-120"/>
              </a:rPr>
              <a:t>Unlike current alternatives</a:t>
            </a:r>
            <a:endParaRPr lang="en-US" sz="1050" dirty="0"/>
          </a:p>
        </p:txBody>
      </p:sp>
      <p:sp>
        <p:nvSpPr>
          <p:cNvPr id="26" name="Text 24"/>
          <p:cNvSpPr txBox="1"/>
          <p:nvPr/>
        </p:nvSpPr>
        <p:spPr>
          <a:xfrm>
            <a:off x="731520" y="3977640"/>
            <a:ext cx="8897112" cy="164592"/>
          </a:xfrm>
          <a:prstGeom prst="rect">
            <a:avLst/>
          </a:prstGeom>
          <a:noFill/>
          <a:ln/>
        </p:spPr>
        <p:txBody>
          <a:bodyPr wrap="square" lIns="0" tIns="0" rIns="0" bIns="0" rtlCol="0" anchor="t"/>
          <a:lstStyle/>
          <a:p>
            <a:pPr indent="0" marL="0">
              <a:buNone/>
            </a:pPr>
            <a:r>
              <a:rPr lang="en-US" sz="800" i="1" dirty="0">
                <a:solidFill>
                  <a:srgbClr val="5C6B63"/>
                </a:solidFill>
                <a:latin typeface="Calibri" pitchFamily="34" charset="0"/>
                <a:ea typeface="Calibri" pitchFamily="34" charset="-122"/>
                <a:cs typeface="Calibri" pitchFamily="34" charset="-120"/>
              </a:rPr>
              <a:t>current workaround or competitor</a:t>
            </a:r>
            <a:endParaRPr lang="en-US" sz="800" dirty="0"/>
          </a:p>
        </p:txBody>
      </p:sp>
      <p:sp>
        <p:nvSpPr>
          <p:cNvPr id="27" name="Text 25"/>
          <p:cNvSpPr txBox="1"/>
          <p:nvPr/>
        </p:nvSpPr>
        <p:spPr>
          <a:xfrm>
            <a:off x="731520" y="4160520"/>
            <a:ext cx="10725912" cy="201168"/>
          </a:xfrm>
          <a:prstGeom prst="rect">
            <a:avLst/>
          </a:prstGeom>
          <a:noFill/>
          <a:ln/>
        </p:spPr>
        <p:txBody>
          <a:bodyPr wrap="square" lIns="0" tIns="0" rIns="0" bIns="0" rtlCol="0" anchor="t"/>
          <a:lstStyle/>
          <a:p>
            <a:pPr indent="0" marL="0">
              <a:lnSpc>
                <a:spcPct val="105000"/>
              </a:lnSpc>
              <a:buNone/>
            </a:pPr>
            <a:r>
              <a:rPr lang="en-US" sz="1030" dirty="0">
                <a:solidFill>
                  <a:srgbClr val="1F2A24"/>
                </a:solidFill>
                <a:latin typeface="Calibri" pitchFamily="34" charset="0"/>
                <a:ea typeface="Calibri" pitchFamily="34" charset="-122"/>
                <a:cs typeface="Calibri" pitchFamily="34" charset="-120"/>
              </a:rPr>
              <a:t>Today they guess, memorise avoid-lists, or abandon the category — no Kenyan retailer or app surfaces an alternative automatically (Food-EPI 2020; June 2026 competitive scan).</a:t>
            </a:r>
            <a:endParaRPr lang="en-US" sz="1030" dirty="0"/>
          </a:p>
        </p:txBody>
      </p:sp>
      <p:sp>
        <p:nvSpPr>
          <p:cNvPr id="28" name="Shape 26"/>
          <p:cNvSpPr/>
          <p:nvPr/>
        </p:nvSpPr>
        <p:spPr>
          <a:xfrm>
            <a:off x="548640" y="4507992"/>
            <a:ext cx="11091672" cy="640080"/>
          </a:xfrm>
          <a:prstGeom prst="roundRect">
            <a:avLst>
              <a:gd name="adj" fmla="val 10000"/>
            </a:avLst>
          </a:prstGeom>
          <a:solidFill>
            <a:srgbClr val="E8F1EB"/>
          </a:solidFill>
          <a:ln w="9525">
            <a:solidFill>
              <a:srgbClr val="C9D5CE"/>
            </a:solidFill>
            <a:prstDash val="solid"/>
          </a:ln>
        </p:spPr>
      </p:sp>
      <p:sp>
        <p:nvSpPr>
          <p:cNvPr id="29" name="Text 27"/>
          <p:cNvSpPr txBox="1"/>
          <p:nvPr/>
        </p:nvSpPr>
        <p:spPr>
          <a:xfrm>
            <a:off x="731520" y="4581144"/>
            <a:ext cx="10725912" cy="201168"/>
          </a:xfrm>
          <a:prstGeom prst="rect">
            <a:avLst/>
          </a:prstGeom>
          <a:noFill/>
          <a:ln/>
        </p:spPr>
        <p:txBody>
          <a:bodyPr wrap="square" lIns="0" tIns="0" rIns="0" bIns="0" rtlCol="0" anchor="t"/>
          <a:lstStyle/>
          <a:p>
            <a:pPr indent="0" marL="0">
              <a:buNone/>
            </a:pPr>
            <a:r>
              <a:rPr lang="en-US" sz="1050" b="1" dirty="0">
                <a:solidFill>
                  <a:srgbClr val="154B36"/>
                </a:solidFill>
                <a:latin typeface="Calibri" pitchFamily="34" charset="0"/>
                <a:ea typeface="Calibri" pitchFamily="34" charset="-122"/>
                <a:cs typeface="Calibri" pitchFamily="34" charset="-120"/>
              </a:rPr>
              <a:t>Because</a:t>
            </a:r>
            <a:endParaRPr lang="en-US" sz="1050" dirty="0"/>
          </a:p>
        </p:txBody>
      </p:sp>
      <p:sp>
        <p:nvSpPr>
          <p:cNvPr id="30" name="Text 28"/>
          <p:cNvSpPr txBox="1"/>
          <p:nvPr/>
        </p:nvSpPr>
        <p:spPr>
          <a:xfrm>
            <a:off x="731520" y="4764024"/>
            <a:ext cx="8897112" cy="164592"/>
          </a:xfrm>
          <a:prstGeom prst="rect">
            <a:avLst/>
          </a:prstGeom>
          <a:noFill/>
          <a:ln/>
        </p:spPr>
        <p:txBody>
          <a:bodyPr wrap="square" lIns="0" tIns="0" rIns="0" bIns="0" rtlCol="0" anchor="t"/>
          <a:lstStyle/>
          <a:p>
            <a:pPr indent="0" marL="0">
              <a:buNone/>
            </a:pPr>
            <a:r>
              <a:rPr lang="en-US" sz="800" i="1" dirty="0">
                <a:solidFill>
                  <a:srgbClr val="5C6B63"/>
                </a:solidFill>
                <a:latin typeface="Calibri" pitchFamily="34" charset="0"/>
                <a:ea typeface="Calibri" pitchFamily="34" charset="-122"/>
                <a:cs typeface="Calibri" pitchFamily="34" charset="-120"/>
              </a:rPr>
              <a:t>evidence-backed advantage</a:t>
            </a:r>
            <a:endParaRPr lang="en-US" sz="800" dirty="0"/>
          </a:p>
        </p:txBody>
      </p:sp>
      <p:sp>
        <p:nvSpPr>
          <p:cNvPr id="31" name="Text 29"/>
          <p:cNvSpPr txBox="1"/>
          <p:nvPr/>
        </p:nvSpPr>
        <p:spPr>
          <a:xfrm>
            <a:off x="731520" y="4946904"/>
            <a:ext cx="10725912" cy="128016"/>
          </a:xfrm>
          <a:prstGeom prst="rect">
            <a:avLst/>
          </a:prstGeom>
          <a:noFill/>
          <a:ln/>
        </p:spPr>
        <p:txBody>
          <a:bodyPr wrap="square" lIns="0" tIns="0" rIns="0" bIns="0" rtlCol="0" anchor="t"/>
          <a:lstStyle/>
          <a:p>
            <a:pPr indent="0" marL="0">
              <a:lnSpc>
                <a:spcPct val="105000"/>
              </a:lnSpc>
              <a:buNone/>
            </a:pPr>
            <a:r>
              <a:rPr lang="en-US" sz="1030" dirty="0">
                <a:solidFill>
                  <a:srgbClr val="1F2A24"/>
                </a:solidFill>
                <a:latin typeface="Calibri" pitchFamily="34" charset="0"/>
                <a:ea typeface="Calibri" pitchFamily="34" charset="-122"/>
                <a:cs typeface="Calibri" pitchFamily="34" charset="-120"/>
              </a:rPr>
              <a:t>It reuses the grading and category data NutriScore already computes for 10,518 products — no new data source or manual curation is required to launch.</a:t>
            </a:r>
            <a:endParaRPr lang="en-US" sz="1030" dirty="0"/>
          </a:p>
        </p:txBody>
      </p:sp>
      <p:sp>
        <p:nvSpPr>
          <p:cNvPr id="32" name="Shape 30"/>
          <p:cNvSpPr/>
          <p:nvPr/>
        </p:nvSpPr>
        <p:spPr>
          <a:xfrm>
            <a:off x="548640" y="5221224"/>
            <a:ext cx="11091672" cy="713232"/>
          </a:xfrm>
          <a:prstGeom prst="roundRect">
            <a:avLst>
              <a:gd name="adj" fmla="val 8974"/>
            </a:avLst>
          </a:prstGeom>
          <a:solidFill>
            <a:srgbClr val="FFFFFF"/>
          </a:solidFill>
          <a:ln w="9525">
            <a:solidFill>
              <a:srgbClr val="C9D5CE"/>
            </a:solidFill>
            <a:prstDash val="solid"/>
          </a:ln>
        </p:spPr>
      </p:sp>
      <p:sp>
        <p:nvSpPr>
          <p:cNvPr id="33" name="Text 31"/>
          <p:cNvSpPr txBox="1"/>
          <p:nvPr/>
        </p:nvSpPr>
        <p:spPr>
          <a:xfrm>
            <a:off x="731520" y="5294376"/>
            <a:ext cx="10725912" cy="201168"/>
          </a:xfrm>
          <a:prstGeom prst="rect">
            <a:avLst/>
          </a:prstGeom>
          <a:noFill/>
          <a:ln/>
        </p:spPr>
        <p:txBody>
          <a:bodyPr wrap="square" lIns="0" tIns="0" rIns="0" bIns="0" rtlCol="0" anchor="t"/>
          <a:lstStyle/>
          <a:p>
            <a:pPr indent="0" marL="0">
              <a:buNone/>
            </a:pPr>
            <a:r>
              <a:rPr lang="en-US" sz="1050" b="1" dirty="0">
                <a:solidFill>
                  <a:srgbClr val="154B36"/>
                </a:solidFill>
                <a:latin typeface="Calibri" pitchFamily="34" charset="0"/>
                <a:ea typeface="Calibri" pitchFamily="34" charset="-122"/>
                <a:cs typeface="Calibri" pitchFamily="34" charset="-120"/>
              </a:rPr>
              <a:t>We will know it works if</a:t>
            </a:r>
            <a:endParaRPr lang="en-US" sz="1050" dirty="0"/>
          </a:p>
        </p:txBody>
      </p:sp>
      <p:sp>
        <p:nvSpPr>
          <p:cNvPr id="34" name="Text 32"/>
          <p:cNvSpPr txBox="1"/>
          <p:nvPr/>
        </p:nvSpPr>
        <p:spPr>
          <a:xfrm>
            <a:off x="731520" y="5477256"/>
            <a:ext cx="8897112" cy="164592"/>
          </a:xfrm>
          <a:prstGeom prst="rect">
            <a:avLst/>
          </a:prstGeom>
          <a:noFill/>
          <a:ln/>
        </p:spPr>
        <p:txBody>
          <a:bodyPr wrap="square" lIns="0" tIns="0" rIns="0" bIns="0" rtlCol="0" anchor="t"/>
          <a:lstStyle/>
          <a:p>
            <a:pPr indent="0" marL="0">
              <a:buNone/>
            </a:pPr>
            <a:r>
              <a:rPr lang="en-US" sz="800" i="1" dirty="0">
                <a:solidFill>
                  <a:srgbClr val="5C6B63"/>
                </a:solidFill>
                <a:latin typeface="Calibri" pitchFamily="34" charset="0"/>
                <a:ea typeface="Calibri" pitchFamily="34" charset="-122"/>
                <a:cs typeface="Calibri" pitchFamily="34" charset="-120"/>
              </a:rPr>
              <a:t>test signal or behaviour change</a:t>
            </a:r>
            <a:endParaRPr lang="en-US" sz="800" dirty="0"/>
          </a:p>
        </p:txBody>
      </p:sp>
      <p:sp>
        <p:nvSpPr>
          <p:cNvPr id="35" name="Text 33"/>
          <p:cNvSpPr txBox="1"/>
          <p:nvPr/>
        </p:nvSpPr>
        <p:spPr>
          <a:xfrm>
            <a:off x="731520" y="5660136"/>
            <a:ext cx="10725912" cy="201168"/>
          </a:xfrm>
          <a:prstGeom prst="rect">
            <a:avLst/>
          </a:prstGeom>
          <a:noFill/>
          <a:ln/>
        </p:spPr>
        <p:txBody>
          <a:bodyPr wrap="square" lIns="0" tIns="0" rIns="0" bIns="0" rtlCol="0" anchor="t"/>
          <a:lstStyle/>
          <a:p>
            <a:pPr indent="0" marL="0">
              <a:lnSpc>
                <a:spcPct val="105000"/>
              </a:lnSpc>
              <a:buNone/>
            </a:pPr>
            <a:r>
              <a:rPr lang="en-US" sz="1030" dirty="0">
                <a:solidFill>
                  <a:srgbClr val="1F2A24"/>
                </a:solidFill>
                <a:latin typeface="Calibri" pitchFamily="34" charset="0"/>
                <a:ea typeface="Calibri" pitchFamily="34" charset="-122"/>
                <a:cs typeface="Calibri" pitchFamily="34" charset="-120"/>
              </a:rPr>
              <a:t>In the pilot, at least half of shoppers shown a low-grade product tap through to a suggested alternative, and say it saved them a step they’d otherwise do themselves.</a:t>
            </a:r>
            <a:endParaRPr lang="en-US" sz="103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Session 5: From Root Cause to a Testable Concept</dc:title>
  <dc:subject>PptxGenJS Presentation</dc:subject>
  <dc:creator>Kibet, NUT-04</dc:creator>
  <cp:lastModifiedBy>Kibet, NUT-04</cp:lastModifiedBy>
  <cp:revision>1</cp:revision>
  <dcterms:created xsi:type="dcterms:W3CDTF">2026-10-03T07:49:01Z</dcterms:created>
  <dcterms:modified xsi:type="dcterms:W3CDTF">2026-10-03T07:49:01Z</dcterms:modified>
</cp:coreProperties>
</file>