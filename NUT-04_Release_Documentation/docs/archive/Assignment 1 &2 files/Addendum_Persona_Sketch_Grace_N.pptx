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5124176" cy="10689336"/>
  <p:notesSz cx="10689336" cy="1512417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Meet Grace: the shopper we currently believe feels this problem most.
THE CORE ARGUMENT
1. Grace is the face of segment A (shoppers already managing a condition), built only from desk research: the NUT-04 persona profile and Kenya STEPS 2015.
2. Every line is tagged: Desk means it comes from evidence; Hyp means it is our guess; To confirm means we have no basis yet. The personality sliders are deliberately unset because we have not observed her.
3. After the interviews, replace each Hyp with what real participants said, and replace the quote with a verbatim one.
THE TRANSITION
Page 2 maps what she sees, says, hears and thinks, and who influences 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What does Grace see, say, hear and feel when she does her weekly shop?
THE CORE ARGUMENT
1. Seeing and hearing are the best-evidenced quadrants: retailer pages show no nutrition signal, labels are incomplete, and the national message is to cut salt.
2. Saying and Thinking &amp; Feeling are mostly hypotheses, because they can only come from talking to real shoppers.
3. The influencer map shows where the tool could plug in: at the page she looks at, and alongside the advice she already hears from her clinician.
THE TRANSITION
After interviews, replace every Hyp and To-confirm item; then re-check whether Grace is still the right face for segment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7315200" cy="685800"/>
          </a:xfrm>
          <a:prstGeom prst="rect">
            <a:avLst/>
          </a:prstGeom>
          <a:noFill/>
          <a:ln/>
        </p:spPr>
        <p:txBody>
          <a:bodyPr wrap="square" lIns="0" tIns="0" rIns="0" bIns="0" rtlCol="0" anchor="t"/>
          <a:lstStyle/>
          <a:p>
            <a:pPr indent="0" marL="0">
              <a:buNone/>
            </a:pPr>
            <a:r>
              <a:rPr lang="en-US" sz="3800" b="1" dirty="0">
                <a:solidFill>
                  <a:srgbClr val="111111"/>
                </a:solidFill>
                <a:latin typeface="Calibri" pitchFamily="34" charset="0"/>
                <a:ea typeface="Calibri" pitchFamily="34" charset="-122"/>
                <a:cs typeface="Calibri" pitchFamily="34" charset="-120"/>
              </a:rPr>
              <a:t>Persona Sketch</a:t>
            </a:r>
            <a:endParaRPr lang="en-US" sz="3800" dirty="0"/>
          </a:p>
        </p:txBody>
      </p:sp>
      <p:sp>
        <p:nvSpPr>
          <p:cNvPr id="3" name="Shape 1"/>
          <p:cNvSpPr/>
          <p:nvPr/>
        </p:nvSpPr>
        <p:spPr>
          <a:xfrm>
            <a:off x="8595360" y="640080"/>
            <a:ext cx="5797296" cy="457200"/>
          </a:xfrm>
          <a:prstGeom prst="roundRect">
            <a:avLst>
              <a:gd name="adj" fmla="val 12000"/>
            </a:avLst>
          </a:prstGeom>
          <a:solidFill>
            <a:srgbClr val="FDF0DC"/>
          </a:solidFill>
          <a:ln w="12700">
            <a:solidFill>
              <a:srgbClr val="EE8100"/>
            </a:solidFill>
            <a:prstDash val="dash"/>
          </a:ln>
        </p:spPr>
      </p:sp>
      <p:sp>
        <p:nvSpPr>
          <p:cNvPr id="4" name="Text 2"/>
          <p:cNvSpPr txBox="1"/>
          <p:nvPr/>
        </p:nvSpPr>
        <p:spPr>
          <a:xfrm>
            <a:off x="8705088" y="676656"/>
            <a:ext cx="5577840" cy="384048"/>
          </a:xfrm>
          <a:prstGeom prst="rect">
            <a:avLst/>
          </a:prstGeom>
          <a:noFill/>
          <a:ln/>
        </p:spPr>
        <p:txBody>
          <a:bodyPr wrap="square" lIns="0" tIns="0" rIns="0" bIns="0" rtlCol="0" anchor="ctr"/>
          <a:lstStyle/>
          <a:p>
            <a:pPr algn="ctr" indent="0" marL="0">
              <a:buNone/>
            </a:pPr>
            <a:r>
              <a:rPr lang="en-US" sz="1100" i="1" dirty="0">
                <a:solidFill>
                  <a:srgbClr val="A85A00"/>
                </a:solidFill>
                <a:latin typeface="Calibri" pitchFamily="34" charset="0"/>
                <a:ea typeface="Calibri" pitchFamily="34" charset="-122"/>
                <a:cs typeface="Calibri" pitchFamily="34" charset="-120"/>
              </a:rPr>
              <a:t>COMPOSITE PERSONA  ·  DESK RESEARCH  ·  NOT YET INTERVIEWED</a:t>
            </a:r>
            <a:endParaRPr lang="en-US" sz="1100" dirty="0"/>
          </a:p>
        </p:txBody>
      </p:sp>
      <p:sp>
        <p:nvSpPr>
          <p:cNvPr id="5" name="Shape 3"/>
          <p:cNvSpPr/>
          <p:nvPr/>
        </p:nvSpPr>
        <p:spPr>
          <a:xfrm>
            <a:off x="731520" y="1463040"/>
            <a:ext cx="4114800" cy="3291840"/>
          </a:xfrm>
          <a:prstGeom prst="roundRect">
            <a:avLst>
              <a:gd name="adj" fmla="val 6944"/>
            </a:avLst>
          </a:prstGeom>
          <a:solidFill>
            <a:srgbClr val="E9E9E9"/>
          </a:solidFill>
          <a:ln/>
        </p:spPr>
      </p:sp>
      <p:sp>
        <p:nvSpPr>
          <p:cNvPr id="6" name="Shape 4"/>
          <p:cNvSpPr/>
          <p:nvPr/>
        </p:nvSpPr>
        <p:spPr>
          <a:xfrm>
            <a:off x="2148840" y="2011680"/>
            <a:ext cx="1280160" cy="1280160"/>
          </a:xfrm>
          <a:prstGeom prst="ellipse">
            <a:avLst/>
          </a:prstGeom>
          <a:solidFill>
            <a:srgbClr val="E9E9E9"/>
          </a:solidFill>
          <a:ln w="88900">
            <a:solidFill>
              <a:srgbClr val="FFFFFF"/>
            </a:solidFill>
            <a:prstDash val="solid"/>
          </a:ln>
        </p:spPr>
      </p:sp>
      <p:sp>
        <p:nvSpPr>
          <p:cNvPr id="7" name="Shape 5"/>
          <p:cNvSpPr/>
          <p:nvPr/>
        </p:nvSpPr>
        <p:spPr>
          <a:xfrm>
            <a:off x="1783080" y="3520440"/>
            <a:ext cx="2011680" cy="914400"/>
          </a:xfrm>
          <a:prstGeom prst="roundRect">
            <a:avLst>
              <a:gd name="adj" fmla="val 50000"/>
            </a:avLst>
          </a:prstGeom>
          <a:solidFill>
            <a:srgbClr val="E9E9E9"/>
          </a:solidFill>
          <a:ln w="88900">
            <a:solidFill>
              <a:srgbClr val="FFFFFF"/>
            </a:solidFill>
            <a:prstDash val="solid"/>
          </a:ln>
        </p:spPr>
      </p:sp>
      <p:sp>
        <p:nvSpPr>
          <p:cNvPr id="8" name="Text 6"/>
          <p:cNvSpPr txBox="1"/>
          <p:nvPr/>
        </p:nvSpPr>
        <p:spPr>
          <a:xfrm>
            <a:off x="731520" y="4434840"/>
            <a:ext cx="4114800" cy="274320"/>
          </a:xfrm>
          <a:prstGeom prst="rect">
            <a:avLst/>
          </a:prstGeom>
          <a:noFill/>
          <a:ln/>
        </p:spPr>
        <p:txBody>
          <a:bodyPr wrap="square" lIns="0" tIns="0" rIns="0" bIns="0" rtlCol="0" anchor="t"/>
          <a:lstStyle/>
          <a:p>
            <a:pPr algn="ctr" indent="0" marL="0">
              <a:buNone/>
            </a:pPr>
            <a:r>
              <a:rPr lang="en-US" sz="1100" dirty="0">
                <a:solidFill>
                  <a:srgbClr val="5C6B63"/>
                </a:solidFill>
                <a:latin typeface="Calibri" pitchFamily="34" charset="0"/>
                <a:ea typeface="Calibri" pitchFamily="34" charset="-122"/>
                <a:cs typeface="Calibri" pitchFamily="34" charset="-120"/>
              </a:rPr>
              <a:t>Composite persona, no photo</a:t>
            </a:r>
            <a:endParaRPr lang="en-US" sz="1100" dirty="0"/>
          </a:p>
        </p:txBody>
      </p:sp>
      <p:sp>
        <p:nvSpPr>
          <p:cNvPr id="9" name="Text 7"/>
          <p:cNvSpPr txBox="1"/>
          <p:nvPr/>
        </p:nvSpPr>
        <p:spPr>
          <a:xfrm>
            <a:off x="731520" y="5029200"/>
            <a:ext cx="4114800" cy="411480"/>
          </a:xfrm>
          <a:prstGeom prst="rect">
            <a:avLst/>
          </a:prstGeom>
          <a:noFill/>
          <a:ln/>
        </p:spPr>
        <p:txBody>
          <a:bodyPr wrap="square" lIns="0" tIns="0" rIns="0" bIns="0" rtlCol="0" anchor="t"/>
          <a:lstStyle/>
          <a:p>
            <a:pPr indent="0" marL="0">
              <a:buNone/>
            </a:pPr>
            <a:r>
              <a:rPr lang="en-US" sz="2200" b="1" dirty="0">
                <a:solidFill>
                  <a:srgbClr val="111111"/>
                </a:solidFill>
                <a:latin typeface="Calibri" pitchFamily="34" charset="0"/>
                <a:ea typeface="Calibri" pitchFamily="34" charset="-122"/>
                <a:cs typeface="Calibri" pitchFamily="34" charset="-120"/>
              </a:rPr>
              <a:t>About</a:t>
            </a:r>
            <a:endParaRPr lang="en-US" sz="2200" dirty="0"/>
          </a:p>
        </p:txBody>
      </p:sp>
      <p:sp>
        <p:nvSpPr>
          <p:cNvPr id="10" name="Shape 8"/>
          <p:cNvSpPr/>
          <p:nvPr/>
        </p:nvSpPr>
        <p:spPr>
          <a:xfrm>
            <a:off x="731520" y="5486400"/>
            <a:ext cx="1051560" cy="82296"/>
          </a:xfrm>
          <a:prstGeom prst="rect">
            <a:avLst/>
          </a:prstGeom>
          <a:solidFill>
            <a:srgbClr val="85BB2F"/>
          </a:solidFill>
          <a:ln/>
        </p:spPr>
      </p:sp>
      <p:sp>
        <p:nvSpPr>
          <p:cNvPr id="11" name="Text 9"/>
          <p:cNvSpPr txBox="1"/>
          <p:nvPr/>
        </p:nvSpPr>
        <p:spPr>
          <a:xfrm>
            <a:off x="731520" y="5715000"/>
            <a:ext cx="1371600" cy="365760"/>
          </a:xfrm>
          <a:prstGeom prst="rect">
            <a:avLst/>
          </a:prstGeom>
          <a:noFill/>
          <a:ln/>
        </p:spPr>
        <p:txBody>
          <a:bodyPr wrap="square" lIns="0" tIns="0" rIns="0" bIns="0" rtlCol="0" anchor="t"/>
          <a:lstStyle/>
          <a:p>
            <a:pPr indent="0" marL="0">
              <a:buNone/>
            </a:pPr>
            <a:r>
              <a:rPr lang="en-US" sz="1400" dirty="0">
                <a:solidFill>
                  <a:srgbClr val="333333"/>
                </a:solidFill>
                <a:latin typeface="Calibri" pitchFamily="34" charset="0"/>
                <a:ea typeface="Calibri" pitchFamily="34" charset="-122"/>
                <a:cs typeface="Calibri" pitchFamily="34" charset="-120"/>
              </a:rPr>
              <a:t>Name:</a:t>
            </a:r>
            <a:endParaRPr lang="en-US" sz="1400" dirty="0"/>
          </a:p>
        </p:txBody>
      </p:sp>
      <p:sp>
        <p:nvSpPr>
          <p:cNvPr id="12" name="Text 10"/>
          <p:cNvSpPr txBox="1"/>
          <p:nvPr/>
        </p:nvSpPr>
        <p:spPr>
          <a:xfrm>
            <a:off x="2103120" y="5715000"/>
            <a:ext cx="2743200" cy="365760"/>
          </a:xfrm>
          <a:prstGeom prst="rect">
            <a:avLst/>
          </a:prstGeom>
          <a:noFill/>
          <a:ln/>
        </p:spPr>
        <p:txBody>
          <a:bodyPr wrap="square" lIns="0" tIns="0" rIns="0" bIns="0" rtlCol="0" anchor="t"/>
          <a:lstStyle/>
          <a:p>
            <a:pPr indent="0" marL="0">
              <a:buNone/>
            </a:pPr>
            <a:r>
              <a:rPr lang="en-US" sz="1400" b="1" dirty="0">
                <a:solidFill>
                  <a:srgbClr val="154B36"/>
                </a:solidFill>
                <a:latin typeface="Calibri" pitchFamily="34" charset="0"/>
                <a:ea typeface="Calibri" pitchFamily="34" charset="-122"/>
                <a:cs typeface="Calibri" pitchFamily="34" charset="-120"/>
              </a:rPr>
              <a:t>Grace N.</a:t>
            </a:r>
            <a:endParaRPr lang="en-US" sz="1400" dirty="0"/>
          </a:p>
        </p:txBody>
      </p:sp>
      <p:sp>
        <p:nvSpPr>
          <p:cNvPr id="13" name="Text 11"/>
          <p:cNvSpPr txBox="1"/>
          <p:nvPr/>
        </p:nvSpPr>
        <p:spPr>
          <a:xfrm>
            <a:off x="731520" y="6172200"/>
            <a:ext cx="1371600" cy="365760"/>
          </a:xfrm>
          <a:prstGeom prst="rect">
            <a:avLst/>
          </a:prstGeom>
          <a:noFill/>
          <a:ln/>
        </p:spPr>
        <p:txBody>
          <a:bodyPr wrap="square" lIns="0" tIns="0" rIns="0" bIns="0" rtlCol="0" anchor="t"/>
          <a:lstStyle/>
          <a:p>
            <a:pPr indent="0" marL="0">
              <a:buNone/>
            </a:pPr>
            <a:r>
              <a:rPr lang="en-US" sz="1400" dirty="0">
                <a:solidFill>
                  <a:srgbClr val="333333"/>
                </a:solidFill>
                <a:latin typeface="Calibri" pitchFamily="34" charset="0"/>
                <a:ea typeface="Calibri" pitchFamily="34" charset="-122"/>
                <a:cs typeface="Calibri" pitchFamily="34" charset="-120"/>
              </a:rPr>
              <a:t>Residence:</a:t>
            </a:r>
            <a:endParaRPr lang="en-US" sz="1400" dirty="0"/>
          </a:p>
        </p:txBody>
      </p:sp>
      <p:sp>
        <p:nvSpPr>
          <p:cNvPr id="14" name="Text 12"/>
          <p:cNvSpPr txBox="1"/>
          <p:nvPr/>
        </p:nvSpPr>
        <p:spPr>
          <a:xfrm>
            <a:off x="2103120" y="6172200"/>
            <a:ext cx="2743200" cy="365760"/>
          </a:xfrm>
          <a:prstGeom prst="rect">
            <a:avLst/>
          </a:prstGeom>
          <a:noFill/>
          <a:ln/>
        </p:spPr>
        <p:txBody>
          <a:bodyPr wrap="square" lIns="0" tIns="0" rIns="0" bIns="0" rtlCol="0" anchor="t"/>
          <a:lstStyle/>
          <a:p>
            <a:pPr indent="0" marL="0">
              <a:buNone/>
            </a:pPr>
            <a:r>
              <a:rPr lang="en-US" sz="1400" b="1" dirty="0">
                <a:solidFill>
                  <a:srgbClr val="154B36"/>
                </a:solidFill>
                <a:latin typeface="Calibri" pitchFamily="34" charset="0"/>
                <a:ea typeface="Calibri" pitchFamily="34" charset="-122"/>
                <a:cs typeface="Calibri" pitchFamily="34" charset="-120"/>
              </a:rPr>
              <a:t>Nairobi, Kenya</a:t>
            </a:r>
            <a:endParaRPr lang="en-US" sz="1400" dirty="0"/>
          </a:p>
        </p:txBody>
      </p:sp>
      <p:sp>
        <p:nvSpPr>
          <p:cNvPr id="15" name="Text 13"/>
          <p:cNvSpPr txBox="1"/>
          <p:nvPr/>
        </p:nvSpPr>
        <p:spPr>
          <a:xfrm>
            <a:off x="731520" y="6629400"/>
            <a:ext cx="1371600" cy="365760"/>
          </a:xfrm>
          <a:prstGeom prst="rect">
            <a:avLst/>
          </a:prstGeom>
          <a:noFill/>
          <a:ln/>
        </p:spPr>
        <p:txBody>
          <a:bodyPr wrap="square" lIns="0" tIns="0" rIns="0" bIns="0" rtlCol="0" anchor="t"/>
          <a:lstStyle/>
          <a:p>
            <a:pPr indent="0" marL="0">
              <a:buNone/>
            </a:pPr>
            <a:r>
              <a:rPr lang="en-US" sz="1400" dirty="0">
                <a:solidFill>
                  <a:srgbClr val="333333"/>
                </a:solidFill>
                <a:latin typeface="Calibri" pitchFamily="34" charset="0"/>
                <a:ea typeface="Calibri" pitchFamily="34" charset="-122"/>
                <a:cs typeface="Calibri" pitchFamily="34" charset="-120"/>
              </a:rPr>
              <a:t>Gender:</a:t>
            </a:r>
            <a:endParaRPr lang="en-US" sz="1400" dirty="0"/>
          </a:p>
        </p:txBody>
      </p:sp>
      <p:sp>
        <p:nvSpPr>
          <p:cNvPr id="16" name="Text 14"/>
          <p:cNvSpPr txBox="1"/>
          <p:nvPr/>
        </p:nvSpPr>
        <p:spPr>
          <a:xfrm>
            <a:off x="2103120" y="6629400"/>
            <a:ext cx="2743200" cy="365760"/>
          </a:xfrm>
          <a:prstGeom prst="rect">
            <a:avLst/>
          </a:prstGeom>
          <a:noFill/>
          <a:ln/>
        </p:spPr>
        <p:txBody>
          <a:bodyPr wrap="square" lIns="0" tIns="0" rIns="0" bIns="0" rtlCol="0" anchor="t"/>
          <a:lstStyle/>
          <a:p>
            <a:pPr indent="0" marL="0">
              <a:buNone/>
            </a:pPr>
            <a:r>
              <a:rPr lang="en-US" sz="1400" b="1" dirty="0">
                <a:solidFill>
                  <a:srgbClr val="154B36"/>
                </a:solidFill>
                <a:latin typeface="Calibri" pitchFamily="34" charset="0"/>
                <a:ea typeface="Calibri" pitchFamily="34" charset="-122"/>
                <a:cs typeface="Calibri" pitchFamily="34" charset="-120"/>
              </a:rPr>
              <a:t>Female</a:t>
            </a:r>
            <a:endParaRPr lang="en-US" sz="1400" dirty="0"/>
          </a:p>
        </p:txBody>
      </p:sp>
      <p:sp>
        <p:nvSpPr>
          <p:cNvPr id="17" name="Text 15"/>
          <p:cNvSpPr txBox="1"/>
          <p:nvPr/>
        </p:nvSpPr>
        <p:spPr>
          <a:xfrm>
            <a:off x="731520" y="7086600"/>
            <a:ext cx="1371600" cy="365760"/>
          </a:xfrm>
          <a:prstGeom prst="rect">
            <a:avLst/>
          </a:prstGeom>
          <a:noFill/>
          <a:ln/>
        </p:spPr>
        <p:txBody>
          <a:bodyPr wrap="square" lIns="0" tIns="0" rIns="0" bIns="0" rtlCol="0" anchor="t"/>
          <a:lstStyle/>
          <a:p>
            <a:pPr indent="0" marL="0">
              <a:buNone/>
            </a:pPr>
            <a:r>
              <a:rPr lang="en-US" sz="1400" dirty="0">
                <a:solidFill>
                  <a:srgbClr val="333333"/>
                </a:solidFill>
                <a:latin typeface="Calibri" pitchFamily="34" charset="0"/>
                <a:ea typeface="Calibri" pitchFamily="34" charset="-122"/>
                <a:cs typeface="Calibri" pitchFamily="34" charset="-120"/>
              </a:rPr>
              <a:t>Age:</a:t>
            </a:r>
            <a:endParaRPr lang="en-US" sz="1400" dirty="0"/>
          </a:p>
        </p:txBody>
      </p:sp>
      <p:sp>
        <p:nvSpPr>
          <p:cNvPr id="18" name="Text 16"/>
          <p:cNvSpPr txBox="1"/>
          <p:nvPr/>
        </p:nvSpPr>
        <p:spPr>
          <a:xfrm>
            <a:off x="2103120" y="7086600"/>
            <a:ext cx="2743200" cy="365760"/>
          </a:xfrm>
          <a:prstGeom prst="rect">
            <a:avLst/>
          </a:prstGeom>
          <a:noFill/>
          <a:ln/>
        </p:spPr>
        <p:txBody>
          <a:bodyPr wrap="square" lIns="0" tIns="0" rIns="0" bIns="0" rtlCol="0" anchor="t"/>
          <a:lstStyle/>
          <a:p>
            <a:pPr indent="0" marL="0">
              <a:buNone/>
            </a:pPr>
            <a:r>
              <a:rPr lang="en-US" sz="1400" b="1" dirty="0">
                <a:solidFill>
                  <a:srgbClr val="154B36"/>
                </a:solidFill>
                <a:latin typeface="Calibri" pitchFamily="34" charset="0"/>
                <a:ea typeface="Calibri" pitchFamily="34" charset="-122"/>
                <a:cs typeface="Calibri" pitchFamily="34" charset="-120"/>
              </a:rPr>
              <a:t>47</a:t>
            </a:r>
            <a:endParaRPr lang="en-US" sz="1400" dirty="0"/>
          </a:p>
        </p:txBody>
      </p:sp>
      <p:sp>
        <p:nvSpPr>
          <p:cNvPr id="19" name="Text 17"/>
          <p:cNvSpPr txBox="1"/>
          <p:nvPr/>
        </p:nvSpPr>
        <p:spPr>
          <a:xfrm>
            <a:off x="731520" y="7543800"/>
            <a:ext cx="1371600" cy="365760"/>
          </a:xfrm>
          <a:prstGeom prst="rect">
            <a:avLst/>
          </a:prstGeom>
          <a:noFill/>
          <a:ln/>
        </p:spPr>
        <p:txBody>
          <a:bodyPr wrap="square" lIns="0" tIns="0" rIns="0" bIns="0" rtlCol="0" anchor="t"/>
          <a:lstStyle/>
          <a:p>
            <a:pPr indent="0" marL="0">
              <a:buNone/>
            </a:pPr>
            <a:r>
              <a:rPr lang="en-US" sz="1400" dirty="0">
                <a:solidFill>
                  <a:srgbClr val="333333"/>
                </a:solidFill>
                <a:latin typeface="Calibri" pitchFamily="34" charset="0"/>
                <a:ea typeface="Calibri" pitchFamily="34" charset="-122"/>
                <a:cs typeface="Calibri" pitchFamily="34" charset="-120"/>
              </a:rPr>
              <a:t>Status:</a:t>
            </a:r>
            <a:endParaRPr lang="en-US" sz="1400" dirty="0"/>
          </a:p>
        </p:txBody>
      </p:sp>
      <p:sp>
        <p:nvSpPr>
          <p:cNvPr id="20" name="Text 18"/>
          <p:cNvSpPr txBox="1"/>
          <p:nvPr/>
        </p:nvSpPr>
        <p:spPr>
          <a:xfrm>
            <a:off x="2103120" y="7543800"/>
            <a:ext cx="2743200" cy="365760"/>
          </a:xfrm>
          <a:prstGeom prst="rect">
            <a:avLst/>
          </a:prstGeom>
          <a:noFill/>
          <a:ln/>
        </p:spPr>
        <p:txBody>
          <a:bodyPr wrap="square" lIns="0" tIns="0" rIns="0" bIns="0" rtlCol="0" anchor="t"/>
          <a:lstStyle/>
          <a:p>
            <a:pPr indent="0" marL="0">
              <a:buNone/>
            </a:pPr>
            <a:r>
              <a:rPr lang="en-US" sz="1200" i="1" dirty="0">
                <a:solidFill>
                  <a:srgbClr val="5C6B63"/>
                </a:solidFill>
                <a:latin typeface="Calibri" pitchFamily="34" charset="0"/>
                <a:ea typeface="Calibri" pitchFamily="34" charset="-122"/>
                <a:cs typeface="Calibri" pitchFamily="34" charset="-120"/>
              </a:rPr>
              <a:t>To confirm in interview</a:t>
            </a:r>
            <a:endParaRPr lang="en-US" sz="1200" dirty="0"/>
          </a:p>
        </p:txBody>
      </p:sp>
      <p:sp>
        <p:nvSpPr>
          <p:cNvPr id="21" name="Text 19"/>
          <p:cNvSpPr txBox="1"/>
          <p:nvPr/>
        </p:nvSpPr>
        <p:spPr>
          <a:xfrm>
            <a:off x="731520" y="8001000"/>
            <a:ext cx="1371600" cy="365760"/>
          </a:xfrm>
          <a:prstGeom prst="rect">
            <a:avLst/>
          </a:prstGeom>
          <a:noFill/>
          <a:ln/>
        </p:spPr>
        <p:txBody>
          <a:bodyPr wrap="square" lIns="0" tIns="0" rIns="0" bIns="0" rtlCol="0" anchor="t"/>
          <a:lstStyle/>
          <a:p>
            <a:pPr indent="0" marL="0">
              <a:buNone/>
            </a:pPr>
            <a:r>
              <a:rPr lang="en-US" sz="1400" dirty="0">
                <a:solidFill>
                  <a:srgbClr val="333333"/>
                </a:solidFill>
                <a:latin typeface="Calibri" pitchFamily="34" charset="0"/>
                <a:ea typeface="Calibri" pitchFamily="34" charset="-122"/>
                <a:cs typeface="Calibri" pitchFamily="34" charset="-120"/>
              </a:rPr>
              <a:t>Education:</a:t>
            </a:r>
            <a:endParaRPr lang="en-US" sz="1400" dirty="0"/>
          </a:p>
        </p:txBody>
      </p:sp>
      <p:sp>
        <p:nvSpPr>
          <p:cNvPr id="22" name="Text 20"/>
          <p:cNvSpPr txBox="1"/>
          <p:nvPr/>
        </p:nvSpPr>
        <p:spPr>
          <a:xfrm>
            <a:off x="2103120" y="8001000"/>
            <a:ext cx="2743200" cy="365760"/>
          </a:xfrm>
          <a:prstGeom prst="rect">
            <a:avLst/>
          </a:prstGeom>
          <a:noFill/>
          <a:ln/>
        </p:spPr>
        <p:txBody>
          <a:bodyPr wrap="square" lIns="0" tIns="0" rIns="0" bIns="0" rtlCol="0" anchor="t"/>
          <a:lstStyle/>
          <a:p>
            <a:pPr indent="0" marL="0">
              <a:buNone/>
            </a:pPr>
            <a:r>
              <a:rPr lang="en-US" sz="1200" i="1" dirty="0">
                <a:solidFill>
                  <a:srgbClr val="5C6B63"/>
                </a:solidFill>
                <a:latin typeface="Calibri" pitchFamily="34" charset="0"/>
                <a:ea typeface="Calibri" pitchFamily="34" charset="-122"/>
                <a:cs typeface="Calibri" pitchFamily="34" charset="-120"/>
              </a:rPr>
              <a:t>To confirm in interview</a:t>
            </a:r>
            <a:endParaRPr lang="en-US" sz="1200" dirty="0"/>
          </a:p>
        </p:txBody>
      </p:sp>
      <p:sp>
        <p:nvSpPr>
          <p:cNvPr id="23" name="Text 21"/>
          <p:cNvSpPr txBox="1"/>
          <p:nvPr/>
        </p:nvSpPr>
        <p:spPr>
          <a:xfrm>
            <a:off x="731520" y="8458200"/>
            <a:ext cx="1371600" cy="365760"/>
          </a:xfrm>
          <a:prstGeom prst="rect">
            <a:avLst/>
          </a:prstGeom>
          <a:noFill/>
          <a:ln/>
        </p:spPr>
        <p:txBody>
          <a:bodyPr wrap="square" lIns="0" tIns="0" rIns="0" bIns="0" rtlCol="0" anchor="t"/>
          <a:lstStyle/>
          <a:p>
            <a:pPr indent="0" marL="0">
              <a:buNone/>
            </a:pPr>
            <a:r>
              <a:rPr lang="en-US" sz="1400" dirty="0">
                <a:solidFill>
                  <a:srgbClr val="333333"/>
                </a:solidFill>
                <a:latin typeface="Calibri" pitchFamily="34" charset="0"/>
                <a:ea typeface="Calibri" pitchFamily="34" charset="-122"/>
                <a:cs typeface="Calibri" pitchFamily="34" charset="-120"/>
              </a:rPr>
              <a:t>Profession:</a:t>
            </a:r>
            <a:endParaRPr lang="en-US" sz="1400" dirty="0"/>
          </a:p>
        </p:txBody>
      </p:sp>
      <p:sp>
        <p:nvSpPr>
          <p:cNvPr id="24" name="Text 22"/>
          <p:cNvSpPr txBox="1"/>
          <p:nvPr/>
        </p:nvSpPr>
        <p:spPr>
          <a:xfrm>
            <a:off x="2103120" y="8458200"/>
            <a:ext cx="2743200" cy="365760"/>
          </a:xfrm>
          <a:prstGeom prst="rect">
            <a:avLst/>
          </a:prstGeom>
          <a:noFill/>
          <a:ln/>
        </p:spPr>
        <p:txBody>
          <a:bodyPr wrap="square" lIns="0" tIns="0" rIns="0" bIns="0" rtlCol="0" anchor="t"/>
          <a:lstStyle/>
          <a:p>
            <a:pPr indent="0" marL="0">
              <a:buNone/>
            </a:pPr>
            <a:r>
              <a:rPr lang="en-US" sz="1400" b="1" dirty="0">
                <a:solidFill>
                  <a:srgbClr val="154B36"/>
                </a:solidFill>
                <a:latin typeface="Calibri" pitchFamily="34" charset="0"/>
                <a:ea typeface="Calibri" pitchFamily="34" charset="-122"/>
                <a:cs typeface="Calibri" pitchFamily="34" charset="-120"/>
              </a:rPr>
              <a:t>Salon owner</a:t>
            </a:r>
            <a:endParaRPr lang="en-US" sz="1400" dirty="0"/>
          </a:p>
        </p:txBody>
      </p:sp>
      <p:sp>
        <p:nvSpPr>
          <p:cNvPr id="25" name="Text 23"/>
          <p:cNvSpPr txBox="1"/>
          <p:nvPr/>
        </p:nvSpPr>
        <p:spPr>
          <a:xfrm>
            <a:off x="731520" y="8915400"/>
            <a:ext cx="1371600" cy="365760"/>
          </a:xfrm>
          <a:prstGeom prst="rect">
            <a:avLst/>
          </a:prstGeom>
          <a:noFill/>
          <a:ln/>
        </p:spPr>
        <p:txBody>
          <a:bodyPr wrap="square" lIns="0" tIns="0" rIns="0" bIns="0" rtlCol="0" anchor="t"/>
          <a:lstStyle/>
          <a:p>
            <a:pPr indent="0" marL="0">
              <a:buNone/>
            </a:pPr>
            <a:r>
              <a:rPr lang="en-US" sz="1400" dirty="0">
                <a:solidFill>
                  <a:srgbClr val="333333"/>
                </a:solidFill>
                <a:latin typeface="Calibri" pitchFamily="34" charset="0"/>
                <a:ea typeface="Calibri" pitchFamily="34" charset="-122"/>
                <a:cs typeface="Calibri" pitchFamily="34" charset="-120"/>
              </a:rPr>
              <a:t>Archetype:</a:t>
            </a:r>
            <a:endParaRPr lang="en-US" sz="1400" dirty="0"/>
          </a:p>
        </p:txBody>
      </p:sp>
      <p:sp>
        <p:nvSpPr>
          <p:cNvPr id="26" name="Text 24"/>
          <p:cNvSpPr txBox="1"/>
          <p:nvPr/>
        </p:nvSpPr>
        <p:spPr>
          <a:xfrm>
            <a:off x="2103120" y="8915400"/>
            <a:ext cx="2743200" cy="365760"/>
          </a:xfrm>
          <a:prstGeom prst="rect">
            <a:avLst/>
          </a:prstGeom>
          <a:noFill/>
          <a:ln/>
        </p:spPr>
        <p:txBody>
          <a:bodyPr wrap="square" lIns="0" tIns="0" rIns="0" bIns="0" rtlCol="0" anchor="t"/>
          <a:lstStyle/>
          <a:p>
            <a:pPr indent="0" marL="0">
              <a:buNone/>
            </a:pPr>
            <a:r>
              <a:rPr lang="en-US" sz="1400" b="1" dirty="0">
                <a:solidFill>
                  <a:srgbClr val="154B36"/>
                </a:solidFill>
                <a:latin typeface="Calibri" pitchFamily="34" charset="0"/>
                <a:ea typeface="Calibri" pitchFamily="34" charset="-122"/>
                <a:cs typeface="Calibri" pitchFamily="34" charset="-120"/>
              </a:rPr>
              <a:t>The Careful Manager  (hyp)</a:t>
            </a:r>
            <a:endParaRPr lang="en-US" sz="1400" dirty="0"/>
          </a:p>
        </p:txBody>
      </p:sp>
      <p:sp>
        <p:nvSpPr>
          <p:cNvPr id="27" name="Text 25"/>
          <p:cNvSpPr txBox="1"/>
          <p:nvPr/>
        </p:nvSpPr>
        <p:spPr>
          <a:xfrm>
            <a:off x="5394960" y="1463040"/>
            <a:ext cx="4206240" cy="411480"/>
          </a:xfrm>
          <a:prstGeom prst="rect">
            <a:avLst/>
          </a:prstGeom>
          <a:noFill/>
          <a:ln/>
        </p:spPr>
        <p:txBody>
          <a:bodyPr wrap="square" lIns="0" tIns="0" rIns="0" bIns="0" rtlCol="0" anchor="t"/>
          <a:lstStyle/>
          <a:p>
            <a:pPr indent="0" marL="0">
              <a:buNone/>
            </a:pPr>
            <a:r>
              <a:rPr lang="en-US" sz="2200" b="1" dirty="0">
                <a:solidFill>
                  <a:srgbClr val="111111"/>
                </a:solidFill>
                <a:latin typeface="Calibri" pitchFamily="34" charset="0"/>
                <a:ea typeface="Calibri" pitchFamily="34" charset="-122"/>
                <a:cs typeface="Calibri" pitchFamily="34" charset="-120"/>
              </a:rPr>
              <a:t>Bio</a:t>
            </a:r>
            <a:endParaRPr lang="en-US" sz="2200" dirty="0"/>
          </a:p>
        </p:txBody>
      </p:sp>
      <p:sp>
        <p:nvSpPr>
          <p:cNvPr id="28" name="Shape 26"/>
          <p:cNvSpPr/>
          <p:nvPr/>
        </p:nvSpPr>
        <p:spPr>
          <a:xfrm>
            <a:off x="5394960" y="1920240"/>
            <a:ext cx="1051560" cy="82296"/>
          </a:xfrm>
          <a:prstGeom prst="rect">
            <a:avLst/>
          </a:prstGeom>
          <a:solidFill>
            <a:srgbClr val="85BB2F"/>
          </a:solidFill>
          <a:ln/>
        </p:spPr>
      </p:sp>
      <p:sp>
        <p:nvSpPr>
          <p:cNvPr id="29" name="Text 27"/>
          <p:cNvSpPr txBox="1"/>
          <p:nvPr/>
        </p:nvSpPr>
        <p:spPr>
          <a:xfrm>
            <a:off x="5394960" y="2148840"/>
            <a:ext cx="4297680" cy="2468880"/>
          </a:xfrm>
          <a:prstGeom prst="rect">
            <a:avLst/>
          </a:prstGeom>
          <a:noFill/>
          <a:ln/>
        </p:spPr>
        <p:txBody>
          <a:bodyPr wrap="square" lIns="0" tIns="0" rIns="0" bIns="0" rtlCol="0" anchor="t"/>
          <a:lstStyle/>
          <a:p>
            <a:pPr indent="0" marL="0">
              <a:lnSpc>
                <a:spcPct val="110000"/>
              </a:lnSpc>
              <a:buNone/>
            </a:pPr>
            <a:r>
              <a:rPr lang="en-US" sz="1400" dirty="0">
                <a:solidFill>
                  <a:srgbClr val="1F2A24"/>
                </a:solidFill>
                <a:latin typeface="Calibri" pitchFamily="34" charset="0"/>
                <a:ea typeface="Calibri" pitchFamily="34" charset="-122"/>
                <a:cs typeface="Calibri" pitchFamily="34" charset="-120"/>
              </a:rPr>
              <a:t>Grace runs her own salon in Nairobi and shops for groceries online. Three years ago she was diagnosed with hypertension, and cutting sodium has been her main food rule ever since.</a:t>
            </a:r>
            <a:endParaRPr lang="en-US" sz="1400" dirty="0"/>
          </a:p>
          <a:p>
            <a:pPr indent="0" marL="0">
              <a:lnSpc>
                <a:spcPct val="110000"/>
              </a:lnSpc>
              <a:buNone/>
            </a:pPr>
            <a:r>
              <a:rPr lang="en-US" sz="600" dirty="0">
                <a:solidFill>
                  <a:srgbClr val="1F2A24"/>
                </a:solidFill>
                <a:latin typeface="Calibri" pitchFamily="34" charset="0"/>
                <a:ea typeface="Calibri" pitchFamily="34" charset="-122"/>
                <a:cs typeface="Calibri" pitchFamily="34" charset="-120"/>
              </a:rPr>
              <a:t> </a:t>
            </a:r>
            <a:endParaRPr lang="en-US" sz="1400" dirty="0"/>
          </a:p>
          <a:p>
            <a:pPr indent="0" marL="0">
              <a:lnSpc>
                <a:spcPct val="110000"/>
              </a:lnSpc>
              <a:buNone/>
            </a:pPr>
            <a:r>
              <a:rPr lang="en-US" sz="1400" i="1" dirty="0">
                <a:solidFill>
                  <a:srgbClr val="5C6B63"/>
                </a:solidFill>
                <a:latin typeface="Calibri" pitchFamily="34" charset="0"/>
                <a:ea typeface="Calibri" pitchFamily="34" charset="-122"/>
                <a:cs typeface="Calibri" pitchFamily="34" charset="-120"/>
              </a:rPr>
              <a:t>Her retailer, device and household are still to confirm in interview.</a:t>
            </a:r>
            <a:endParaRPr lang="en-US" sz="1400" dirty="0"/>
          </a:p>
        </p:txBody>
      </p:sp>
      <p:sp>
        <p:nvSpPr>
          <p:cNvPr id="30" name="Text 28"/>
          <p:cNvSpPr txBox="1"/>
          <p:nvPr/>
        </p:nvSpPr>
        <p:spPr>
          <a:xfrm>
            <a:off x="5394960" y="5029200"/>
            <a:ext cx="4206240" cy="411480"/>
          </a:xfrm>
          <a:prstGeom prst="rect">
            <a:avLst/>
          </a:prstGeom>
          <a:noFill/>
          <a:ln/>
        </p:spPr>
        <p:txBody>
          <a:bodyPr wrap="square" lIns="0" tIns="0" rIns="0" bIns="0" rtlCol="0" anchor="t"/>
          <a:lstStyle/>
          <a:p>
            <a:pPr indent="0" marL="0">
              <a:buNone/>
            </a:pPr>
            <a:r>
              <a:rPr lang="en-US" sz="2200" b="1" dirty="0">
                <a:solidFill>
                  <a:srgbClr val="111111"/>
                </a:solidFill>
                <a:latin typeface="Calibri" pitchFamily="34" charset="0"/>
                <a:ea typeface="Calibri" pitchFamily="34" charset="-122"/>
                <a:cs typeface="Calibri" pitchFamily="34" charset="-120"/>
              </a:rPr>
              <a:t>Goals</a:t>
            </a:r>
            <a:endParaRPr lang="en-US" sz="2200" dirty="0"/>
          </a:p>
        </p:txBody>
      </p:sp>
      <p:sp>
        <p:nvSpPr>
          <p:cNvPr id="31" name="Shape 29"/>
          <p:cNvSpPr/>
          <p:nvPr/>
        </p:nvSpPr>
        <p:spPr>
          <a:xfrm>
            <a:off x="5394960" y="5486400"/>
            <a:ext cx="1051560" cy="82296"/>
          </a:xfrm>
          <a:prstGeom prst="rect">
            <a:avLst/>
          </a:prstGeom>
          <a:solidFill>
            <a:srgbClr val="85BB2F"/>
          </a:solidFill>
          <a:ln/>
        </p:spPr>
      </p:sp>
      <p:sp>
        <p:nvSpPr>
          <p:cNvPr id="32" name="Text 30"/>
          <p:cNvSpPr txBox="1"/>
          <p:nvPr/>
        </p:nvSpPr>
        <p:spPr>
          <a:xfrm>
            <a:off x="5394960" y="5715000"/>
            <a:ext cx="4297680" cy="960120"/>
          </a:xfrm>
          <a:prstGeom prst="rect">
            <a:avLst/>
          </a:prstGeom>
          <a:noFill/>
          <a:ln/>
        </p:spPr>
        <p:txBody>
          <a:bodyPr wrap="square" lIns="0" tIns="0" rIns="0" bIns="0" rtlCol="0" anchor="t"/>
          <a:lstStyle/>
          <a:p>
            <a:pPr indent="0" marL="0">
              <a:lnSpc>
                <a:spcPct val="105000"/>
              </a:lnSpc>
              <a:buNone/>
            </a:pPr>
            <a:r>
              <a:rPr lang="en-US" sz="1400" b="1" dirty="0">
                <a:solidFill>
                  <a:srgbClr val="038141"/>
                </a:solidFill>
                <a:latin typeface="Calibri" pitchFamily="34" charset="0"/>
                <a:ea typeface="Calibri" pitchFamily="34" charset="-122"/>
                <a:cs typeface="Calibri" pitchFamily="34" charset="-120"/>
              </a:rPr>
              <a:t>Desk  </a:t>
            </a:r>
            <a:pPr indent="0" marL="0">
              <a:lnSpc>
                <a:spcPct val="105000"/>
              </a:lnSpc>
              <a:buNone/>
            </a:pPr>
            <a:r>
              <a:rPr lang="en-US" sz="1400" dirty="0">
                <a:solidFill>
                  <a:srgbClr val="1F2A24"/>
                </a:solidFill>
                <a:latin typeface="Calibri" pitchFamily="34" charset="0"/>
                <a:ea typeface="Calibri" pitchFamily="34" charset="-122"/>
                <a:cs typeface="Calibri" pitchFamily="34" charset="-120"/>
              </a:rPr>
              <a:t>Keep her blood pressure under control through everyday food choices.</a:t>
            </a:r>
            <a:endParaRPr lang="en-US" sz="1400" dirty="0"/>
          </a:p>
        </p:txBody>
      </p:sp>
      <p:sp>
        <p:nvSpPr>
          <p:cNvPr id="33" name="Text 31"/>
          <p:cNvSpPr txBox="1"/>
          <p:nvPr/>
        </p:nvSpPr>
        <p:spPr>
          <a:xfrm>
            <a:off x="5394960" y="6766560"/>
            <a:ext cx="4297680" cy="960120"/>
          </a:xfrm>
          <a:prstGeom prst="rect">
            <a:avLst/>
          </a:prstGeom>
          <a:noFill/>
          <a:ln/>
        </p:spPr>
        <p:txBody>
          <a:bodyPr wrap="square" lIns="0" tIns="0" rIns="0" bIns="0" rtlCol="0" anchor="t"/>
          <a:lstStyle/>
          <a:p>
            <a:pPr indent="0" marL="0">
              <a:lnSpc>
                <a:spcPct val="105000"/>
              </a:lnSpc>
              <a:buNone/>
            </a:pPr>
            <a:r>
              <a:rPr lang="en-US" sz="1400" b="1" dirty="0">
                <a:solidFill>
                  <a:srgbClr val="038141"/>
                </a:solidFill>
                <a:latin typeface="Calibri" pitchFamily="34" charset="0"/>
                <a:ea typeface="Calibri" pitchFamily="34" charset="-122"/>
                <a:cs typeface="Calibri" pitchFamily="34" charset="-120"/>
              </a:rPr>
              <a:t>Desk  </a:t>
            </a:r>
            <a:pPr indent="0" marL="0">
              <a:lnSpc>
                <a:spcPct val="105000"/>
              </a:lnSpc>
              <a:buNone/>
            </a:pPr>
            <a:r>
              <a:rPr lang="en-US" sz="1400" dirty="0">
                <a:solidFill>
                  <a:srgbClr val="1F2A24"/>
                </a:solidFill>
                <a:latin typeface="Calibri" pitchFamily="34" charset="0"/>
                <a:ea typeface="Calibri" pitchFamily="34" charset="-122"/>
                <a:cs typeface="Calibri" pitchFamily="34" charset="-120"/>
              </a:rPr>
              <a:t>Know whether a product fits her low-sodium rule before she pays.</a:t>
            </a:r>
            <a:endParaRPr lang="en-US" sz="1400" dirty="0"/>
          </a:p>
        </p:txBody>
      </p:sp>
      <p:sp>
        <p:nvSpPr>
          <p:cNvPr id="34" name="Text 32"/>
          <p:cNvSpPr txBox="1"/>
          <p:nvPr/>
        </p:nvSpPr>
        <p:spPr>
          <a:xfrm>
            <a:off x="5394960" y="7818120"/>
            <a:ext cx="4297680" cy="960120"/>
          </a:xfrm>
          <a:prstGeom prst="rect">
            <a:avLst/>
          </a:prstGeom>
          <a:noFill/>
          <a:ln/>
        </p:spPr>
        <p:txBody>
          <a:bodyPr wrap="square" lIns="0" tIns="0" rIns="0" bIns="0" rtlCol="0" anchor="t"/>
          <a:lstStyle/>
          <a:p>
            <a:pPr indent="0" marL="0">
              <a:lnSpc>
                <a:spcPct val="105000"/>
              </a:lnSpc>
              <a:buNone/>
            </a:pPr>
            <a:r>
              <a:rPr lang="en-US" sz="1400" b="1" dirty="0">
                <a:solidFill>
                  <a:srgbClr val="A85A00"/>
                </a:solidFill>
                <a:latin typeface="Calibri" pitchFamily="34" charset="0"/>
                <a:ea typeface="Calibri" pitchFamily="34" charset="-122"/>
                <a:cs typeface="Calibri" pitchFamily="34" charset="-120"/>
              </a:rPr>
              <a:t>Hyp  </a:t>
            </a:r>
            <a:pPr indent="0" marL="0">
              <a:lnSpc>
                <a:spcPct val="105000"/>
              </a:lnSpc>
              <a:buNone/>
            </a:pPr>
            <a:r>
              <a:rPr lang="en-US" sz="1400" dirty="0">
                <a:solidFill>
                  <a:srgbClr val="1F2A24"/>
                </a:solidFill>
                <a:latin typeface="Calibri" pitchFamily="34" charset="0"/>
                <a:ea typeface="Calibri" pitchFamily="34" charset="-122"/>
                <a:cs typeface="Calibri" pitchFamily="34" charset="-120"/>
              </a:rPr>
              <a:t>Finish the weekly shop quickly, without decoding every label.</a:t>
            </a:r>
            <a:endParaRPr lang="en-US" sz="1400" dirty="0"/>
          </a:p>
        </p:txBody>
      </p:sp>
      <p:sp>
        <p:nvSpPr>
          <p:cNvPr id="35" name="Text 33"/>
          <p:cNvSpPr txBox="1"/>
          <p:nvPr/>
        </p:nvSpPr>
        <p:spPr>
          <a:xfrm>
            <a:off x="10241280" y="1463040"/>
            <a:ext cx="4114800" cy="411480"/>
          </a:xfrm>
          <a:prstGeom prst="rect">
            <a:avLst/>
          </a:prstGeom>
          <a:noFill/>
          <a:ln/>
        </p:spPr>
        <p:txBody>
          <a:bodyPr wrap="square" lIns="0" tIns="0" rIns="0" bIns="0" rtlCol="0" anchor="t"/>
          <a:lstStyle/>
          <a:p>
            <a:pPr indent="0" marL="0">
              <a:buNone/>
            </a:pPr>
            <a:r>
              <a:rPr lang="en-US" sz="2200" b="1" dirty="0">
                <a:solidFill>
                  <a:srgbClr val="111111"/>
                </a:solidFill>
                <a:latin typeface="Calibri" pitchFamily="34" charset="0"/>
                <a:ea typeface="Calibri" pitchFamily="34" charset="-122"/>
                <a:cs typeface="Calibri" pitchFamily="34" charset="-120"/>
              </a:rPr>
              <a:t>Personality</a:t>
            </a:r>
            <a:endParaRPr lang="en-US" sz="2200" dirty="0"/>
          </a:p>
        </p:txBody>
      </p:sp>
      <p:sp>
        <p:nvSpPr>
          <p:cNvPr id="36" name="Shape 34"/>
          <p:cNvSpPr/>
          <p:nvPr/>
        </p:nvSpPr>
        <p:spPr>
          <a:xfrm>
            <a:off x="10241280" y="1920240"/>
            <a:ext cx="1051560" cy="82296"/>
          </a:xfrm>
          <a:prstGeom prst="rect">
            <a:avLst/>
          </a:prstGeom>
          <a:solidFill>
            <a:srgbClr val="85BB2F"/>
          </a:solidFill>
          <a:ln/>
        </p:spPr>
      </p:sp>
      <p:sp>
        <p:nvSpPr>
          <p:cNvPr id="37" name="Shape 35"/>
          <p:cNvSpPr/>
          <p:nvPr/>
        </p:nvSpPr>
        <p:spPr>
          <a:xfrm>
            <a:off x="10241280" y="2194560"/>
            <a:ext cx="466344" cy="365760"/>
          </a:xfrm>
          <a:prstGeom prst="rect">
            <a:avLst/>
          </a:prstGeom>
          <a:solidFill>
            <a:srgbClr val="E6E6E6"/>
          </a:solidFill>
          <a:ln/>
        </p:spPr>
      </p:sp>
      <p:sp>
        <p:nvSpPr>
          <p:cNvPr id="38" name="Shape 36"/>
          <p:cNvSpPr/>
          <p:nvPr/>
        </p:nvSpPr>
        <p:spPr>
          <a:xfrm>
            <a:off x="10757916" y="2194560"/>
            <a:ext cx="466344" cy="365760"/>
          </a:xfrm>
          <a:prstGeom prst="rect">
            <a:avLst/>
          </a:prstGeom>
          <a:solidFill>
            <a:srgbClr val="E6E6E6"/>
          </a:solidFill>
          <a:ln/>
        </p:spPr>
      </p:sp>
      <p:sp>
        <p:nvSpPr>
          <p:cNvPr id="39" name="Shape 37"/>
          <p:cNvSpPr/>
          <p:nvPr/>
        </p:nvSpPr>
        <p:spPr>
          <a:xfrm>
            <a:off x="11274552" y="2194560"/>
            <a:ext cx="466344" cy="365760"/>
          </a:xfrm>
          <a:prstGeom prst="rect">
            <a:avLst/>
          </a:prstGeom>
          <a:solidFill>
            <a:srgbClr val="E6E6E6"/>
          </a:solidFill>
          <a:ln/>
        </p:spPr>
      </p:sp>
      <p:sp>
        <p:nvSpPr>
          <p:cNvPr id="40" name="Shape 38"/>
          <p:cNvSpPr/>
          <p:nvPr/>
        </p:nvSpPr>
        <p:spPr>
          <a:xfrm>
            <a:off x="11791188" y="2194560"/>
            <a:ext cx="466344" cy="365760"/>
          </a:xfrm>
          <a:prstGeom prst="rect">
            <a:avLst/>
          </a:prstGeom>
          <a:solidFill>
            <a:srgbClr val="E6E6E6"/>
          </a:solidFill>
          <a:ln/>
        </p:spPr>
      </p:sp>
      <p:sp>
        <p:nvSpPr>
          <p:cNvPr id="41" name="Shape 39"/>
          <p:cNvSpPr/>
          <p:nvPr/>
        </p:nvSpPr>
        <p:spPr>
          <a:xfrm>
            <a:off x="12307824" y="2194560"/>
            <a:ext cx="466344" cy="365760"/>
          </a:xfrm>
          <a:prstGeom prst="rect">
            <a:avLst/>
          </a:prstGeom>
          <a:solidFill>
            <a:srgbClr val="E6E6E6"/>
          </a:solidFill>
          <a:ln/>
        </p:spPr>
      </p:sp>
      <p:sp>
        <p:nvSpPr>
          <p:cNvPr id="42" name="Shape 40"/>
          <p:cNvSpPr/>
          <p:nvPr/>
        </p:nvSpPr>
        <p:spPr>
          <a:xfrm>
            <a:off x="12824460" y="2194560"/>
            <a:ext cx="466344" cy="365760"/>
          </a:xfrm>
          <a:prstGeom prst="rect">
            <a:avLst/>
          </a:prstGeom>
          <a:solidFill>
            <a:srgbClr val="E6E6E6"/>
          </a:solidFill>
          <a:ln/>
        </p:spPr>
      </p:sp>
      <p:sp>
        <p:nvSpPr>
          <p:cNvPr id="43" name="Shape 41"/>
          <p:cNvSpPr/>
          <p:nvPr/>
        </p:nvSpPr>
        <p:spPr>
          <a:xfrm>
            <a:off x="13341096" y="2194560"/>
            <a:ext cx="466344" cy="365760"/>
          </a:xfrm>
          <a:prstGeom prst="rect">
            <a:avLst/>
          </a:prstGeom>
          <a:solidFill>
            <a:srgbClr val="E6E6E6"/>
          </a:solidFill>
          <a:ln/>
        </p:spPr>
      </p:sp>
      <p:sp>
        <p:nvSpPr>
          <p:cNvPr id="44" name="Shape 42"/>
          <p:cNvSpPr/>
          <p:nvPr/>
        </p:nvSpPr>
        <p:spPr>
          <a:xfrm>
            <a:off x="13857732" y="2194560"/>
            <a:ext cx="466344" cy="365760"/>
          </a:xfrm>
          <a:prstGeom prst="rect">
            <a:avLst/>
          </a:prstGeom>
          <a:solidFill>
            <a:srgbClr val="E6E6E6"/>
          </a:solidFill>
          <a:ln/>
        </p:spPr>
      </p:sp>
      <p:sp>
        <p:nvSpPr>
          <p:cNvPr id="45" name="Text 43"/>
          <p:cNvSpPr txBox="1"/>
          <p:nvPr/>
        </p:nvSpPr>
        <p:spPr>
          <a:xfrm>
            <a:off x="10241280" y="2606040"/>
            <a:ext cx="2011680" cy="256032"/>
          </a:xfrm>
          <a:prstGeom prst="rect">
            <a:avLst/>
          </a:prstGeom>
          <a:noFill/>
          <a:ln/>
        </p:spPr>
        <p:txBody>
          <a:bodyPr wrap="square" lIns="0" tIns="0" rIns="0" bIns="0" rtlCol="0" anchor="t"/>
          <a:lstStyle/>
          <a:p>
            <a:pPr indent="0" marL="0">
              <a:buNone/>
            </a:pPr>
            <a:r>
              <a:rPr lang="en-US" sz="1200" dirty="0">
                <a:solidFill>
                  <a:srgbClr val="333333"/>
                </a:solidFill>
                <a:latin typeface="Calibri" pitchFamily="34" charset="0"/>
                <a:ea typeface="Calibri" pitchFamily="34" charset="-122"/>
                <a:cs typeface="Calibri" pitchFamily="34" charset="-120"/>
              </a:rPr>
              <a:t>Social</a:t>
            </a:r>
            <a:endParaRPr lang="en-US" sz="1200" dirty="0"/>
          </a:p>
        </p:txBody>
      </p:sp>
      <p:sp>
        <p:nvSpPr>
          <p:cNvPr id="46" name="Text 44"/>
          <p:cNvSpPr txBox="1"/>
          <p:nvPr/>
        </p:nvSpPr>
        <p:spPr>
          <a:xfrm>
            <a:off x="11887200" y="2606040"/>
            <a:ext cx="1554480" cy="256032"/>
          </a:xfrm>
          <a:prstGeom prst="rect">
            <a:avLst/>
          </a:prstGeom>
          <a:noFill/>
          <a:ln/>
        </p:spPr>
        <p:txBody>
          <a:bodyPr wrap="square" lIns="0" tIns="0" rIns="0" bIns="0" rtlCol="0" anchor="t"/>
          <a:lstStyle/>
          <a:p>
            <a:pPr algn="r" indent="0" marL="0">
              <a:buNone/>
            </a:pPr>
            <a:r>
              <a:rPr lang="en-US" sz="1200" dirty="0">
                <a:solidFill>
                  <a:srgbClr val="333333"/>
                </a:solidFill>
                <a:latin typeface="Calibri" pitchFamily="34" charset="0"/>
                <a:ea typeface="Calibri" pitchFamily="34" charset="-122"/>
                <a:cs typeface="Calibri" pitchFamily="34" charset="-120"/>
              </a:rPr>
              <a:t>Ego</a:t>
            </a:r>
            <a:endParaRPr lang="en-US" sz="1200" dirty="0"/>
          </a:p>
        </p:txBody>
      </p:sp>
      <p:sp>
        <p:nvSpPr>
          <p:cNvPr id="47" name="Shape 45"/>
          <p:cNvSpPr/>
          <p:nvPr/>
        </p:nvSpPr>
        <p:spPr>
          <a:xfrm>
            <a:off x="10241280" y="2971800"/>
            <a:ext cx="466344" cy="365760"/>
          </a:xfrm>
          <a:prstGeom prst="rect">
            <a:avLst/>
          </a:prstGeom>
          <a:solidFill>
            <a:srgbClr val="E6E6E6"/>
          </a:solidFill>
          <a:ln/>
        </p:spPr>
      </p:sp>
      <p:sp>
        <p:nvSpPr>
          <p:cNvPr id="48" name="Shape 46"/>
          <p:cNvSpPr/>
          <p:nvPr/>
        </p:nvSpPr>
        <p:spPr>
          <a:xfrm>
            <a:off x="10757916" y="2971800"/>
            <a:ext cx="466344" cy="365760"/>
          </a:xfrm>
          <a:prstGeom prst="rect">
            <a:avLst/>
          </a:prstGeom>
          <a:solidFill>
            <a:srgbClr val="E6E6E6"/>
          </a:solidFill>
          <a:ln/>
        </p:spPr>
      </p:sp>
      <p:sp>
        <p:nvSpPr>
          <p:cNvPr id="49" name="Shape 47"/>
          <p:cNvSpPr/>
          <p:nvPr/>
        </p:nvSpPr>
        <p:spPr>
          <a:xfrm>
            <a:off x="11274552" y="2971800"/>
            <a:ext cx="466344" cy="365760"/>
          </a:xfrm>
          <a:prstGeom prst="rect">
            <a:avLst/>
          </a:prstGeom>
          <a:solidFill>
            <a:srgbClr val="E6E6E6"/>
          </a:solidFill>
          <a:ln/>
        </p:spPr>
      </p:sp>
      <p:sp>
        <p:nvSpPr>
          <p:cNvPr id="50" name="Shape 48"/>
          <p:cNvSpPr/>
          <p:nvPr/>
        </p:nvSpPr>
        <p:spPr>
          <a:xfrm>
            <a:off x="11791188" y="2971800"/>
            <a:ext cx="466344" cy="365760"/>
          </a:xfrm>
          <a:prstGeom prst="rect">
            <a:avLst/>
          </a:prstGeom>
          <a:solidFill>
            <a:srgbClr val="E6E6E6"/>
          </a:solidFill>
          <a:ln/>
        </p:spPr>
      </p:sp>
      <p:sp>
        <p:nvSpPr>
          <p:cNvPr id="51" name="Shape 49"/>
          <p:cNvSpPr/>
          <p:nvPr/>
        </p:nvSpPr>
        <p:spPr>
          <a:xfrm>
            <a:off x="12307824" y="2971800"/>
            <a:ext cx="466344" cy="365760"/>
          </a:xfrm>
          <a:prstGeom prst="rect">
            <a:avLst/>
          </a:prstGeom>
          <a:solidFill>
            <a:srgbClr val="E6E6E6"/>
          </a:solidFill>
          <a:ln/>
        </p:spPr>
      </p:sp>
      <p:sp>
        <p:nvSpPr>
          <p:cNvPr id="52" name="Shape 50"/>
          <p:cNvSpPr/>
          <p:nvPr/>
        </p:nvSpPr>
        <p:spPr>
          <a:xfrm>
            <a:off x="12824460" y="2971800"/>
            <a:ext cx="466344" cy="365760"/>
          </a:xfrm>
          <a:prstGeom prst="rect">
            <a:avLst/>
          </a:prstGeom>
          <a:solidFill>
            <a:srgbClr val="E6E6E6"/>
          </a:solidFill>
          <a:ln/>
        </p:spPr>
      </p:sp>
      <p:sp>
        <p:nvSpPr>
          <p:cNvPr id="53" name="Shape 51"/>
          <p:cNvSpPr/>
          <p:nvPr/>
        </p:nvSpPr>
        <p:spPr>
          <a:xfrm>
            <a:off x="13341096" y="2971800"/>
            <a:ext cx="466344" cy="365760"/>
          </a:xfrm>
          <a:prstGeom prst="rect">
            <a:avLst/>
          </a:prstGeom>
          <a:solidFill>
            <a:srgbClr val="E6E6E6"/>
          </a:solidFill>
          <a:ln/>
        </p:spPr>
      </p:sp>
      <p:sp>
        <p:nvSpPr>
          <p:cNvPr id="54" name="Shape 52"/>
          <p:cNvSpPr/>
          <p:nvPr/>
        </p:nvSpPr>
        <p:spPr>
          <a:xfrm>
            <a:off x="13857732" y="2971800"/>
            <a:ext cx="466344" cy="365760"/>
          </a:xfrm>
          <a:prstGeom prst="rect">
            <a:avLst/>
          </a:prstGeom>
          <a:solidFill>
            <a:srgbClr val="E6E6E6"/>
          </a:solidFill>
          <a:ln/>
        </p:spPr>
      </p:sp>
      <p:sp>
        <p:nvSpPr>
          <p:cNvPr id="55" name="Text 53"/>
          <p:cNvSpPr txBox="1"/>
          <p:nvPr/>
        </p:nvSpPr>
        <p:spPr>
          <a:xfrm>
            <a:off x="10241280" y="3383280"/>
            <a:ext cx="2011680" cy="256032"/>
          </a:xfrm>
          <a:prstGeom prst="rect">
            <a:avLst/>
          </a:prstGeom>
          <a:noFill/>
          <a:ln/>
        </p:spPr>
        <p:txBody>
          <a:bodyPr wrap="square" lIns="0" tIns="0" rIns="0" bIns="0" rtlCol="0" anchor="t"/>
          <a:lstStyle/>
          <a:p>
            <a:pPr indent="0" marL="0">
              <a:buNone/>
            </a:pPr>
            <a:r>
              <a:rPr lang="en-US" sz="1200" dirty="0">
                <a:solidFill>
                  <a:srgbClr val="333333"/>
                </a:solidFill>
                <a:latin typeface="Calibri" pitchFamily="34" charset="0"/>
                <a:ea typeface="Calibri" pitchFamily="34" charset="-122"/>
                <a:cs typeface="Calibri" pitchFamily="34" charset="-120"/>
              </a:rPr>
              <a:t>Order</a:t>
            </a:r>
            <a:endParaRPr lang="en-US" sz="1200" dirty="0"/>
          </a:p>
        </p:txBody>
      </p:sp>
      <p:sp>
        <p:nvSpPr>
          <p:cNvPr id="56" name="Text 54"/>
          <p:cNvSpPr txBox="1"/>
          <p:nvPr/>
        </p:nvSpPr>
        <p:spPr>
          <a:xfrm>
            <a:off x="11887200" y="3383280"/>
            <a:ext cx="1554480" cy="256032"/>
          </a:xfrm>
          <a:prstGeom prst="rect">
            <a:avLst/>
          </a:prstGeom>
          <a:noFill/>
          <a:ln/>
        </p:spPr>
        <p:txBody>
          <a:bodyPr wrap="square" lIns="0" tIns="0" rIns="0" bIns="0" rtlCol="0" anchor="t"/>
          <a:lstStyle/>
          <a:p>
            <a:pPr algn="r" indent="0" marL="0">
              <a:buNone/>
            </a:pPr>
            <a:r>
              <a:rPr lang="en-US" sz="1200" dirty="0">
                <a:solidFill>
                  <a:srgbClr val="333333"/>
                </a:solidFill>
                <a:latin typeface="Calibri" pitchFamily="34" charset="0"/>
                <a:ea typeface="Calibri" pitchFamily="34" charset="-122"/>
                <a:cs typeface="Calibri" pitchFamily="34" charset="-120"/>
              </a:rPr>
              <a:t>Freedom</a:t>
            </a:r>
            <a:endParaRPr lang="en-US" sz="1200" dirty="0"/>
          </a:p>
        </p:txBody>
      </p:sp>
      <p:sp>
        <p:nvSpPr>
          <p:cNvPr id="57" name="Shape 55"/>
          <p:cNvSpPr/>
          <p:nvPr/>
        </p:nvSpPr>
        <p:spPr>
          <a:xfrm>
            <a:off x="10241280" y="3749040"/>
            <a:ext cx="466344" cy="365760"/>
          </a:xfrm>
          <a:prstGeom prst="rect">
            <a:avLst/>
          </a:prstGeom>
          <a:solidFill>
            <a:srgbClr val="E6E6E6"/>
          </a:solidFill>
          <a:ln/>
        </p:spPr>
      </p:sp>
      <p:sp>
        <p:nvSpPr>
          <p:cNvPr id="58" name="Shape 56"/>
          <p:cNvSpPr/>
          <p:nvPr/>
        </p:nvSpPr>
        <p:spPr>
          <a:xfrm>
            <a:off x="10757916" y="3749040"/>
            <a:ext cx="466344" cy="365760"/>
          </a:xfrm>
          <a:prstGeom prst="rect">
            <a:avLst/>
          </a:prstGeom>
          <a:solidFill>
            <a:srgbClr val="E6E6E6"/>
          </a:solidFill>
          <a:ln/>
        </p:spPr>
      </p:sp>
      <p:sp>
        <p:nvSpPr>
          <p:cNvPr id="59" name="Shape 57"/>
          <p:cNvSpPr/>
          <p:nvPr/>
        </p:nvSpPr>
        <p:spPr>
          <a:xfrm>
            <a:off x="11274552" y="3749040"/>
            <a:ext cx="466344" cy="365760"/>
          </a:xfrm>
          <a:prstGeom prst="rect">
            <a:avLst/>
          </a:prstGeom>
          <a:solidFill>
            <a:srgbClr val="E6E6E6"/>
          </a:solidFill>
          <a:ln/>
        </p:spPr>
      </p:sp>
      <p:sp>
        <p:nvSpPr>
          <p:cNvPr id="60" name="Shape 58"/>
          <p:cNvSpPr/>
          <p:nvPr/>
        </p:nvSpPr>
        <p:spPr>
          <a:xfrm>
            <a:off x="11791188" y="3749040"/>
            <a:ext cx="466344" cy="365760"/>
          </a:xfrm>
          <a:prstGeom prst="rect">
            <a:avLst/>
          </a:prstGeom>
          <a:solidFill>
            <a:srgbClr val="E6E6E6"/>
          </a:solidFill>
          <a:ln/>
        </p:spPr>
      </p:sp>
      <p:sp>
        <p:nvSpPr>
          <p:cNvPr id="61" name="Shape 59"/>
          <p:cNvSpPr/>
          <p:nvPr/>
        </p:nvSpPr>
        <p:spPr>
          <a:xfrm>
            <a:off x="12307824" y="3749040"/>
            <a:ext cx="466344" cy="365760"/>
          </a:xfrm>
          <a:prstGeom prst="rect">
            <a:avLst/>
          </a:prstGeom>
          <a:solidFill>
            <a:srgbClr val="E6E6E6"/>
          </a:solidFill>
          <a:ln/>
        </p:spPr>
      </p:sp>
      <p:sp>
        <p:nvSpPr>
          <p:cNvPr id="62" name="Shape 60"/>
          <p:cNvSpPr/>
          <p:nvPr/>
        </p:nvSpPr>
        <p:spPr>
          <a:xfrm>
            <a:off x="12824460" y="3749040"/>
            <a:ext cx="466344" cy="365760"/>
          </a:xfrm>
          <a:prstGeom prst="rect">
            <a:avLst/>
          </a:prstGeom>
          <a:solidFill>
            <a:srgbClr val="E6E6E6"/>
          </a:solidFill>
          <a:ln/>
        </p:spPr>
      </p:sp>
      <p:sp>
        <p:nvSpPr>
          <p:cNvPr id="63" name="Shape 61"/>
          <p:cNvSpPr/>
          <p:nvPr/>
        </p:nvSpPr>
        <p:spPr>
          <a:xfrm>
            <a:off x="13341096" y="3749040"/>
            <a:ext cx="466344" cy="365760"/>
          </a:xfrm>
          <a:prstGeom prst="rect">
            <a:avLst/>
          </a:prstGeom>
          <a:solidFill>
            <a:srgbClr val="E6E6E6"/>
          </a:solidFill>
          <a:ln/>
        </p:spPr>
      </p:sp>
      <p:sp>
        <p:nvSpPr>
          <p:cNvPr id="64" name="Shape 62"/>
          <p:cNvSpPr/>
          <p:nvPr/>
        </p:nvSpPr>
        <p:spPr>
          <a:xfrm>
            <a:off x="13857732" y="3749040"/>
            <a:ext cx="466344" cy="365760"/>
          </a:xfrm>
          <a:prstGeom prst="rect">
            <a:avLst/>
          </a:prstGeom>
          <a:solidFill>
            <a:srgbClr val="E6E6E6"/>
          </a:solidFill>
          <a:ln/>
        </p:spPr>
      </p:sp>
      <p:sp>
        <p:nvSpPr>
          <p:cNvPr id="65" name="Text 63"/>
          <p:cNvSpPr txBox="1"/>
          <p:nvPr/>
        </p:nvSpPr>
        <p:spPr>
          <a:xfrm>
            <a:off x="10241280" y="4160520"/>
            <a:ext cx="2011680" cy="256032"/>
          </a:xfrm>
          <a:prstGeom prst="rect">
            <a:avLst/>
          </a:prstGeom>
          <a:noFill/>
          <a:ln/>
        </p:spPr>
        <p:txBody>
          <a:bodyPr wrap="square" lIns="0" tIns="0" rIns="0" bIns="0" rtlCol="0" anchor="t"/>
          <a:lstStyle/>
          <a:p>
            <a:pPr indent="0" marL="0">
              <a:buNone/>
            </a:pPr>
            <a:r>
              <a:rPr lang="en-US" sz="1200" dirty="0">
                <a:solidFill>
                  <a:srgbClr val="333333"/>
                </a:solidFill>
                <a:latin typeface="Calibri" pitchFamily="34" charset="0"/>
                <a:ea typeface="Calibri" pitchFamily="34" charset="-122"/>
                <a:cs typeface="Calibri" pitchFamily="34" charset="-120"/>
              </a:rPr>
              <a:t>Extrovert</a:t>
            </a:r>
            <a:endParaRPr lang="en-US" sz="1200" dirty="0"/>
          </a:p>
        </p:txBody>
      </p:sp>
      <p:sp>
        <p:nvSpPr>
          <p:cNvPr id="66" name="Text 64"/>
          <p:cNvSpPr txBox="1"/>
          <p:nvPr/>
        </p:nvSpPr>
        <p:spPr>
          <a:xfrm>
            <a:off x="11887200" y="4160520"/>
            <a:ext cx="1554480" cy="256032"/>
          </a:xfrm>
          <a:prstGeom prst="rect">
            <a:avLst/>
          </a:prstGeom>
          <a:noFill/>
          <a:ln/>
        </p:spPr>
        <p:txBody>
          <a:bodyPr wrap="square" lIns="0" tIns="0" rIns="0" bIns="0" rtlCol="0" anchor="t"/>
          <a:lstStyle/>
          <a:p>
            <a:pPr algn="r" indent="0" marL="0">
              <a:buNone/>
            </a:pPr>
            <a:r>
              <a:rPr lang="en-US" sz="1200" dirty="0">
                <a:solidFill>
                  <a:srgbClr val="333333"/>
                </a:solidFill>
                <a:latin typeface="Calibri" pitchFamily="34" charset="0"/>
                <a:ea typeface="Calibri" pitchFamily="34" charset="-122"/>
                <a:cs typeface="Calibri" pitchFamily="34" charset="-120"/>
              </a:rPr>
              <a:t>Introvert</a:t>
            </a:r>
            <a:endParaRPr lang="en-US" sz="1200" dirty="0"/>
          </a:p>
        </p:txBody>
      </p:sp>
      <p:sp>
        <p:nvSpPr>
          <p:cNvPr id="67" name="Shape 65"/>
          <p:cNvSpPr/>
          <p:nvPr/>
        </p:nvSpPr>
        <p:spPr>
          <a:xfrm>
            <a:off x="10241280" y="4526280"/>
            <a:ext cx="466344" cy="365760"/>
          </a:xfrm>
          <a:prstGeom prst="rect">
            <a:avLst/>
          </a:prstGeom>
          <a:solidFill>
            <a:srgbClr val="E6E6E6"/>
          </a:solidFill>
          <a:ln/>
        </p:spPr>
      </p:sp>
      <p:sp>
        <p:nvSpPr>
          <p:cNvPr id="68" name="Shape 66"/>
          <p:cNvSpPr/>
          <p:nvPr/>
        </p:nvSpPr>
        <p:spPr>
          <a:xfrm>
            <a:off x="10757916" y="4526280"/>
            <a:ext cx="466344" cy="365760"/>
          </a:xfrm>
          <a:prstGeom prst="rect">
            <a:avLst/>
          </a:prstGeom>
          <a:solidFill>
            <a:srgbClr val="E6E6E6"/>
          </a:solidFill>
          <a:ln/>
        </p:spPr>
      </p:sp>
      <p:sp>
        <p:nvSpPr>
          <p:cNvPr id="69" name="Shape 67"/>
          <p:cNvSpPr/>
          <p:nvPr/>
        </p:nvSpPr>
        <p:spPr>
          <a:xfrm>
            <a:off x="11274552" y="4526280"/>
            <a:ext cx="466344" cy="365760"/>
          </a:xfrm>
          <a:prstGeom prst="rect">
            <a:avLst/>
          </a:prstGeom>
          <a:solidFill>
            <a:srgbClr val="E6E6E6"/>
          </a:solidFill>
          <a:ln/>
        </p:spPr>
      </p:sp>
      <p:sp>
        <p:nvSpPr>
          <p:cNvPr id="70" name="Shape 68"/>
          <p:cNvSpPr/>
          <p:nvPr/>
        </p:nvSpPr>
        <p:spPr>
          <a:xfrm>
            <a:off x="11791188" y="4526280"/>
            <a:ext cx="466344" cy="365760"/>
          </a:xfrm>
          <a:prstGeom prst="rect">
            <a:avLst/>
          </a:prstGeom>
          <a:solidFill>
            <a:srgbClr val="E6E6E6"/>
          </a:solidFill>
          <a:ln/>
        </p:spPr>
      </p:sp>
      <p:sp>
        <p:nvSpPr>
          <p:cNvPr id="71" name="Shape 69"/>
          <p:cNvSpPr/>
          <p:nvPr/>
        </p:nvSpPr>
        <p:spPr>
          <a:xfrm>
            <a:off x="12307824" y="4526280"/>
            <a:ext cx="466344" cy="365760"/>
          </a:xfrm>
          <a:prstGeom prst="rect">
            <a:avLst/>
          </a:prstGeom>
          <a:solidFill>
            <a:srgbClr val="E6E6E6"/>
          </a:solidFill>
          <a:ln/>
        </p:spPr>
      </p:sp>
      <p:sp>
        <p:nvSpPr>
          <p:cNvPr id="72" name="Shape 70"/>
          <p:cNvSpPr/>
          <p:nvPr/>
        </p:nvSpPr>
        <p:spPr>
          <a:xfrm>
            <a:off x="12824460" y="4526280"/>
            <a:ext cx="466344" cy="365760"/>
          </a:xfrm>
          <a:prstGeom prst="rect">
            <a:avLst/>
          </a:prstGeom>
          <a:solidFill>
            <a:srgbClr val="E6E6E6"/>
          </a:solidFill>
          <a:ln/>
        </p:spPr>
      </p:sp>
      <p:sp>
        <p:nvSpPr>
          <p:cNvPr id="73" name="Shape 71"/>
          <p:cNvSpPr/>
          <p:nvPr/>
        </p:nvSpPr>
        <p:spPr>
          <a:xfrm>
            <a:off x="13341096" y="4526280"/>
            <a:ext cx="466344" cy="365760"/>
          </a:xfrm>
          <a:prstGeom prst="rect">
            <a:avLst/>
          </a:prstGeom>
          <a:solidFill>
            <a:srgbClr val="E6E6E6"/>
          </a:solidFill>
          <a:ln/>
        </p:spPr>
      </p:sp>
      <p:sp>
        <p:nvSpPr>
          <p:cNvPr id="74" name="Shape 72"/>
          <p:cNvSpPr/>
          <p:nvPr/>
        </p:nvSpPr>
        <p:spPr>
          <a:xfrm>
            <a:off x="13857732" y="4526280"/>
            <a:ext cx="466344" cy="365760"/>
          </a:xfrm>
          <a:prstGeom prst="rect">
            <a:avLst/>
          </a:prstGeom>
          <a:solidFill>
            <a:srgbClr val="E6E6E6"/>
          </a:solidFill>
          <a:ln/>
        </p:spPr>
      </p:sp>
      <p:sp>
        <p:nvSpPr>
          <p:cNvPr id="75" name="Text 73"/>
          <p:cNvSpPr txBox="1"/>
          <p:nvPr/>
        </p:nvSpPr>
        <p:spPr>
          <a:xfrm>
            <a:off x="10241280" y="4937760"/>
            <a:ext cx="2011680" cy="256032"/>
          </a:xfrm>
          <a:prstGeom prst="rect">
            <a:avLst/>
          </a:prstGeom>
          <a:noFill/>
          <a:ln/>
        </p:spPr>
        <p:txBody>
          <a:bodyPr wrap="square" lIns="0" tIns="0" rIns="0" bIns="0" rtlCol="0" anchor="t"/>
          <a:lstStyle/>
          <a:p>
            <a:pPr indent="0" marL="0">
              <a:buNone/>
            </a:pPr>
            <a:r>
              <a:rPr lang="en-US" sz="1200" dirty="0">
                <a:solidFill>
                  <a:srgbClr val="333333"/>
                </a:solidFill>
                <a:latin typeface="Calibri" pitchFamily="34" charset="0"/>
                <a:ea typeface="Calibri" pitchFamily="34" charset="-122"/>
                <a:cs typeface="Calibri" pitchFamily="34" charset="-120"/>
              </a:rPr>
              <a:t>Thinking</a:t>
            </a:r>
            <a:endParaRPr lang="en-US" sz="1200" dirty="0"/>
          </a:p>
        </p:txBody>
      </p:sp>
      <p:sp>
        <p:nvSpPr>
          <p:cNvPr id="76" name="Text 74"/>
          <p:cNvSpPr txBox="1"/>
          <p:nvPr/>
        </p:nvSpPr>
        <p:spPr>
          <a:xfrm>
            <a:off x="11887200" y="4937760"/>
            <a:ext cx="1554480" cy="256032"/>
          </a:xfrm>
          <a:prstGeom prst="rect">
            <a:avLst/>
          </a:prstGeom>
          <a:noFill/>
          <a:ln/>
        </p:spPr>
        <p:txBody>
          <a:bodyPr wrap="square" lIns="0" tIns="0" rIns="0" bIns="0" rtlCol="0" anchor="t"/>
          <a:lstStyle/>
          <a:p>
            <a:pPr algn="r" indent="0" marL="0">
              <a:buNone/>
            </a:pPr>
            <a:r>
              <a:rPr lang="en-US" sz="1200" dirty="0">
                <a:solidFill>
                  <a:srgbClr val="333333"/>
                </a:solidFill>
                <a:latin typeface="Calibri" pitchFamily="34" charset="0"/>
                <a:ea typeface="Calibri" pitchFamily="34" charset="-122"/>
                <a:cs typeface="Calibri" pitchFamily="34" charset="-120"/>
              </a:rPr>
              <a:t>Feeling</a:t>
            </a:r>
            <a:endParaRPr lang="en-US" sz="1200" dirty="0"/>
          </a:p>
        </p:txBody>
      </p:sp>
      <p:sp>
        <p:nvSpPr>
          <p:cNvPr id="77" name="Shape 75"/>
          <p:cNvSpPr/>
          <p:nvPr/>
        </p:nvSpPr>
        <p:spPr>
          <a:xfrm>
            <a:off x="10241280" y="5303520"/>
            <a:ext cx="466344" cy="365760"/>
          </a:xfrm>
          <a:prstGeom prst="rect">
            <a:avLst/>
          </a:prstGeom>
          <a:solidFill>
            <a:srgbClr val="E6E6E6"/>
          </a:solidFill>
          <a:ln/>
        </p:spPr>
      </p:sp>
      <p:sp>
        <p:nvSpPr>
          <p:cNvPr id="78" name="Shape 76"/>
          <p:cNvSpPr/>
          <p:nvPr/>
        </p:nvSpPr>
        <p:spPr>
          <a:xfrm>
            <a:off x="10757916" y="5303520"/>
            <a:ext cx="466344" cy="365760"/>
          </a:xfrm>
          <a:prstGeom prst="rect">
            <a:avLst/>
          </a:prstGeom>
          <a:solidFill>
            <a:srgbClr val="E6E6E6"/>
          </a:solidFill>
          <a:ln/>
        </p:spPr>
      </p:sp>
      <p:sp>
        <p:nvSpPr>
          <p:cNvPr id="79" name="Shape 77"/>
          <p:cNvSpPr/>
          <p:nvPr/>
        </p:nvSpPr>
        <p:spPr>
          <a:xfrm>
            <a:off x="11274552" y="5303520"/>
            <a:ext cx="466344" cy="365760"/>
          </a:xfrm>
          <a:prstGeom prst="rect">
            <a:avLst/>
          </a:prstGeom>
          <a:solidFill>
            <a:srgbClr val="E6E6E6"/>
          </a:solidFill>
          <a:ln/>
        </p:spPr>
      </p:sp>
      <p:sp>
        <p:nvSpPr>
          <p:cNvPr id="80" name="Shape 78"/>
          <p:cNvSpPr/>
          <p:nvPr/>
        </p:nvSpPr>
        <p:spPr>
          <a:xfrm>
            <a:off x="11791188" y="5303520"/>
            <a:ext cx="466344" cy="365760"/>
          </a:xfrm>
          <a:prstGeom prst="rect">
            <a:avLst/>
          </a:prstGeom>
          <a:solidFill>
            <a:srgbClr val="E6E6E6"/>
          </a:solidFill>
          <a:ln/>
        </p:spPr>
      </p:sp>
      <p:sp>
        <p:nvSpPr>
          <p:cNvPr id="81" name="Shape 79"/>
          <p:cNvSpPr/>
          <p:nvPr/>
        </p:nvSpPr>
        <p:spPr>
          <a:xfrm>
            <a:off x="12307824" y="5303520"/>
            <a:ext cx="466344" cy="365760"/>
          </a:xfrm>
          <a:prstGeom prst="rect">
            <a:avLst/>
          </a:prstGeom>
          <a:solidFill>
            <a:srgbClr val="E6E6E6"/>
          </a:solidFill>
          <a:ln/>
        </p:spPr>
      </p:sp>
      <p:sp>
        <p:nvSpPr>
          <p:cNvPr id="82" name="Shape 80"/>
          <p:cNvSpPr/>
          <p:nvPr/>
        </p:nvSpPr>
        <p:spPr>
          <a:xfrm>
            <a:off x="12824460" y="5303520"/>
            <a:ext cx="466344" cy="365760"/>
          </a:xfrm>
          <a:prstGeom prst="rect">
            <a:avLst/>
          </a:prstGeom>
          <a:solidFill>
            <a:srgbClr val="E6E6E6"/>
          </a:solidFill>
          <a:ln/>
        </p:spPr>
      </p:sp>
      <p:sp>
        <p:nvSpPr>
          <p:cNvPr id="83" name="Shape 81"/>
          <p:cNvSpPr/>
          <p:nvPr/>
        </p:nvSpPr>
        <p:spPr>
          <a:xfrm>
            <a:off x="13341096" y="5303520"/>
            <a:ext cx="466344" cy="365760"/>
          </a:xfrm>
          <a:prstGeom prst="rect">
            <a:avLst/>
          </a:prstGeom>
          <a:solidFill>
            <a:srgbClr val="E6E6E6"/>
          </a:solidFill>
          <a:ln/>
        </p:spPr>
      </p:sp>
      <p:sp>
        <p:nvSpPr>
          <p:cNvPr id="84" name="Shape 82"/>
          <p:cNvSpPr/>
          <p:nvPr/>
        </p:nvSpPr>
        <p:spPr>
          <a:xfrm>
            <a:off x="13857732" y="5303520"/>
            <a:ext cx="466344" cy="365760"/>
          </a:xfrm>
          <a:prstGeom prst="rect">
            <a:avLst/>
          </a:prstGeom>
          <a:solidFill>
            <a:srgbClr val="E6E6E6"/>
          </a:solidFill>
          <a:ln/>
        </p:spPr>
      </p:sp>
      <p:sp>
        <p:nvSpPr>
          <p:cNvPr id="85" name="Text 83"/>
          <p:cNvSpPr txBox="1"/>
          <p:nvPr/>
        </p:nvSpPr>
        <p:spPr>
          <a:xfrm>
            <a:off x="10241280" y="5715000"/>
            <a:ext cx="2011680" cy="256032"/>
          </a:xfrm>
          <a:prstGeom prst="rect">
            <a:avLst/>
          </a:prstGeom>
          <a:noFill/>
          <a:ln/>
        </p:spPr>
        <p:txBody>
          <a:bodyPr wrap="square" lIns="0" tIns="0" rIns="0" bIns="0" rtlCol="0" anchor="t"/>
          <a:lstStyle/>
          <a:p>
            <a:pPr indent="0" marL="0">
              <a:buNone/>
            </a:pPr>
            <a:r>
              <a:rPr lang="en-US" sz="1200" dirty="0">
                <a:solidFill>
                  <a:srgbClr val="333333"/>
                </a:solidFill>
                <a:latin typeface="Calibri" pitchFamily="34" charset="0"/>
                <a:ea typeface="Calibri" pitchFamily="34" charset="-122"/>
                <a:cs typeface="Calibri" pitchFamily="34" charset="-120"/>
              </a:rPr>
              <a:t>Judging</a:t>
            </a:r>
            <a:endParaRPr lang="en-US" sz="1200" dirty="0"/>
          </a:p>
        </p:txBody>
      </p:sp>
      <p:sp>
        <p:nvSpPr>
          <p:cNvPr id="86" name="Text 84"/>
          <p:cNvSpPr txBox="1"/>
          <p:nvPr/>
        </p:nvSpPr>
        <p:spPr>
          <a:xfrm>
            <a:off x="11887200" y="5715000"/>
            <a:ext cx="1554480" cy="256032"/>
          </a:xfrm>
          <a:prstGeom prst="rect">
            <a:avLst/>
          </a:prstGeom>
          <a:noFill/>
          <a:ln/>
        </p:spPr>
        <p:txBody>
          <a:bodyPr wrap="square" lIns="0" tIns="0" rIns="0" bIns="0" rtlCol="0" anchor="t"/>
          <a:lstStyle/>
          <a:p>
            <a:pPr algn="r" indent="0" marL="0">
              <a:buNone/>
            </a:pPr>
            <a:r>
              <a:rPr lang="en-US" sz="1200" dirty="0">
                <a:solidFill>
                  <a:srgbClr val="333333"/>
                </a:solidFill>
                <a:latin typeface="Calibri" pitchFamily="34" charset="0"/>
                <a:ea typeface="Calibri" pitchFamily="34" charset="-122"/>
                <a:cs typeface="Calibri" pitchFamily="34" charset="-120"/>
              </a:rPr>
              <a:t>Perceiving</a:t>
            </a:r>
            <a:endParaRPr lang="en-US" sz="1200" dirty="0"/>
          </a:p>
        </p:txBody>
      </p:sp>
      <p:sp>
        <p:nvSpPr>
          <p:cNvPr id="87" name="Text 85"/>
          <p:cNvSpPr txBox="1"/>
          <p:nvPr/>
        </p:nvSpPr>
        <p:spPr>
          <a:xfrm>
            <a:off x="10241280" y="6108192"/>
            <a:ext cx="4206240" cy="274320"/>
          </a:xfrm>
          <a:prstGeom prst="rect">
            <a:avLst/>
          </a:prstGeom>
          <a:noFill/>
          <a:ln/>
        </p:spPr>
        <p:txBody>
          <a:bodyPr wrap="square" lIns="0" tIns="0" rIns="0" bIns="0" rtlCol="0" anchor="t"/>
          <a:lstStyle/>
          <a:p>
            <a:pPr indent="0" marL="0">
              <a:buNone/>
            </a:pPr>
            <a:r>
              <a:rPr lang="en-US" sz="1100" i="1" dirty="0">
                <a:solidFill>
                  <a:srgbClr val="A85A00"/>
                </a:solidFill>
                <a:latin typeface="Calibri" pitchFamily="34" charset="0"/>
                <a:ea typeface="Calibri" pitchFamily="34" charset="-122"/>
                <a:cs typeface="Calibri" pitchFamily="34" charset="-120"/>
              </a:rPr>
              <a:t>Not yet observed. Set the sliders from interview observations.</a:t>
            </a:r>
            <a:endParaRPr lang="en-US" sz="1100" dirty="0"/>
          </a:p>
        </p:txBody>
      </p:sp>
      <p:sp>
        <p:nvSpPr>
          <p:cNvPr id="88" name="Text 86"/>
          <p:cNvSpPr txBox="1"/>
          <p:nvPr/>
        </p:nvSpPr>
        <p:spPr>
          <a:xfrm>
            <a:off x="10241280" y="6629400"/>
            <a:ext cx="4114800" cy="411480"/>
          </a:xfrm>
          <a:prstGeom prst="rect">
            <a:avLst/>
          </a:prstGeom>
          <a:noFill/>
          <a:ln/>
        </p:spPr>
        <p:txBody>
          <a:bodyPr wrap="square" lIns="0" tIns="0" rIns="0" bIns="0" rtlCol="0" anchor="t"/>
          <a:lstStyle/>
          <a:p>
            <a:pPr indent="0" marL="0">
              <a:buNone/>
            </a:pPr>
            <a:r>
              <a:rPr lang="en-US" sz="2200" b="1" dirty="0">
                <a:solidFill>
                  <a:srgbClr val="111111"/>
                </a:solidFill>
                <a:latin typeface="Calibri" pitchFamily="34" charset="0"/>
                <a:ea typeface="Calibri" pitchFamily="34" charset="-122"/>
                <a:cs typeface="Calibri" pitchFamily="34" charset="-120"/>
              </a:rPr>
              <a:t>Pain Point</a:t>
            </a:r>
            <a:endParaRPr lang="en-US" sz="2200" dirty="0"/>
          </a:p>
        </p:txBody>
      </p:sp>
      <p:sp>
        <p:nvSpPr>
          <p:cNvPr id="89" name="Shape 87"/>
          <p:cNvSpPr/>
          <p:nvPr/>
        </p:nvSpPr>
        <p:spPr>
          <a:xfrm>
            <a:off x="10241280" y="7086600"/>
            <a:ext cx="1051560" cy="82296"/>
          </a:xfrm>
          <a:prstGeom prst="rect">
            <a:avLst/>
          </a:prstGeom>
          <a:solidFill>
            <a:srgbClr val="85BB2F"/>
          </a:solidFill>
          <a:ln/>
        </p:spPr>
      </p:sp>
      <p:sp>
        <p:nvSpPr>
          <p:cNvPr id="90" name="Text 88"/>
          <p:cNvSpPr txBox="1"/>
          <p:nvPr/>
        </p:nvSpPr>
        <p:spPr>
          <a:xfrm>
            <a:off x="10241280" y="7315200"/>
            <a:ext cx="4160520" cy="2194560"/>
          </a:xfrm>
          <a:prstGeom prst="rect">
            <a:avLst/>
          </a:prstGeom>
          <a:noFill/>
          <a:ln/>
        </p:spPr>
        <p:txBody>
          <a:bodyPr wrap="square" lIns="0" tIns="0" rIns="0" bIns="0" rtlCol="0" anchor="t"/>
          <a:lstStyle/>
          <a:p>
            <a:pPr indent="0" marL="0">
              <a:lnSpc>
                <a:spcPct val="105000"/>
              </a:lnSpc>
              <a:buNone/>
            </a:pPr>
            <a:r>
              <a:rPr lang="en-US" sz="1300" b="1" dirty="0">
                <a:solidFill>
                  <a:srgbClr val="038141"/>
                </a:solidFill>
                <a:latin typeface="Calibri" pitchFamily="34" charset="0"/>
                <a:ea typeface="Calibri" pitchFamily="34" charset="-122"/>
                <a:cs typeface="Calibri" pitchFamily="34" charset="-120"/>
              </a:rPr>
              <a:t>Desk  </a:t>
            </a:r>
            <a:pPr indent="0" marL="0">
              <a:lnSpc>
                <a:spcPct val="105000"/>
              </a:lnSpc>
              <a:buNone/>
            </a:pPr>
            <a:r>
              <a:rPr lang="en-US" sz="1300" dirty="0">
                <a:solidFill>
                  <a:srgbClr val="1F2A24"/>
                </a:solidFill>
                <a:latin typeface="Calibri" pitchFamily="34" charset="0"/>
                <a:ea typeface="Calibri" pitchFamily="34" charset="-122"/>
                <a:cs typeface="Calibri" pitchFamily="34" charset="-120"/>
              </a:rPr>
              <a:t>Nothing on the product page shows how much sodium or saturated fat an item carries. No Kenyan online retailer surfaces a front-of-pack signal, and on-pack labels are incomplete.</a:t>
            </a:r>
            <a:pPr indent="0" marL="0">
              <a:lnSpc>
                <a:spcPct val="105000"/>
              </a:lnSpc>
              <a:buNone/>
            </a:pPr>
            <a:endParaRPr lang="en-US" sz="1300" dirty="0"/>
          </a:p>
          <a:p>
            <a:pPr indent="0" marL="0">
              <a:lnSpc>
                <a:spcPct val="105000"/>
              </a:lnSpc>
              <a:buNone/>
            </a:pPr>
            <a:r>
              <a:rPr lang="en-US" sz="600" dirty="0">
                <a:solidFill>
                  <a:srgbClr val="1F2A24"/>
                </a:solidFill>
                <a:latin typeface="Calibri" pitchFamily="34" charset="0"/>
                <a:ea typeface="Calibri" pitchFamily="34" charset="-122"/>
                <a:cs typeface="Calibri" pitchFamily="34" charset="-120"/>
              </a:rPr>
              <a:t> </a:t>
            </a:r>
            <a:endParaRPr lang="en-US" sz="1300" dirty="0"/>
          </a:p>
          <a:p>
            <a:pPr indent="0" marL="0">
              <a:lnSpc>
                <a:spcPct val="105000"/>
              </a:lnSpc>
              <a:buNone/>
            </a:pPr>
            <a:r>
              <a:rPr lang="en-US" sz="1300" b="1" dirty="0">
                <a:solidFill>
                  <a:srgbClr val="A85A00"/>
                </a:solidFill>
                <a:latin typeface="Calibri" pitchFamily="34" charset="0"/>
                <a:ea typeface="Calibri" pitchFamily="34" charset="-122"/>
                <a:cs typeface="Calibri" pitchFamily="34" charset="-120"/>
              </a:rPr>
              <a:t>Hyp  </a:t>
            </a:r>
            <a:pPr indent="0" marL="0">
              <a:lnSpc>
                <a:spcPct val="105000"/>
              </a:lnSpc>
              <a:buNone/>
            </a:pPr>
            <a:r>
              <a:rPr lang="en-US" sz="1300" dirty="0">
                <a:solidFill>
                  <a:srgbClr val="1F2A24"/>
                </a:solidFill>
                <a:latin typeface="Calibri" pitchFamily="34" charset="0"/>
                <a:ea typeface="Calibri" pitchFamily="34" charset="-122"/>
                <a:cs typeface="Calibri" pitchFamily="34" charset="-120"/>
              </a:rPr>
              <a:t>She guesses, avoids whole categories, or reads small print item by item.</a:t>
            </a:r>
            <a:endParaRPr lang="en-US" sz="1300" dirty="0"/>
          </a:p>
        </p:txBody>
      </p:sp>
      <p:sp>
        <p:nvSpPr>
          <p:cNvPr id="91" name="Shape 89"/>
          <p:cNvSpPr/>
          <p:nvPr/>
        </p:nvSpPr>
        <p:spPr>
          <a:xfrm>
            <a:off x="731520" y="9372600"/>
            <a:ext cx="13661136" cy="640080"/>
          </a:xfrm>
          <a:prstGeom prst="rect">
            <a:avLst/>
          </a:prstGeom>
          <a:solidFill>
            <a:srgbClr val="FFFFFF"/>
          </a:solidFill>
          <a:ln w="12700">
            <a:solidFill>
              <a:srgbClr val="222222"/>
            </a:solidFill>
            <a:prstDash val="solid"/>
          </a:ln>
        </p:spPr>
      </p:sp>
      <p:sp>
        <p:nvSpPr>
          <p:cNvPr id="92" name="Text 90"/>
          <p:cNvSpPr txBox="1"/>
          <p:nvPr/>
        </p:nvSpPr>
        <p:spPr>
          <a:xfrm>
            <a:off x="914400" y="9372600"/>
            <a:ext cx="13258800" cy="640080"/>
          </a:xfrm>
          <a:prstGeom prst="rect">
            <a:avLst/>
          </a:prstGeom>
          <a:noFill/>
          <a:ln/>
        </p:spPr>
        <p:txBody>
          <a:bodyPr wrap="square" lIns="0" tIns="0" rIns="0" bIns="0" rtlCol="0" anchor="ctr"/>
          <a:lstStyle/>
          <a:p>
            <a:pPr indent="0" marL="0">
              <a:buNone/>
            </a:pPr>
            <a:r>
              <a:rPr lang="en-US" sz="1400" b="1" i="1" dirty="0">
                <a:solidFill>
                  <a:srgbClr val="1F2A24"/>
                </a:solidFill>
                <a:latin typeface="Calibri" pitchFamily="34" charset="0"/>
                <a:ea typeface="Calibri" pitchFamily="34" charset="-122"/>
                <a:cs typeface="Calibri" pitchFamily="34" charset="-120"/>
              </a:rPr>
              <a:t>Quote – </a:t>
            </a:r>
            <a:pPr indent="0" marL="0">
              <a:buNone/>
            </a:pPr>
            <a:r>
              <a:rPr lang="en-US" sz="1400" i="1" dirty="0">
                <a:solidFill>
                  <a:srgbClr val="1F2A24"/>
                </a:solidFill>
                <a:latin typeface="Calibri" pitchFamily="34" charset="0"/>
                <a:ea typeface="Calibri" pitchFamily="34" charset="-122"/>
                <a:cs typeface="Calibri" pitchFamily="34" charset="-120"/>
              </a:rPr>
              <a:t>“Tell me at the shelf what I can have. I don’t have time to decode every label.”</a:t>
            </a:r>
            <a:pPr indent="0" marL="0">
              <a:buNone/>
            </a:pPr>
            <a:r>
              <a:rPr lang="en-US" sz="1100" dirty="0">
                <a:solidFill>
                  <a:srgbClr val="A85A00"/>
                </a:solidFill>
                <a:latin typeface="Calibri" pitchFamily="34" charset="0"/>
                <a:ea typeface="Calibri" pitchFamily="34" charset="-122"/>
                <a:cs typeface="Calibri" pitchFamily="34" charset="-120"/>
              </a:rPr>
              <a:t>   Hypothesis in her voice, not a real quote. Replace with a verbatim interview quote.</a:t>
            </a:r>
            <a:endParaRPr lang="en-US" sz="1400" dirty="0"/>
          </a:p>
        </p:txBody>
      </p:sp>
      <p:sp>
        <p:nvSpPr>
          <p:cNvPr id="93" name="Text 91"/>
          <p:cNvSpPr txBox="1"/>
          <p:nvPr/>
        </p:nvSpPr>
        <p:spPr>
          <a:xfrm>
            <a:off x="731520" y="10104120"/>
            <a:ext cx="12344400" cy="274320"/>
          </a:xfrm>
          <a:prstGeom prst="rect">
            <a:avLst/>
          </a:prstGeom>
          <a:noFill/>
          <a:ln/>
        </p:spPr>
        <p:txBody>
          <a:bodyPr wrap="square" lIns="0" tIns="0" rIns="0" bIns="0" rtlCol="0" anchor="t"/>
          <a:lstStyle/>
          <a:p>
            <a:pPr indent="0" marL="0">
              <a:buNone/>
            </a:pPr>
            <a:r>
              <a:rPr lang="en-US" sz="1100" i="1" dirty="0">
                <a:solidFill>
                  <a:srgbClr val="5C6B63"/>
                </a:solidFill>
                <a:latin typeface="Calibri" pitchFamily="34" charset="0"/>
                <a:ea typeface="Calibri" pitchFamily="34" charset="-122"/>
                <a:cs typeface="Calibri" pitchFamily="34" charset="-120"/>
              </a:rPr>
              <a:t>Composite persona built from desk research (Kenya STEPS 2015; NUT-04 persona profiles). Not an interviewed person. Replace every Hyp and To-confirm item after the interviews.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9144000" cy="685800"/>
          </a:xfrm>
          <a:prstGeom prst="rect">
            <a:avLst/>
          </a:prstGeom>
          <a:noFill/>
          <a:ln/>
        </p:spPr>
        <p:txBody>
          <a:bodyPr wrap="square" lIns="0" tIns="0" rIns="0" bIns="0" rtlCol="0" anchor="t"/>
          <a:lstStyle/>
          <a:p>
            <a:pPr indent="0" marL="0">
              <a:buNone/>
            </a:pPr>
            <a:r>
              <a:rPr lang="en-US" sz="3800" b="1" dirty="0">
                <a:solidFill>
                  <a:srgbClr val="111111"/>
                </a:solidFill>
                <a:latin typeface="Calibri" pitchFamily="34" charset="0"/>
                <a:ea typeface="Calibri" pitchFamily="34" charset="-122"/>
                <a:cs typeface="Calibri" pitchFamily="34" charset="-120"/>
              </a:rPr>
              <a:t>Influencer Ecosystem Map</a:t>
            </a:r>
            <a:endParaRPr lang="en-US" sz="3800" dirty="0"/>
          </a:p>
        </p:txBody>
      </p:sp>
      <p:sp>
        <p:nvSpPr>
          <p:cNvPr id="3" name="Shape 1"/>
          <p:cNvSpPr/>
          <p:nvPr/>
        </p:nvSpPr>
        <p:spPr>
          <a:xfrm>
            <a:off x="731520" y="6309360"/>
            <a:ext cx="5394960" cy="0"/>
          </a:xfrm>
          <a:prstGeom prst="line">
            <a:avLst/>
          </a:prstGeom>
          <a:noFill/>
          <a:ln w="12700">
            <a:solidFill>
              <a:srgbClr val="8A8A8A"/>
            </a:solidFill>
            <a:prstDash val="dash"/>
          </a:ln>
        </p:spPr>
      </p:sp>
      <p:sp>
        <p:nvSpPr>
          <p:cNvPr id="4" name="Shape 2"/>
          <p:cNvSpPr/>
          <p:nvPr/>
        </p:nvSpPr>
        <p:spPr>
          <a:xfrm>
            <a:off x="5669280" y="4023360"/>
            <a:ext cx="868680" cy="868680"/>
          </a:xfrm>
          <a:prstGeom prst="line">
            <a:avLst/>
          </a:prstGeom>
          <a:noFill/>
          <a:ln w="12700">
            <a:solidFill>
              <a:srgbClr val="8A8A8A"/>
            </a:solidFill>
            <a:prstDash val="dash"/>
          </a:ln>
        </p:spPr>
      </p:sp>
      <p:sp>
        <p:nvSpPr>
          <p:cNvPr id="5" name="Shape 3"/>
          <p:cNvSpPr/>
          <p:nvPr/>
        </p:nvSpPr>
        <p:spPr>
          <a:xfrm flipH="1">
            <a:off x="8595360" y="4023360"/>
            <a:ext cx="868680" cy="868680"/>
          </a:xfrm>
          <a:prstGeom prst="line">
            <a:avLst/>
          </a:prstGeom>
          <a:noFill/>
          <a:ln w="12700">
            <a:solidFill>
              <a:srgbClr val="8A8A8A"/>
            </a:solidFill>
            <a:prstDash val="dash"/>
          </a:ln>
        </p:spPr>
      </p:sp>
      <p:sp>
        <p:nvSpPr>
          <p:cNvPr id="6" name="Shape 4"/>
          <p:cNvSpPr/>
          <p:nvPr/>
        </p:nvSpPr>
        <p:spPr>
          <a:xfrm flipV="1">
            <a:off x="5577840" y="7360920"/>
            <a:ext cx="914400" cy="914400"/>
          </a:xfrm>
          <a:prstGeom prst="line">
            <a:avLst/>
          </a:prstGeom>
          <a:noFill/>
          <a:ln w="12700">
            <a:solidFill>
              <a:srgbClr val="8A8A8A"/>
            </a:solidFill>
            <a:prstDash val="dash"/>
          </a:ln>
        </p:spPr>
      </p:sp>
      <p:sp>
        <p:nvSpPr>
          <p:cNvPr id="7" name="Shape 5"/>
          <p:cNvSpPr/>
          <p:nvPr/>
        </p:nvSpPr>
        <p:spPr>
          <a:xfrm flipH="1" flipV="1">
            <a:off x="8686800" y="7360920"/>
            <a:ext cx="914400" cy="914400"/>
          </a:xfrm>
          <a:prstGeom prst="line">
            <a:avLst/>
          </a:prstGeom>
          <a:noFill/>
          <a:ln w="12700">
            <a:solidFill>
              <a:srgbClr val="8A8A8A"/>
            </a:solidFill>
            <a:prstDash val="dash"/>
          </a:ln>
        </p:spPr>
      </p:sp>
      <p:sp>
        <p:nvSpPr>
          <p:cNvPr id="8" name="Shape 6"/>
          <p:cNvSpPr/>
          <p:nvPr/>
        </p:nvSpPr>
        <p:spPr>
          <a:xfrm>
            <a:off x="5989320" y="4572000"/>
            <a:ext cx="3154680" cy="3154680"/>
          </a:xfrm>
          <a:prstGeom prst="ellipse">
            <a:avLst/>
          </a:prstGeom>
          <a:solidFill>
            <a:srgbClr val="FFFFFF"/>
          </a:solidFill>
          <a:ln w="114300">
            <a:solidFill>
              <a:srgbClr val="BDBDBD"/>
            </a:solidFill>
            <a:prstDash val="solid"/>
          </a:ln>
        </p:spPr>
      </p:sp>
      <p:sp>
        <p:nvSpPr>
          <p:cNvPr id="9" name="Shape 7"/>
          <p:cNvSpPr/>
          <p:nvPr/>
        </p:nvSpPr>
        <p:spPr>
          <a:xfrm>
            <a:off x="6675120" y="5394960"/>
            <a:ext cx="457200" cy="457200"/>
          </a:xfrm>
          <a:prstGeom prst="ellipse">
            <a:avLst/>
          </a:prstGeom>
          <a:solidFill>
            <a:srgbClr val="FFFFFF"/>
          </a:solidFill>
          <a:ln w="76200">
            <a:solidFill>
              <a:srgbClr val="BDBDBD"/>
            </a:solidFill>
            <a:prstDash val="solid"/>
          </a:ln>
        </p:spPr>
      </p:sp>
      <p:sp>
        <p:nvSpPr>
          <p:cNvPr id="10" name="Shape 8"/>
          <p:cNvSpPr/>
          <p:nvPr/>
        </p:nvSpPr>
        <p:spPr>
          <a:xfrm>
            <a:off x="6035040" y="8732520"/>
            <a:ext cx="3108960" cy="0"/>
          </a:xfrm>
          <a:prstGeom prst="line">
            <a:avLst/>
          </a:prstGeom>
          <a:noFill/>
          <a:ln w="12700">
            <a:solidFill>
              <a:srgbClr val="222222"/>
            </a:solidFill>
            <a:prstDash val="solid"/>
          </a:ln>
        </p:spPr>
      </p:sp>
      <p:sp>
        <p:nvSpPr>
          <p:cNvPr id="11" name="Text 9"/>
          <p:cNvSpPr txBox="1"/>
          <p:nvPr/>
        </p:nvSpPr>
        <p:spPr>
          <a:xfrm>
            <a:off x="6035040" y="8796528"/>
            <a:ext cx="3108960" cy="274320"/>
          </a:xfrm>
          <a:prstGeom prst="rect">
            <a:avLst/>
          </a:prstGeom>
          <a:noFill/>
          <a:ln/>
        </p:spPr>
        <p:txBody>
          <a:bodyPr wrap="square" lIns="0" tIns="0" rIns="0" bIns="0" rtlCol="0" anchor="t"/>
          <a:lstStyle/>
          <a:p>
            <a:pPr algn="ctr" indent="0" marL="0">
              <a:buNone/>
            </a:pPr>
            <a:r>
              <a:rPr lang="en-US" sz="1300" i="1" dirty="0">
                <a:solidFill>
                  <a:srgbClr val="1F2A24"/>
                </a:solidFill>
                <a:latin typeface="Calibri" pitchFamily="34" charset="0"/>
                <a:ea typeface="Calibri" pitchFamily="34" charset="-122"/>
                <a:cs typeface="Calibri" pitchFamily="34" charset="-120"/>
              </a:rPr>
              <a:t>Grace N. (composite persona)</a:t>
            </a:r>
            <a:endParaRPr lang="en-US" sz="1300" dirty="0"/>
          </a:p>
        </p:txBody>
      </p:sp>
      <p:sp>
        <p:nvSpPr>
          <p:cNvPr id="12" name="Text 10"/>
          <p:cNvSpPr txBox="1"/>
          <p:nvPr/>
        </p:nvSpPr>
        <p:spPr>
          <a:xfrm>
            <a:off x="731520" y="1554480"/>
            <a:ext cx="4389120" cy="411480"/>
          </a:xfrm>
          <a:prstGeom prst="rect">
            <a:avLst/>
          </a:prstGeom>
          <a:noFill/>
          <a:ln/>
        </p:spPr>
        <p:txBody>
          <a:bodyPr wrap="square" lIns="0" tIns="0" rIns="0" bIns="0" rtlCol="0" anchor="t"/>
          <a:lstStyle/>
          <a:p>
            <a:pPr indent="0" marL="0">
              <a:buNone/>
            </a:pPr>
            <a:r>
              <a:rPr lang="en-US" sz="2200" b="1" dirty="0">
                <a:solidFill>
                  <a:srgbClr val="111111"/>
                </a:solidFill>
                <a:latin typeface="Calibri" pitchFamily="34" charset="0"/>
                <a:ea typeface="Calibri" pitchFamily="34" charset="-122"/>
                <a:cs typeface="Calibri" pitchFamily="34" charset="-120"/>
              </a:rPr>
              <a:t>Seeing</a:t>
            </a:r>
            <a:endParaRPr lang="en-US" sz="2200" dirty="0"/>
          </a:p>
        </p:txBody>
      </p:sp>
      <p:sp>
        <p:nvSpPr>
          <p:cNvPr id="13" name="Shape 11"/>
          <p:cNvSpPr/>
          <p:nvPr/>
        </p:nvSpPr>
        <p:spPr>
          <a:xfrm>
            <a:off x="731520" y="2011680"/>
            <a:ext cx="1051560" cy="82296"/>
          </a:xfrm>
          <a:prstGeom prst="rect">
            <a:avLst/>
          </a:prstGeom>
          <a:solidFill>
            <a:srgbClr val="85BB2F"/>
          </a:solidFill>
          <a:ln/>
        </p:spPr>
      </p:sp>
      <p:sp>
        <p:nvSpPr>
          <p:cNvPr id="14" name="Text 12"/>
          <p:cNvSpPr txBox="1"/>
          <p:nvPr/>
        </p:nvSpPr>
        <p:spPr>
          <a:xfrm>
            <a:off x="731520" y="2286000"/>
            <a:ext cx="4389120" cy="4206240"/>
          </a:xfrm>
          <a:prstGeom prst="rect">
            <a:avLst/>
          </a:prstGeom>
          <a:noFill/>
          <a:ln/>
        </p:spPr>
        <p:txBody>
          <a:bodyPr wrap="square" lIns="0" tIns="0" rIns="0" bIns="0" rtlCol="0" anchor="t"/>
          <a:lstStyle/>
          <a:p>
            <a:pPr indent="0" marL="0">
              <a:lnSpc>
                <a:spcPct val="100000"/>
              </a:lnSpc>
              <a:buNone/>
            </a:pPr>
            <a:r>
              <a:rPr lang="en-US" sz="1250" b="1" i="1" dirty="0">
                <a:solidFill>
                  <a:srgbClr val="222222"/>
                </a:solidFill>
                <a:latin typeface="Calibri" pitchFamily="34" charset="0"/>
                <a:ea typeface="Calibri" pitchFamily="34" charset="-122"/>
                <a:cs typeface="Calibri" pitchFamily="34" charset="-120"/>
              </a:rPr>
              <a:t>Environment</a:t>
            </a:r>
            <a:endParaRPr lang="en-US" sz="1250" dirty="0"/>
          </a:p>
          <a:p>
            <a:pPr indent="0" marL="0">
              <a:lnSpc>
                <a:spcPct val="100000"/>
              </a:lnSpc>
              <a:buNone/>
            </a:pPr>
            <a:r>
              <a:rPr lang="en-US" sz="1250" b="1" dirty="0">
                <a:solidFill>
                  <a:srgbClr val="038141"/>
                </a:solidFill>
                <a:latin typeface="Calibri" pitchFamily="34" charset="0"/>
                <a:ea typeface="Calibri" pitchFamily="34" charset="-122"/>
                <a:cs typeface="Calibri" pitchFamily="34" charset="-120"/>
              </a:rPr>
              <a:t>Desk  </a:t>
            </a:r>
            <a:pPr indent="0" marL="0">
              <a:lnSpc>
                <a:spcPct val="100000"/>
              </a:lnSpc>
              <a:buNone/>
            </a:pPr>
            <a:r>
              <a:rPr lang="en-US" sz="1250" dirty="0">
                <a:solidFill>
                  <a:srgbClr val="1F2A24"/>
                </a:solidFill>
                <a:latin typeface="Calibri" pitchFamily="34" charset="0"/>
                <a:ea typeface="Calibri" pitchFamily="34" charset="-122"/>
                <a:cs typeface="Calibri" pitchFamily="34" charset="-120"/>
              </a:rPr>
              <a:t>Naivas Online and Carrefour Kenya product pages: photo and price, no nutrition signal (Food-EPI 2020).</a:t>
            </a:r>
            <a:pPr indent="0" marL="0">
              <a:lnSpc>
                <a:spcPct val="100000"/>
              </a:lnSpc>
              <a:buNone/>
            </a:pPr>
            <a:endParaRPr lang="en-US" sz="1250" dirty="0"/>
          </a:p>
          <a:p>
            <a:pPr indent="0" marL="0">
              <a:lnSpc>
                <a:spcPct val="100000"/>
              </a:lnSpc>
              <a:buNone/>
            </a:pPr>
            <a:r>
              <a:rPr lang="en-US" sz="500" dirty="0">
                <a:solidFill>
                  <a:srgbClr val="1F2A24"/>
                </a:solidFill>
                <a:latin typeface="Calibri" pitchFamily="34" charset="0"/>
                <a:ea typeface="Calibri" pitchFamily="34" charset="-122"/>
                <a:cs typeface="Calibri" pitchFamily="34" charset="-120"/>
              </a:rPr>
              <a:t> </a:t>
            </a:r>
            <a:endParaRPr lang="en-US" sz="1250" dirty="0"/>
          </a:p>
          <a:p>
            <a:pPr indent="0" marL="0">
              <a:lnSpc>
                <a:spcPct val="100000"/>
              </a:lnSpc>
              <a:buNone/>
            </a:pPr>
            <a:r>
              <a:rPr lang="en-US" sz="1250" b="1" i="1" dirty="0">
                <a:solidFill>
                  <a:srgbClr val="222222"/>
                </a:solidFill>
                <a:latin typeface="Calibri" pitchFamily="34" charset="0"/>
                <a:ea typeface="Calibri" pitchFamily="34" charset="-122"/>
                <a:cs typeface="Calibri" pitchFamily="34" charset="-120"/>
              </a:rPr>
              <a:t>Friends</a:t>
            </a:r>
            <a:endParaRPr lang="en-US" sz="1250" dirty="0"/>
          </a:p>
          <a:p>
            <a:pPr indent="0" marL="0">
              <a:lnSpc>
                <a:spcPct val="100000"/>
              </a:lnSpc>
              <a:buNone/>
            </a:pPr>
            <a:r>
              <a:rPr lang="en-US" sz="1250" i="1" dirty="0">
                <a:solidFill>
                  <a:srgbClr val="5C6B63"/>
                </a:solidFill>
                <a:latin typeface="Calibri" pitchFamily="34" charset="0"/>
                <a:ea typeface="Calibri" pitchFamily="34" charset="-122"/>
                <a:cs typeface="Calibri" pitchFamily="34" charset="-120"/>
              </a:rPr>
              <a:t>To confirm in interview</a:t>
            </a:r>
            <a:pPr indent="0" marL="0">
              <a:lnSpc>
                <a:spcPct val="100000"/>
              </a:lnSpc>
              <a:buNone/>
            </a:pPr>
            <a:endParaRPr lang="en-US" sz="1250" dirty="0"/>
          </a:p>
          <a:p>
            <a:pPr indent="0" marL="0">
              <a:lnSpc>
                <a:spcPct val="100000"/>
              </a:lnSpc>
              <a:buNone/>
            </a:pPr>
            <a:r>
              <a:rPr lang="en-US" sz="500" dirty="0">
                <a:solidFill>
                  <a:srgbClr val="1F2A24"/>
                </a:solidFill>
                <a:latin typeface="Calibri" pitchFamily="34" charset="0"/>
                <a:ea typeface="Calibri" pitchFamily="34" charset="-122"/>
                <a:cs typeface="Calibri" pitchFamily="34" charset="-120"/>
              </a:rPr>
              <a:t> </a:t>
            </a:r>
            <a:endParaRPr lang="en-US" sz="1250" dirty="0"/>
          </a:p>
          <a:p>
            <a:pPr indent="0" marL="0">
              <a:lnSpc>
                <a:spcPct val="100000"/>
              </a:lnSpc>
              <a:buNone/>
            </a:pPr>
            <a:r>
              <a:rPr lang="en-US" sz="1250" b="1" i="1" dirty="0">
                <a:solidFill>
                  <a:srgbClr val="222222"/>
                </a:solidFill>
                <a:latin typeface="Calibri" pitchFamily="34" charset="0"/>
                <a:ea typeface="Calibri" pitchFamily="34" charset="-122"/>
                <a:cs typeface="Calibri" pitchFamily="34" charset="-120"/>
              </a:rPr>
              <a:t>What the market offers</a:t>
            </a:r>
            <a:endParaRPr lang="en-US" sz="1250" dirty="0"/>
          </a:p>
          <a:p>
            <a:pPr indent="0" marL="0">
              <a:lnSpc>
                <a:spcPct val="100000"/>
              </a:lnSpc>
              <a:buNone/>
            </a:pPr>
            <a:r>
              <a:rPr lang="en-US" sz="1250" b="1" dirty="0">
                <a:solidFill>
                  <a:srgbClr val="038141"/>
                </a:solidFill>
                <a:latin typeface="Calibri" pitchFamily="34" charset="0"/>
                <a:ea typeface="Calibri" pitchFamily="34" charset="-122"/>
                <a:cs typeface="Calibri" pitchFamily="34" charset="-120"/>
              </a:rPr>
              <a:t>Desk  </a:t>
            </a:r>
            <a:pPr indent="0" marL="0">
              <a:lnSpc>
                <a:spcPct val="100000"/>
              </a:lnSpc>
              <a:buNone/>
            </a:pPr>
            <a:r>
              <a:rPr lang="en-US" sz="1250" dirty="0">
                <a:solidFill>
                  <a:srgbClr val="1F2A24"/>
                </a:solidFill>
                <a:latin typeface="Calibri" pitchFamily="34" charset="0"/>
                <a:ea typeface="Calibri" pitchFamily="34" charset="-122"/>
                <a:cs typeface="Calibri" pitchFamily="34" charset="-120"/>
              </a:rPr>
              <a:t>Incomplete pack labels (added sugar is not mandatory). No Chrome extension scores Kenyan grocery sites (June 2026 scan).</a:t>
            </a:r>
            <a:pPr indent="0" marL="0">
              <a:lnSpc>
                <a:spcPct val="100000"/>
              </a:lnSpc>
              <a:buNone/>
            </a:pPr>
            <a:endParaRPr lang="en-US" sz="1250" dirty="0"/>
          </a:p>
          <a:p>
            <a:pPr indent="0" marL="0">
              <a:lnSpc>
                <a:spcPct val="100000"/>
              </a:lnSpc>
              <a:buNone/>
            </a:pPr>
            <a:r>
              <a:rPr lang="en-US" sz="500" dirty="0">
                <a:solidFill>
                  <a:srgbClr val="1F2A24"/>
                </a:solidFill>
                <a:latin typeface="Calibri" pitchFamily="34" charset="0"/>
                <a:ea typeface="Calibri" pitchFamily="34" charset="-122"/>
                <a:cs typeface="Calibri" pitchFamily="34" charset="-120"/>
              </a:rPr>
              <a:t> </a:t>
            </a:r>
            <a:endParaRPr lang="en-US" sz="1250" dirty="0"/>
          </a:p>
        </p:txBody>
      </p:sp>
      <p:sp>
        <p:nvSpPr>
          <p:cNvPr id="15" name="Text 13"/>
          <p:cNvSpPr txBox="1"/>
          <p:nvPr/>
        </p:nvSpPr>
        <p:spPr>
          <a:xfrm>
            <a:off x="5394960" y="1417320"/>
            <a:ext cx="4937760" cy="411480"/>
          </a:xfrm>
          <a:prstGeom prst="rect">
            <a:avLst/>
          </a:prstGeom>
          <a:noFill/>
          <a:ln/>
        </p:spPr>
        <p:txBody>
          <a:bodyPr wrap="square" lIns="0" tIns="0" rIns="0" bIns="0" rtlCol="0" anchor="t"/>
          <a:lstStyle/>
          <a:p>
            <a:pPr indent="0" marL="0">
              <a:buNone/>
            </a:pPr>
            <a:r>
              <a:rPr lang="en-US" sz="2200" b="1" dirty="0">
                <a:solidFill>
                  <a:srgbClr val="111111"/>
                </a:solidFill>
                <a:latin typeface="Calibri" pitchFamily="34" charset="0"/>
                <a:ea typeface="Calibri" pitchFamily="34" charset="-122"/>
                <a:cs typeface="Calibri" pitchFamily="34" charset="-120"/>
              </a:rPr>
              <a:t>Thinking &amp; Feeling</a:t>
            </a:r>
            <a:endParaRPr lang="en-US" sz="2200" dirty="0"/>
          </a:p>
        </p:txBody>
      </p:sp>
      <p:sp>
        <p:nvSpPr>
          <p:cNvPr id="16" name="Shape 14"/>
          <p:cNvSpPr/>
          <p:nvPr/>
        </p:nvSpPr>
        <p:spPr>
          <a:xfrm>
            <a:off x="5394960" y="1874520"/>
            <a:ext cx="1051560" cy="82296"/>
          </a:xfrm>
          <a:prstGeom prst="rect">
            <a:avLst/>
          </a:prstGeom>
          <a:solidFill>
            <a:srgbClr val="85BB2F"/>
          </a:solidFill>
          <a:ln/>
        </p:spPr>
      </p:sp>
      <p:sp>
        <p:nvSpPr>
          <p:cNvPr id="17" name="Text 15"/>
          <p:cNvSpPr txBox="1"/>
          <p:nvPr/>
        </p:nvSpPr>
        <p:spPr>
          <a:xfrm>
            <a:off x="5394960" y="2057400"/>
            <a:ext cx="4937760" cy="274320"/>
          </a:xfrm>
          <a:prstGeom prst="rect">
            <a:avLst/>
          </a:prstGeom>
          <a:noFill/>
          <a:ln/>
        </p:spPr>
        <p:txBody>
          <a:bodyPr wrap="square" lIns="0" tIns="0" rIns="0" bIns="0" rtlCol="0" anchor="t"/>
          <a:lstStyle/>
          <a:p>
            <a:pPr indent="0" marL="0">
              <a:buNone/>
            </a:pPr>
            <a:r>
              <a:rPr lang="en-US" sz="1200" i="1" dirty="0">
                <a:solidFill>
                  <a:srgbClr val="5C6B63"/>
                </a:solidFill>
                <a:latin typeface="Calibri" pitchFamily="34" charset="0"/>
                <a:ea typeface="Calibri" pitchFamily="34" charset="-122"/>
                <a:cs typeface="Calibri" pitchFamily="34" charset="-120"/>
              </a:rPr>
              <a:t>What really counts  |  Major preoccupations  |  Worries &amp; aspirations</a:t>
            </a:r>
            <a:endParaRPr lang="en-US" sz="1200" dirty="0"/>
          </a:p>
        </p:txBody>
      </p:sp>
      <p:sp>
        <p:nvSpPr>
          <p:cNvPr id="18" name="Text 16"/>
          <p:cNvSpPr txBox="1"/>
          <p:nvPr/>
        </p:nvSpPr>
        <p:spPr>
          <a:xfrm>
            <a:off x="5394960" y="2423160"/>
            <a:ext cx="4937760" cy="3017520"/>
          </a:xfrm>
          <a:prstGeom prst="rect">
            <a:avLst/>
          </a:prstGeom>
          <a:noFill/>
          <a:ln/>
        </p:spPr>
        <p:txBody>
          <a:bodyPr wrap="square" lIns="0" tIns="0" rIns="0" bIns="0" rtlCol="0" anchor="t"/>
          <a:lstStyle/>
          <a:p>
            <a:pPr indent="0" marL="0">
              <a:lnSpc>
                <a:spcPct val="100000"/>
              </a:lnSpc>
              <a:buNone/>
            </a:pPr>
            <a:r>
              <a:rPr lang="en-US" sz="1250" b="1" i="1" dirty="0">
                <a:solidFill>
                  <a:srgbClr val="222222"/>
                </a:solidFill>
                <a:latin typeface="Calibri" pitchFamily="34" charset="0"/>
                <a:ea typeface="Calibri" pitchFamily="34" charset="-122"/>
                <a:cs typeface="Calibri" pitchFamily="34" charset="-120"/>
              </a:rPr>
              <a:t>What really counts</a:t>
            </a:r>
            <a:endParaRPr lang="en-US" sz="1250" dirty="0"/>
          </a:p>
          <a:p>
            <a:pPr indent="0" marL="0">
              <a:lnSpc>
                <a:spcPct val="100000"/>
              </a:lnSpc>
              <a:buNone/>
            </a:pPr>
            <a:r>
              <a:rPr lang="en-US" sz="1250" b="1" dirty="0">
                <a:solidFill>
                  <a:srgbClr val="A85A00"/>
                </a:solidFill>
                <a:latin typeface="Calibri" pitchFamily="34" charset="0"/>
                <a:ea typeface="Calibri" pitchFamily="34" charset="-122"/>
                <a:cs typeface="Calibri" pitchFamily="34" charset="-120"/>
              </a:rPr>
              <a:t>Hyp  </a:t>
            </a:r>
            <a:pPr indent="0" marL="0">
              <a:lnSpc>
                <a:spcPct val="100000"/>
              </a:lnSpc>
              <a:buNone/>
            </a:pPr>
            <a:r>
              <a:rPr lang="en-US" sz="1250" dirty="0">
                <a:solidFill>
                  <a:srgbClr val="1F2A24"/>
                </a:solidFill>
                <a:latin typeface="Calibri" pitchFamily="34" charset="0"/>
                <a:ea typeface="Calibri" pitchFamily="34" charset="-122"/>
                <a:cs typeface="Calibri" pitchFamily="34" charset="-120"/>
              </a:rPr>
              <a:t>Keeping her blood pressure under control.</a:t>
            </a:r>
            <a:pPr indent="0" marL="0">
              <a:lnSpc>
                <a:spcPct val="100000"/>
              </a:lnSpc>
              <a:buNone/>
            </a:pPr>
            <a:endParaRPr lang="en-US" sz="1250" dirty="0"/>
          </a:p>
          <a:p>
            <a:pPr indent="0" marL="0">
              <a:lnSpc>
                <a:spcPct val="100000"/>
              </a:lnSpc>
              <a:buNone/>
            </a:pPr>
            <a:r>
              <a:rPr lang="en-US" sz="500" dirty="0">
                <a:solidFill>
                  <a:srgbClr val="1F2A24"/>
                </a:solidFill>
                <a:latin typeface="Calibri" pitchFamily="34" charset="0"/>
                <a:ea typeface="Calibri" pitchFamily="34" charset="-122"/>
                <a:cs typeface="Calibri" pitchFamily="34" charset="-120"/>
              </a:rPr>
              <a:t> </a:t>
            </a:r>
            <a:endParaRPr lang="en-US" sz="1250" dirty="0"/>
          </a:p>
          <a:p>
            <a:pPr indent="0" marL="0">
              <a:lnSpc>
                <a:spcPct val="100000"/>
              </a:lnSpc>
              <a:buNone/>
            </a:pPr>
            <a:r>
              <a:rPr lang="en-US" sz="1250" b="1" i="1" dirty="0">
                <a:solidFill>
                  <a:srgbClr val="222222"/>
                </a:solidFill>
                <a:latin typeface="Calibri" pitchFamily="34" charset="0"/>
                <a:ea typeface="Calibri" pitchFamily="34" charset="-122"/>
                <a:cs typeface="Calibri" pitchFamily="34" charset="-120"/>
              </a:rPr>
              <a:t>Major preoccupations</a:t>
            </a:r>
            <a:endParaRPr lang="en-US" sz="1250" dirty="0"/>
          </a:p>
          <a:p>
            <a:pPr indent="0" marL="0">
              <a:lnSpc>
                <a:spcPct val="100000"/>
              </a:lnSpc>
              <a:buNone/>
            </a:pPr>
            <a:r>
              <a:rPr lang="en-US" sz="1250" b="1" dirty="0">
                <a:solidFill>
                  <a:srgbClr val="A85A00"/>
                </a:solidFill>
                <a:latin typeface="Calibri" pitchFamily="34" charset="0"/>
                <a:ea typeface="Calibri" pitchFamily="34" charset="-122"/>
                <a:cs typeface="Calibri" pitchFamily="34" charset="-120"/>
              </a:rPr>
              <a:t>Hyp  </a:t>
            </a:r>
            <a:pPr indent="0" marL="0">
              <a:lnSpc>
                <a:spcPct val="100000"/>
              </a:lnSpc>
              <a:buNone/>
            </a:pPr>
            <a:r>
              <a:rPr lang="en-US" sz="1250" dirty="0">
                <a:solidFill>
                  <a:srgbClr val="1F2A24"/>
                </a:solidFill>
                <a:latin typeface="Calibri" pitchFamily="34" charset="0"/>
                <a:ea typeface="Calibri" pitchFamily="34" charset="-122"/>
                <a:cs typeface="Calibri" pitchFamily="34" charset="-120"/>
              </a:rPr>
              <a:t>Getting each week’s shop right without reading every label.</a:t>
            </a:r>
            <a:pPr indent="0" marL="0">
              <a:lnSpc>
                <a:spcPct val="100000"/>
              </a:lnSpc>
              <a:buNone/>
            </a:pPr>
            <a:endParaRPr lang="en-US" sz="1250" dirty="0"/>
          </a:p>
          <a:p>
            <a:pPr indent="0" marL="0">
              <a:lnSpc>
                <a:spcPct val="100000"/>
              </a:lnSpc>
              <a:buNone/>
            </a:pPr>
            <a:r>
              <a:rPr lang="en-US" sz="500" dirty="0">
                <a:solidFill>
                  <a:srgbClr val="1F2A24"/>
                </a:solidFill>
                <a:latin typeface="Calibri" pitchFamily="34" charset="0"/>
                <a:ea typeface="Calibri" pitchFamily="34" charset="-122"/>
                <a:cs typeface="Calibri" pitchFamily="34" charset="-120"/>
              </a:rPr>
              <a:t> </a:t>
            </a:r>
            <a:endParaRPr lang="en-US" sz="1250" dirty="0"/>
          </a:p>
          <a:p>
            <a:pPr indent="0" marL="0">
              <a:lnSpc>
                <a:spcPct val="100000"/>
              </a:lnSpc>
              <a:buNone/>
            </a:pPr>
            <a:r>
              <a:rPr lang="en-US" sz="1250" b="1" i="1" dirty="0">
                <a:solidFill>
                  <a:srgbClr val="222222"/>
                </a:solidFill>
                <a:latin typeface="Calibri" pitchFamily="34" charset="0"/>
                <a:ea typeface="Calibri" pitchFamily="34" charset="-122"/>
                <a:cs typeface="Calibri" pitchFamily="34" charset="-120"/>
              </a:rPr>
              <a:t>Worries and aspirations</a:t>
            </a:r>
            <a:endParaRPr lang="en-US" sz="1250" dirty="0"/>
          </a:p>
          <a:p>
            <a:pPr indent="0" marL="0">
              <a:lnSpc>
                <a:spcPct val="100000"/>
              </a:lnSpc>
              <a:buNone/>
            </a:pPr>
            <a:r>
              <a:rPr lang="en-US" sz="1250" b="1" dirty="0">
                <a:solidFill>
                  <a:srgbClr val="A85A00"/>
                </a:solidFill>
                <a:latin typeface="Calibri" pitchFamily="34" charset="0"/>
                <a:ea typeface="Calibri" pitchFamily="34" charset="-122"/>
                <a:cs typeface="Calibri" pitchFamily="34" charset="-120"/>
              </a:rPr>
              <a:t>Hyp  </a:t>
            </a:r>
            <a:pPr indent="0" marL="0">
              <a:lnSpc>
                <a:spcPct val="100000"/>
              </a:lnSpc>
              <a:buNone/>
            </a:pPr>
            <a:r>
              <a:rPr lang="en-US" sz="1250" dirty="0">
                <a:solidFill>
                  <a:srgbClr val="1F2A24"/>
                </a:solidFill>
                <a:latin typeface="Calibri" pitchFamily="34" charset="0"/>
                <a:ea typeface="Calibri" pitchFamily="34" charset="-122"/>
                <a:cs typeface="Calibri" pitchFamily="34" charset="-120"/>
              </a:rPr>
              <a:t>Worry that one wrong item undoes her effort; wants a quick, confident shop.</a:t>
            </a:r>
            <a:pPr indent="0" marL="0">
              <a:lnSpc>
                <a:spcPct val="100000"/>
              </a:lnSpc>
              <a:buNone/>
            </a:pPr>
            <a:endParaRPr lang="en-US" sz="1250" dirty="0"/>
          </a:p>
          <a:p>
            <a:pPr indent="0" marL="0">
              <a:lnSpc>
                <a:spcPct val="100000"/>
              </a:lnSpc>
              <a:buNone/>
            </a:pPr>
            <a:r>
              <a:rPr lang="en-US" sz="500" dirty="0">
                <a:solidFill>
                  <a:srgbClr val="1F2A24"/>
                </a:solidFill>
                <a:latin typeface="Calibri" pitchFamily="34" charset="0"/>
                <a:ea typeface="Calibri" pitchFamily="34" charset="-122"/>
                <a:cs typeface="Calibri" pitchFamily="34" charset="-120"/>
              </a:rPr>
              <a:t> </a:t>
            </a:r>
            <a:endParaRPr lang="en-US" sz="1250" dirty="0"/>
          </a:p>
        </p:txBody>
      </p:sp>
      <p:sp>
        <p:nvSpPr>
          <p:cNvPr id="19" name="Text 17"/>
          <p:cNvSpPr txBox="1"/>
          <p:nvPr/>
        </p:nvSpPr>
        <p:spPr>
          <a:xfrm>
            <a:off x="10607040" y="3840480"/>
            <a:ext cx="3840480" cy="411480"/>
          </a:xfrm>
          <a:prstGeom prst="rect">
            <a:avLst/>
          </a:prstGeom>
          <a:noFill/>
          <a:ln/>
        </p:spPr>
        <p:txBody>
          <a:bodyPr wrap="square" lIns="0" tIns="0" rIns="0" bIns="0" rtlCol="0" anchor="t"/>
          <a:lstStyle/>
          <a:p>
            <a:pPr indent="0" marL="0">
              <a:buNone/>
            </a:pPr>
            <a:r>
              <a:rPr lang="en-US" sz="2200" b="1" dirty="0">
                <a:solidFill>
                  <a:srgbClr val="111111"/>
                </a:solidFill>
                <a:latin typeface="Calibri" pitchFamily="34" charset="0"/>
                <a:ea typeface="Calibri" pitchFamily="34" charset="-122"/>
                <a:cs typeface="Calibri" pitchFamily="34" charset="-120"/>
              </a:rPr>
              <a:t>Hearing</a:t>
            </a:r>
            <a:endParaRPr lang="en-US" sz="2200" dirty="0"/>
          </a:p>
        </p:txBody>
      </p:sp>
      <p:sp>
        <p:nvSpPr>
          <p:cNvPr id="20" name="Shape 18"/>
          <p:cNvSpPr/>
          <p:nvPr/>
        </p:nvSpPr>
        <p:spPr>
          <a:xfrm>
            <a:off x="10607040" y="4297680"/>
            <a:ext cx="1051560" cy="82296"/>
          </a:xfrm>
          <a:prstGeom prst="rect">
            <a:avLst/>
          </a:prstGeom>
          <a:solidFill>
            <a:srgbClr val="85BB2F"/>
          </a:solidFill>
          <a:ln/>
        </p:spPr>
      </p:sp>
      <p:sp>
        <p:nvSpPr>
          <p:cNvPr id="21" name="Text 19"/>
          <p:cNvSpPr txBox="1"/>
          <p:nvPr/>
        </p:nvSpPr>
        <p:spPr>
          <a:xfrm>
            <a:off x="10607040" y="4572000"/>
            <a:ext cx="3840480" cy="3291840"/>
          </a:xfrm>
          <a:prstGeom prst="rect">
            <a:avLst/>
          </a:prstGeom>
          <a:noFill/>
          <a:ln/>
        </p:spPr>
        <p:txBody>
          <a:bodyPr wrap="square" lIns="0" tIns="0" rIns="0" bIns="0" rtlCol="0" anchor="t"/>
          <a:lstStyle/>
          <a:p>
            <a:pPr indent="0" marL="0">
              <a:lnSpc>
                <a:spcPct val="100000"/>
              </a:lnSpc>
              <a:buNone/>
            </a:pPr>
            <a:r>
              <a:rPr lang="en-US" sz="1250" b="1" i="1" dirty="0">
                <a:solidFill>
                  <a:srgbClr val="222222"/>
                </a:solidFill>
                <a:latin typeface="Calibri" pitchFamily="34" charset="0"/>
                <a:ea typeface="Calibri" pitchFamily="34" charset="-122"/>
                <a:cs typeface="Calibri" pitchFamily="34" charset="-120"/>
              </a:rPr>
              <a:t>What friends say</a:t>
            </a:r>
            <a:endParaRPr lang="en-US" sz="1250" dirty="0"/>
          </a:p>
          <a:p>
            <a:pPr indent="0" marL="0">
              <a:lnSpc>
                <a:spcPct val="100000"/>
              </a:lnSpc>
              <a:buNone/>
            </a:pPr>
            <a:r>
              <a:rPr lang="en-US" sz="1250" i="1" dirty="0">
                <a:solidFill>
                  <a:srgbClr val="5C6B63"/>
                </a:solidFill>
                <a:latin typeface="Calibri" pitchFamily="34" charset="0"/>
                <a:ea typeface="Calibri" pitchFamily="34" charset="-122"/>
                <a:cs typeface="Calibri" pitchFamily="34" charset="-120"/>
              </a:rPr>
              <a:t>To confirm in interview</a:t>
            </a:r>
            <a:pPr indent="0" marL="0">
              <a:lnSpc>
                <a:spcPct val="100000"/>
              </a:lnSpc>
              <a:buNone/>
            </a:pPr>
            <a:endParaRPr lang="en-US" sz="1250" dirty="0"/>
          </a:p>
          <a:p>
            <a:pPr indent="0" marL="0">
              <a:lnSpc>
                <a:spcPct val="100000"/>
              </a:lnSpc>
              <a:buNone/>
            </a:pPr>
            <a:r>
              <a:rPr lang="en-US" sz="500" dirty="0">
                <a:solidFill>
                  <a:srgbClr val="1F2A24"/>
                </a:solidFill>
                <a:latin typeface="Calibri" pitchFamily="34" charset="0"/>
                <a:ea typeface="Calibri" pitchFamily="34" charset="-122"/>
                <a:cs typeface="Calibri" pitchFamily="34" charset="-120"/>
              </a:rPr>
              <a:t> </a:t>
            </a:r>
            <a:endParaRPr lang="en-US" sz="1250" dirty="0"/>
          </a:p>
          <a:p>
            <a:pPr indent="0" marL="0">
              <a:lnSpc>
                <a:spcPct val="100000"/>
              </a:lnSpc>
              <a:buNone/>
            </a:pPr>
            <a:r>
              <a:rPr lang="en-US" sz="1250" b="1" i="1" dirty="0">
                <a:solidFill>
                  <a:srgbClr val="222222"/>
                </a:solidFill>
                <a:latin typeface="Calibri" pitchFamily="34" charset="0"/>
                <a:ea typeface="Calibri" pitchFamily="34" charset="-122"/>
                <a:cs typeface="Calibri" pitchFamily="34" charset="-120"/>
              </a:rPr>
              <a:t>What her clinician says</a:t>
            </a:r>
            <a:endParaRPr lang="en-US" sz="1250" dirty="0"/>
          </a:p>
          <a:p>
            <a:pPr indent="0" marL="0">
              <a:lnSpc>
                <a:spcPct val="100000"/>
              </a:lnSpc>
              <a:buNone/>
            </a:pPr>
            <a:r>
              <a:rPr lang="en-US" sz="1250" b="1" dirty="0">
                <a:solidFill>
                  <a:srgbClr val="A85A00"/>
                </a:solidFill>
                <a:latin typeface="Calibri" pitchFamily="34" charset="0"/>
                <a:ea typeface="Calibri" pitchFamily="34" charset="-122"/>
                <a:cs typeface="Calibri" pitchFamily="34" charset="-120"/>
              </a:rPr>
              <a:t>Hyp  </a:t>
            </a:r>
            <a:pPr indent="0" marL="0">
              <a:lnSpc>
                <a:spcPct val="100000"/>
              </a:lnSpc>
              <a:buNone/>
            </a:pPr>
            <a:r>
              <a:rPr lang="en-US" sz="1250" dirty="0">
                <a:solidFill>
                  <a:srgbClr val="1F2A24"/>
                </a:solidFill>
                <a:latin typeface="Calibri" pitchFamily="34" charset="0"/>
                <a:ea typeface="Calibri" pitchFamily="34" charset="-122"/>
                <a:cs typeface="Calibri" pitchFamily="34" charset="-120"/>
              </a:rPr>
              <a:t>Cut salt and watch fats.</a:t>
            </a:r>
            <a:pPr indent="0" marL="0">
              <a:lnSpc>
                <a:spcPct val="100000"/>
              </a:lnSpc>
              <a:buNone/>
            </a:pPr>
            <a:endParaRPr lang="en-US" sz="1250" dirty="0"/>
          </a:p>
          <a:p>
            <a:pPr indent="0" marL="0">
              <a:lnSpc>
                <a:spcPct val="100000"/>
              </a:lnSpc>
              <a:buNone/>
            </a:pPr>
            <a:r>
              <a:rPr lang="en-US" sz="500" dirty="0">
                <a:solidFill>
                  <a:srgbClr val="1F2A24"/>
                </a:solidFill>
                <a:latin typeface="Calibri" pitchFamily="34" charset="0"/>
                <a:ea typeface="Calibri" pitchFamily="34" charset="-122"/>
                <a:cs typeface="Calibri" pitchFamily="34" charset="-120"/>
              </a:rPr>
              <a:t> </a:t>
            </a:r>
            <a:endParaRPr lang="en-US" sz="1250" dirty="0"/>
          </a:p>
          <a:p>
            <a:pPr indent="0" marL="0">
              <a:lnSpc>
                <a:spcPct val="100000"/>
              </a:lnSpc>
              <a:buNone/>
            </a:pPr>
            <a:r>
              <a:rPr lang="en-US" sz="1250" b="1" i="1" dirty="0">
                <a:solidFill>
                  <a:srgbClr val="222222"/>
                </a:solidFill>
                <a:latin typeface="Calibri" pitchFamily="34" charset="0"/>
                <a:ea typeface="Calibri" pitchFamily="34" charset="-122"/>
                <a:cs typeface="Calibri" pitchFamily="34" charset="-120"/>
              </a:rPr>
              <a:t>What the boss says</a:t>
            </a:r>
            <a:endParaRPr lang="en-US" sz="1250" dirty="0"/>
          </a:p>
          <a:p>
            <a:pPr indent="0" marL="0">
              <a:lnSpc>
                <a:spcPct val="100000"/>
              </a:lnSpc>
              <a:buNone/>
            </a:pPr>
            <a:r>
              <a:rPr lang="en-US" sz="1250" i="1" dirty="0">
                <a:solidFill>
                  <a:srgbClr val="5C6B63"/>
                </a:solidFill>
                <a:latin typeface="Calibri" pitchFamily="34" charset="0"/>
                <a:ea typeface="Calibri" pitchFamily="34" charset="-122"/>
                <a:cs typeface="Calibri" pitchFamily="34" charset="-120"/>
              </a:rPr>
              <a:t>Not applicable: she runs her own salon.</a:t>
            </a:r>
            <a:pPr indent="0" marL="0">
              <a:lnSpc>
                <a:spcPct val="100000"/>
              </a:lnSpc>
              <a:buNone/>
            </a:pPr>
            <a:endParaRPr lang="en-US" sz="1250" dirty="0"/>
          </a:p>
          <a:p>
            <a:pPr indent="0" marL="0">
              <a:lnSpc>
                <a:spcPct val="100000"/>
              </a:lnSpc>
              <a:buNone/>
            </a:pPr>
            <a:r>
              <a:rPr lang="en-US" sz="500" dirty="0">
                <a:solidFill>
                  <a:srgbClr val="1F2A24"/>
                </a:solidFill>
                <a:latin typeface="Calibri" pitchFamily="34" charset="0"/>
                <a:ea typeface="Calibri" pitchFamily="34" charset="-122"/>
                <a:cs typeface="Calibri" pitchFamily="34" charset="-120"/>
              </a:rPr>
              <a:t> </a:t>
            </a:r>
            <a:endParaRPr lang="en-US" sz="1250" dirty="0"/>
          </a:p>
          <a:p>
            <a:pPr indent="0" marL="0">
              <a:lnSpc>
                <a:spcPct val="100000"/>
              </a:lnSpc>
              <a:buNone/>
            </a:pPr>
            <a:r>
              <a:rPr lang="en-US" sz="1250" b="1" i="1" dirty="0">
                <a:solidFill>
                  <a:srgbClr val="222222"/>
                </a:solidFill>
                <a:latin typeface="Calibri" pitchFamily="34" charset="0"/>
                <a:ea typeface="Calibri" pitchFamily="34" charset="-122"/>
                <a:cs typeface="Calibri" pitchFamily="34" charset="-120"/>
              </a:rPr>
              <a:t>What influencers say</a:t>
            </a:r>
            <a:endParaRPr lang="en-US" sz="1250" dirty="0"/>
          </a:p>
          <a:p>
            <a:pPr indent="0" marL="0">
              <a:lnSpc>
                <a:spcPct val="100000"/>
              </a:lnSpc>
              <a:buNone/>
            </a:pPr>
            <a:r>
              <a:rPr lang="en-US" sz="1250" b="1" dirty="0">
                <a:solidFill>
                  <a:srgbClr val="038141"/>
                </a:solidFill>
                <a:latin typeface="Calibri" pitchFamily="34" charset="0"/>
                <a:ea typeface="Calibri" pitchFamily="34" charset="-122"/>
                <a:cs typeface="Calibri" pitchFamily="34" charset="-120"/>
              </a:rPr>
              <a:t>Desk  </a:t>
            </a:r>
            <a:pPr indent="0" marL="0">
              <a:lnSpc>
                <a:spcPct val="100000"/>
              </a:lnSpc>
              <a:buNone/>
            </a:pPr>
            <a:r>
              <a:rPr lang="en-US" sz="1250" dirty="0">
                <a:solidFill>
                  <a:srgbClr val="1F2A24"/>
                </a:solidFill>
                <a:latin typeface="Calibri" pitchFamily="34" charset="0"/>
                <a:ea typeface="Calibri" pitchFamily="34" charset="-122"/>
                <a:cs typeface="Calibri" pitchFamily="34" charset="-120"/>
              </a:rPr>
              <a:t>National push to cut population salt intake 30% by 2025 (MoH, 2017).</a:t>
            </a:r>
            <a:pPr indent="0" marL="0">
              <a:lnSpc>
                <a:spcPct val="100000"/>
              </a:lnSpc>
              <a:buNone/>
            </a:pPr>
            <a:endParaRPr lang="en-US" sz="1250" dirty="0"/>
          </a:p>
          <a:p>
            <a:pPr indent="0" marL="0">
              <a:lnSpc>
                <a:spcPct val="100000"/>
              </a:lnSpc>
              <a:buNone/>
            </a:pPr>
            <a:r>
              <a:rPr lang="en-US" sz="500" dirty="0">
                <a:solidFill>
                  <a:srgbClr val="1F2A24"/>
                </a:solidFill>
                <a:latin typeface="Calibri" pitchFamily="34" charset="0"/>
                <a:ea typeface="Calibri" pitchFamily="34" charset="-122"/>
                <a:cs typeface="Calibri" pitchFamily="34" charset="-120"/>
              </a:rPr>
              <a:t> </a:t>
            </a:r>
            <a:endParaRPr lang="en-US" sz="1250" dirty="0"/>
          </a:p>
        </p:txBody>
      </p:sp>
      <p:sp>
        <p:nvSpPr>
          <p:cNvPr id="22" name="Text 20"/>
          <p:cNvSpPr txBox="1"/>
          <p:nvPr/>
        </p:nvSpPr>
        <p:spPr>
          <a:xfrm>
            <a:off x="731520" y="6812280"/>
            <a:ext cx="4389120" cy="411480"/>
          </a:xfrm>
          <a:prstGeom prst="rect">
            <a:avLst/>
          </a:prstGeom>
          <a:noFill/>
          <a:ln/>
        </p:spPr>
        <p:txBody>
          <a:bodyPr wrap="square" lIns="0" tIns="0" rIns="0" bIns="0" rtlCol="0" anchor="t"/>
          <a:lstStyle/>
          <a:p>
            <a:pPr indent="0" marL="0">
              <a:buNone/>
            </a:pPr>
            <a:r>
              <a:rPr lang="en-US" sz="2200" b="1" dirty="0">
                <a:solidFill>
                  <a:srgbClr val="111111"/>
                </a:solidFill>
                <a:latin typeface="Calibri" pitchFamily="34" charset="0"/>
                <a:ea typeface="Calibri" pitchFamily="34" charset="-122"/>
                <a:cs typeface="Calibri" pitchFamily="34" charset="-120"/>
              </a:rPr>
              <a:t>Saying</a:t>
            </a:r>
            <a:endParaRPr lang="en-US" sz="2200" dirty="0"/>
          </a:p>
        </p:txBody>
      </p:sp>
      <p:sp>
        <p:nvSpPr>
          <p:cNvPr id="23" name="Shape 21"/>
          <p:cNvSpPr/>
          <p:nvPr/>
        </p:nvSpPr>
        <p:spPr>
          <a:xfrm>
            <a:off x="731520" y="7269480"/>
            <a:ext cx="1051560" cy="82296"/>
          </a:xfrm>
          <a:prstGeom prst="rect">
            <a:avLst/>
          </a:prstGeom>
          <a:solidFill>
            <a:srgbClr val="85BB2F"/>
          </a:solidFill>
          <a:ln/>
        </p:spPr>
      </p:sp>
      <p:sp>
        <p:nvSpPr>
          <p:cNvPr id="24" name="Text 22"/>
          <p:cNvSpPr txBox="1"/>
          <p:nvPr/>
        </p:nvSpPr>
        <p:spPr>
          <a:xfrm>
            <a:off x="731520" y="7543800"/>
            <a:ext cx="4389120" cy="3108960"/>
          </a:xfrm>
          <a:prstGeom prst="rect">
            <a:avLst/>
          </a:prstGeom>
          <a:noFill/>
          <a:ln/>
        </p:spPr>
        <p:txBody>
          <a:bodyPr wrap="square" lIns="0" tIns="0" rIns="0" bIns="0" rtlCol="0" anchor="t"/>
          <a:lstStyle/>
          <a:p>
            <a:pPr indent="0" marL="0">
              <a:lnSpc>
                <a:spcPct val="100000"/>
              </a:lnSpc>
              <a:buNone/>
            </a:pPr>
            <a:r>
              <a:rPr lang="en-US" sz="1250" b="1" i="1" dirty="0">
                <a:solidFill>
                  <a:srgbClr val="222222"/>
                </a:solidFill>
                <a:latin typeface="Calibri" pitchFamily="34" charset="0"/>
                <a:ea typeface="Calibri" pitchFamily="34" charset="-122"/>
                <a:cs typeface="Calibri" pitchFamily="34" charset="-120"/>
              </a:rPr>
              <a:t>Attitude in public</a:t>
            </a:r>
            <a:endParaRPr lang="en-US" sz="1250" dirty="0"/>
          </a:p>
          <a:p>
            <a:pPr indent="0" marL="0">
              <a:lnSpc>
                <a:spcPct val="100000"/>
              </a:lnSpc>
              <a:buNone/>
            </a:pPr>
            <a:r>
              <a:rPr lang="en-US" sz="1250" i="1" dirty="0">
                <a:solidFill>
                  <a:srgbClr val="5C6B63"/>
                </a:solidFill>
                <a:latin typeface="Calibri" pitchFamily="34" charset="0"/>
                <a:ea typeface="Calibri" pitchFamily="34" charset="-122"/>
                <a:cs typeface="Calibri" pitchFamily="34" charset="-120"/>
              </a:rPr>
              <a:t>To confirm in interview</a:t>
            </a:r>
            <a:pPr indent="0" marL="0">
              <a:lnSpc>
                <a:spcPct val="100000"/>
              </a:lnSpc>
              <a:buNone/>
            </a:pPr>
            <a:endParaRPr lang="en-US" sz="1250" dirty="0"/>
          </a:p>
          <a:p>
            <a:pPr indent="0" marL="0">
              <a:lnSpc>
                <a:spcPct val="100000"/>
              </a:lnSpc>
              <a:buNone/>
            </a:pPr>
            <a:r>
              <a:rPr lang="en-US" sz="500" dirty="0">
                <a:solidFill>
                  <a:srgbClr val="1F2A24"/>
                </a:solidFill>
                <a:latin typeface="Calibri" pitchFamily="34" charset="0"/>
                <a:ea typeface="Calibri" pitchFamily="34" charset="-122"/>
                <a:cs typeface="Calibri" pitchFamily="34" charset="-120"/>
              </a:rPr>
              <a:t> </a:t>
            </a:r>
            <a:endParaRPr lang="en-US" sz="1250" dirty="0"/>
          </a:p>
          <a:p>
            <a:pPr indent="0" marL="0">
              <a:lnSpc>
                <a:spcPct val="100000"/>
              </a:lnSpc>
              <a:buNone/>
            </a:pPr>
            <a:r>
              <a:rPr lang="en-US" sz="1250" b="1" i="1" dirty="0">
                <a:solidFill>
                  <a:srgbClr val="222222"/>
                </a:solidFill>
                <a:latin typeface="Calibri" pitchFamily="34" charset="0"/>
                <a:ea typeface="Calibri" pitchFamily="34" charset="-122"/>
                <a:cs typeface="Calibri" pitchFamily="34" charset="-120"/>
              </a:rPr>
              <a:t>Behaviour towards others</a:t>
            </a:r>
            <a:endParaRPr lang="en-US" sz="1250" dirty="0"/>
          </a:p>
          <a:p>
            <a:pPr indent="0" marL="0">
              <a:lnSpc>
                <a:spcPct val="100000"/>
              </a:lnSpc>
              <a:buNone/>
            </a:pPr>
            <a:r>
              <a:rPr lang="en-US" sz="1250" i="1" dirty="0">
                <a:solidFill>
                  <a:srgbClr val="5C6B63"/>
                </a:solidFill>
                <a:latin typeface="Calibri" pitchFamily="34" charset="0"/>
                <a:ea typeface="Calibri" pitchFamily="34" charset="-122"/>
                <a:cs typeface="Calibri" pitchFamily="34" charset="-120"/>
              </a:rPr>
              <a:t>To confirm in interview</a:t>
            </a:r>
            <a:pPr indent="0" marL="0">
              <a:lnSpc>
                <a:spcPct val="100000"/>
              </a:lnSpc>
              <a:buNone/>
            </a:pPr>
            <a:endParaRPr lang="en-US" sz="1250" dirty="0"/>
          </a:p>
          <a:p>
            <a:pPr indent="0" marL="0">
              <a:lnSpc>
                <a:spcPct val="100000"/>
              </a:lnSpc>
              <a:buNone/>
            </a:pPr>
            <a:r>
              <a:rPr lang="en-US" sz="500" dirty="0">
                <a:solidFill>
                  <a:srgbClr val="1F2A24"/>
                </a:solidFill>
                <a:latin typeface="Calibri" pitchFamily="34" charset="0"/>
                <a:ea typeface="Calibri" pitchFamily="34" charset="-122"/>
                <a:cs typeface="Calibri" pitchFamily="34" charset="-120"/>
              </a:rPr>
              <a:t> </a:t>
            </a:r>
            <a:endParaRPr lang="en-US" sz="1250" dirty="0"/>
          </a:p>
          <a:p>
            <a:pPr indent="0" marL="0">
              <a:lnSpc>
                <a:spcPct val="100000"/>
              </a:lnSpc>
              <a:buNone/>
            </a:pPr>
            <a:r>
              <a:rPr lang="en-US" sz="1250" b="1" i="1" dirty="0">
                <a:solidFill>
                  <a:srgbClr val="222222"/>
                </a:solidFill>
                <a:latin typeface="Calibri" pitchFamily="34" charset="0"/>
                <a:ea typeface="Calibri" pitchFamily="34" charset="-122"/>
                <a:cs typeface="Calibri" pitchFamily="34" charset="-120"/>
              </a:rPr>
              <a:t>Measures of success</a:t>
            </a:r>
            <a:endParaRPr lang="en-US" sz="1250" dirty="0"/>
          </a:p>
          <a:p>
            <a:pPr indent="0" marL="0">
              <a:lnSpc>
                <a:spcPct val="100000"/>
              </a:lnSpc>
              <a:buNone/>
            </a:pPr>
            <a:r>
              <a:rPr lang="en-US" sz="1250" b="1" dirty="0">
                <a:solidFill>
                  <a:srgbClr val="A85A00"/>
                </a:solidFill>
                <a:latin typeface="Calibri" pitchFamily="34" charset="0"/>
                <a:ea typeface="Calibri" pitchFamily="34" charset="-122"/>
                <a:cs typeface="Calibri" pitchFamily="34" charset="-120"/>
              </a:rPr>
              <a:t>Hyp  </a:t>
            </a:r>
            <a:pPr indent="0" marL="0">
              <a:lnSpc>
                <a:spcPct val="100000"/>
              </a:lnSpc>
              <a:buNone/>
            </a:pPr>
            <a:r>
              <a:rPr lang="en-US" sz="1250" dirty="0">
                <a:solidFill>
                  <a:srgbClr val="1F2A24"/>
                </a:solidFill>
                <a:latin typeface="Calibri" pitchFamily="34" charset="0"/>
                <a:ea typeface="Calibri" pitchFamily="34" charset="-122"/>
                <a:cs typeface="Calibri" pitchFamily="34" charset="-120"/>
              </a:rPr>
              <a:t>Steady readings at check-ups; sticking to her low-sodium rule.</a:t>
            </a:r>
            <a:pPr indent="0" marL="0">
              <a:lnSpc>
                <a:spcPct val="100000"/>
              </a:lnSpc>
              <a:buNone/>
            </a:pPr>
            <a:endParaRPr lang="en-US" sz="1250" dirty="0"/>
          </a:p>
          <a:p>
            <a:pPr indent="0" marL="0">
              <a:lnSpc>
                <a:spcPct val="100000"/>
              </a:lnSpc>
              <a:buNone/>
            </a:pPr>
            <a:r>
              <a:rPr lang="en-US" sz="500" dirty="0">
                <a:solidFill>
                  <a:srgbClr val="1F2A24"/>
                </a:solidFill>
                <a:latin typeface="Calibri" pitchFamily="34" charset="0"/>
                <a:ea typeface="Calibri" pitchFamily="34" charset="-122"/>
                <a:cs typeface="Calibri" pitchFamily="34" charset="-120"/>
              </a:rPr>
              <a:t> </a:t>
            </a:r>
            <a:endParaRPr lang="en-US" sz="1250" dirty="0"/>
          </a:p>
        </p:txBody>
      </p:sp>
      <p:sp>
        <p:nvSpPr>
          <p:cNvPr id="25" name="Text 23"/>
          <p:cNvSpPr txBox="1"/>
          <p:nvPr/>
        </p:nvSpPr>
        <p:spPr>
          <a:xfrm>
            <a:off x="731520" y="10104120"/>
            <a:ext cx="12344400" cy="274320"/>
          </a:xfrm>
          <a:prstGeom prst="rect">
            <a:avLst/>
          </a:prstGeom>
          <a:noFill/>
          <a:ln/>
        </p:spPr>
        <p:txBody>
          <a:bodyPr wrap="square" lIns="0" tIns="0" rIns="0" bIns="0" rtlCol="0" anchor="t"/>
          <a:lstStyle/>
          <a:p>
            <a:pPr indent="0" marL="0">
              <a:buNone/>
            </a:pPr>
            <a:r>
              <a:rPr lang="en-US" sz="1100" i="1" dirty="0">
                <a:solidFill>
                  <a:srgbClr val="5C6B63"/>
                </a:solidFill>
                <a:latin typeface="Calibri" pitchFamily="34" charset="0"/>
                <a:ea typeface="Calibri" pitchFamily="34" charset="-122"/>
                <a:cs typeface="Calibri" pitchFamily="34" charset="-120"/>
              </a:rPr>
              <a:t>Composite persona built from desk research (Kenya STEPS 2015; NUT-04 persona profiles). Not an interviewed person. Replace every Hyp and To-confirm item after the interviews.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 Sketch: Grace N. (composite persona)</dc:title>
  <dc:subject>PptxGenJS Presentation</dc:subject>
  <dc:creator>PptxGenJS</dc:creator>
  <cp:lastModifiedBy>PptxGenJS</cp:lastModifiedBy>
  <cp:revision>1</cp:revision>
  <dcterms:created xsi:type="dcterms:W3CDTF">2026-09-18T21:55:54Z</dcterms:created>
  <dcterms:modified xsi:type="dcterms:W3CDTF">2026-09-18T21:55:54Z</dcterms:modified>
</cp:coreProperties>
</file>