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Before we asked anyone anything, we held one belief: in Kenya’s online grocery aisles, nutrition information disappears at exactly the moment people choose.
THE CORE ARGUMENT
1. This slide covers Assignment 1 sections 1 to 3 in one view: the venture in a single sentence, the problem we believed existed before any interview, and the user we think feels it most.
2. Everything in the three tiles is desk evidence: Food-EPI 2020 (no Kenyan online retailer shows front-of-pack signals), our June 2026 scan (no extension scores Kenyan grocery sites) and STEPS 2015 (23.8% raised blood pressure). It makes the hypothesis plausible; it does not validate it, which is why the assignment demands direct user evidence.
3. The primary user is deliberately broad and diagnosis-free. Assignment 1 excludes personally identifiable or sensitive health information, and Assignment 2 is where we narrow the user.
THE TRANSITION
A hypothesis only helps if we can say what would prove it wrong, so next we name the three assumptions we must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Three sentences on this slide can each sink the venture if they turn out to be false.
THE CORE ARGUMENT
1. We chose the assumptions that are both most uncertain and most costly if wrong: whether the need exists at the cart, whether today’s workarounds really fall short, and whether people shop where a browser tool can reach them.
2. Each has a “wrong if” statement, so an interview can genuinely disconfirm it. The aim is to find out, not to be proven right.
3. The questions come straight from the assignment’s interview guidance. We never demo or mention the tool, because pitching contaminates the evidence.
THE TRANSITION
Now the evidence itself: what real shoppers do, what frustrates them, and how they cope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This is the one slide only real people can fill in, and we have deliberately left it empty until they do.
THE CORE ARGUMENT
1. The grid mirrors the assignment: what participants do, what frustrates them, how often it happens and what it costs, and how they cope today, for at least three people.
2. The strongest quote must be verbatim: one sentence in the participant’s own words that captures the problem, anonymised as P1 to P3 with no names and no diagnoses.
3. Desk research cannot stand in for interviews. Filling these boxes with plausible-sounding content would defeat the purpose of the assignment.
THE TRANSITION
With the evidence in, we score each assumption and make the call.
BEFORE PRESENTING: replace every orange dashed box with real interview evidence, then delete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Validation is a decision, not a feeling, so we fix the rule before the data comes in.
THE CORE ARGUMENT
1. Validated means at least two of three participants describe the problem unprompted, recently, with a real cost. Partially validated means it is real but narrower than we assumed. Not validated means few feel it or care enough to act.
2. The scorecard ties the decision back to the three assumptions, so the verdict cannot drift away from the evidence.
3. The revised problem statement starts from a working draft sharpened by desk evidence and is rewritten in participants’ words. The final reflection answers one question: do we continue as defined?
THE TRANSITION
If the problem holds, in whole or in part, the next question is who exactly we should serve first. That is Assignment 2.
BEFORE PRESENTING: tick one decision option, complete the scorecard, and replace the orange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1 · PROBLEM VALIDATION · SECTIONS 1–3</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Our hypothesis: Kenyan online shoppers choose blind on sugar, salt and fat</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Sources: Food-EPI Kenya 2020; internal competitive scan EV-004 (June 2026); ATNi / EAMA Kenya Market Assessment 2025; Kenya STEPS Survey 2015.</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1 / 4</a:t>
            </a:r>
            <a:endParaRPr lang="en-US" sz="900" dirty="0"/>
          </a:p>
        </p:txBody>
      </p:sp>
      <p:sp>
        <p:nvSpPr>
          <p:cNvPr id="12" name="Shape 10"/>
          <p:cNvSpPr/>
          <p:nvPr/>
        </p:nvSpPr>
        <p:spPr>
          <a:xfrm>
            <a:off x="548640" y="1508760"/>
            <a:ext cx="3749040" cy="4572000"/>
          </a:xfrm>
          <a:prstGeom prst="roundRect">
            <a:avLst>
              <a:gd name="adj" fmla="val 1951"/>
            </a:avLst>
          </a:prstGeom>
          <a:solidFill>
            <a:srgbClr val="154B36"/>
          </a:solidFill>
          <a:ln/>
        </p:spPr>
      </p:sp>
      <p:sp>
        <p:nvSpPr>
          <p:cNvPr id="13" name="Text 11"/>
          <p:cNvSpPr txBox="1"/>
          <p:nvPr/>
        </p:nvSpPr>
        <p:spPr>
          <a:xfrm>
            <a:off x="822960" y="1783080"/>
            <a:ext cx="32004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1 · VENTURE IDEA</a:t>
            </a:r>
            <a:endParaRPr lang="en-US" sz="1000" dirty="0"/>
          </a:p>
        </p:txBody>
      </p:sp>
      <p:sp>
        <p:nvSpPr>
          <p:cNvPr id="14" name="Text 12"/>
          <p:cNvSpPr txBox="1"/>
          <p:nvPr/>
        </p:nvSpPr>
        <p:spPr>
          <a:xfrm>
            <a:off x="822960" y="2103120"/>
            <a:ext cx="3200400" cy="2377440"/>
          </a:xfrm>
          <a:prstGeom prst="rect">
            <a:avLst/>
          </a:prstGeom>
          <a:noFill/>
          <a:ln/>
        </p:spPr>
        <p:txBody>
          <a:bodyPr wrap="square" lIns="0" tIns="0" rIns="0" bIns="0" rtlCol="0" anchor="t"/>
          <a:lstStyle/>
          <a:p>
            <a:pPr indent="0" marL="0">
              <a:lnSpc>
                <a:spcPct val="110000"/>
              </a:lnSpc>
              <a:buNone/>
            </a:pPr>
            <a:r>
              <a:rPr lang="en-US" sz="1700" dirty="0">
                <a:solidFill>
                  <a:srgbClr val="FFFFFF"/>
                </a:solidFill>
                <a:latin typeface="Cambria" pitchFamily="34" charset="0"/>
                <a:ea typeface="Cambria" pitchFamily="34" charset="-122"/>
                <a:cs typeface="Cambria" pitchFamily="34" charset="-120"/>
              </a:rPr>
              <a:t>A Chrome extension that shows a Nutri-Score grade and condition-specific warnings beside products on Naivas Online and Carrefour Kenya, so shoppers see nutrition quality before they pay.</a:t>
            </a:r>
            <a:endParaRPr lang="en-US" sz="1700" dirty="0"/>
          </a:p>
        </p:txBody>
      </p:sp>
      <p:sp>
        <p:nvSpPr>
          <p:cNvPr id="15" name="Shape 13"/>
          <p:cNvSpPr/>
          <p:nvPr/>
        </p:nvSpPr>
        <p:spPr>
          <a:xfrm>
            <a:off x="822960" y="4754880"/>
            <a:ext cx="530352" cy="530352"/>
          </a:xfrm>
          <a:prstGeom prst="roundRect">
            <a:avLst>
              <a:gd name="adj" fmla="val 17241"/>
            </a:avLst>
          </a:prstGeom>
          <a:solidFill>
            <a:srgbClr val="038141"/>
          </a:solidFill>
          <a:ln/>
        </p:spPr>
      </p:sp>
      <p:sp>
        <p:nvSpPr>
          <p:cNvPr id="16" name="Text 14"/>
          <p:cNvSpPr txBox="1"/>
          <p:nvPr/>
        </p:nvSpPr>
        <p:spPr>
          <a:xfrm>
            <a:off x="822960" y="4754880"/>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Cambria" pitchFamily="34" charset="0"/>
                <a:ea typeface="Cambria" pitchFamily="34" charset="-122"/>
                <a:cs typeface="Cambria" pitchFamily="34" charset="-120"/>
              </a:rPr>
              <a:t>A</a:t>
            </a:r>
            <a:endParaRPr lang="en-US" sz="1972" dirty="0"/>
          </a:p>
        </p:txBody>
      </p:sp>
      <p:sp>
        <p:nvSpPr>
          <p:cNvPr id="17" name="Shape 15"/>
          <p:cNvSpPr/>
          <p:nvPr/>
        </p:nvSpPr>
        <p:spPr>
          <a:xfrm>
            <a:off x="1444752" y="4754880"/>
            <a:ext cx="530352" cy="530352"/>
          </a:xfrm>
          <a:prstGeom prst="roundRect">
            <a:avLst>
              <a:gd name="adj" fmla="val 17241"/>
            </a:avLst>
          </a:prstGeom>
          <a:solidFill>
            <a:srgbClr val="85BB2F"/>
          </a:solidFill>
          <a:ln/>
        </p:spPr>
      </p:sp>
      <p:sp>
        <p:nvSpPr>
          <p:cNvPr id="18" name="Text 16"/>
          <p:cNvSpPr txBox="1"/>
          <p:nvPr/>
        </p:nvSpPr>
        <p:spPr>
          <a:xfrm>
            <a:off x="1444752" y="4754880"/>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Cambria" pitchFamily="34" charset="0"/>
                <a:ea typeface="Cambria" pitchFamily="34" charset="-122"/>
                <a:cs typeface="Cambria" pitchFamily="34" charset="-120"/>
              </a:rPr>
              <a:t>B</a:t>
            </a:r>
            <a:endParaRPr lang="en-US" sz="1972" dirty="0"/>
          </a:p>
        </p:txBody>
      </p:sp>
      <p:sp>
        <p:nvSpPr>
          <p:cNvPr id="19" name="Shape 17"/>
          <p:cNvSpPr/>
          <p:nvPr/>
        </p:nvSpPr>
        <p:spPr>
          <a:xfrm>
            <a:off x="2066544" y="4754880"/>
            <a:ext cx="530352" cy="530352"/>
          </a:xfrm>
          <a:prstGeom prst="roundRect">
            <a:avLst>
              <a:gd name="adj" fmla="val 17241"/>
            </a:avLst>
          </a:prstGeom>
          <a:solidFill>
            <a:srgbClr val="FECB02"/>
          </a:solidFill>
          <a:ln/>
        </p:spPr>
      </p:sp>
      <p:sp>
        <p:nvSpPr>
          <p:cNvPr id="20" name="Text 18"/>
          <p:cNvSpPr txBox="1"/>
          <p:nvPr/>
        </p:nvSpPr>
        <p:spPr>
          <a:xfrm>
            <a:off x="2066544" y="4754880"/>
            <a:ext cx="530352" cy="530352"/>
          </a:xfrm>
          <a:prstGeom prst="rect">
            <a:avLst/>
          </a:prstGeom>
          <a:noFill/>
          <a:ln/>
        </p:spPr>
        <p:txBody>
          <a:bodyPr wrap="square" lIns="0" tIns="0" rIns="0" bIns="0" rtlCol="0" anchor="ctr"/>
          <a:lstStyle/>
          <a:p>
            <a:pPr algn="ctr" indent="0" marL="0">
              <a:buNone/>
            </a:pPr>
            <a:r>
              <a:rPr lang="en-US" sz="1972" b="1" dirty="0">
                <a:solidFill>
                  <a:srgbClr val="1F2A24"/>
                </a:solidFill>
                <a:latin typeface="Cambria" pitchFamily="34" charset="0"/>
                <a:ea typeface="Cambria" pitchFamily="34" charset="-122"/>
                <a:cs typeface="Cambria" pitchFamily="34" charset="-120"/>
              </a:rPr>
              <a:t>C</a:t>
            </a:r>
            <a:endParaRPr lang="en-US" sz="1972" dirty="0"/>
          </a:p>
        </p:txBody>
      </p:sp>
      <p:sp>
        <p:nvSpPr>
          <p:cNvPr id="21" name="Shape 19"/>
          <p:cNvSpPr/>
          <p:nvPr/>
        </p:nvSpPr>
        <p:spPr>
          <a:xfrm>
            <a:off x="2688336" y="4754880"/>
            <a:ext cx="530352" cy="530352"/>
          </a:xfrm>
          <a:prstGeom prst="roundRect">
            <a:avLst>
              <a:gd name="adj" fmla="val 17241"/>
            </a:avLst>
          </a:prstGeom>
          <a:solidFill>
            <a:srgbClr val="EE8100"/>
          </a:solidFill>
          <a:ln/>
        </p:spPr>
      </p:sp>
      <p:sp>
        <p:nvSpPr>
          <p:cNvPr id="22" name="Text 20"/>
          <p:cNvSpPr txBox="1"/>
          <p:nvPr/>
        </p:nvSpPr>
        <p:spPr>
          <a:xfrm>
            <a:off x="2688336" y="4754880"/>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Cambria" pitchFamily="34" charset="0"/>
                <a:ea typeface="Cambria" pitchFamily="34" charset="-122"/>
                <a:cs typeface="Cambria" pitchFamily="34" charset="-120"/>
              </a:rPr>
              <a:t>D</a:t>
            </a:r>
            <a:endParaRPr lang="en-US" sz="1972" dirty="0"/>
          </a:p>
        </p:txBody>
      </p:sp>
      <p:sp>
        <p:nvSpPr>
          <p:cNvPr id="23" name="Shape 21"/>
          <p:cNvSpPr/>
          <p:nvPr/>
        </p:nvSpPr>
        <p:spPr>
          <a:xfrm>
            <a:off x="3310128" y="4754880"/>
            <a:ext cx="530352" cy="530352"/>
          </a:xfrm>
          <a:prstGeom prst="roundRect">
            <a:avLst>
              <a:gd name="adj" fmla="val 17241"/>
            </a:avLst>
          </a:prstGeom>
          <a:solidFill>
            <a:srgbClr val="E63E11"/>
          </a:solidFill>
          <a:ln/>
        </p:spPr>
      </p:sp>
      <p:sp>
        <p:nvSpPr>
          <p:cNvPr id="24" name="Text 22"/>
          <p:cNvSpPr txBox="1"/>
          <p:nvPr/>
        </p:nvSpPr>
        <p:spPr>
          <a:xfrm>
            <a:off x="3310128" y="4754880"/>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Cambria" pitchFamily="34" charset="0"/>
                <a:ea typeface="Cambria" pitchFamily="34" charset="-122"/>
                <a:cs typeface="Cambria" pitchFamily="34" charset="-120"/>
              </a:rPr>
              <a:t>E</a:t>
            </a:r>
            <a:endParaRPr lang="en-US" sz="1972" dirty="0"/>
          </a:p>
        </p:txBody>
      </p:sp>
      <p:sp>
        <p:nvSpPr>
          <p:cNvPr id="25" name="Text 23"/>
          <p:cNvSpPr txBox="1"/>
          <p:nvPr/>
        </p:nvSpPr>
        <p:spPr>
          <a:xfrm>
            <a:off x="822960" y="5440680"/>
            <a:ext cx="3200400" cy="228600"/>
          </a:xfrm>
          <a:prstGeom prst="rect">
            <a:avLst/>
          </a:prstGeom>
          <a:noFill/>
          <a:ln/>
        </p:spPr>
        <p:txBody>
          <a:bodyPr wrap="square" lIns="0" tIns="0" rIns="0" bIns="0" rtlCol="0" anchor="t"/>
          <a:lstStyle/>
          <a:p>
            <a:pPr indent="0" marL="0">
              <a:buNone/>
            </a:pPr>
            <a:r>
              <a:rPr lang="en-US" sz="1000" dirty="0">
                <a:solidFill>
                  <a:srgbClr val="C9D5CE"/>
                </a:solidFill>
                <a:latin typeface="Calibri" pitchFamily="34" charset="0"/>
                <a:ea typeface="Calibri" pitchFamily="34" charset="-122"/>
                <a:cs typeface="Calibri" pitchFamily="34" charset="-120"/>
              </a:rPr>
              <a:t>Nutri-Score grade, rendered at the point of purchase</a:t>
            </a:r>
            <a:endParaRPr lang="en-US" sz="1000" dirty="0"/>
          </a:p>
        </p:txBody>
      </p:sp>
      <p:sp>
        <p:nvSpPr>
          <p:cNvPr id="26" name="Text 24"/>
          <p:cNvSpPr txBox="1"/>
          <p:nvPr/>
        </p:nvSpPr>
        <p:spPr>
          <a:xfrm>
            <a:off x="822960" y="5669280"/>
            <a:ext cx="3200400" cy="228600"/>
          </a:xfrm>
          <a:prstGeom prst="rect">
            <a:avLst/>
          </a:prstGeom>
          <a:noFill/>
          <a:ln/>
        </p:spPr>
        <p:txBody>
          <a:bodyPr wrap="square" lIns="0" tIns="0" rIns="0" bIns="0" rtlCol="0" anchor="t"/>
          <a:lstStyle/>
          <a:p>
            <a:pPr indent="0" marL="0">
              <a:buNone/>
            </a:pPr>
            <a:r>
              <a:rPr lang="en-US" sz="1000" dirty="0">
                <a:solidFill>
                  <a:srgbClr val="C9D5CE"/>
                </a:solidFill>
                <a:latin typeface="Calibri" pitchFamily="34" charset="0"/>
                <a:ea typeface="Calibri" pitchFamily="34" charset="-122"/>
                <a:cs typeface="Calibri" pitchFamily="34" charset="-120"/>
              </a:rPr>
              <a:t>Runs fully in the browser · 10,518 products · 2 retailers</a:t>
            </a:r>
            <a:endParaRPr lang="en-US" sz="1000" dirty="0"/>
          </a:p>
        </p:txBody>
      </p:sp>
      <p:sp>
        <p:nvSpPr>
          <p:cNvPr id="27" name="Shape 25"/>
          <p:cNvSpPr/>
          <p:nvPr/>
        </p:nvSpPr>
        <p:spPr>
          <a:xfrm>
            <a:off x="4572000" y="1508760"/>
            <a:ext cx="7068312" cy="1920240"/>
          </a:xfrm>
          <a:prstGeom prst="roundRect">
            <a:avLst>
              <a:gd name="adj" fmla="val 3810"/>
            </a:avLst>
          </a:prstGeom>
          <a:solidFill>
            <a:srgbClr val="FFFFFF"/>
          </a:solidFill>
          <a:ln w="9525">
            <a:solidFill>
              <a:srgbClr val="C9D5CE"/>
            </a:solidFill>
            <a:prstDash val="solid"/>
          </a:ln>
        </p:spPr>
      </p:sp>
      <p:sp>
        <p:nvSpPr>
          <p:cNvPr id="28" name="Text 26"/>
          <p:cNvSpPr txBox="1"/>
          <p:nvPr/>
        </p:nvSpPr>
        <p:spPr>
          <a:xfrm>
            <a:off x="4846320" y="1737360"/>
            <a:ext cx="658368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2 · PROBLEM HYPOTHESIS  (what we believed before any interview)</a:t>
            </a:r>
            <a:endParaRPr lang="en-US" sz="1000" dirty="0"/>
          </a:p>
        </p:txBody>
      </p:sp>
      <p:sp>
        <p:nvSpPr>
          <p:cNvPr id="29" name="Text 27"/>
          <p:cNvSpPr txBox="1"/>
          <p:nvPr/>
        </p:nvSpPr>
        <p:spPr>
          <a:xfrm>
            <a:off x="4846320" y="2029968"/>
            <a:ext cx="6519672" cy="1325880"/>
          </a:xfrm>
          <a:prstGeom prst="rect">
            <a:avLst/>
          </a:prstGeom>
          <a:noFill/>
          <a:ln/>
        </p:spPr>
        <p:txBody>
          <a:bodyPr wrap="square" lIns="0" tIns="0" rIns="0" bIns="0" rtlCol="0" anchor="t"/>
          <a:lstStyle/>
          <a:p>
            <a:pPr indent="0" marL="0">
              <a:lnSpc>
                <a:spcPct val="105000"/>
              </a:lnSpc>
              <a:buNone/>
            </a:pPr>
            <a:r>
              <a:rPr lang="en-US" sz="1350" dirty="0">
                <a:solidFill>
                  <a:srgbClr val="1F2A24"/>
                </a:solidFill>
                <a:latin typeface="Calibri" pitchFamily="34" charset="0"/>
                <a:ea typeface="Calibri" pitchFamily="34" charset="-122"/>
                <a:cs typeface="Calibri" pitchFamily="34" charset="-120"/>
              </a:rPr>
              <a:t>Shoppers who need to limit sugar, salt or fat cannot tell, at the moment they add an item to an online cart, whether it fits their limits. Kenyan retailers show no front-of-pack signal online, and on-pack labels are too incomplete to work it out: added sugar is not even a mandatory label field.</a:t>
            </a:r>
            <a:endParaRPr lang="en-US" sz="1350" dirty="0"/>
          </a:p>
        </p:txBody>
      </p:sp>
      <p:sp>
        <p:nvSpPr>
          <p:cNvPr id="30" name="Shape 28"/>
          <p:cNvSpPr/>
          <p:nvPr/>
        </p:nvSpPr>
        <p:spPr>
          <a:xfrm>
            <a:off x="4572000" y="3566160"/>
            <a:ext cx="7068312" cy="1188720"/>
          </a:xfrm>
          <a:prstGeom prst="roundRect">
            <a:avLst>
              <a:gd name="adj" fmla="val 6154"/>
            </a:avLst>
          </a:prstGeom>
          <a:solidFill>
            <a:srgbClr val="FFFFFF"/>
          </a:solidFill>
          <a:ln w="9525">
            <a:solidFill>
              <a:srgbClr val="C9D5CE"/>
            </a:solidFill>
            <a:prstDash val="solid"/>
          </a:ln>
        </p:spPr>
      </p:sp>
      <p:sp>
        <p:nvSpPr>
          <p:cNvPr id="31" name="Text 29"/>
          <p:cNvSpPr txBox="1"/>
          <p:nvPr/>
        </p:nvSpPr>
        <p:spPr>
          <a:xfrm>
            <a:off x="4846320" y="3767328"/>
            <a:ext cx="658368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3 · PRIMARY USER  (hypothesis)</a:t>
            </a:r>
            <a:endParaRPr lang="en-US" sz="1000" dirty="0"/>
          </a:p>
        </p:txBody>
      </p:sp>
      <p:sp>
        <p:nvSpPr>
          <p:cNvPr id="32" name="Text 30"/>
          <p:cNvSpPr txBox="1"/>
          <p:nvPr/>
        </p:nvSpPr>
        <p:spPr>
          <a:xfrm>
            <a:off x="4846320" y="4041648"/>
            <a:ext cx="6519672" cy="658368"/>
          </a:xfrm>
          <a:prstGeom prst="rect">
            <a:avLst/>
          </a:prstGeom>
          <a:noFill/>
          <a:ln/>
        </p:spPr>
        <p:txBody>
          <a:bodyPr wrap="square" lIns="0" tIns="0" rIns="0" bIns="0" rtlCol="0" anchor="t"/>
          <a:lstStyle/>
          <a:p>
            <a:pPr indent="0" marL="0">
              <a:lnSpc>
                <a:spcPct val="105000"/>
              </a:lnSpc>
              <a:buNone/>
            </a:pPr>
            <a:r>
              <a:rPr lang="en-US" sz="1350" dirty="0">
                <a:solidFill>
                  <a:srgbClr val="1F2A24"/>
                </a:solidFill>
                <a:latin typeface="Calibri" pitchFamily="34" charset="0"/>
                <a:ea typeface="Calibri" pitchFamily="34" charset="-122"/>
                <a:cs typeface="Calibri" pitchFamily="34" charset="-120"/>
              </a:rPr>
              <a:t>Adults who buy groceries online in Kenya (Naivas Online, Carrefour Kenya) and must or want to control sugar, salt or fat for health reasons, starting with people already advised to do so.</a:t>
            </a:r>
            <a:endParaRPr lang="en-US" sz="1350" dirty="0"/>
          </a:p>
        </p:txBody>
      </p:sp>
      <p:sp>
        <p:nvSpPr>
          <p:cNvPr id="33" name="Shape 31"/>
          <p:cNvSpPr/>
          <p:nvPr/>
        </p:nvSpPr>
        <p:spPr>
          <a:xfrm>
            <a:off x="4572000" y="4892040"/>
            <a:ext cx="2240280" cy="1188720"/>
          </a:xfrm>
          <a:prstGeom prst="roundRect">
            <a:avLst>
              <a:gd name="adj" fmla="val 6154"/>
            </a:avLst>
          </a:prstGeom>
          <a:solidFill>
            <a:srgbClr val="FFFFFF"/>
          </a:solidFill>
          <a:ln w="9525">
            <a:solidFill>
              <a:srgbClr val="C9D5CE"/>
            </a:solidFill>
            <a:prstDash val="solid"/>
          </a:ln>
        </p:spPr>
      </p:sp>
      <p:sp>
        <p:nvSpPr>
          <p:cNvPr id="34" name="Text 32"/>
          <p:cNvSpPr txBox="1"/>
          <p:nvPr/>
        </p:nvSpPr>
        <p:spPr>
          <a:xfrm>
            <a:off x="4736592" y="4956048"/>
            <a:ext cx="1920240" cy="502920"/>
          </a:xfrm>
          <a:prstGeom prst="rect">
            <a:avLst/>
          </a:prstGeom>
          <a:noFill/>
          <a:ln/>
        </p:spPr>
        <p:txBody>
          <a:bodyPr wrap="square" lIns="0" tIns="0" rIns="0" bIns="0" rtlCol="0" anchor="t"/>
          <a:lstStyle/>
          <a:p>
            <a:pPr indent="0" marL="0">
              <a:buNone/>
            </a:pPr>
            <a:r>
              <a:rPr lang="en-US" sz="3000" b="1" dirty="0">
                <a:solidFill>
                  <a:srgbClr val="A85A00"/>
                </a:solidFill>
                <a:latin typeface="Cambria" pitchFamily="34" charset="0"/>
                <a:ea typeface="Cambria" pitchFamily="34" charset="-122"/>
                <a:cs typeface="Cambria" pitchFamily="34" charset="-120"/>
              </a:rPr>
              <a:t>0</a:t>
            </a:r>
            <a:endParaRPr lang="en-US" sz="3000" dirty="0"/>
          </a:p>
        </p:txBody>
      </p:sp>
      <p:sp>
        <p:nvSpPr>
          <p:cNvPr id="35" name="Text 33"/>
          <p:cNvSpPr txBox="1"/>
          <p:nvPr/>
        </p:nvSpPr>
        <p:spPr>
          <a:xfrm>
            <a:off x="4736592" y="5468112"/>
            <a:ext cx="1938528" cy="566928"/>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Kenyan online retailers surface a front-of-pack nutrition signal (Food-EPI, 2020)</a:t>
            </a:r>
            <a:endParaRPr lang="en-US" sz="1000" dirty="0"/>
          </a:p>
        </p:txBody>
      </p:sp>
      <p:sp>
        <p:nvSpPr>
          <p:cNvPr id="36" name="Shape 34"/>
          <p:cNvSpPr/>
          <p:nvPr/>
        </p:nvSpPr>
        <p:spPr>
          <a:xfrm>
            <a:off x="6986016" y="4892040"/>
            <a:ext cx="2240280" cy="1188720"/>
          </a:xfrm>
          <a:prstGeom prst="roundRect">
            <a:avLst>
              <a:gd name="adj" fmla="val 6154"/>
            </a:avLst>
          </a:prstGeom>
          <a:solidFill>
            <a:srgbClr val="FFFFFF"/>
          </a:solidFill>
          <a:ln w="9525">
            <a:solidFill>
              <a:srgbClr val="C9D5CE"/>
            </a:solidFill>
            <a:prstDash val="solid"/>
          </a:ln>
        </p:spPr>
      </p:sp>
      <p:sp>
        <p:nvSpPr>
          <p:cNvPr id="37" name="Text 35"/>
          <p:cNvSpPr txBox="1"/>
          <p:nvPr/>
        </p:nvSpPr>
        <p:spPr>
          <a:xfrm>
            <a:off x="7150608" y="4956048"/>
            <a:ext cx="1920240" cy="502920"/>
          </a:xfrm>
          <a:prstGeom prst="rect">
            <a:avLst/>
          </a:prstGeom>
          <a:noFill/>
          <a:ln/>
        </p:spPr>
        <p:txBody>
          <a:bodyPr wrap="square" lIns="0" tIns="0" rIns="0" bIns="0" rtlCol="0" anchor="t"/>
          <a:lstStyle/>
          <a:p>
            <a:pPr indent="0" marL="0">
              <a:buNone/>
            </a:pPr>
            <a:r>
              <a:rPr lang="en-US" sz="3000" b="1" dirty="0">
                <a:solidFill>
                  <a:srgbClr val="A85A00"/>
                </a:solidFill>
                <a:latin typeface="Cambria" pitchFamily="34" charset="0"/>
                <a:ea typeface="Cambria" pitchFamily="34" charset="-122"/>
                <a:cs typeface="Cambria" pitchFamily="34" charset="-120"/>
              </a:rPr>
              <a:t>0</a:t>
            </a:r>
            <a:endParaRPr lang="en-US" sz="3000" dirty="0"/>
          </a:p>
        </p:txBody>
      </p:sp>
      <p:sp>
        <p:nvSpPr>
          <p:cNvPr id="38" name="Text 36"/>
          <p:cNvSpPr txBox="1"/>
          <p:nvPr/>
        </p:nvSpPr>
        <p:spPr>
          <a:xfrm>
            <a:off x="7150608" y="5468112"/>
            <a:ext cx="1938528" cy="566928"/>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Chrome extensions score Kenyan grocery sites (competitive scan, June 2026)</a:t>
            </a:r>
            <a:endParaRPr lang="en-US" sz="1000" dirty="0"/>
          </a:p>
        </p:txBody>
      </p:sp>
      <p:sp>
        <p:nvSpPr>
          <p:cNvPr id="39" name="Shape 37"/>
          <p:cNvSpPr/>
          <p:nvPr/>
        </p:nvSpPr>
        <p:spPr>
          <a:xfrm>
            <a:off x="9400032" y="4892040"/>
            <a:ext cx="2240280" cy="1188720"/>
          </a:xfrm>
          <a:prstGeom prst="roundRect">
            <a:avLst>
              <a:gd name="adj" fmla="val 6154"/>
            </a:avLst>
          </a:prstGeom>
          <a:solidFill>
            <a:srgbClr val="FFFFFF"/>
          </a:solidFill>
          <a:ln w="9525">
            <a:solidFill>
              <a:srgbClr val="C9D5CE"/>
            </a:solidFill>
            <a:prstDash val="solid"/>
          </a:ln>
        </p:spPr>
      </p:sp>
      <p:sp>
        <p:nvSpPr>
          <p:cNvPr id="40" name="Text 38"/>
          <p:cNvSpPr txBox="1"/>
          <p:nvPr/>
        </p:nvSpPr>
        <p:spPr>
          <a:xfrm>
            <a:off x="9564624" y="4956048"/>
            <a:ext cx="1920240" cy="502920"/>
          </a:xfrm>
          <a:prstGeom prst="rect">
            <a:avLst/>
          </a:prstGeom>
          <a:noFill/>
          <a:ln/>
        </p:spPr>
        <p:txBody>
          <a:bodyPr wrap="square" lIns="0" tIns="0" rIns="0" bIns="0" rtlCol="0" anchor="t"/>
          <a:lstStyle/>
          <a:p>
            <a:pPr indent="0" marL="0">
              <a:buNone/>
            </a:pPr>
            <a:r>
              <a:rPr lang="en-US" sz="3000" b="1" dirty="0">
                <a:solidFill>
                  <a:srgbClr val="A85A00"/>
                </a:solidFill>
                <a:latin typeface="Cambria" pitchFamily="34" charset="0"/>
                <a:ea typeface="Cambria" pitchFamily="34" charset="-122"/>
                <a:cs typeface="Cambria" pitchFamily="34" charset="-120"/>
              </a:rPr>
              <a:t>23.8%</a:t>
            </a:r>
            <a:endParaRPr lang="en-US" sz="3000" dirty="0"/>
          </a:p>
        </p:txBody>
      </p:sp>
      <p:sp>
        <p:nvSpPr>
          <p:cNvPr id="41" name="Text 39"/>
          <p:cNvSpPr txBox="1"/>
          <p:nvPr/>
        </p:nvSpPr>
        <p:spPr>
          <a:xfrm>
            <a:off x="9564624" y="5468112"/>
            <a:ext cx="1938528" cy="566928"/>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of Kenyan adults have raised blood pressure (STEPS 2015)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1 · PROBLEM VALIDATION · SECTION 4</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Three unproven beliefs decide whether this problem is real</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Interview questions follow the Assignment 1 guidance. None of them mentions or demonstrates the tool.</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2 / 4</a:t>
            </a:r>
            <a:endParaRPr lang="en-US" sz="900" dirty="0"/>
          </a:p>
        </p:txBody>
      </p:sp>
      <p:sp>
        <p:nvSpPr>
          <p:cNvPr id="12" name="Shape 10"/>
          <p:cNvSpPr/>
          <p:nvPr/>
        </p:nvSpPr>
        <p:spPr>
          <a:xfrm>
            <a:off x="548640" y="1508760"/>
            <a:ext cx="3566160" cy="3520440"/>
          </a:xfrm>
          <a:prstGeom prst="roundRect">
            <a:avLst>
              <a:gd name="adj" fmla="val 2078"/>
            </a:avLst>
          </a:prstGeom>
          <a:solidFill>
            <a:srgbClr val="FFFFFF"/>
          </a:solidFill>
          <a:ln w="9525">
            <a:solidFill>
              <a:srgbClr val="C9D5CE"/>
            </a:solidFill>
            <a:prstDash val="solid"/>
          </a:ln>
        </p:spPr>
      </p:sp>
      <p:sp>
        <p:nvSpPr>
          <p:cNvPr id="13" name="Shape 11"/>
          <p:cNvSpPr/>
          <p:nvPr/>
        </p:nvSpPr>
        <p:spPr>
          <a:xfrm>
            <a:off x="777240" y="1709928"/>
            <a:ext cx="457200" cy="457200"/>
          </a:xfrm>
          <a:prstGeom prst="ellipse">
            <a:avLst/>
          </a:prstGeom>
          <a:solidFill>
            <a:srgbClr val="154B36"/>
          </a:solidFill>
          <a:ln/>
        </p:spPr>
      </p:sp>
      <p:sp>
        <p:nvSpPr>
          <p:cNvPr id="14" name="Text 12"/>
          <p:cNvSpPr txBox="1"/>
          <p:nvPr/>
        </p:nvSpPr>
        <p:spPr>
          <a:xfrm>
            <a:off x="777240" y="1709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5" name="Text 13"/>
          <p:cNvSpPr txBox="1"/>
          <p:nvPr/>
        </p:nvSpPr>
        <p:spPr>
          <a:xfrm>
            <a:off x="1371600" y="1709928"/>
            <a:ext cx="2560320" cy="457200"/>
          </a:xfrm>
          <a:prstGeom prst="rect">
            <a:avLst/>
          </a:prstGeom>
          <a:noFill/>
          <a:ln/>
        </p:spPr>
        <p:txBody>
          <a:bodyPr wrap="square" lIns="0" tIns="0" rIns="0" bIns="0" rtlCol="0" anchor="ctr"/>
          <a:lstStyle/>
          <a:p>
            <a:pPr indent="0" marL="0">
              <a:buNone/>
            </a:pPr>
            <a:r>
              <a:rPr lang="en-US" sz="1500" b="1" dirty="0">
                <a:solidFill>
                  <a:srgbClr val="154B36"/>
                </a:solidFill>
                <a:latin typeface="Cambria" pitchFamily="34" charset="0"/>
                <a:ea typeface="Cambria" pitchFamily="34" charset="-122"/>
                <a:cs typeface="Cambria" pitchFamily="34" charset="-120"/>
              </a:rPr>
              <a:t>Need at the cart</a:t>
            </a:r>
            <a:endParaRPr lang="en-US" sz="1500" dirty="0"/>
          </a:p>
        </p:txBody>
      </p:sp>
      <p:sp>
        <p:nvSpPr>
          <p:cNvPr id="16" name="Text 14"/>
          <p:cNvSpPr txBox="1"/>
          <p:nvPr/>
        </p:nvSpPr>
        <p:spPr>
          <a:xfrm>
            <a:off x="777240" y="2377440"/>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WE BELIEVE</a:t>
            </a:r>
            <a:endParaRPr lang="en-US" sz="1000" dirty="0"/>
          </a:p>
        </p:txBody>
      </p:sp>
      <p:sp>
        <p:nvSpPr>
          <p:cNvPr id="17" name="Text 15"/>
          <p:cNvSpPr txBox="1"/>
          <p:nvPr/>
        </p:nvSpPr>
        <p:spPr>
          <a:xfrm>
            <a:off x="777240" y="2606040"/>
            <a:ext cx="3108960" cy="86868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At the cart, shoppers cannot tell whether a product fits their sugar, salt or fat limits.</a:t>
            </a:r>
            <a:endParaRPr lang="en-US" sz="1200" dirty="0"/>
          </a:p>
        </p:txBody>
      </p:sp>
      <p:sp>
        <p:nvSpPr>
          <p:cNvPr id="18" name="Text 16"/>
          <p:cNvSpPr txBox="1"/>
          <p:nvPr/>
        </p:nvSpPr>
        <p:spPr>
          <a:xfrm>
            <a:off x="777240" y="3493008"/>
            <a:ext cx="3108960" cy="201168"/>
          </a:xfrm>
          <a:prstGeom prst="rect">
            <a:avLst/>
          </a:prstGeom>
          <a:noFill/>
          <a:ln/>
        </p:spPr>
        <p:txBody>
          <a:bodyPr wrap="square" lIns="0" tIns="0" rIns="0" bIns="0" rtlCol="0" anchor="t"/>
          <a:lstStyle/>
          <a:p>
            <a:pPr indent="0" marL="0">
              <a:buNone/>
            </a:pPr>
            <a:r>
              <a:rPr lang="en-US" sz="1000" b="1" spc="150" kern="0" dirty="0">
                <a:solidFill>
                  <a:srgbClr val="E63E11"/>
                </a:solidFill>
                <a:latin typeface="Calibri" pitchFamily="34" charset="0"/>
                <a:ea typeface="Calibri" pitchFamily="34" charset="-122"/>
                <a:cs typeface="Calibri" pitchFamily="34" charset="-120"/>
              </a:rPr>
              <a:t>WRONG IF…</a:t>
            </a:r>
            <a:endParaRPr lang="en-US" sz="1000" dirty="0"/>
          </a:p>
        </p:txBody>
      </p:sp>
      <p:sp>
        <p:nvSpPr>
          <p:cNvPr id="19" name="Text 17"/>
          <p:cNvSpPr txBox="1"/>
          <p:nvPr/>
        </p:nvSpPr>
        <p:spPr>
          <a:xfrm>
            <a:off x="777240" y="3721608"/>
            <a:ext cx="3108960" cy="502920"/>
          </a:xfrm>
          <a:prstGeom prst="rect">
            <a:avLst/>
          </a:prstGeom>
          <a:noFill/>
          <a:ln/>
        </p:spPr>
        <p:txBody>
          <a:bodyPr wrap="square" lIns="0" tIns="0" rIns="0" bIns="0" rtlCol="0" anchor="t"/>
          <a:lstStyle/>
          <a:p>
            <a:pPr indent="0" marL="0">
              <a:buNone/>
            </a:pPr>
            <a:r>
              <a:rPr lang="en-US" sz="1150" dirty="0">
                <a:solidFill>
                  <a:srgbClr val="1F2A24"/>
                </a:solidFill>
                <a:latin typeface="Calibri" pitchFamily="34" charset="0"/>
                <a:ea typeface="Calibri" pitchFamily="34" charset="-122"/>
                <a:cs typeface="Calibri" pitchFamily="34" charset="-120"/>
              </a:rPr>
              <a:t>They already know what to buy, or they do not check nutrition when shopping online.</a:t>
            </a:r>
            <a:endParaRPr lang="en-US" sz="1150" dirty="0"/>
          </a:p>
        </p:txBody>
      </p:sp>
      <p:sp>
        <p:nvSpPr>
          <p:cNvPr id="20" name="Text 18"/>
          <p:cNvSpPr txBox="1"/>
          <p:nvPr/>
        </p:nvSpPr>
        <p:spPr>
          <a:xfrm>
            <a:off x="777240" y="4224528"/>
            <a:ext cx="3108960" cy="201168"/>
          </a:xfrm>
          <a:prstGeom prst="rect">
            <a:avLst/>
          </a:prstGeom>
          <a:noFill/>
          <a:ln/>
        </p:spPr>
        <p:txBody>
          <a:bodyPr wrap="square" lIns="0" tIns="0" rIns="0" bIns="0" rtlCol="0" anchor="t"/>
          <a:lstStyle/>
          <a:p>
            <a:pPr indent="0" marL="0">
              <a:buNone/>
            </a:pPr>
            <a:r>
              <a:rPr lang="en-US" sz="1000" b="1" spc="150" kern="0" dirty="0">
                <a:solidFill>
                  <a:srgbClr val="038141"/>
                </a:solidFill>
                <a:latin typeface="Calibri" pitchFamily="34" charset="0"/>
                <a:ea typeface="Calibri" pitchFamily="34" charset="-122"/>
                <a:cs typeface="Calibri" pitchFamily="34" charset="-120"/>
              </a:rPr>
              <a:t>ASK</a:t>
            </a:r>
            <a:endParaRPr lang="en-US" sz="1000" dirty="0"/>
          </a:p>
        </p:txBody>
      </p:sp>
      <p:sp>
        <p:nvSpPr>
          <p:cNvPr id="21" name="Text 19"/>
          <p:cNvSpPr txBox="1"/>
          <p:nvPr/>
        </p:nvSpPr>
        <p:spPr>
          <a:xfrm>
            <a:off x="777240" y="4443984"/>
            <a:ext cx="3108960" cy="548640"/>
          </a:xfrm>
          <a:prstGeom prst="rect">
            <a:avLst/>
          </a:prstGeom>
          <a:noFill/>
          <a:ln/>
        </p:spPr>
        <p:txBody>
          <a:bodyPr wrap="square" lIns="0" tIns="0" rIns="0" bIns="0" rtlCol="0" anchor="t"/>
          <a:lstStyle/>
          <a:p>
            <a:pPr indent="0" marL="0">
              <a:buNone/>
            </a:pPr>
            <a:r>
              <a:rPr lang="en-US" sz="1050" i="1" dirty="0">
                <a:solidFill>
                  <a:srgbClr val="5C6B63"/>
                </a:solidFill>
                <a:latin typeface="Calibri" pitchFamily="34" charset="0"/>
                <a:ea typeface="Calibri" pitchFamily="34" charset="-122"/>
                <a:cs typeface="Calibri" pitchFamily="34" charset="-120"/>
              </a:rPr>
              <a:t>“Tell me about the last time you did your grocery shop online. What happened?”</a:t>
            </a:r>
            <a:endParaRPr lang="en-US" sz="1050" dirty="0"/>
          </a:p>
        </p:txBody>
      </p:sp>
      <p:sp>
        <p:nvSpPr>
          <p:cNvPr id="22" name="Shape 20"/>
          <p:cNvSpPr/>
          <p:nvPr/>
        </p:nvSpPr>
        <p:spPr>
          <a:xfrm>
            <a:off x="4315968" y="1508760"/>
            <a:ext cx="3566160" cy="3520440"/>
          </a:xfrm>
          <a:prstGeom prst="roundRect">
            <a:avLst>
              <a:gd name="adj" fmla="val 2078"/>
            </a:avLst>
          </a:prstGeom>
          <a:solidFill>
            <a:srgbClr val="FFFFFF"/>
          </a:solidFill>
          <a:ln w="9525">
            <a:solidFill>
              <a:srgbClr val="C9D5CE"/>
            </a:solidFill>
            <a:prstDash val="solid"/>
          </a:ln>
        </p:spPr>
      </p:sp>
      <p:sp>
        <p:nvSpPr>
          <p:cNvPr id="23" name="Shape 21"/>
          <p:cNvSpPr/>
          <p:nvPr/>
        </p:nvSpPr>
        <p:spPr>
          <a:xfrm>
            <a:off x="4544568" y="1709928"/>
            <a:ext cx="457200" cy="457200"/>
          </a:xfrm>
          <a:prstGeom prst="ellipse">
            <a:avLst/>
          </a:prstGeom>
          <a:solidFill>
            <a:srgbClr val="154B36"/>
          </a:solidFill>
          <a:ln/>
        </p:spPr>
      </p:sp>
      <p:sp>
        <p:nvSpPr>
          <p:cNvPr id="24" name="Text 22"/>
          <p:cNvSpPr txBox="1"/>
          <p:nvPr/>
        </p:nvSpPr>
        <p:spPr>
          <a:xfrm>
            <a:off x="4544568" y="1709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5" name="Text 23"/>
          <p:cNvSpPr txBox="1"/>
          <p:nvPr/>
        </p:nvSpPr>
        <p:spPr>
          <a:xfrm>
            <a:off x="5138928" y="1709928"/>
            <a:ext cx="2560320" cy="457200"/>
          </a:xfrm>
          <a:prstGeom prst="rect">
            <a:avLst/>
          </a:prstGeom>
          <a:noFill/>
          <a:ln/>
        </p:spPr>
        <p:txBody>
          <a:bodyPr wrap="square" lIns="0" tIns="0" rIns="0" bIns="0" rtlCol="0" anchor="ctr"/>
          <a:lstStyle/>
          <a:p>
            <a:pPr indent="0" marL="0">
              <a:buNone/>
            </a:pPr>
            <a:r>
              <a:rPr lang="en-US" sz="1500" b="1" dirty="0">
                <a:solidFill>
                  <a:srgbClr val="154B36"/>
                </a:solidFill>
                <a:latin typeface="Cambria" pitchFamily="34" charset="0"/>
                <a:ea typeface="Cambria" pitchFamily="34" charset="-122"/>
                <a:cs typeface="Cambria" pitchFamily="34" charset="-120"/>
              </a:rPr>
              <a:t>Today’s fix falls short</a:t>
            </a:r>
            <a:endParaRPr lang="en-US" sz="1500" dirty="0"/>
          </a:p>
        </p:txBody>
      </p:sp>
      <p:sp>
        <p:nvSpPr>
          <p:cNvPr id="26" name="Text 24"/>
          <p:cNvSpPr txBox="1"/>
          <p:nvPr/>
        </p:nvSpPr>
        <p:spPr>
          <a:xfrm>
            <a:off x="4544568" y="2377440"/>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WE BELIEVE</a:t>
            </a:r>
            <a:endParaRPr lang="en-US" sz="1000" dirty="0"/>
          </a:p>
        </p:txBody>
      </p:sp>
      <p:sp>
        <p:nvSpPr>
          <p:cNvPr id="27" name="Text 25"/>
          <p:cNvSpPr txBox="1"/>
          <p:nvPr/>
        </p:nvSpPr>
        <p:spPr>
          <a:xfrm>
            <a:off x="4544568" y="2606040"/>
            <a:ext cx="3108960" cy="86868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Current workarounds (reading packs, memorised rules, asking others) cost time or stress and still lead to wrong choices.</a:t>
            </a:r>
            <a:endParaRPr lang="en-US" sz="1200" dirty="0"/>
          </a:p>
        </p:txBody>
      </p:sp>
      <p:sp>
        <p:nvSpPr>
          <p:cNvPr id="28" name="Text 26"/>
          <p:cNvSpPr txBox="1"/>
          <p:nvPr/>
        </p:nvSpPr>
        <p:spPr>
          <a:xfrm>
            <a:off x="4544568" y="3493008"/>
            <a:ext cx="3108960" cy="201168"/>
          </a:xfrm>
          <a:prstGeom prst="rect">
            <a:avLst/>
          </a:prstGeom>
          <a:noFill/>
          <a:ln/>
        </p:spPr>
        <p:txBody>
          <a:bodyPr wrap="square" lIns="0" tIns="0" rIns="0" bIns="0" rtlCol="0" anchor="t"/>
          <a:lstStyle/>
          <a:p>
            <a:pPr indent="0" marL="0">
              <a:buNone/>
            </a:pPr>
            <a:r>
              <a:rPr lang="en-US" sz="1000" b="1" spc="150" kern="0" dirty="0">
                <a:solidFill>
                  <a:srgbClr val="E63E11"/>
                </a:solidFill>
                <a:latin typeface="Calibri" pitchFamily="34" charset="0"/>
                <a:ea typeface="Calibri" pitchFamily="34" charset="-122"/>
                <a:cs typeface="Calibri" pitchFamily="34" charset="-120"/>
              </a:rPr>
              <a:t>WRONG IF…</a:t>
            </a:r>
            <a:endParaRPr lang="en-US" sz="1000" dirty="0"/>
          </a:p>
        </p:txBody>
      </p:sp>
      <p:sp>
        <p:nvSpPr>
          <p:cNvPr id="29" name="Text 27"/>
          <p:cNvSpPr txBox="1"/>
          <p:nvPr/>
        </p:nvSpPr>
        <p:spPr>
          <a:xfrm>
            <a:off x="4544568" y="3721608"/>
            <a:ext cx="3108960" cy="502920"/>
          </a:xfrm>
          <a:prstGeom prst="rect">
            <a:avLst/>
          </a:prstGeom>
          <a:noFill/>
          <a:ln/>
        </p:spPr>
        <p:txBody>
          <a:bodyPr wrap="square" lIns="0" tIns="0" rIns="0" bIns="0" rtlCol="0" anchor="t"/>
          <a:lstStyle/>
          <a:p>
            <a:pPr indent="0" marL="0">
              <a:buNone/>
            </a:pPr>
            <a:r>
              <a:rPr lang="en-US" sz="1150" dirty="0">
                <a:solidFill>
                  <a:srgbClr val="1F2A24"/>
                </a:solidFill>
                <a:latin typeface="Calibri" pitchFamily="34" charset="0"/>
                <a:ea typeface="Calibri" pitchFamily="34" charset="-122"/>
                <a:cs typeface="Calibri" pitchFamily="34" charset="-120"/>
              </a:rPr>
              <a:t>Their workaround is quick and reliable, and they are satisfied with it.</a:t>
            </a:r>
            <a:endParaRPr lang="en-US" sz="1150" dirty="0"/>
          </a:p>
        </p:txBody>
      </p:sp>
      <p:sp>
        <p:nvSpPr>
          <p:cNvPr id="30" name="Text 28"/>
          <p:cNvSpPr txBox="1"/>
          <p:nvPr/>
        </p:nvSpPr>
        <p:spPr>
          <a:xfrm>
            <a:off x="4544568" y="4224528"/>
            <a:ext cx="3108960" cy="201168"/>
          </a:xfrm>
          <a:prstGeom prst="rect">
            <a:avLst/>
          </a:prstGeom>
          <a:noFill/>
          <a:ln/>
        </p:spPr>
        <p:txBody>
          <a:bodyPr wrap="square" lIns="0" tIns="0" rIns="0" bIns="0" rtlCol="0" anchor="t"/>
          <a:lstStyle/>
          <a:p>
            <a:pPr indent="0" marL="0">
              <a:buNone/>
            </a:pPr>
            <a:r>
              <a:rPr lang="en-US" sz="1000" b="1" spc="150" kern="0" dirty="0">
                <a:solidFill>
                  <a:srgbClr val="038141"/>
                </a:solidFill>
                <a:latin typeface="Calibri" pitchFamily="34" charset="0"/>
                <a:ea typeface="Calibri" pitchFamily="34" charset="-122"/>
                <a:cs typeface="Calibri" pitchFamily="34" charset="-120"/>
              </a:rPr>
              <a:t>ASK</a:t>
            </a:r>
            <a:endParaRPr lang="en-US" sz="1000" dirty="0"/>
          </a:p>
        </p:txBody>
      </p:sp>
      <p:sp>
        <p:nvSpPr>
          <p:cNvPr id="31" name="Text 29"/>
          <p:cNvSpPr txBox="1"/>
          <p:nvPr/>
        </p:nvSpPr>
        <p:spPr>
          <a:xfrm>
            <a:off x="4544568" y="4443984"/>
            <a:ext cx="3108960" cy="548640"/>
          </a:xfrm>
          <a:prstGeom prst="rect">
            <a:avLst/>
          </a:prstGeom>
          <a:noFill/>
          <a:ln/>
        </p:spPr>
        <p:txBody>
          <a:bodyPr wrap="square" lIns="0" tIns="0" rIns="0" bIns="0" rtlCol="0" anchor="t"/>
          <a:lstStyle/>
          <a:p>
            <a:pPr indent="0" marL="0">
              <a:buNone/>
            </a:pPr>
            <a:r>
              <a:rPr lang="en-US" sz="1050" i="1" dirty="0">
                <a:solidFill>
                  <a:srgbClr val="5C6B63"/>
                </a:solidFill>
                <a:latin typeface="Calibri" pitchFamily="34" charset="0"/>
                <a:ea typeface="Calibri" pitchFamily="34" charset="-122"/>
                <a:cs typeface="Calibri" pitchFamily="34" charset="-120"/>
              </a:rPr>
              <a:t>“How are you dealing with it now? What does it cost you in time, money, effort or stress?”</a:t>
            </a:r>
            <a:endParaRPr lang="en-US" sz="1050" dirty="0"/>
          </a:p>
        </p:txBody>
      </p:sp>
      <p:sp>
        <p:nvSpPr>
          <p:cNvPr id="32" name="Shape 30"/>
          <p:cNvSpPr/>
          <p:nvPr/>
        </p:nvSpPr>
        <p:spPr>
          <a:xfrm>
            <a:off x="8083296" y="1508760"/>
            <a:ext cx="3566160" cy="3520440"/>
          </a:xfrm>
          <a:prstGeom prst="roundRect">
            <a:avLst>
              <a:gd name="adj" fmla="val 2078"/>
            </a:avLst>
          </a:prstGeom>
          <a:solidFill>
            <a:srgbClr val="FFFFFF"/>
          </a:solidFill>
          <a:ln w="9525">
            <a:solidFill>
              <a:srgbClr val="C9D5CE"/>
            </a:solidFill>
            <a:prstDash val="solid"/>
          </a:ln>
        </p:spPr>
      </p:sp>
      <p:sp>
        <p:nvSpPr>
          <p:cNvPr id="33" name="Shape 31"/>
          <p:cNvSpPr/>
          <p:nvPr/>
        </p:nvSpPr>
        <p:spPr>
          <a:xfrm>
            <a:off x="8311896" y="1709928"/>
            <a:ext cx="457200" cy="457200"/>
          </a:xfrm>
          <a:prstGeom prst="ellipse">
            <a:avLst/>
          </a:prstGeom>
          <a:solidFill>
            <a:srgbClr val="154B36"/>
          </a:solidFill>
          <a:ln/>
        </p:spPr>
      </p:sp>
      <p:sp>
        <p:nvSpPr>
          <p:cNvPr id="34" name="Text 32"/>
          <p:cNvSpPr txBox="1"/>
          <p:nvPr/>
        </p:nvSpPr>
        <p:spPr>
          <a:xfrm>
            <a:off x="8311896" y="17099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35" name="Text 33"/>
          <p:cNvSpPr txBox="1"/>
          <p:nvPr/>
        </p:nvSpPr>
        <p:spPr>
          <a:xfrm>
            <a:off x="8906256" y="1709928"/>
            <a:ext cx="2560320" cy="457200"/>
          </a:xfrm>
          <a:prstGeom prst="rect">
            <a:avLst/>
          </a:prstGeom>
          <a:noFill/>
          <a:ln/>
        </p:spPr>
        <p:txBody>
          <a:bodyPr wrap="square" lIns="0" tIns="0" rIns="0" bIns="0" rtlCol="0" anchor="ctr"/>
          <a:lstStyle/>
          <a:p>
            <a:pPr indent="0" marL="0">
              <a:buNone/>
            </a:pPr>
            <a:r>
              <a:rPr lang="en-US" sz="1500" b="1" dirty="0">
                <a:solidFill>
                  <a:srgbClr val="154B36"/>
                </a:solidFill>
                <a:latin typeface="Cambria" pitchFamily="34" charset="0"/>
                <a:ea typeface="Cambria" pitchFamily="34" charset="-122"/>
                <a:cs typeface="Cambria" pitchFamily="34" charset="-120"/>
              </a:rPr>
              <a:t>Channel and trust</a:t>
            </a:r>
            <a:endParaRPr lang="en-US" sz="1500" dirty="0"/>
          </a:p>
        </p:txBody>
      </p:sp>
      <p:sp>
        <p:nvSpPr>
          <p:cNvPr id="36" name="Text 34"/>
          <p:cNvSpPr txBox="1"/>
          <p:nvPr/>
        </p:nvSpPr>
        <p:spPr>
          <a:xfrm>
            <a:off x="8311896" y="2377440"/>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WE BELIEVE</a:t>
            </a:r>
            <a:endParaRPr lang="en-US" sz="1000" dirty="0"/>
          </a:p>
        </p:txBody>
      </p:sp>
      <p:sp>
        <p:nvSpPr>
          <p:cNvPr id="37" name="Text 35"/>
          <p:cNvSpPr txBox="1"/>
          <p:nvPr/>
        </p:nvSpPr>
        <p:spPr>
          <a:xfrm>
            <a:off x="8311896" y="2606040"/>
            <a:ext cx="3108960" cy="86868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They shop groceries in a desktop browser, not only in an app, and lean on outside sources to judge a food product.</a:t>
            </a:r>
            <a:endParaRPr lang="en-US" sz="1200" dirty="0"/>
          </a:p>
        </p:txBody>
      </p:sp>
      <p:sp>
        <p:nvSpPr>
          <p:cNvPr id="38" name="Text 36"/>
          <p:cNvSpPr txBox="1"/>
          <p:nvPr/>
        </p:nvSpPr>
        <p:spPr>
          <a:xfrm>
            <a:off x="8311896" y="3493008"/>
            <a:ext cx="3108960" cy="201168"/>
          </a:xfrm>
          <a:prstGeom prst="rect">
            <a:avLst/>
          </a:prstGeom>
          <a:noFill/>
          <a:ln/>
        </p:spPr>
        <p:txBody>
          <a:bodyPr wrap="square" lIns="0" tIns="0" rIns="0" bIns="0" rtlCol="0" anchor="t"/>
          <a:lstStyle/>
          <a:p>
            <a:pPr indent="0" marL="0">
              <a:buNone/>
            </a:pPr>
            <a:r>
              <a:rPr lang="en-US" sz="1000" b="1" spc="150" kern="0" dirty="0">
                <a:solidFill>
                  <a:srgbClr val="E63E11"/>
                </a:solidFill>
                <a:latin typeface="Calibri" pitchFamily="34" charset="0"/>
                <a:ea typeface="Calibri" pitchFamily="34" charset="-122"/>
                <a:cs typeface="Calibri" pitchFamily="34" charset="-120"/>
              </a:rPr>
              <a:t>WRONG IF…</a:t>
            </a:r>
            <a:endParaRPr lang="en-US" sz="1000" dirty="0"/>
          </a:p>
        </p:txBody>
      </p:sp>
      <p:sp>
        <p:nvSpPr>
          <p:cNvPr id="39" name="Text 37"/>
          <p:cNvSpPr txBox="1"/>
          <p:nvPr/>
        </p:nvSpPr>
        <p:spPr>
          <a:xfrm>
            <a:off x="8311896" y="3721608"/>
            <a:ext cx="3108960" cy="502920"/>
          </a:xfrm>
          <a:prstGeom prst="rect">
            <a:avLst/>
          </a:prstGeom>
          <a:noFill/>
          <a:ln/>
        </p:spPr>
        <p:txBody>
          <a:bodyPr wrap="square" lIns="0" tIns="0" rIns="0" bIns="0" rtlCol="0" anchor="t"/>
          <a:lstStyle/>
          <a:p>
            <a:pPr indent="0" marL="0">
              <a:buNone/>
            </a:pPr>
            <a:r>
              <a:rPr lang="en-US" sz="1150" dirty="0">
                <a:solidFill>
                  <a:srgbClr val="1F2A24"/>
                </a:solidFill>
                <a:latin typeface="Calibri" pitchFamily="34" charset="0"/>
                <a:ea typeface="Calibri" pitchFamily="34" charset="-122"/>
                <a:cs typeface="Calibri" pitchFamily="34" charset="-120"/>
              </a:rPr>
              <a:t>They shop mostly in a retailer’s phone app, or trust only brand and pack claims.</a:t>
            </a:r>
            <a:endParaRPr lang="en-US" sz="1150" dirty="0"/>
          </a:p>
        </p:txBody>
      </p:sp>
      <p:sp>
        <p:nvSpPr>
          <p:cNvPr id="40" name="Text 38"/>
          <p:cNvSpPr txBox="1"/>
          <p:nvPr/>
        </p:nvSpPr>
        <p:spPr>
          <a:xfrm>
            <a:off x="8311896" y="4224528"/>
            <a:ext cx="3108960" cy="201168"/>
          </a:xfrm>
          <a:prstGeom prst="rect">
            <a:avLst/>
          </a:prstGeom>
          <a:noFill/>
          <a:ln/>
        </p:spPr>
        <p:txBody>
          <a:bodyPr wrap="square" lIns="0" tIns="0" rIns="0" bIns="0" rtlCol="0" anchor="t"/>
          <a:lstStyle/>
          <a:p>
            <a:pPr indent="0" marL="0">
              <a:buNone/>
            </a:pPr>
            <a:r>
              <a:rPr lang="en-US" sz="1000" b="1" spc="150" kern="0" dirty="0">
                <a:solidFill>
                  <a:srgbClr val="038141"/>
                </a:solidFill>
                <a:latin typeface="Calibri" pitchFamily="34" charset="0"/>
                <a:ea typeface="Calibri" pitchFamily="34" charset="-122"/>
                <a:cs typeface="Calibri" pitchFamily="34" charset="-120"/>
              </a:rPr>
              <a:t>ASK</a:t>
            </a:r>
            <a:endParaRPr lang="en-US" sz="1000" dirty="0"/>
          </a:p>
        </p:txBody>
      </p:sp>
      <p:sp>
        <p:nvSpPr>
          <p:cNvPr id="41" name="Text 39"/>
          <p:cNvSpPr txBox="1"/>
          <p:nvPr/>
        </p:nvSpPr>
        <p:spPr>
          <a:xfrm>
            <a:off x="8311896" y="4443984"/>
            <a:ext cx="3108960" cy="548640"/>
          </a:xfrm>
          <a:prstGeom prst="rect">
            <a:avLst/>
          </a:prstGeom>
          <a:noFill/>
          <a:ln/>
        </p:spPr>
        <p:txBody>
          <a:bodyPr wrap="square" lIns="0" tIns="0" rIns="0" bIns="0" rtlCol="0" anchor="t"/>
          <a:lstStyle/>
          <a:p>
            <a:pPr indent="0" marL="0">
              <a:buNone/>
            </a:pPr>
            <a:r>
              <a:rPr lang="en-US" sz="1050" i="1" dirty="0">
                <a:solidFill>
                  <a:srgbClr val="5C6B63"/>
                </a:solidFill>
                <a:latin typeface="Calibri" pitchFamily="34" charset="0"/>
                <a:ea typeface="Calibri" pitchFamily="34" charset="-122"/>
                <a:cs typeface="Calibri" pitchFamily="34" charset="-120"/>
              </a:rPr>
              <a:t>“Which device and site or app do you use? How do you decide what to trust about a food product?”</a:t>
            </a:r>
            <a:endParaRPr lang="en-US" sz="1050" dirty="0"/>
          </a:p>
        </p:txBody>
      </p:sp>
      <p:sp>
        <p:nvSpPr>
          <p:cNvPr id="42" name="Shape 40"/>
          <p:cNvSpPr/>
          <p:nvPr/>
        </p:nvSpPr>
        <p:spPr>
          <a:xfrm>
            <a:off x="548640" y="5193792"/>
            <a:ext cx="11091672" cy="896112"/>
          </a:xfrm>
          <a:prstGeom prst="roundRect">
            <a:avLst>
              <a:gd name="adj" fmla="val 8163"/>
            </a:avLst>
          </a:prstGeom>
          <a:solidFill>
            <a:srgbClr val="154B36"/>
          </a:solidFill>
          <a:ln/>
        </p:spPr>
      </p:sp>
      <p:sp>
        <p:nvSpPr>
          <p:cNvPr id="43" name="Text 41"/>
          <p:cNvSpPr txBox="1"/>
          <p:nvPr/>
        </p:nvSpPr>
        <p:spPr>
          <a:xfrm>
            <a:off x="822960" y="5358384"/>
            <a:ext cx="2514600" cy="27432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Do not pitch</a:t>
            </a:r>
            <a:endParaRPr lang="en-US" sz="1300" dirty="0"/>
          </a:p>
        </p:txBody>
      </p:sp>
      <p:sp>
        <p:nvSpPr>
          <p:cNvPr id="44" name="Text 42"/>
          <p:cNvSpPr txBox="1"/>
          <p:nvPr/>
        </p:nvSpPr>
        <p:spPr>
          <a:xfrm>
            <a:off x="822960" y="5669280"/>
            <a:ext cx="2514600" cy="365760"/>
          </a:xfrm>
          <a:prstGeom prst="rect">
            <a:avLst/>
          </a:prstGeom>
          <a:noFill/>
          <a:ln/>
        </p:spPr>
        <p:txBody>
          <a:bodyPr wrap="square" lIns="0" tIns="0" rIns="0" bIns="0" rtlCol="0" anchor="t"/>
          <a:lstStyle/>
          <a:p>
            <a:pPr indent="0" marL="0">
              <a:buNone/>
            </a:pPr>
            <a:r>
              <a:rPr lang="en-US" sz="1050" dirty="0">
                <a:solidFill>
                  <a:srgbClr val="C9D5CE"/>
                </a:solidFill>
                <a:latin typeface="Calibri" pitchFamily="34" charset="0"/>
                <a:ea typeface="Calibri" pitchFamily="34" charset="-122"/>
                <a:cs typeface="Calibri" pitchFamily="34" charset="-120"/>
              </a:rPr>
              <a:t>Understand the problem, not sell the idea</a:t>
            </a:r>
            <a:endParaRPr lang="en-US" sz="1050" dirty="0"/>
          </a:p>
        </p:txBody>
      </p:sp>
      <p:sp>
        <p:nvSpPr>
          <p:cNvPr id="45" name="Text 43"/>
          <p:cNvSpPr txBox="1"/>
          <p:nvPr/>
        </p:nvSpPr>
        <p:spPr>
          <a:xfrm>
            <a:off x="3547872" y="5358384"/>
            <a:ext cx="2514600" cy="27432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At least 3 people</a:t>
            </a:r>
            <a:endParaRPr lang="en-US" sz="1300" dirty="0"/>
          </a:p>
        </p:txBody>
      </p:sp>
      <p:sp>
        <p:nvSpPr>
          <p:cNvPr id="46" name="Text 44"/>
          <p:cNvSpPr txBox="1"/>
          <p:nvPr/>
        </p:nvSpPr>
        <p:spPr>
          <a:xfrm>
            <a:off x="3547872" y="5669280"/>
            <a:ext cx="2514600" cy="365760"/>
          </a:xfrm>
          <a:prstGeom prst="rect">
            <a:avLst/>
          </a:prstGeom>
          <a:noFill/>
          <a:ln/>
        </p:spPr>
        <p:txBody>
          <a:bodyPr wrap="square" lIns="0" tIns="0" rIns="0" bIns="0" rtlCol="0" anchor="t"/>
          <a:lstStyle/>
          <a:p>
            <a:pPr indent="0" marL="0">
              <a:buNone/>
            </a:pPr>
            <a:r>
              <a:rPr lang="en-US" sz="1050" dirty="0">
                <a:solidFill>
                  <a:srgbClr val="C9D5CE"/>
                </a:solidFill>
                <a:latin typeface="Calibri" pitchFamily="34" charset="0"/>
                <a:ea typeface="Calibri" pitchFamily="34" charset="-122"/>
                <a:cs typeface="Calibri" pitchFamily="34" charset="-120"/>
              </a:rPr>
              <a:t>Who genuinely live the problem</a:t>
            </a:r>
            <a:endParaRPr lang="en-US" sz="1050" dirty="0"/>
          </a:p>
        </p:txBody>
      </p:sp>
      <p:sp>
        <p:nvSpPr>
          <p:cNvPr id="47" name="Text 45"/>
          <p:cNvSpPr txBox="1"/>
          <p:nvPr/>
        </p:nvSpPr>
        <p:spPr>
          <a:xfrm>
            <a:off x="6272784" y="5358384"/>
            <a:ext cx="2514600" cy="27432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Ask for the last time</a:t>
            </a:r>
            <a:endParaRPr lang="en-US" sz="1300" dirty="0"/>
          </a:p>
        </p:txBody>
      </p:sp>
      <p:sp>
        <p:nvSpPr>
          <p:cNvPr id="48" name="Text 46"/>
          <p:cNvSpPr txBox="1"/>
          <p:nvPr/>
        </p:nvSpPr>
        <p:spPr>
          <a:xfrm>
            <a:off x="6272784" y="5669280"/>
            <a:ext cx="2514600" cy="365760"/>
          </a:xfrm>
          <a:prstGeom prst="rect">
            <a:avLst/>
          </a:prstGeom>
          <a:noFill/>
          <a:ln/>
        </p:spPr>
        <p:txBody>
          <a:bodyPr wrap="square" lIns="0" tIns="0" rIns="0" bIns="0" rtlCol="0" anchor="t"/>
          <a:lstStyle/>
          <a:p>
            <a:pPr indent="0" marL="0">
              <a:buNone/>
            </a:pPr>
            <a:r>
              <a:rPr lang="en-US" sz="1050" dirty="0">
                <a:solidFill>
                  <a:srgbClr val="C9D5CE"/>
                </a:solidFill>
                <a:latin typeface="Calibri" pitchFamily="34" charset="0"/>
                <a:ea typeface="Calibri" pitchFamily="34" charset="-122"/>
                <a:cs typeface="Calibri" pitchFamily="34" charset="-120"/>
              </a:rPr>
              <a:t>Stories beat opinions</a:t>
            </a:r>
            <a:endParaRPr lang="en-US" sz="1050" dirty="0"/>
          </a:p>
        </p:txBody>
      </p:sp>
      <p:sp>
        <p:nvSpPr>
          <p:cNvPr id="49" name="Text 47"/>
          <p:cNvSpPr txBox="1"/>
          <p:nvPr/>
        </p:nvSpPr>
        <p:spPr>
          <a:xfrm>
            <a:off x="8997696" y="5358384"/>
            <a:ext cx="2514600" cy="27432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Anonymise</a:t>
            </a:r>
            <a:endParaRPr lang="en-US" sz="1300" dirty="0"/>
          </a:p>
        </p:txBody>
      </p:sp>
      <p:sp>
        <p:nvSpPr>
          <p:cNvPr id="50" name="Text 48"/>
          <p:cNvSpPr txBox="1"/>
          <p:nvPr/>
        </p:nvSpPr>
        <p:spPr>
          <a:xfrm>
            <a:off x="8997696" y="5669280"/>
            <a:ext cx="2514600" cy="365760"/>
          </a:xfrm>
          <a:prstGeom prst="rect">
            <a:avLst/>
          </a:prstGeom>
          <a:noFill/>
          <a:ln/>
        </p:spPr>
        <p:txBody>
          <a:bodyPr wrap="square" lIns="0" tIns="0" rIns="0" bIns="0" rtlCol="0" anchor="t"/>
          <a:lstStyle/>
          <a:p>
            <a:pPr indent="0" marL="0">
              <a:buNone/>
            </a:pPr>
            <a:r>
              <a:rPr lang="en-US" sz="1050" dirty="0">
                <a:solidFill>
                  <a:srgbClr val="C9D5CE"/>
                </a:solidFill>
                <a:latin typeface="Calibri" pitchFamily="34" charset="0"/>
                <a:ea typeface="Calibri" pitchFamily="34" charset="-122"/>
                <a:cs typeface="Calibri" pitchFamily="34" charset="-120"/>
              </a:rPr>
              <a:t>P1, P2, P3. No names, no diagnoses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1 · PROBLEM VALIDATION · SECTIONS 5–6</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Evidence: what three shoppers do, what frustrates them, how they cope</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Anonymise every participant. Record no names, diagnoses or other sensitive health details. Desk evidence for the hypothesis is on slide 1.</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3 / 4</a:t>
            </a:r>
            <a:endParaRPr lang="en-US" sz="900" dirty="0"/>
          </a:p>
        </p:txBody>
      </p:sp>
      <p:sp>
        <p:nvSpPr>
          <p:cNvPr id="12" name="Shape 10"/>
          <p:cNvSpPr/>
          <p:nvPr/>
        </p:nvSpPr>
        <p:spPr>
          <a:xfrm>
            <a:off x="2011680" y="1508760"/>
            <a:ext cx="1938528" cy="548640"/>
          </a:xfrm>
          <a:prstGeom prst="roundRect">
            <a:avLst>
              <a:gd name="adj" fmla="val 10000"/>
            </a:avLst>
          </a:prstGeom>
          <a:solidFill>
            <a:srgbClr val="154B36"/>
          </a:solidFill>
          <a:ln/>
        </p:spPr>
      </p:sp>
      <p:sp>
        <p:nvSpPr>
          <p:cNvPr id="13" name="Text 11"/>
          <p:cNvSpPr txBox="1"/>
          <p:nvPr/>
        </p:nvSpPr>
        <p:spPr>
          <a:xfrm>
            <a:off x="2121408" y="1527048"/>
            <a:ext cx="1719072" cy="51206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P1</a:t>
            </a:r>
            <a:endParaRPr lang="en-US" sz="1200" dirty="0"/>
          </a:p>
          <a:p>
            <a:pPr indent="0" marL="0">
              <a:buNone/>
            </a:pPr>
            <a:r>
              <a:rPr lang="en-US" sz="950" dirty="0">
                <a:solidFill>
                  <a:srgbClr val="C9D5CE"/>
                </a:solidFill>
                <a:latin typeface="Calibri" pitchFamily="34" charset="0"/>
                <a:ea typeface="Calibri" pitchFamily="34" charset="-122"/>
                <a:cs typeface="Calibri" pitchFamily="34" charset="-120"/>
              </a:rPr>
              <a:t>age band · area · web or app</a:t>
            </a:r>
            <a:endParaRPr lang="en-US" sz="1200" dirty="0"/>
          </a:p>
        </p:txBody>
      </p:sp>
      <p:sp>
        <p:nvSpPr>
          <p:cNvPr id="14" name="Shape 12"/>
          <p:cNvSpPr/>
          <p:nvPr/>
        </p:nvSpPr>
        <p:spPr>
          <a:xfrm>
            <a:off x="4041648" y="1508760"/>
            <a:ext cx="1938528" cy="548640"/>
          </a:xfrm>
          <a:prstGeom prst="roundRect">
            <a:avLst>
              <a:gd name="adj" fmla="val 10000"/>
            </a:avLst>
          </a:prstGeom>
          <a:solidFill>
            <a:srgbClr val="154B36"/>
          </a:solidFill>
          <a:ln/>
        </p:spPr>
      </p:sp>
      <p:sp>
        <p:nvSpPr>
          <p:cNvPr id="15" name="Text 13"/>
          <p:cNvSpPr txBox="1"/>
          <p:nvPr/>
        </p:nvSpPr>
        <p:spPr>
          <a:xfrm>
            <a:off x="4151376" y="1527048"/>
            <a:ext cx="1719072" cy="51206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P2</a:t>
            </a:r>
            <a:endParaRPr lang="en-US" sz="1200" dirty="0"/>
          </a:p>
          <a:p>
            <a:pPr indent="0" marL="0">
              <a:buNone/>
            </a:pPr>
            <a:r>
              <a:rPr lang="en-US" sz="950" dirty="0">
                <a:solidFill>
                  <a:srgbClr val="C9D5CE"/>
                </a:solidFill>
                <a:latin typeface="Calibri" pitchFamily="34" charset="0"/>
                <a:ea typeface="Calibri" pitchFamily="34" charset="-122"/>
                <a:cs typeface="Calibri" pitchFamily="34" charset="-120"/>
              </a:rPr>
              <a:t>age band · area · web or app</a:t>
            </a:r>
            <a:endParaRPr lang="en-US" sz="1200" dirty="0"/>
          </a:p>
        </p:txBody>
      </p:sp>
      <p:sp>
        <p:nvSpPr>
          <p:cNvPr id="16" name="Shape 14"/>
          <p:cNvSpPr/>
          <p:nvPr/>
        </p:nvSpPr>
        <p:spPr>
          <a:xfrm>
            <a:off x="6071616" y="1508760"/>
            <a:ext cx="1938528" cy="548640"/>
          </a:xfrm>
          <a:prstGeom prst="roundRect">
            <a:avLst>
              <a:gd name="adj" fmla="val 10000"/>
            </a:avLst>
          </a:prstGeom>
          <a:solidFill>
            <a:srgbClr val="154B36"/>
          </a:solidFill>
          <a:ln/>
        </p:spPr>
      </p:sp>
      <p:sp>
        <p:nvSpPr>
          <p:cNvPr id="17" name="Text 15"/>
          <p:cNvSpPr txBox="1"/>
          <p:nvPr/>
        </p:nvSpPr>
        <p:spPr>
          <a:xfrm>
            <a:off x="6181344" y="1527048"/>
            <a:ext cx="1719072" cy="512064"/>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P3</a:t>
            </a:r>
            <a:endParaRPr lang="en-US" sz="1200" dirty="0"/>
          </a:p>
          <a:p>
            <a:pPr indent="0" marL="0">
              <a:buNone/>
            </a:pPr>
            <a:r>
              <a:rPr lang="en-US" sz="950" dirty="0">
                <a:solidFill>
                  <a:srgbClr val="C9D5CE"/>
                </a:solidFill>
                <a:latin typeface="Calibri" pitchFamily="34" charset="0"/>
                <a:ea typeface="Calibri" pitchFamily="34" charset="-122"/>
                <a:cs typeface="Calibri" pitchFamily="34" charset="-120"/>
              </a:rPr>
              <a:t>age band · area · web or app</a:t>
            </a:r>
            <a:endParaRPr lang="en-US" sz="1200" dirty="0"/>
          </a:p>
        </p:txBody>
      </p:sp>
      <p:sp>
        <p:nvSpPr>
          <p:cNvPr id="18" name="Text 16"/>
          <p:cNvSpPr txBox="1"/>
          <p:nvPr/>
        </p:nvSpPr>
        <p:spPr>
          <a:xfrm>
            <a:off x="548640" y="2240280"/>
            <a:ext cx="1371600" cy="365760"/>
          </a:xfrm>
          <a:prstGeom prst="rect">
            <a:avLst/>
          </a:prstGeom>
          <a:noFill/>
          <a:ln/>
        </p:spPr>
        <p:txBody>
          <a:bodyPr wrap="square" lIns="0" tIns="0" rIns="0" bIns="0" rtlCol="0" anchor="t"/>
          <a:lstStyle/>
          <a:p>
            <a:pPr indent="0" marL="0">
              <a:buNone/>
            </a:pPr>
            <a:r>
              <a:rPr lang="en-US" sz="1150" b="1" dirty="0">
                <a:solidFill>
                  <a:srgbClr val="154B36"/>
                </a:solidFill>
                <a:latin typeface="Calibri" pitchFamily="34" charset="0"/>
                <a:ea typeface="Calibri" pitchFamily="34" charset="-122"/>
                <a:cs typeface="Calibri" pitchFamily="34" charset="-120"/>
              </a:rPr>
              <a:t>What they do</a:t>
            </a:r>
            <a:endParaRPr lang="en-US" sz="1150" dirty="0"/>
          </a:p>
        </p:txBody>
      </p:sp>
      <p:sp>
        <p:nvSpPr>
          <p:cNvPr id="19" name="Text 17"/>
          <p:cNvSpPr txBox="1"/>
          <p:nvPr/>
        </p:nvSpPr>
        <p:spPr>
          <a:xfrm>
            <a:off x="548640" y="2606040"/>
            <a:ext cx="1371600" cy="411480"/>
          </a:xfrm>
          <a:prstGeom prst="rect">
            <a:avLst/>
          </a:prstGeom>
          <a:noFill/>
          <a:ln/>
        </p:spPr>
        <p:txBody>
          <a:bodyPr wrap="square" lIns="0" tIns="0" rIns="0" bIns="0" rtlCol="0" anchor="t"/>
          <a:lstStyle/>
          <a:p>
            <a:pPr indent="0" marL="0">
              <a:buNone/>
            </a:pPr>
            <a:r>
              <a:rPr lang="en-US" sz="950" dirty="0">
                <a:solidFill>
                  <a:srgbClr val="5C6B63"/>
                </a:solidFill>
                <a:latin typeface="Calibri" pitchFamily="34" charset="0"/>
                <a:ea typeface="Calibri" pitchFamily="34" charset="-122"/>
                <a:cs typeface="Calibri" pitchFamily="34" charset="-120"/>
              </a:rPr>
              <a:t>Last online shop, step by step</a:t>
            </a:r>
            <a:endParaRPr lang="en-US" sz="950" dirty="0"/>
          </a:p>
        </p:txBody>
      </p:sp>
      <p:sp>
        <p:nvSpPr>
          <p:cNvPr id="20" name="Shape 18"/>
          <p:cNvSpPr/>
          <p:nvPr/>
        </p:nvSpPr>
        <p:spPr>
          <a:xfrm>
            <a:off x="2011680" y="2148840"/>
            <a:ext cx="1938528" cy="896112"/>
          </a:xfrm>
          <a:prstGeom prst="roundRect">
            <a:avLst>
              <a:gd name="adj" fmla="val 6122"/>
            </a:avLst>
          </a:prstGeom>
          <a:solidFill>
            <a:srgbClr val="FDF0DC"/>
          </a:solidFill>
          <a:ln w="12700">
            <a:solidFill>
              <a:srgbClr val="EE8100"/>
            </a:solidFill>
            <a:prstDash val="dash"/>
          </a:ln>
        </p:spPr>
      </p:sp>
      <p:sp>
        <p:nvSpPr>
          <p:cNvPr id="21" name="Text 19"/>
          <p:cNvSpPr txBox="1"/>
          <p:nvPr/>
        </p:nvSpPr>
        <p:spPr>
          <a:xfrm>
            <a:off x="2121408" y="2185416"/>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P1</a:t>
            </a:r>
            <a:endParaRPr lang="en-US" sz="1050" dirty="0"/>
          </a:p>
        </p:txBody>
      </p:sp>
      <p:sp>
        <p:nvSpPr>
          <p:cNvPr id="22" name="Shape 20"/>
          <p:cNvSpPr/>
          <p:nvPr/>
        </p:nvSpPr>
        <p:spPr>
          <a:xfrm>
            <a:off x="4041648" y="2148840"/>
            <a:ext cx="1938528" cy="896112"/>
          </a:xfrm>
          <a:prstGeom prst="roundRect">
            <a:avLst>
              <a:gd name="adj" fmla="val 6122"/>
            </a:avLst>
          </a:prstGeom>
          <a:solidFill>
            <a:srgbClr val="FDF0DC"/>
          </a:solidFill>
          <a:ln w="12700">
            <a:solidFill>
              <a:srgbClr val="EE8100"/>
            </a:solidFill>
            <a:prstDash val="dash"/>
          </a:ln>
        </p:spPr>
      </p:sp>
      <p:sp>
        <p:nvSpPr>
          <p:cNvPr id="23" name="Text 21"/>
          <p:cNvSpPr txBox="1"/>
          <p:nvPr/>
        </p:nvSpPr>
        <p:spPr>
          <a:xfrm>
            <a:off x="4151376" y="2185416"/>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P2</a:t>
            </a:r>
            <a:endParaRPr lang="en-US" sz="1050" dirty="0"/>
          </a:p>
        </p:txBody>
      </p:sp>
      <p:sp>
        <p:nvSpPr>
          <p:cNvPr id="24" name="Shape 22"/>
          <p:cNvSpPr/>
          <p:nvPr/>
        </p:nvSpPr>
        <p:spPr>
          <a:xfrm>
            <a:off x="6071616" y="2148840"/>
            <a:ext cx="1938528" cy="896112"/>
          </a:xfrm>
          <a:prstGeom prst="roundRect">
            <a:avLst>
              <a:gd name="adj" fmla="val 6122"/>
            </a:avLst>
          </a:prstGeom>
          <a:solidFill>
            <a:srgbClr val="FDF0DC"/>
          </a:solidFill>
          <a:ln w="12700">
            <a:solidFill>
              <a:srgbClr val="EE8100"/>
            </a:solidFill>
            <a:prstDash val="dash"/>
          </a:ln>
        </p:spPr>
      </p:sp>
      <p:sp>
        <p:nvSpPr>
          <p:cNvPr id="25" name="Text 23"/>
          <p:cNvSpPr txBox="1"/>
          <p:nvPr/>
        </p:nvSpPr>
        <p:spPr>
          <a:xfrm>
            <a:off x="6181344" y="2185416"/>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P3</a:t>
            </a:r>
            <a:endParaRPr lang="en-US" sz="1050" dirty="0"/>
          </a:p>
        </p:txBody>
      </p:sp>
      <p:sp>
        <p:nvSpPr>
          <p:cNvPr id="26" name="Text 24"/>
          <p:cNvSpPr txBox="1"/>
          <p:nvPr/>
        </p:nvSpPr>
        <p:spPr>
          <a:xfrm>
            <a:off x="548640" y="3227832"/>
            <a:ext cx="1371600" cy="365760"/>
          </a:xfrm>
          <a:prstGeom prst="rect">
            <a:avLst/>
          </a:prstGeom>
          <a:noFill/>
          <a:ln/>
        </p:spPr>
        <p:txBody>
          <a:bodyPr wrap="square" lIns="0" tIns="0" rIns="0" bIns="0" rtlCol="0" anchor="t"/>
          <a:lstStyle/>
          <a:p>
            <a:pPr indent="0" marL="0">
              <a:buNone/>
            </a:pPr>
            <a:r>
              <a:rPr lang="en-US" sz="1150" b="1" dirty="0">
                <a:solidFill>
                  <a:srgbClr val="154B36"/>
                </a:solidFill>
                <a:latin typeface="Calibri" pitchFamily="34" charset="0"/>
                <a:ea typeface="Calibri" pitchFamily="34" charset="-122"/>
                <a:cs typeface="Calibri" pitchFamily="34" charset="-120"/>
              </a:rPr>
              <a:t>What frustrates them</a:t>
            </a:r>
            <a:endParaRPr lang="en-US" sz="1150" dirty="0"/>
          </a:p>
        </p:txBody>
      </p:sp>
      <p:sp>
        <p:nvSpPr>
          <p:cNvPr id="27" name="Text 25"/>
          <p:cNvSpPr txBox="1"/>
          <p:nvPr/>
        </p:nvSpPr>
        <p:spPr>
          <a:xfrm>
            <a:off x="548640" y="3593592"/>
            <a:ext cx="1371600" cy="411480"/>
          </a:xfrm>
          <a:prstGeom prst="rect">
            <a:avLst/>
          </a:prstGeom>
          <a:noFill/>
          <a:ln/>
        </p:spPr>
        <p:txBody>
          <a:bodyPr wrap="square" lIns="0" tIns="0" rIns="0" bIns="0" rtlCol="0" anchor="t"/>
          <a:lstStyle/>
          <a:p>
            <a:pPr indent="0" marL="0">
              <a:buNone/>
            </a:pPr>
            <a:r>
              <a:rPr lang="en-US" sz="950" dirty="0">
                <a:solidFill>
                  <a:srgbClr val="5C6B63"/>
                </a:solidFill>
                <a:latin typeface="Calibri" pitchFamily="34" charset="0"/>
                <a:ea typeface="Calibri" pitchFamily="34" charset="-122"/>
                <a:cs typeface="Calibri" pitchFamily="34" charset="-120"/>
              </a:rPr>
              <a:t>The hardest moment</a:t>
            </a:r>
            <a:endParaRPr lang="en-US" sz="950" dirty="0"/>
          </a:p>
        </p:txBody>
      </p:sp>
      <p:sp>
        <p:nvSpPr>
          <p:cNvPr id="28" name="Shape 26"/>
          <p:cNvSpPr/>
          <p:nvPr/>
        </p:nvSpPr>
        <p:spPr>
          <a:xfrm>
            <a:off x="2011680" y="3136392"/>
            <a:ext cx="1938528" cy="896112"/>
          </a:xfrm>
          <a:prstGeom prst="roundRect">
            <a:avLst>
              <a:gd name="adj" fmla="val 6122"/>
            </a:avLst>
          </a:prstGeom>
          <a:solidFill>
            <a:srgbClr val="FDF0DC"/>
          </a:solidFill>
          <a:ln w="12700">
            <a:solidFill>
              <a:srgbClr val="EE8100"/>
            </a:solidFill>
            <a:prstDash val="dash"/>
          </a:ln>
        </p:spPr>
      </p:sp>
      <p:sp>
        <p:nvSpPr>
          <p:cNvPr id="29" name="Text 27"/>
          <p:cNvSpPr txBox="1"/>
          <p:nvPr/>
        </p:nvSpPr>
        <p:spPr>
          <a:xfrm>
            <a:off x="2121408" y="3172968"/>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P1</a:t>
            </a:r>
            <a:endParaRPr lang="en-US" sz="1050" dirty="0"/>
          </a:p>
        </p:txBody>
      </p:sp>
      <p:sp>
        <p:nvSpPr>
          <p:cNvPr id="30" name="Shape 28"/>
          <p:cNvSpPr/>
          <p:nvPr/>
        </p:nvSpPr>
        <p:spPr>
          <a:xfrm>
            <a:off x="4041648" y="3136392"/>
            <a:ext cx="1938528" cy="896112"/>
          </a:xfrm>
          <a:prstGeom prst="roundRect">
            <a:avLst>
              <a:gd name="adj" fmla="val 6122"/>
            </a:avLst>
          </a:prstGeom>
          <a:solidFill>
            <a:srgbClr val="FDF0DC"/>
          </a:solidFill>
          <a:ln w="12700">
            <a:solidFill>
              <a:srgbClr val="EE8100"/>
            </a:solidFill>
            <a:prstDash val="dash"/>
          </a:ln>
        </p:spPr>
      </p:sp>
      <p:sp>
        <p:nvSpPr>
          <p:cNvPr id="31" name="Text 29"/>
          <p:cNvSpPr txBox="1"/>
          <p:nvPr/>
        </p:nvSpPr>
        <p:spPr>
          <a:xfrm>
            <a:off x="4151376" y="3172968"/>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P2</a:t>
            </a:r>
            <a:endParaRPr lang="en-US" sz="1050" dirty="0"/>
          </a:p>
        </p:txBody>
      </p:sp>
      <p:sp>
        <p:nvSpPr>
          <p:cNvPr id="32" name="Shape 30"/>
          <p:cNvSpPr/>
          <p:nvPr/>
        </p:nvSpPr>
        <p:spPr>
          <a:xfrm>
            <a:off x="6071616" y="3136392"/>
            <a:ext cx="1938528" cy="896112"/>
          </a:xfrm>
          <a:prstGeom prst="roundRect">
            <a:avLst>
              <a:gd name="adj" fmla="val 6122"/>
            </a:avLst>
          </a:prstGeom>
          <a:solidFill>
            <a:srgbClr val="FDF0DC"/>
          </a:solidFill>
          <a:ln w="12700">
            <a:solidFill>
              <a:srgbClr val="EE8100"/>
            </a:solidFill>
            <a:prstDash val="dash"/>
          </a:ln>
        </p:spPr>
      </p:sp>
      <p:sp>
        <p:nvSpPr>
          <p:cNvPr id="33" name="Text 31"/>
          <p:cNvSpPr txBox="1"/>
          <p:nvPr/>
        </p:nvSpPr>
        <p:spPr>
          <a:xfrm>
            <a:off x="6181344" y="3172968"/>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P3</a:t>
            </a:r>
            <a:endParaRPr lang="en-US" sz="1050" dirty="0"/>
          </a:p>
        </p:txBody>
      </p:sp>
      <p:sp>
        <p:nvSpPr>
          <p:cNvPr id="34" name="Text 32"/>
          <p:cNvSpPr txBox="1"/>
          <p:nvPr/>
        </p:nvSpPr>
        <p:spPr>
          <a:xfrm>
            <a:off x="548640" y="4215384"/>
            <a:ext cx="1371600" cy="365760"/>
          </a:xfrm>
          <a:prstGeom prst="rect">
            <a:avLst/>
          </a:prstGeom>
          <a:noFill/>
          <a:ln/>
        </p:spPr>
        <p:txBody>
          <a:bodyPr wrap="square" lIns="0" tIns="0" rIns="0" bIns="0" rtlCol="0" anchor="t"/>
          <a:lstStyle/>
          <a:p>
            <a:pPr indent="0" marL="0">
              <a:buNone/>
            </a:pPr>
            <a:r>
              <a:rPr lang="en-US" sz="1150" b="1" dirty="0">
                <a:solidFill>
                  <a:srgbClr val="154B36"/>
                </a:solidFill>
                <a:latin typeface="Calibri" pitchFamily="34" charset="0"/>
                <a:ea typeface="Calibri" pitchFamily="34" charset="-122"/>
                <a:cs typeface="Calibri" pitchFamily="34" charset="-120"/>
              </a:rPr>
              <a:t>How often, and cost</a:t>
            </a:r>
            <a:endParaRPr lang="en-US" sz="1150" dirty="0"/>
          </a:p>
        </p:txBody>
      </p:sp>
      <p:sp>
        <p:nvSpPr>
          <p:cNvPr id="35" name="Text 33"/>
          <p:cNvSpPr txBox="1"/>
          <p:nvPr/>
        </p:nvSpPr>
        <p:spPr>
          <a:xfrm>
            <a:off x="548640" y="4581144"/>
            <a:ext cx="1371600" cy="411480"/>
          </a:xfrm>
          <a:prstGeom prst="rect">
            <a:avLst/>
          </a:prstGeom>
          <a:noFill/>
          <a:ln/>
        </p:spPr>
        <p:txBody>
          <a:bodyPr wrap="square" lIns="0" tIns="0" rIns="0" bIns="0" rtlCol="0" anchor="t"/>
          <a:lstStyle/>
          <a:p>
            <a:pPr indent="0" marL="0">
              <a:buNone/>
            </a:pPr>
            <a:r>
              <a:rPr lang="en-US" sz="950" dirty="0">
                <a:solidFill>
                  <a:srgbClr val="5C6B63"/>
                </a:solidFill>
                <a:latin typeface="Calibri" pitchFamily="34" charset="0"/>
                <a:ea typeface="Calibri" pitchFamily="34" charset="-122"/>
                <a:cs typeface="Calibri" pitchFamily="34" charset="-120"/>
              </a:rPr>
              <a:t>Times a month · time · money · stress</a:t>
            </a:r>
            <a:endParaRPr lang="en-US" sz="950" dirty="0"/>
          </a:p>
        </p:txBody>
      </p:sp>
      <p:sp>
        <p:nvSpPr>
          <p:cNvPr id="36" name="Shape 34"/>
          <p:cNvSpPr/>
          <p:nvPr/>
        </p:nvSpPr>
        <p:spPr>
          <a:xfrm>
            <a:off x="2011680" y="4123944"/>
            <a:ext cx="1938528" cy="896112"/>
          </a:xfrm>
          <a:prstGeom prst="roundRect">
            <a:avLst>
              <a:gd name="adj" fmla="val 6122"/>
            </a:avLst>
          </a:prstGeom>
          <a:solidFill>
            <a:srgbClr val="FDF0DC"/>
          </a:solidFill>
          <a:ln w="12700">
            <a:solidFill>
              <a:srgbClr val="EE8100"/>
            </a:solidFill>
            <a:prstDash val="dash"/>
          </a:ln>
        </p:spPr>
      </p:sp>
      <p:sp>
        <p:nvSpPr>
          <p:cNvPr id="37" name="Text 35"/>
          <p:cNvSpPr txBox="1"/>
          <p:nvPr/>
        </p:nvSpPr>
        <p:spPr>
          <a:xfrm>
            <a:off x="2121408" y="4160520"/>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P1</a:t>
            </a:r>
            <a:endParaRPr lang="en-US" sz="1050" dirty="0"/>
          </a:p>
        </p:txBody>
      </p:sp>
      <p:sp>
        <p:nvSpPr>
          <p:cNvPr id="38" name="Shape 36"/>
          <p:cNvSpPr/>
          <p:nvPr/>
        </p:nvSpPr>
        <p:spPr>
          <a:xfrm>
            <a:off x="4041648" y="4123944"/>
            <a:ext cx="1938528" cy="896112"/>
          </a:xfrm>
          <a:prstGeom prst="roundRect">
            <a:avLst>
              <a:gd name="adj" fmla="val 6122"/>
            </a:avLst>
          </a:prstGeom>
          <a:solidFill>
            <a:srgbClr val="FDF0DC"/>
          </a:solidFill>
          <a:ln w="12700">
            <a:solidFill>
              <a:srgbClr val="EE8100"/>
            </a:solidFill>
            <a:prstDash val="dash"/>
          </a:ln>
        </p:spPr>
      </p:sp>
      <p:sp>
        <p:nvSpPr>
          <p:cNvPr id="39" name="Text 37"/>
          <p:cNvSpPr txBox="1"/>
          <p:nvPr/>
        </p:nvSpPr>
        <p:spPr>
          <a:xfrm>
            <a:off x="4151376" y="4160520"/>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P2</a:t>
            </a:r>
            <a:endParaRPr lang="en-US" sz="1050" dirty="0"/>
          </a:p>
        </p:txBody>
      </p:sp>
      <p:sp>
        <p:nvSpPr>
          <p:cNvPr id="40" name="Shape 38"/>
          <p:cNvSpPr/>
          <p:nvPr/>
        </p:nvSpPr>
        <p:spPr>
          <a:xfrm>
            <a:off x="6071616" y="4123944"/>
            <a:ext cx="1938528" cy="896112"/>
          </a:xfrm>
          <a:prstGeom prst="roundRect">
            <a:avLst>
              <a:gd name="adj" fmla="val 6122"/>
            </a:avLst>
          </a:prstGeom>
          <a:solidFill>
            <a:srgbClr val="FDF0DC"/>
          </a:solidFill>
          <a:ln w="12700">
            <a:solidFill>
              <a:srgbClr val="EE8100"/>
            </a:solidFill>
            <a:prstDash val="dash"/>
          </a:ln>
        </p:spPr>
      </p:sp>
      <p:sp>
        <p:nvSpPr>
          <p:cNvPr id="41" name="Text 39"/>
          <p:cNvSpPr txBox="1"/>
          <p:nvPr/>
        </p:nvSpPr>
        <p:spPr>
          <a:xfrm>
            <a:off x="6181344" y="4160520"/>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P3</a:t>
            </a:r>
            <a:endParaRPr lang="en-US" sz="1050" dirty="0"/>
          </a:p>
        </p:txBody>
      </p:sp>
      <p:sp>
        <p:nvSpPr>
          <p:cNvPr id="42" name="Text 40"/>
          <p:cNvSpPr txBox="1"/>
          <p:nvPr/>
        </p:nvSpPr>
        <p:spPr>
          <a:xfrm>
            <a:off x="548640" y="5202936"/>
            <a:ext cx="1371600" cy="365760"/>
          </a:xfrm>
          <a:prstGeom prst="rect">
            <a:avLst/>
          </a:prstGeom>
          <a:noFill/>
          <a:ln/>
        </p:spPr>
        <p:txBody>
          <a:bodyPr wrap="square" lIns="0" tIns="0" rIns="0" bIns="0" rtlCol="0" anchor="t"/>
          <a:lstStyle/>
          <a:p>
            <a:pPr indent="0" marL="0">
              <a:buNone/>
            </a:pPr>
            <a:r>
              <a:rPr lang="en-US" sz="1150" b="1" dirty="0">
                <a:solidFill>
                  <a:srgbClr val="154B36"/>
                </a:solidFill>
                <a:latin typeface="Calibri" pitchFamily="34" charset="0"/>
                <a:ea typeface="Calibri" pitchFamily="34" charset="-122"/>
                <a:cs typeface="Calibri" pitchFamily="34" charset="-120"/>
              </a:rPr>
              <a:t>How they cope today</a:t>
            </a:r>
            <a:endParaRPr lang="en-US" sz="1150" dirty="0"/>
          </a:p>
        </p:txBody>
      </p:sp>
      <p:sp>
        <p:nvSpPr>
          <p:cNvPr id="43" name="Text 41"/>
          <p:cNvSpPr txBox="1"/>
          <p:nvPr/>
        </p:nvSpPr>
        <p:spPr>
          <a:xfrm>
            <a:off x="548640" y="5568696"/>
            <a:ext cx="1371600" cy="411480"/>
          </a:xfrm>
          <a:prstGeom prst="rect">
            <a:avLst/>
          </a:prstGeom>
          <a:noFill/>
          <a:ln/>
        </p:spPr>
        <p:txBody>
          <a:bodyPr wrap="square" lIns="0" tIns="0" rIns="0" bIns="0" rtlCol="0" anchor="t"/>
          <a:lstStyle/>
          <a:p>
            <a:pPr indent="0" marL="0">
              <a:buNone/>
            </a:pPr>
            <a:r>
              <a:rPr lang="en-US" sz="950" dirty="0">
                <a:solidFill>
                  <a:srgbClr val="5C6B63"/>
                </a:solidFill>
                <a:latin typeface="Calibri" pitchFamily="34" charset="0"/>
                <a:ea typeface="Calibri" pitchFamily="34" charset="-122"/>
                <a:cs typeface="Calibri" pitchFamily="34" charset="-120"/>
              </a:rPr>
              <a:t>Workaround or what they tried</a:t>
            </a:r>
            <a:endParaRPr lang="en-US" sz="950" dirty="0"/>
          </a:p>
        </p:txBody>
      </p:sp>
      <p:sp>
        <p:nvSpPr>
          <p:cNvPr id="44" name="Shape 42"/>
          <p:cNvSpPr/>
          <p:nvPr/>
        </p:nvSpPr>
        <p:spPr>
          <a:xfrm>
            <a:off x="2011680" y="5111496"/>
            <a:ext cx="1938528" cy="896112"/>
          </a:xfrm>
          <a:prstGeom prst="roundRect">
            <a:avLst>
              <a:gd name="adj" fmla="val 6122"/>
            </a:avLst>
          </a:prstGeom>
          <a:solidFill>
            <a:srgbClr val="FDF0DC"/>
          </a:solidFill>
          <a:ln w="12700">
            <a:solidFill>
              <a:srgbClr val="EE8100"/>
            </a:solidFill>
            <a:prstDash val="dash"/>
          </a:ln>
        </p:spPr>
      </p:sp>
      <p:sp>
        <p:nvSpPr>
          <p:cNvPr id="45" name="Text 43"/>
          <p:cNvSpPr txBox="1"/>
          <p:nvPr/>
        </p:nvSpPr>
        <p:spPr>
          <a:xfrm>
            <a:off x="2121408" y="5148072"/>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P1</a:t>
            </a:r>
            <a:endParaRPr lang="en-US" sz="1050" dirty="0"/>
          </a:p>
        </p:txBody>
      </p:sp>
      <p:sp>
        <p:nvSpPr>
          <p:cNvPr id="46" name="Shape 44"/>
          <p:cNvSpPr/>
          <p:nvPr/>
        </p:nvSpPr>
        <p:spPr>
          <a:xfrm>
            <a:off x="4041648" y="5111496"/>
            <a:ext cx="1938528" cy="896112"/>
          </a:xfrm>
          <a:prstGeom prst="roundRect">
            <a:avLst>
              <a:gd name="adj" fmla="val 6122"/>
            </a:avLst>
          </a:prstGeom>
          <a:solidFill>
            <a:srgbClr val="FDF0DC"/>
          </a:solidFill>
          <a:ln w="12700">
            <a:solidFill>
              <a:srgbClr val="EE8100"/>
            </a:solidFill>
            <a:prstDash val="dash"/>
          </a:ln>
        </p:spPr>
      </p:sp>
      <p:sp>
        <p:nvSpPr>
          <p:cNvPr id="47" name="Text 45"/>
          <p:cNvSpPr txBox="1"/>
          <p:nvPr/>
        </p:nvSpPr>
        <p:spPr>
          <a:xfrm>
            <a:off x="4151376" y="5148072"/>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P2</a:t>
            </a:r>
            <a:endParaRPr lang="en-US" sz="1050" dirty="0"/>
          </a:p>
        </p:txBody>
      </p:sp>
      <p:sp>
        <p:nvSpPr>
          <p:cNvPr id="48" name="Shape 46"/>
          <p:cNvSpPr/>
          <p:nvPr/>
        </p:nvSpPr>
        <p:spPr>
          <a:xfrm>
            <a:off x="6071616" y="5111496"/>
            <a:ext cx="1938528" cy="896112"/>
          </a:xfrm>
          <a:prstGeom prst="roundRect">
            <a:avLst>
              <a:gd name="adj" fmla="val 6122"/>
            </a:avLst>
          </a:prstGeom>
          <a:solidFill>
            <a:srgbClr val="FDF0DC"/>
          </a:solidFill>
          <a:ln w="12700">
            <a:solidFill>
              <a:srgbClr val="EE8100"/>
            </a:solidFill>
            <a:prstDash val="dash"/>
          </a:ln>
        </p:spPr>
      </p:sp>
      <p:sp>
        <p:nvSpPr>
          <p:cNvPr id="49" name="Text 47"/>
          <p:cNvSpPr txBox="1"/>
          <p:nvPr/>
        </p:nvSpPr>
        <p:spPr>
          <a:xfrm>
            <a:off x="6181344" y="5148072"/>
            <a:ext cx="1719072" cy="822960"/>
          </a:xfrm>
          <a:prstGeom prst="rect">
            <a:avLst/>
          </a:prstGeom>
          <a:noFill/>
          <a:ln/>
        </p:spPr>
        <p:txBody>
          <a:bodyPr wrap="square" lIns="0" tIns="0" rIns="0" bIns="0" rtlCol="0" anchor="ctr"/>
          <a:lstStyle/>
          <a:p>
            <a:pPr algn="ctr" indent="0" marL="0">
              <a:buNone/>
            </a:pPr>
            <a:r>
              <a:rPr lang="en-US" sz="1050" i="1" dirty="0">
                <a:solidFill>
                  <a:srgbClr val="A85A00"/>
                </a:solidFill>
                <a:latin typeface="Calibri" pitchFamily="34" charset="0"/>
                <a:ea typeface="Calibri" pitchFamily="34" charset="-122"/>
                <a:cs typeface="Calibri" pitchFamily="34" charset="-120"/>
              </a:rPr>
              <a:t>INSERT  P3</a:t>
            </a:r>
            <a:endParaRPr lang="en-US" sz="1050" dirty="0"/>
          </a:p>
        </p:txBody>
      </p:sp>
      <p:sp>
        <p:nvSpPr>
          <p:cNvPr id="50" name="Shape 48"/>
          <p:cNvSpPr/>
          <p:nvPr/>
        </p:nvSpPr>
        <p:spPr>
          <a:xfrm>
            <a:off x="8229600" y="1508760"/>
            <a:ext cx="3410712" cy="4544568"/>
          </a:xfrm>
          <a:prstGeom prst="roundRect">
            <a:avLst>
              <a:gd name="adj" fmla="val 2145"/>
            </a:avLst>
          </a:prstGeom>
          <a:solidFill>
            <a:srgbClr val="154B36"/>
          </a:solidFill>
          <a:ln/>
        </p:spPr>
      </p:sp>
      <p:sp>
        <p:nvSpPr>
          <p:cNvPr id="51" name="Text 49"/>
          <p:cNvSpPr txBox="1"/>
          <p:nvPr/>
        </p:nvSpPr>
        <p:spPr>
          <a:xfrm>
            <a:off x="8503920" y="1783080"/>
            <a:ext cx="292608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STRONGEST QUOTE</a:t>
            </a:r>
            <a:endParaRPr lang="en-US" sz="1000" dirty="0"/>
          </a:p>
        </p:txBody>
      </p:sp>
      <p:sp>
        <p:nvSpPr>
          <p:cNvPr id="52" name="Text 50"/>
          <p:cNvSpPr txBox="1"/>
          <p:nvPr/>
        </p:nvSpPr>
        <p:spPr>
          <a:xfrm>
            <a:off x="8503920" y="2011680"/>
            <a:ext cx="914400" cy="914400"/>
          </a:xfrm>
          <a:prstGeom prst="rect">
            <a:avLst/>
          </a:prstGeom>
          <a:noFill/>
          <a:ln/>
        </p:spPr>
        <p:txBody>
          <a:bodyPr wrap="square" lIns="0" tIns="0" rIns="0" bIns="0" rtlCol="0" anchor="t"/>
          <a:lstStyle/>
          <a:p>
            <a:pPr indent="0" marL="0">
              <a:buNone/>
            </a:pPr>
            <a:r>
              <a:rPr lang="en-US" sz="8000" b="1" dirty="0">
                <a:solidFill>
                  <a:srgbClr val="F5A623"/>
                </a:solidFill>
                <a:latin typeface="Cambria" pitchFamily="34" charset="0"/>
                <a:ea typeface="Cambria" pitchFamily="34" charset="-122"/>
                <a:cs typeface="Cambria" pitchFamily="34" charset="-120"/>
              </a:rPr>
              <a:t>“</a:t>
            </a:r>
            <a:endParaRPr lang="en-US" sz="8000" dirty="0"/>
          </a:p>
        </p:txBody>
      </p:sp>
      <p:sp>
        <p:nvSpPr>
          <p:cNvPr id="53" name="Shape 51"/>
          <p:cNvSpPr/>
          <p:nvPr/>
        </p:nvSpPr>
        <p:spPr>
          <a:xfrm>
            <a:off x="8503920" y="3063240"/>
            <a:ext cx="2862072" cy="1737360"/>
          </a:xfrm>
          <a:prstGeom prst="roundRect">
            <a:avLst>
              <a:gd name="adj" fmla="val 3158"/>
            </a:avLst>
          </a:prstGeom>
          <a:solidFill>
            <a:srgbClr val="1E6047"/>
          </a:solidFill>
          <a:ln w="12700">
            <a:solidFill>
              <a:srgbClr val="F5A623"/>
            </a:solidFill>
            <a:prstDash val="dash"/>
          </a:ln>
        </p:spPr>
      </p:sp>
      <p:sp>
        <p:nvSpPr>
          <p:cNvPr id="54" name="Text 52"/>
          <p:cNvSpPr txBox="1"/>
          <p:nvPr/>
        </p:nvSpPr>
        <p:spPr>
          <a:xfrm>
            <a:off x="8613648" y="3099816"/>
            <a:ext cx="2642616" cy="1664208"/>
          </a:xfrm>
          <a:prstGeom prst="rect">
            <a:avLst/>
          </a:prstGeom>
          <a:noFill/>
          <a:ln/>
        </p:spPr>
        <p:txBody>
          <a:bodyPr wrap="square" lIns="0" tIns="0" rIns="0" bIns="0" rtlCol="0" anchor="ctr"/>
          <a:lstStyle/>
          <a:p>
            <a:pPr algn="l" indent="0" marL="0">
              <a:buNone/>
            </a:pPr>
            <a:r>
              <a:rPr lang="en-US" sz="1150" i="1" dirty="0">
                <a:solidFill>
                  <a:srgbClr val="FFE2B0"/>
                </a:solidFill>
                <a:latin typeface="Calibri" pitchFamily="34" charset="0"/>
                <a:ea typeface="Calibri" pitchFamily="34" charset="-122"/>
                <a:cs typeface="Calibri" pitchFamily="34" charset="-120"/>
              </a:rPr>
              <a:t>INSERT the one verbatim sentence that best captures the problem, in the participant’s own words.</a:t>
            </a:r>
            <a:endParaRPr lang="en-US" sz="1150" dirty="0"/>
          </a:p>
        </p:txBody>
      </p:sp>
      <p:sp>
        <p:nvSpPr>
          <p:cNvPr id="55" name="Text 53"/>
          <p:cNvSpPr txBox="1"/>
          <p:nvPr/>
        </p:nvSpPr>
        <p:spPr>
          <a:xfrm>
            <a:off x="8503920" y="4937760"/>
            <a:ext cx="2862072" cy="274320"/>
          </a:xfrm>
          <a:prstGeom prst="rect">
            <a:avLst/>
          </a:prstGeom>
          <a:noFill/>
          <a:ln/>
        </p:spPr>
        <p:txBody>
          <a:bodyPr wrap="square" lIns="0" tIns="0" rIns="0" bIns="0" rtlCol="0" anchor="t"/>
          <a:lstStyle/>
          <a:p>
            <a:pPr indent="0" marL="0">
              <a:buNone/>
            </a:pPr>
            <a:r>
              <a:rPr lang="en-US" sz="1050" i="1" dirty="0">
                <a:solidFill>
                  <a:srgbClr val="C9D5CE"/>
                </a:solidFill>
                <a:latin typeface="Calibri" pitchFamily="34" charset="0"/>
                <a:ea typeface="Calibri" pitchFamily="34" charset="-122"/>
                <a:cs typeface="Calibri" pitchFamily="34" charset="-120"/>
              </a:rPr>
              <a:t>— P_ , age band, area (anonymised)</a:t>
            </a:r>
            <a:endParaRPr lang="en-US" sz="1050" dirty="0"/>
          </a:p>
        </p:txBody>
      </p:sp>
      <p:sp>
        <p:nvSpPr>
          <p:cNvPr id="56" name="Text 54"/>
          <p:cNvSpPr txBox="1"/>
          <p:nvPr/>
        </p:nvSpPr>
        <p:spPr>
          <a:xfrm>
            <a:off x="8503920" y="5440680"/>
            <a:ext cx="2862072" cy="365760"/>
          </a:xfrm>
          <a:prstGeom prst="rect">
            <a:avLst/>
          </a:prstGeom>
          <a:noFill/>
          <a:ln/>
        </p:spPr>
        <p:txBody>
          <a:bodyPr wrap="square" lIns="0" tIns="0" rIns="0" bIns="0" rtlCol="0" anchor="t"/>
          <a:lstStyle/>
          <a:p>
            <a:pPr indent="0" marL="0">
              <a:buNone/>
            </a:pPr>
            <a:r>
              <a:rPr lang="en-US" sz="1000" dirty="0">
                <a:solidFill>
                  <a:srgbClr val="C9D5CE"/>
                </a:solidFill>
                <a:latin typeface="Calibri" pitchFamily="34" charset="0"/>
                <a:ea typeface="Calibri" pitchFamily="34" charset="-122"/>
                <a:cs typeface="Calibri" pitchFamily="34" charset="-120"/>
              </a:rPr>
              <a:t>Use exact words. Trim it, do not paraphrase it.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1 · PROBLEM VALIDATION · SECTIONS 7–8 + REFLECTION</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Decision: is the problem real enough to keep building for?</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Decision rule proposed by the team before interviews, so the verdict cannot drift away from the evidence. Mark ✓ confirmed · ~ partly · ✗ contradicted.</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4 / 4</a:t>
            </a:r>
            <a:endParaRPr lang="en-US" sz="900" dirty="0"/>
          </a:p>
        </p:txBody>
      </p:sp>
      <p:sp>
        <p:nvSpPr>
          <p:cNvPr id="12" name="Text 10"/>
          <p:cNvSpPr txBox="1"/>
          <p:nvPr/>
        </p:nvSpPr>
        <p:spPr>
          <a:xfrm>
            <a:off x="548640" y="1508760"/>
            <a:ext cx="548640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7 · VALIDATION DECISION</a:t>
            </a:r>
            <a:endParaRPr lang="en-US" sz="1000" dirty="0"/>
          </a:p>
        </p:txBody>
      </p:sp>
      <p:sp>
        <p:nvSpPr>
          <p:cNvPr id="13" name="Shape 11"/>
          <p:cNvSpPr/>
          <p:nvPr/>
        </p:nvSpPr>
        <p:spPr>
          <a:xfrm>
            <a:off x="548640" y="1783080"/>
            <a:ext cx="1828800" cy="1600200"/>
          </a:xfrm>
          <a:prstGeom prst="roundRect">
            <a:avLst>
              <a:gd name="adj" fmla="val 4571"/>
            </a:avLst>
          </a:prstGeom>
          <a:solidFill>
            <a:srgbClr val="FFFFFF"/>
          </a:solidFill>
          <a:ln w="9525">
            <a:solidFill>
              <a:srgbClr val="C9D5CE"/>
            </a:solidFill>
            <a:prstDash val="solid"/>
          </a:ln>
        </p:spPr>
      </p:sp>
      <p:sp>
        <p:nvSpPr>
          <p:cNvPr id="14" name="Shape 12"/>
          <p:cNvSpPr/>
          <p:nvPr/>
        </p:nvSpPr>
        <p:spPr>
          <a:xfrm>
            <a:off x="713232" y="1947672"/>
            <a:ext cx="256032" cy="256032"/>
          </a:xfrm>
          <a:prstGeom prst="ellipse">
            <a:avLst/>
          </a:prstGeom>
          <a:solidFill>
            <a:srgbClr val="FFFFFF"/>
          </a:solidFill>
          <a:ln w="31750">
            <a:solidFill>
              <a:srgbClr val="038141"/>
            </a:solidFill>
            <a:prstDash val="solid"/>
          </a:ln>
        </p:spPr>
      </p:sp>
      <p:sp>
        <p:nvSpPr>
          <p:cNvPr id="15" name="Text 13"/>
          <p:cNvSpPr txBox="1"/>
          <p:nvPr/>
        </p:nvSpPr>
        <p:spPr>
          <a:xfrm>
            <a:off x="1051560" y="1929384"/>
            <a:ext cx="1280160" cy="310896"/>
          </a:xfrm>
          <a:prstGeom prst="rect">
            <a:avLst/>
          </a:prstGeom>
          <a:noFill/>
          <a:ln/>
        </p:spPr>
        <p:txBody>
          <a:bodyPr wrap="square" lIns="0" tIns="0" rIns="0" bIns="0" rtlCol="0" anchor="ctr"/>
          <a:lstStyle/>
          <a:p>
            <a:pPr indent="0" marL="0">
              <a:buNone/>
            </a:pPr>
            <a:r>
              <a:rPr lang="en-US" sz="1250" b="1" dirty="0">
                <a:solidFill>
                  <a:srgbClr val="154B36"/>
                </a:solidFill>
                <a:latin typeface="Cambria" pitchFamily="34" charset="0"/>
                <a:ea typeface="Cambria" pitchFamily="34" charset="-122"/>
                <a:cs typeface="Cambria" pitchFamily="34" charset="-120"/>
              </a:rPr>
              <a:t>Validated</a:t>
            </a:r>
            <a:endParaRPr lang="en-US" sz="1250" dirty="0"/>
          </a:p>
        </p:txBody>
      </p:sp>
      <p:sp>
        <p:nvSpPr>
          <p:cNvPr id="16" name="Text 14"/>
          <p:cNvSpPr txBox="1"/>
          <p:nvPr/>
        </p:nvSpPr>
        <p:spPr>
          <a:xfrm>
            <a:off x="713232" y="2377440"/>
            <a:ext cx="1517904" cy="960120"/>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At least 2 of 3 describe the problem unprompted, recently, with a real cost.</a:t>
            </a:r>
            <a:endParaRPr lang="en-US" sz="1000" dirty="0"/>
          </a:p>
        </p:txBody>
      </p:sp>
      <p:sp>
        <p:nvSpPr>
          <p:cNvPr id="17" name="Shape 15"/>
          <p:cNvSpPr/>
          <p:nvPr/>
        </p:nvSpPr>
        <p:spPr>
          <a:xfrm>
            <a:off x="2496312" y="1783080"/>
            <a:ext cx="1828800" cy="1600200"/>
          </a:xfrm>
          <a:prstGeom prst="roundRect">
            <a:avLst>
              <a:gd name="adj" fmla="val 4571"/>
            </a:avLst>
          </a:prstGeom>
          <a:solidFill>
            <a:srgbClr val="FFFFFF"/>
          </a:solidFill>
          <a:ln w="9525">
            <a:solidFill>
              <a:srgbClr val="C9D5CE"/>
            </a:solidFill>
            <a:prstDash val="solid"/>
          </a:ln>
        </p:spPr>
      </p:sp>
      <p:sp>
        <p:nvSpPr>
          <p:cNvPr id="18" name="Shape 16"/>
          <p:cNvSpPr/>
          <p:nvPr/>
        </p:nvSpPr>
        <p:spPr>
          <a:xfrm>
            <a:off x="2660904" y="1947672"/>
            <a:ext cx="256032" cy="256032"/>
          </a:xfrm>
          <a:prstGeom prst="ellipse">
            <a:avLst/>
          </a:prstGeom>
          <a:solidFill>
            <a:srgbClr val="FFFFFF"/>
          </a:solidFill>
          <a:ln w="31750">
            <a:solidFill>
              <a:srgbClr val="F2A900"/>
            </a:solidFill>
            <a:prstDash val="solid"/>
          </a:ln>
        </p:spPr>
      </p:sp>
      <p:sp>
        <p:nvSpPr>
          <p:cNvPr id="19" name="Text 17"/>
          <p:cNvSpPr txBox="1"/>
          <p:nvPr/>
        </p:nvSpPr>
        <p:spPr>
          <a:xfrm>
            <a:off x="2999232" y="1929384"/>
            <a:ext cx="1280160" cy="310896"/>
          </a:xfrm>
          <a:prstGeom prst="rect">
            <a:avLst/>
          </a:prstGeom>
          <a:noFill/>
          <a:ln/>
        </p:spPr>
        <p:txBody>
          <a:bodyPr wrap="square" lIns="0" tIns="0" rIns="0" bIns="0" rtlCol="0" anchor="ctr"/>
          <a:lstStyle/>
          <a:p>
            <a:pPr indent="0" marL="0">
              <a:buNone/>
            </a:pPr>
            <a:r>
              <a:rPr lang="en-US" sz="1250" b="1" dirty="0">
                <a:solidFill>
                  <a:srgbClr val="154B36"/>
                </a:solidFill>
                <a:latin typeface="Cambria" pitchFamily="34" charset="0"/>
                <a:ea typeface="Cambria" pitchFamily="34" charset="-122"/>
                <a:cs typeface="Cambria" pitchFamily="34" charset="-120"/>
              </a:rPr>
              <a:t>Partially validated</a:t>
            </a:r>
            <a:endParaRPr lang="en-US" sz="1250" dirty="0"/>
          </a:p>
        </p:txBody>
      </p:sp>
      <p:sp>
        <p:nvSpPr>
          <p:cNvPr id="20" name="Text 18"/>
          <p:cNvSpPr txBox="1"/>
          <p:nvPr/>
        </p:nvSpPr>
        <p:spPr>
          <a:xfrm>
            <a:off x="2660904" y="2377440"/>
            <a:ext cx="1517904" cy="960120"/>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Real, but narrower: only some users, contexts or shops feel it.</a:t>
            </a:r>
            <a:endParaRPr lang="en-US" sz="1000" dirty="0"/>
          </a:p>
        </p:txBody>
      </p:sp>
      <p:sp>
        <p:nvSpPr>
          <p:cNvPr id="21" name="Shape 19"/>
          <p:cNvSpPr/>
          <p:nvPr/>
        </p:nvSpPr>
        <p:spPr>
          <a:xfrm>
            <a:off x="4443984" y="1783080"/>
            <a:ext cx="1828800" cy="1600200"/>
          </a:xfrm>
          <a:prstGeom prst="roundRect">
            <a:avLst>
              <a:gd name="adj" fmla="val 4571"/>
            </a:avLst>
          </a:prstGeom>
          <a:solidFill>
            <a:srgbClr val="FFFFFF"/>
          </a:solidFill>
          <a:ln w="9525">
            <a:solidFill>
              <a:srgbClr val="C9D5CE"/>
            </a:solidFill>
            <a:prstDash val="solid"/>
          </a:ln>
        </p:spPr>
      </p:sp>
      <p:sp>
        <p:nvSpPr>
          <p:cNvPr id="22" name="Shape 20"/>
          <p:cNvSpPr/>
          <p:nvPr/>
        </p:nvSpPr>
        <p:spPr>
          <a:xfrm>
            <a:off x="4608576" y="1947672"/>
            <a:ext cx="256032" cy="256032"/>
          </a:xfrm>
          <a:prstGeom prst="ellipse">
            <a:avLst/>
          </a:prstGeom>
          <a:solidFill>
            <a:srgbClr val="FFFFFF"/>
          </a:solidFill>
          <a:ln w="31750">
            <a:solidFill>
              <a:srgbClr val="E63E11"/>
            </a:solidFill>
            <a:prstDash val="solid"/>
          </a:ln>
        </p:spPr>
      </p:sp>
      <p:sp>
        <p:nvSpPr>
          <p:cNvPr id="23" name="Text 21"/>
          <p:cNvSpPr txBox="1"/>
          <p:nvPr/>
        </p:nvSpPr>
        <p:spPr>
          <a:xfrm>
            <a:off x="4946904" y="1929384"/>
            <a:ext cx="1280160" cy="310896"/>
          </a:xfrm>
          <a:prstGeom prst="rect">
            <a:avLst/>
          </a:prstGeom>
          <a:noFill/>
          <a:ln/>
        </p:spPr>
        <p:txBody>
          <a:bodyPr wrap="square" lIns="0" tIns="0" rIns="0" bIns="0" rtlCol="0" anchor="ctr"/>
          <a:lstStyle/>
          <a:p>
            <a:pPr indent="0" marL="0">
              <a:buNone/>
            </a:pPr>
            <a:r>
              <a:rPr lang="en-US" sz="1250" b="1" dirty="0">
                <a:solidFill>
                  <a:srgbClr val="154B36"/>
                </a:solidFill>
                <a:latin typeface="Cambria" pitchFamily="34" charset="0"/>
                <a:ea typeface="Cambria" pitchFamily="34" charset="-122"/>
                <a:cs typeface="Cambria" pitchFamily="34" charset="-120"/>
              </a:rPr>
              <a:t>Not validated</a:t>
            </a:r>
            <a:endParaRPr lang="en-US" sz="1250" dirty="0"/>
          </a:p>
        </p:txBody>
      </p:sp>
      <p:sp>
        <p:nvSpPr>
          <p:cNvPr id="24" name="Text 22"/>
          <p:cNvSpPr txBox="1"/>
          <p:nvPr/>
        </p:nvSpPr>
        <p:spPr>
          <a:xfrm>
            <a:off x="4608576" y="2377440"/>
            <a:ext cx="1517904" cy="960120"/>
          </a:xfrm>
          <a:prstGeom prst="rect">
            <a:avLst/>
          </a:prstGeom>
          <a:noFill/>
          <a:ln/>
        </p:spPr>
        <p:txBody>
          <a:bodyPr wrap="square" lIns="0" tIns="0" rIns="0" bIns="0" rtlCol="0" anchor="t"/>
          <a:lstStyle/>
          <a:p>
            <a:pPr indent="0" marL="0">
              <a:buNone/>
            </a:pPr>
            <a:r>
              <a:rPr lang="en-US" sz="1000" dirty="0">
                <a:solidFill>
                  <a:srgbClr val="1F2A24"/>
                </a:solidFill>
                <a:latin typeface="Calibri" pitchFamily="34" charset="0"/>
                <a:ea typeface="Calibri" pitchFamily="34" charset="-122"/>
                <a:cs typeface="Calibri" pitchFamily="34" charset="-120"/>
              </a:rPr>
              <a:t>Few describe it, or they do not care enough to act on it.</a:t>
            </a:r>
            <a:endParaRPr lang="en-US" sz="1000" dirty="0"/>
          </a:p>
        </p:txBody>
      </p:sp>
      <p:sp>
        <p:nvSpPr>
          <p:cNvPr id="25" name="Text 23"/>
          <p:cNvSpPr txBox="1"/>
          <p:nvPr/>
        </p:nvSpPr>
        <p:spPr>
          <a:xfrm>
            <a:off x="548640" y="3584448"/>
            <a:ext cx="548640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ASSUMPTION SCORECARD</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5724144" cy="914400"/>
        </p:xfrm>
        <a:graphic>
          <a:graphicData uri="http://schemas.openxmlformats.org/drawingml/2006/table">
            <a:tbl>
              <a:tblPr/>
              <a:tblGrid>
                <a:gridCol w="2249424"/>
                <a:gridCol w="868680"/>
                <a:gridCol w="868680"/>
                <a:gridCol w="868680"/>
                <a:gridCol w="86868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Assumption</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P1</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P2</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P3</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r>
              <a:tr h="502920">
                <a:tc>
                  <a:txBody>
                    <a:bodyPr/>
                    <a:lstStyle/>
                    <a:p>
                      <a:pPr algn="l" indent="0" marL="0">
                        <a:buNone/>
                      </a:pPr>
                      <a:r>
                        <a:rPr lang="en-US" sz="1050" dirty="0">
                          <a:solidFill>
                            <a:srgbClr val="1F2A24"/>
                          </a:solidFill>
                          <a:latin typeface="Calibri" pitchFamily="34" charset="0"/>
                          <a:ea typeface="Calibri" pitchFamily="34" charset="-122"/>
                          <a:cs typeface="Calibri" pitchFamily="34" charset="-120"/>
                        </a:rPr>
                        <a:t>1  Need at the cart</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_ / 3</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02920">
                <a:tc>
                  <a:txBody>
                    <a:bodyPr/>
                    <a:lstStyle/>
                    <a:p>
                      <a:pPr algn="l" indent="0" marL="0">
                        <a:buNone/>
                      </a:pPr>
                      <a:r>
                        <a:rPr lang="en-US" sz="1050" dirty="0">
                          <a:solidFill>
                            <a:srgbClr val="1F2A24"/>
                          </a:solidFill>
                          <a:latin typeface="Calibri" pitchFamily="34" charset="0"/>
                          <a:ea typeface="Calibri" pitchFamily="34" charset="-122"/>
                          <a:cs typeface="Calibri" pitchFamily="34" charset="-120"/>
                        </a:rPr>
                        <a:t>2  Today’s fix falls short</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_ / 3</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02920">
                <a:tc>
                  <a:txBody>
                    <a:bodyPr/>
                    <a:lstStyle/>
                    <a:p>
                      <a:pPr algn="l" indent="0" marL="0">
                        <a:buNone/>
                      </a:pPr>
                      <a:r>
                        <a:rPr lang="en-US" sz="1050" dirty="0">
                          <a:solidFill>
                            <a:srgbClr val="1F2A24"/>
                          </a:solidFill>
                          <a:latin typeface="Calibri" pitchFamily="34" charset="0"/>
                          <a:ea typeface="Calibri" pitchFamily="34" charset="-122"/>
                          <a:cs typeface="Calibri" pitchFamily="34" charset="-120"/>
                        </a:rPr>
                        <a:t>3  Channel and trust</a:t>
                      </a:r>
                      <a:endParaRPr lang="en-US" sz="105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85A00"/>
                          </a:solidFill>
                          <a:latin typeface="Calibri" pitchFamily="34" charset="0"/>
                          <a:ea typeface="Calibri" pitchFamily="34" charset="-122"/>
                          <a:cs typeface="Calibri" pitchFamily="34" charset="-120"/>
                        </a:rPr>
                        <a:t>_ / 3</a:t>
                      </a:r>
                      <a:endParaRPr lang="en-US" sz="1200" dirty="0">
                        <a:latin typeface="Calibri" charset="0"/>
                        <a:ea typeface="Calibri" charset="0"/>
                        <a:cs typeface="Calibri" charset="0"/>
                      </a:endParaRPr>
                    </a:p>
                  </a:txBody>
                  <a:tcPr marL="91440" marR="91440"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bl>
          </a:graphicData>
        </a:graphic>
      </p:graphicFrame>
      <p:sp>
        <p:nvSpPr>
          <p:cNvPr id="27" name="Shape 24"/>
          <p:cNvSpPr/>
          <p:nvPr/>
        </p:nvSpPr>
        <p:spPr>
          <a:xfrm>
            <a:off x="6537960" y="1508760"/>
            <a:ext cx="5102352" cy="2331720"/>
          </a:xfrm>
          <a:prstGeom prst="roundRect">
            <a:avLst>
              <a:gd name="adj" fmla="val 3137"/>
            </a:avLst>
          </a:prstGeom>
          <a:solidFill>
            <a:srgbClr val="FFFFFF"/>
          </a:solidFill>
          <a:ln w="9525">
            <a:solidFill>
              <a:srgbClr val="C9D5CE"/>
            </a:solidFill>
            <a:prstDash val="solid"/>
          </a:ln>
        </p:spPr>
      </p:sp>
      <p:sp>
        <p:nvSpPr>
          <p:cNvPr id="28" name="Text 25"/>
          <p:cNvSpPr txBox="1"/>
          <p:nvPr/>
        </p:nvSpPr>
        <p:spPr>
          <a:xfrm>
            <a:off x="6766560" y="1719072"/>
            <a:ext cx="457200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8 · REVISED PROBLEM STATEMENT</a:t>
            </a:r>
            <a:endParaRPr lang="en-US" sz="1000" dirty="0"/>
          </a:p>
        </p:txBody>
      </p:sp>
      <p:sp>
        <p:nvSpPr>
          <p:cNvPr id="29" name="Text 26"/>
          <p:cNvSpPr txBox="1"/>
          <p:nvPr/>
        </p:nvSpPr>
        <p:spPr>
          <a:xfrm>
            <a:off x="6766560" y="1975104"/>
            <a:ext cx="4645152" cy="1143000"/>
          </a:xfrm>
          <a:prstGeom prst="rect">
            <a:avLst/>
          </a:prstGeom>
          <a:noFill/>
          <a:ln/>
        </p:spPr>
        <p:txBody>
          <a:bodyPr wrap="square" lIns="0" tIns="0" rIns="0" bIns="0" rtlCol="0" anchor="t"/>
          <a:lstStyle/>
          <a:p>
            <a:pPr indent="0" marL="0">
              <a:buNone/>
            </a:pPr>
            <a:r>
              <a:rPr lang="en-US" sz="1150" b="1" dirty="0">
                <a:solidFill>
                  <a:srgbClr val="154B36"/>
                </a:solidFill>
                <a:latin typeface="Calibri" pitchFamily="34" charset="0"/>
                <a:ea typeface="Calibri" pitchFamily="34" charset="-122"/>
                <a:cs typeface="Calibri" pitchFamily="34" charset="-120"/>
              </a:rPr>
              <a:t>Working draft, sharpened by desk evidence: </a:t>
            </a:r>
            <a:pPr indent="0" marL="0">
              <a:buNone/>
            </a:pPr>
            <a:r>
              <a:rPr lang="en-US" sz="1150" dirty="0">
                <a:solidFill>
                  <a:srgbClr val="1F2A24"/>
                </a:solidFill>
                <a:latin typeface="Calibri" pitchFamily="34" charset="0"/>
                <a:ea typeface="Calibri" pitchFamily="34" charset="-122"/>
                <a:cs typeface="Calibri" pitchFamily="34" charset="-120"/>
              </a:rPr>
              <a:t>Adults in Kenya who must limit sugar, salt or fat cannot see, when they add an item to an online grocery cart, whether it fits their limits, because retailers show no front-of-pack signal and labels omit fields such as added sugar.</a:t>
            </a:r>
            <a:endParaRPr lang="en-US" sz="1150" dirty="0"/>
          </a:p>
        </p:txBody>
      </p:sp>
      <p:sp>
        <p:nvSpPr>
          <p:cNvPr id="30" name="Shape 27"/>
          <p:cNvSpPr/>
          <p:nvPr/>
        </p:nvSpPr>
        <p:spPr>
          <a:xfrm>
            <a:off x="6766560" y="3154680"/>
            <a:ext cx="4645152" cy="594360"/>
          </a:xfrm>
          <a:prstGeom prst="roundRect">
            <a:avLst>
              <a:gd name="adj" fmla="val 9231"/>
            </a:avLst>
          </a:prstGeom>
          <a:solidFill>
            <a:srgbClr val="FDF0DC"/>
          </a:solidFill>
          <a:ln w="12700">
            <a:solidFill>
              <a:srgbClr val="EE8100"/>
            </a:solidFill>
            <a:prstDash val="dash"/>
          </a:ln>
        </p:spPr>
      </p:sp>
      <p:sp>
        <p:nvSpPr>
          <p:cNvPr id="31" name="Text 28"/>
          <p:cNvSpPr txBox="1"/>
          <p:nvPr/>
        </p:nvSpPr>
        <p:spPr>
          <a:xfrm>
            <a:off x="6876288" y="3191256"/>
            <a:ext cx="4425696" cy="521208"/>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the version rewritten in participants’ words after the interviews.</a:t>
            </a:r>
            <a:endParaRPr lang="en-US" sz="1050" dirty="0"/>
          </a:p>
        </p:txBody>
      </p:sp>
      <p:sp>
        <p:nvSpPr>
          <p:cNvPr id="32" name="Shape 29"/>
          <p:cNvSpPr/>
          <p:nvPr/>
        </p:nvSpPr>
        <p:spPr>
          <a:xfrm>
            <a:off x="6537960" y="3977640"/>
            <a:ext cx="5102352" cy="2103120"/>
          </a:xfrm>
          <a:prstGeom prst="roundRect">
            <a:avLst>
              <a:gd name="adj" fmla="val 3478"/>
            </a:avLst>
          </a:prstGeom>
          <a:solidFill>
            <a:srgbClr val="154B36"/>
          </a:solidFill>
          <a:ln/>
        </p:spPr>
      </p:sp>
      <p:sp>
        <p:nvSpPr>
          <p:cNvPr id="33" name="Text 30"/>
          <p:cNvSpPr txBox="1"/>
          <p:nvPr/>
        </p:nvSpPr>
        <p:spPr>
          <a:xfrm>
            <a:off x="6766560" y="4160520"/>
            <a:ext cx="45720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FINAL REFLECTION  ·  CONTINUE AS DEFINED?</a:t>
            </a:r>
            <a:endParaRPr lang="en-US" sz="1000" dirty="0"/>
          </a:p>
        </p:txBody>
      </p:sp>
      <p:sp>
        <p:nvSpPr>
          <p:cNvPr id="34" name="Text 31"/>
          <p:cNvSpPr txBox="1"/>
          <p:nvPr/>
        </p:nvSpPr>
        <p:spPr>
          <a:xfrm>
            <a:off x="6766560" y="4443984"/>
            <a:ext cx="466344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Validated  </a:t>
            </a:r>
            <a:pPr indent="0" marL="0">
              <a:buNone/>
            </a:pPr>
            <a:r>
              <a:rPr lang="en-US" sz="1050" dirty="0">
                <a:solidFill>
                  <a:srgbClr val="C9D5CE"/>
                </a:solidFill>
                <a:latin typeface="Calibri" pitchFamily="34" charset="0"/>
                <a:ea typeface="Calibri" pitchFamily="34" charset="-122"/>
                <a:cs typeface="Calibri" pitchFamily="34" charset="-120"/>
              </a:rPr>
              <a:t>continue, then pick the priority segment (Assignment 2)</a:t>
            </a:r>
            <a:endParaRPr lang="en-US" sz="1050" dirty="0"/>
          </a:p>
        </p:txBody>
      </p:sp>
      <p:sp>
        <p:nvSpPr>
          <p:cNvPr id="35" name="Text 32"/>
          <p:cNvSpPr txBox="1"/>
          <p:nvPr/>
        </p:nvSpPr>
        <p:spPr>
          <a:xfrm>
            <a:off x="6766560" y="4690872"/>
            <a:ext cx="466344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Partially  </a:t>
            </a:r>
            <a:pPr indent="0" marL="0">
              <a:buNone/>
            </a:pPr>
            <a:r>
              <a:rPr lang="en-US" sz="1050" dirty="0">
                <a:solidFill>
                  <a:srgbClr val="C9D5CE"/>
                </a:solidFill>
                <a:latin typeface="Calibri" pitchFamily="34" charset="0"/>
                <a:ea typeface="Calibri" pitchFamily="34" charset="-122"/>
                <a:cs typeface="Calibri" pitchFamily="34" charset="-120"/>
              </a:rPr>
              <a:t>narrow to the group or context that felt it</a:t>
            </a:r>
            <a:endParaRPr lang="en-US" sz="1050" dirty="0"/>
          </a:p>
        </p:txBody>
      </p:sp>
      <p:sp>
        <p:nvSpPr>
          <p:cNvPr id="36" name="Text 33"/>
          <p:cNvSpPr txBox="1"/>
          <p:nvPr/>
        </p:nvSpPr>
        <p:spPr>
          <a:xfrm>
            <a:off x="6766560" y="4937760"/>
            <a:ext cx="466344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Not validated  </a:t>
            </a:r>
            <a:pPr indent="0" marL="0">
              <a:buNone/>
            </a:pPr>
            <a:r>
              <a:rPr lang="en-US" sz="1050" dirty="0">
                <a:solidFill>
                  <a:srgbClr val="C9D5CE"/>
                </a:solidFill>
                <a:latin typeface="Calibri" pitchFamily="34" charset="0"/>
                <a:ea typeface="Calibri" pitchFamily="34" charset="-122"/>
                <a:cs typeface="Calibri" pitchFamily="34" charset="-120"/>
              </a:rPr>
              <a:t>stop and choose a different problem</a:t>
            </a:r>
            <a:endParaRPr lang="en-US" sz="1050" dirty="0"/>
          </a:p>
        </p:txBody>
      </p:sp>
      <p:sp>
        <p:nvSpPr>
          <p:cNvPr id="37" name="Shape 34"/>
          <p:cNvSpPr/>
          <p:nvPr/>
        </p:nvSpPr>
        <p:spPr>
          <a:xfrm>
            <a:off x="6766560" y="5230368"/>
            <a:ext cx="4645152" cy="713232"/>
          </a:xfrm>
          <a:prstGeom prst="roundRect">
            <a:avLst>
              <a:gd name="adj" fmla="val 7692"/>
            </a:avLst>
          </a:prstGeom>
          <a:solidFill>
            <a:srgbClr val="1E6047"/>
          </a:solidFill>
          <a:ln w="12700">
            <a:solidFill>
              <a:srgbClr val="F5A623"/>
            </a:solidFill>
            <a:prstDash val="dash"/>
          </a:ln>
        </p:spPr>
      </p:sp>
      <p:sp>
        <p:nvSpPr>
          <p:cNvPr id="38" name="Text 35"/>
          <p:cNvSpPr txBox="1"/>
          <p:nvPr/>
        </p:nvSpPr>
        <p:spPr>
          <a:xfrm>
            <a:off x="6876288" y="5266944"/>
            <a:ext cx="4425696" cy="640080"/>
          </a:xfrm>
          <a:prstGeom prst="rect">
            <a:avLst/>
          </a:prstGeom>
          <a:noFill/>
          <a:ln/>
        </p:spPr>
        <p:txBody>
          <a:bodyPr wrap="square" lIns="0" tIns="0" rIns="0" bIns="0" rtlCol="0" anchor="ctr"/>
          <a:lstStyle/>
          <a:p>
            <a:pPr algn="l" indent="0" marL="0">
              <a:buNone/>
            </a:pPr>
            <a:r>
              <a:rPr lang="en-US" sz="1050" i="1" dirty="0">
                <a:solidFill>
                  <a:srgbClr val="FFE2B0"/>
                </a:solidFill>
                <a:latin typeface="Calibri" pitchFamily="34" charset="0"/>
                <a:ea typeface="Calibri" pitchFamily="34" charset="-122"/>
                <a:cs typeface="Calibri" pitchFamily="34" charset="-120"/>
              </a:rPr>
              <a:t>INSERT your answer and why, in 2–3 sentences.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Assignment_1_Presentation</dc:title>
  <dc:subject>PptxGenJS Presentation</dc:subject>
  <dc:creator>Kibet, NUT-04</dc:creator>
  <cp:lastModifiedBy>Kibet, NUT-04</cp:lastModifiedBy>
  <cp:revision>1</cp:revision>
  <dcterms:created xsi:type="dcterms:W3CDTF">2026-09-18T21:55:54Z</dcterms:created>
  <dcterms:modified xsi:type="dcterms:W3CDTF">2026-09-18T21:55:54Z</dcterms:modified>
</cp:coreProperties>
</file>