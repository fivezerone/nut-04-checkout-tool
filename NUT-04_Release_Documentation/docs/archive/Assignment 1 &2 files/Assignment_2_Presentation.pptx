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“Kenyan shoppers” is not a user: three groups feel this problem very differently.
THE CORE ARGUMENT
1. The segments differ on the dimensions Assignment 2 asks for: severity and frequency, workaround, access to alternatives, role in the health system, and digital confidence or willingness to pay.
2. We prioritise segment A, shoppers already managing a condition, for three reasons: the strongest felt need, the poorest existing alternative, and the fact that they can retell their last shop in an interview.
3. The honest trade-off: segment C is larger, but people who do not feel a problem cannot validate it, and our evidence so far is desk research. Segment A is the current bet, not a conclusion.
THE TRANSITION
A bet needs testing, so next we see what two segment-A shoppers actually told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Everything we say about segment A so far comes from desk research; this slide is where real shoppers confirm or contradict it.
THE CORE ARGUMENT
1. We hold at least two conversations with people from segment A and capture the five things the assignment asks for: what they do, their biggest pain point, their workaround, why it matters to them, and what contradicted our assumptions.
2. The last box matters most. A contradiction is the most valuable finding, because it tells us whether the segment, the problem or the channel is wrong.
3. Each conversation also tests three carried-over assumptions. Participants stay anonymous and no diagnoses are recorded.
THE TRANSITION
Validating the user is half the job. The other half is who around them can make or break adoption.
BEFORE PRESENTING: fill V1 and V2 with real conversation evidence, then delete this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Even a perfect product for the right shopper fails if the storefront blocks it or clinicians do not trust it.
THE CORE ARGUMENT
1. Seven stakeholders, each with a role and a specific influence: the user, the retailers, clinicians and dietitians, the Ministry of Health and Amref, the Chrome Web Store, data sources and brands, and the Data Protection Commissioner.
2. The map answers the assignment’s two questions. Left to right shows who helps us succeed and who could slow or block us; height shows how much influence they hold.
3. The three most critical are the shopper (adoption), retail platforms (access) and clinicians through KNDI (credibility). Positions are our current judgement and get tested in the first stakeholder conversations.
THE TRANSITION
From the map we pull the single risk we worry about most, and the one change it suggests.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If we could fix only one thing this month, what should it be, and what has changed about the idea?
THE CORE ARGUMENT
1. Major stakeholder risk: retailers. The tool runs on their storefronts without a partnership, so a redesign or an objection could stop it. The mitigation is an early low-ask pilot conversation and isolated adapters per retailer.
2. One change: verify the products segment A really buys first, using participants’ last carts, because only 42 to 46 percent of catalog records can currently show a grade.
3. Final reflection: the user narrowed, the user and payer are different with no payer identified yet, and retailers moved from data source to gatekeeper. Interview evidence then confirms or overturns this.
THE TRANSITION
That completes the validation frame. The next step is to run the interviews and update every evidence slot.
BEFORE PRESENTING: replace the orange box with what the interviews showed.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ASSIGNMENT 2 · USER &amp; STAKEHOLDER VALIDATION · STEPS 1–2</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Three segments, one priority: shoppers already managing a condition</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Sources: Kenya STEPS 2015; ATNi / EAMA Kenya Market Assessment 2025. Behaviours are hypotheses from desk-research personas, not yet observed.</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1 / 4</a:t>
            </a:r>
            <a:endParaRPr lang="en-US" sz="900" dirty="0"/>
          </a:p>
        </p:txBody>
      </p:sp>
      <p:sp>
        <p:nvSpPr>
          <p:cNvPr id="12" name="Shape 10"/>
          <p:cNvSpPr/>
          <p:nvPr/>
        </p:nvSpPr>
        <p:spPr>
          <a:xfrm>
            <a:off x="2249424" y="1481328"/>
            <a:ext cx="3063240" cy="896112"/>
          </a:xfrm>
          <a:prstGeom prst="roundRect">
            <a:avLst>
              <a:gd name="adj" fmla="val 6122"/>
            </a:avLst>
          </a:prstGeom>
          <a:solidFill>
            <a:srgbClr val="154B36"/>
          </a:solidFill>
          <a:ln/>
        </p:spPr>
      </p:sp>
      <p:sp>
        <p:nvSpPr>
          <p:cNvPr id="13" name="Text 11"/>
          <p:cNvSpPr txBox="1"/>
          <p:nvPr/>
        </p:nvSpPr>
        <p:spPr>
          <a:xfrm>
            <a:off x="2377440" y="1517904"/>
            <a:ext cx="2807208" cy="82296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 · Condition managers</a:t>
            </a:r>
            <a:endParaRPr lang="en-US" sz="1200" dirty="0"/>
          </a:p>
          <a:p>
            <a:pPr indent="0" marL="0">
              <a:buNone/>
            </a:pPr>
            <a:r>
              <a:rPr lang="en-US" sz="1000" dirty="0">
                <a:solidFill>
                  <a:srgbClr val="FFFFFF"/>
                </a:solidFill>
                <a:latin typeface="Calibri" pitchFamily="34" charset="0"/>
                <a:ea typeface="Calibri" pitchFamily="34" charset="-122"/>
                <a:cs typeface="Calibri" pitchFamily="34" charset="-120"/>
              </a:rPr>
              <a:t>Adults ~45–60 advised to cut sugar or salt; shop online weekly</a:t>
            </a:r>
            <a:endParaRPr lang="en-US" sz="1200" dirty="0"/>
          </a:p>
          <a:p>
            <a:pPr indent="0" marL="0">
              <a:buNone/>
            </a:pPr>
            <a:r>
              <a:rPr lang="en-US" sz="950" i="1" dirty="0">
                <a:solidFill>
                  <a:srgbClr val="C9D5CE"/>
                </a:solidFill>
                <a:latin typeface="Calibri" pitchFamily="34" charset="0"/>
                <a:ea typeface="Calibri" pitchFamily="34" charset="-122"/>
                <a:cs typeface="Calibri" pitchFamily="34" charset="-120"/>
              </a:rPr>
              <a:t>23.8% raised BP · 3.1% diabetes (measured)</a:t>
            </a:r>
            <a:endParaRPr lang="en-US" sz="1200" dirty="0"/>
          </a:p>
        </p:txBody>
      </p:sp>
      <p:sp>
        <p:nvSpPr>
          <p:cNvPr id="14" name="Shape 12"/>
          <p:cNvSpPr/>
          <p:nvPr/>
        </p:nvSpPr>
        <p:spPr>
          <a:xfrm>
            <a:off x="5413248" y="1481328"/>
            <a:ext cx="3063240" cy="896112"/>
          </a:xfrm>
          <a:prstGeom prst="roundRect">
            <a:avLst>
              <a:gd name="adj" fmla="val 6122"/>
            </a:avLst>
          </a:prstGeom>
          <a:solidFill>
            <a:srgbClr val="FFFFFF"/>
          </a:solidFill>
          <a:ln w="9525">
            <a:solidFill>
              <a:srgbClr val="C9D5CE"/>
            </a:solidFill>
            <a:prstDash val="solid"/>
          </a:ln>
        </p:spPr>
      </p:sp>
      <p:sp>
        <p:nvSpPr>
          <p:cNvPr id="15" name="Text 13"/>
          <p:cNvSpPr txBox="1"/>
          <p:nvPr/>
        </p:nvSpPr>
        <p:spPr>
          <a:xfrm>
            <a:off x="5541264" y="1517904"/>
            <a:ext cx="2807208" cy="822960"/>
          </a:xfrm>
          <a:prstGeom prst="rect">
            <a:avLst/>
          </a:prstGeom>
          <a:noFill/>
          <a:ln/>
        </p:spPr>
        <p:txBody>
          <a:bodyPr wrap="square" lIns="0" tIns="0" rIns="0" bIns="0" rtlCol="0" anchor="ctr"/>
          <a:lstStyle/>
          <a:p>
            <a:pPr indent="0" marL="0">
              <a:buNone/>
            </a:pPr>
            <a:r>
              <a:rPr lang="en-US" sz="1300" b="1" dirty="0">
                <a:solidFill>
                  <a:srgbClr val="154B36"/>
                </a:solidFill>
                <a:latin typeface="Cambria" pitchFamily="34" charset="0"/>
                <a:ea typeface="Cambria" pitchFamily="34" charset="-122"/>
                <a:cs typeface="Cambria" pitchFamily="34" charset="-120"/>
              </a:rPr>
              <a:t>B · At risk, not diagnosed</a:t>
            </a:r>
            <a:endParaRPr lang="en-US" sz="1200" dirty="0"/>
          </a:p>
          <a:p>
            <a:pPr indent="0" marL="0">
              <a:buNone/>
            </a:pPr>
            <a:r>
              <a:rPr lang="en-US" sz="1000" dirty="0">
                <a:solidFill>
                  <a:srgbClr val="154B36"/>
                </a:solidFill>
                <a:latin typeface="Calibri" pitchFamily="34" charset="0"/>
                <a:ea typeface="Calibri" pitchFamily="34" charset="-122"/>
                <a:cs typeface="Calibri" pitchFamily="34" charset="-120"/>
              </a:rPr>
              <a:t>Adults with a known risk factor who want to prevent illness</a:t>
            </a:r>
            <a:endParaRPr lang="en-US" sz="1200" dirty="0"/>
          </a:p>
          <a:p>
            <a:pPr indent="0" marL="0">
              <a:buNone/>
            </a:pPr>
            <a:r>
              <a:rPr lang="en-US" sz="950" i="1" dirty="0">
                <a:solidFill>
                  <a:srgbClr val="5C6B63"/>
                </a:solidFill>
                <a:latin typeface="Calibri" pitchFamily="34" charset="0"/>
                <a:ea typeface="Calibri" pitchFamily="34" charset="-122"/>
                <a:cs typeface="Calibri" pitchFamily="34" charset="-120"/>
              </a:rPr>
              <a:t>27.9% of adults overweight or obese</a:t>
            </a:r>
            <a:endParaRPr lang="en-US" sz="1200" dirty="0"/>
          </a:p>
        </p:txBody>
      </p:sp>
      <p:sp>
        <p:nvSpPr>
          <p:cNvPr id="16" name="Shape 14"/>
          <p:cNvSpPr/>
          <p:nvPr/>
        </p:nvSpPr>
        <p:spPr>
          <a:xfrm>
            <a:off x="8577072" y="1481328"/>
            <a:ext cx="3063240" cy="896112"/>
          </a:xfrm>
          <a:prstGeom prst="roundRect">
            <a:avLst>
              <a:gd name="adj" fmla="val 6122"/>
            </a:avLst>
          </a:prstGeom>
          <a:solidFill>
            <a:srgbClr val="FFFFFF"/>
          </a:solidFill>
          <a:ln w="9525">
            <a:solidFill>
              <a:srgbClr val="C9D5CE"/>
            </a:solidFill>
            <a:prstDash val="solid"/>
          </a:ln>
        </p:spPr>
      </p:sp>
      <p:sp>
        <p:nvSpPr>
          <p:cNvPr id="17" name="Text 15"/>
          <p:cNvSpPr txBox="1"/>
          <p:nvPr/>
        </p:nvSpPr>
        <p:spPr>
          <a:xfrm>
            <a:off x="8705088" y="1517904"/>
            <a:ext cx="2807208" cy="822960"/>
          </a:xfrm>
          <a:prstGeom prst="rect">
            <a:avLst/>
          </a:prstGeom>
          <a:noFill/>
          <a:ln/>
        </p:spPr>
        <p:txBody>
          <a:bodyPr wrap="square" lIns="0" tIns="0" rIns="0" bIns="0" rtlCol="0" anchor="ctr"/>
          <a:lstStyle/>
          <a:p>
            <a:pPr indent="0" marL="0">
              <a:buNone/>
            </a:pPr>
            <a:r>
              <a:rPr lang="en-US" sz="1300" b="1" dirty="0">
                <a:solidFill>
                  <a:srgbClr val="154B36"/>
                </a:solidFill>
                <a:latin typeface="Cambria" pitchFamily="34" charset="0"/>
                <a:ea typeface="Cambria" pitchFamily="34" charset="-122"/>
                <a:cs typeface="Cambria" pitchFamily="34" charset="-120"/>
              </a:rPr>
              <a:t>C · Unaware majority</a:t>
            </a:r>
            <a:endParaRPr lang="en-US" sz="1200" dirty="0"/>
          </a:p>
          <a:p>
            <a:pPr indent="0" marL="0">
              <a:buNone/>
            </a:pPr>
            <a:r>
              <a:rPr lang="en-US" sz="1000" dirty="0">
                <a:solidFill>
                  <a:srgbClr val="154B36"/>
                </a:solidFill>
                <a:latin typeface="Calibri" pitchFamily="34" charset="0"/>
                <a:ea typeface="Calibri" pitchFamily="34" charset="-122"/>
                <a:cs typeface="Calibri" pitchFamily="34" charset="-120"/>
              </a:rPr>
              <a:t>Weekly online shoppers with no felt health risk</a:t>
            </a:r>
            <a:endParaRPr lang="en-US" sz="1200" dirty="0"/>
          </a:p>
          <a:p>
            <a:pPr indent="0" marL="0">
              <a:buNone/>
            </a:pPr>
            <a:r>
              <a:rPr lang="en-US" sz="950" i="1" dirty="0">
                <a:solidFill>
                  <a:srgbClr val="5C6B63"/>
                </a:solidFill>
                <a:latin typeface="Calibri" pitchFamily="34" charset="0"/>
                <a:ea typeface="Calibri" pitchFamily="34" charset="-122"/>
                <a:cs typeface="Calibri" pitchFamily="34" charset="-120"/>
              </a:rPr>
              <a:t>Only 6.0% meet fruit &amp; veg minimum</a:t>
            </a:r>
            <a:endParaRPr lang="en-US" sz="1200" dirty="0"/>
          </a:p>
        </p:txBody>
      </p:sp>
      <p:sp>
        <p:nvSpPr>
          <p:cNvPr id="18" name="Shape 16"/>
          <p:cNvSpPr/>
          <p:nvPr/>
        </p:nvSpPr>
        <p:spPr>
          <a:xfrm>
            <a:off x="4398264" y="1362456"/>
            <a:ext cx="804672" cy="237744"/>
          </a:xfrm>
          <a:prstGeom prst="roundRect">
            <a:avLst>
              <a:gd name="adj" fmla="val 46154"/>
            </a:avLst>
          </a:prstGeom>
          <a:solidFill>
            <a:srgbClr val="EE8100"/>
          </a:solidFill>
          <a:ln/>
        </p:spPr>
      </p:sp>
      <p:sp>
        <p:nvSpPr>
          <p:cNvPr id="19" name="Text 17"/>
          <p:cNvSpPr txBox="1"/>
          <p:nvPr/>
        </p:nvSpPr>
        <p:spPr>
          <a:xfrm>
            <a:off x="4398264" y="1362456"/>
            <a:ext cx="804672" cy="237744"/>
          </a:xfrm>
          <a:prstGeom prst="rect">
            <a:avLst/>
          </a:prstGeom>
          <a:noFill/>
          <a:ln/>
        </p:spPr>
        <p:txBody>
          <a:bodyPr wrap="square" lIns="0" tIns="0" rIns="0" bIns="0" rtlCol="0" anchor="ctr"/>
          <a:lstStyle/>
          <a:p>
            <a:pPr algn="ctr" indent="0" marL="0">
              <a:buNone/>
            </a:pPr>
            <a:r>
              <a:rPr lang="en-US" sz="900" b="1" spc="100" kern="0" dirty="0">
                <a:solidFill>
                  <a:srgbClr val="1F2A24"/>
                </a:solidFill>
                <a:latin typeface="Calibri" pitchFamily="34" charset="0"/>
                <a:ea typeface="Calibri" pitchFamily="34" charset="-122"/>
                <a:cs typeface="Calibri" pitchFamily="34" charset="-120"/>
              </a:rPr>
              <a:t>PRIORITY</a:t>
            </a:r>
            <a:endParaRPr lang="en-US" sz="900" dirty="0"/>
          </a:p>
        </p:txBody>
      </p:sp>
      <p:sp>
        <p:nvSpPr>
          <p:cNvPr id="20" name="Shape 18"/>
          <p:cNvSpPr/>
          <p:nvPr/>
        </p:nvSpPr>
        <p:spPr>
          <a:xfrm>
            <a:off x="548640" y="2450592"/>
            <a:ext cx="1600200" cy="548640"/>
          </a:xfrm>
          <a:prstGeom prst="roundRect">
            <a:avLst>
              <a:gd name="adj" fmla="val 8333"/>
            </a:avLst>
          </a:prstGeom>
          <a:solidFill>
            <a:srgbClr val="FFFFFF"/>
          </a:solidFill>
          <a:ln w="9525">
            <a:solidFill>
              <a:srgbClr val="C9D5CE"/>
            </a:solidFill>
            <a:prstDash val="solid"/>
          </a:ln>
        </p:spPr>
      </p:sp>
      <p:sp>
        <p:nvSpPr>
          <p:cNvPr id="21" name="Text 19"/>
          <p:cNvSpPr txBox="1"/>
          <p:nvPr/>
        </p:nvSpPr>
        <p:spPr>
          <a:xfrm>
            <a:off x="640080" y="2450592"/>
            <a:ext cx="1417320" cy="548640"/>
          </a:xfrm>
          <a:prstGeom prst="rect">
            <a:avLst/>
          </a:prstGeom>
          <a:noFill/>
          <a:ln/>
        </p:spPr>
        <p:txBody>
          <a:bodyPr wrap="square" lIns="0" tIns="0" rIns="0" bIns="0" rtlCol="0" anchor="ctr"/>
          <a:lstStyle/>
          <a:p>
            <a:pPr indent="0" marL="0">
              <a:buNone/>
            </a:pPr>
            <a:r>
              <a:rPr lang="en-US" sz="1000" b="1" dirty="0">
                <a:solidFill>
                  <a:srgbClr val="154B36"/>
                </a:solidFill>
                <a:latin typeface="Calibri" pitchFamily="34" charset="0"/>
                <a:ea typeface="Calibri" pitchFamily="34" charset="-122"/>
                <a:cs typeface="Calibri" pitchFamily="34" charset="-120"/>
              </a:rPr>
              <a:t>Problem severity and frequency</a:t>
            </a:r>
            <a:endParaRPr lang="en-US" sz="1000" dirty="0"/>
          </a:p>
        </p:txBody>
      </p:sp>
      <p:sp>
        <p:nvSpPr>
          <p:cNvPr id="22" name="Shape 20"/>
          <p:cNvSpPr/>
          <p:nvPr/>
        </p:nvSpPr>
        <p:spPr>
          <a:xfrm>
            <a:off x="2249424" y="2450592"/>
            <a:ext cx="3063240" cy="548640"/>
          </a:xfrm>
          <a:prstGeom prst="roundRect">
            <a:avLst>
              <a:gd name="adj" fmla="val 8333"/>
            </a:avLst>
          </a:prstGeom>
          <a:solidFill>
            <a:srgbClr val="E8F1EB"/>
          </a:solidFill>
          <a:ln w="15875">
            <a:solidFill>
              <a:srgbClr val="154B36"/>
            </a:solidFill>
            <a:prstDash val="solid"/>
          </a:ln>
        </p:spPr>
      </p:sp>
      <p:sp>
        <p:nvSpPr>
          <p:cNvPr id="23" name="Text 21"/>
          <p:cNvSpPr txBox="1"/>
          <p:nvPr/>
        </p:nvSpPr>
        <p:spPr>
          <a:xfrm>
            <a:off x="2359152" y="2450592"/>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High: every weekly basket; a wrong pick has a health cost</a:t>
            </a:r>
            <a:endParaRPr lang="en-US" sz="1000" dirty="0"/>
          </a:p>
        </p:txBody>
      </p:sp>
      <p:sp>
        <p:nvSpPr>
          <p:cNvPr id="24" name="Shape 22"/>
          <p:cNvSpPr/>
          <p:nvPr/>
        </p:nvSpPr>
        <p:spPr>
          <a:xfrm>
            <a:off x="5413248" y="2450592"/>
            <a:ext cx="3063240" cy="548640"/>
          </a:xfrm>
          <a:prstGeom prst="roundRect">
            <a:avLst>
              <a:gd name="adj" fmla="val 8333"/>
            </a:avLst>
          </a:prstGeom>
          <a:solidFill>
            <a:srgbClr val="FFFFFF"/>
          </a:solidFill>
          <a:ln w="9525">
            <a:solidFill>
              <a:srgbClr val="C9D5CE"/>
            </a:solidFill>
            <a:prstDash val="solid"/>
          </a:ln>
        </p:spPr>
      </p:sp>
      <p:sp>
        <p:nvSpPr>
          <p:cNvPr id="25" name="Text 23"/>
          <p:cNvSpPr txBox="1"/>
          <p:nvPr/>
        </p:nvSpPr>
        <p:spPr>
          <a:xfrm>
            <a:off x="5522976" y="2450592"/>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Medium: rising risk, but no rule to follow</a:t>
            </a:r>
            <a:endParaRPr lang="en-US" sz="1000" dirty="0"/>
          </a:p>
        </p:txBody>
      </p:sp>
      <p:sp>
        <p:nvSpPr>
          <p:cNvPr id="26" name="Shape 24"/>
          <p:cNvSpPr/>
          <p:nvPr/>
        </p:nvSpPr>
        <p:spPr>
          <a:xfrm>
            <a:off x="8577072" y="2450592"/>
            <a:ext cx="3063240" cy="548640"/>
          </a:xfrm>
          <a:prstGeom prst="roundRect">
            <a:avLst>
              <a:gd name="adj" fmla="val 8333"/>
            </a:avLst>
          </a:prstGeom>
          <a:solidFill>
            <a:srgbClr val="FFFFFF"/>
          </a:solidFill>
          <a:ln w="9525">
            <a:solidFill>
              <a:srgbClr val="C9D5CE"/>
            </a:solidFill>
            <a:prstDash val="solid"/>
          </a:ln>
        </p:spPr>
      </p:sp>
      <p:sp>
        <p:nvSpPr>
          <p:cNvPr id="27" name="Text 25"/>
          <p:cNvSpPr txBox="1"/>
          <p:nvPr/>
        </p:nvSpPr>
        <p:spPr>
          <a:xfrm>
            <a:off x="8686800" y="2450592"/>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Low felt: the problem exists but goes unnoticed</a:t>
            </a:r>
            <a:endParaRPr lang="en-US" sz="1000" dirty="0"/>
          </a:p>
        </p:txBody>
      </p:sp>
      <p:sp>
        <p:nvSpPr>
          <p:cNvPr id="28" name="Shape 26"/>
          <p:cNvSpPr/>
          <p:nvPr/>
        </p:nvSpPr>
        <p:spPr>
          <a:xfrm>
            <a:off x="548640" y="3035808"/>
            <a:ext cx="1600200" cy="548640"/>
          </a:xfrm>
          <a:prstGeom prst="roundRect">
            <a:avLst>
              <a:gd name="adj" fmla="val 8333"/>
            </a:avLst>
          </a:prstGeom>
          <a:solidFill>
            <a:srgbClr val="FFFFFF"/>
          </a:solidFill>
          <a:ln w="9525">
            <a:solidFill>
              <a:srgbClr val="C9D5CE"/>
            </a:solidFill>
            <a:prstDash val="solid"/>
          </a:ln>
        </p:spPr>
      </p:sp>
      <p:sp>
        <p:nvSpPr>
          <p:cNvPr id="29" name="Text 27"/>
          <p:cNvSpPr txBox="1"/>
          <p:nvPr/>
        </p:nvSpPr>
        <p:spPr>
          <a:xfrm>
            <a:off x="640080" y="3035808"/>
            <a:ext cx="1417320" cy="548640"/>
          </a:xfrm>
          <a:prstGeom prst="rect">
            <a:avLst/>
          </a:prstGeom>
          <a:noFill/>
          <a:ln/>
        </p:spPr>
        <p:txBody>
          <a:bodyPr wrap="square" lIns="0" tIns="0" rIns="0" bIns="0" rtlCol="0" anchor="ctr"/>
          <a:lstStyle/>
          <a:p>
            <a:pPr indent="0" marL="0">
              <a:buNone/>
            </a:pPr>
            <a:r>
              <a:rPr lang="en-US" sz="1000" b="1" dirty="0">
                <a:solidFill>
                  <a:srgbClr val="154B36"/>
                </a:solidFill>
                <a:latin typeface="Calibri" pitchFamily="34" charset="0"/>
                <a:ea typeface="Calibri" pitchFamily="34" charset="-122"/>
                <a:cs typeface="Calibri" pitchFamily="34" charset="-120"/>
              </a:rPr>
              <a:t>Current behaviour or workaround</a:t>
            </a:r>
            <a:endParaRPr lang="en-US" sz="1000" dirty="0"/>
          </a:p>
        </p:txBody>
      </p:sp>
      <p:sp>
        <p:nvSpPr>
          <p:cNvPr id="30" name="Shape 28"/>
          <p:cNvSpPr/>
          <p:nvPr/>
        </p:nvSpPr>
        <p:spPr>
          <a:xfrm>
            <a:off x="2249424" y="3035808"/>
            <a:ext cx="3063240" cy="548640"/>
          </a:xfrm>
          <a:prstGeom prst="roundRect">
            <a:avLst>
              <a:gd name="adj" fmla="val 8333"/>
            </a:avLst>
          </a:prstGeom>
          <a:solidFill>
            <a:srgbClr val="E8F1EB"/>
          </a:solidFill>
          <a:ln w="15875">
            <a:solidFill>
              <a:srgbClr val="154B36"/>
            </a:solidFill>
            <a:prstDash val="solid"/>
          </a:ln>
        </p:spPr>
      </p:sp>
      <p:sp>
        <p:nvSpPr>
          <p:cNvPr id="31" name="Text 29"/>
          <p:cNvSpPr txBox="1"/>
          <p:nvPr/>
        </p:nvSpPr>
        <p:spPr>
          <a:xfrm>
            <a:off x="2359152" y="3035808"/>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Memorised avoid-lists, small-print labels, asking family or a clinician</a:t>
            </a:r>
            <a:endParaRPr lang="en-US" sz="1000" dirty="0"/>
          </a:p>
        </p:txBody>
      </p:sp>
      <p:sp>
        <p:nvSpPr>
          <p:cNvPr id="32" name="Shape 30"/>
          <p:cNvSpPr/>
          <p:nvPr/>
        </p:nvSpPr>
        <p:spPr>
          <a:xfrm>
            <a:off x="5413248" y="3035808"/>
            <a:ext cx="3063240" cy="548640"/>
          </a:xfrm>
          <a:prstGeom prst="roundRect">
            <a:avLst>
              <a:gd name="adj" fmla="val 8333"/>
            </a:avLst>
          </a:prstGeom>
          <a:solidFill>
            <a:srgbClr val="FFFFFF"/>
          </a:solidFill>
          <a:ln w="9525">
            <a:solidFill>
              <a:srgbClr val="C9D5CE"/>
            </a:solidFill>
            <a:prstDash val="solid"/>
          </a:ln>
        </p:spPr>
      </p:sp>
      <p:sp>
        <p:nvSpPr>
          <p:cNvPr id="33" name="Text 31"/>
          <p:cNvSpPr txBox="1"/>
          <p:nvPr/>
        </p:nvSpPr>
        <p:spPr>
          <a:xfrm>
            <a:off x="5522976" y="3035808"/>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General “healthy” rules of thumb and pack claims</a:t>
            </a:r>
            <a:endParaRPr lang="en-US" sz="1000" dirty="0"/>
          </a:p>
        </p:txBody>
      </p:sp>
      <p:sp>
        <p:nvSpPr>
          <p:cNvPr id="34" name="Shape 32"/>
          <p:cNvSpPr/>
          <p:nvPr/>
        </p:nvSpPr>
        <p:spPr>
          <a:xfrm>
            <a:off x="8577072" y="3035808"/>
            <a:ext cx="3063240" cy="548640"/>
          </a:xfrm>
          <a:prstGeom prst="roundRect">
            <a:avLst>
              <a:gd name="adj" fmla="val 8333"/>
            </a:avLst>
          </a:prstGeom>
          <a:solidFill>
            <a:srgbClr val="FFFFFF"/>
          </a:solidFill>
          <a:ln w="9525">
            <a:solidFill>
              <a:srgbClr val="C9D5CE"/>
            </a:solidFill>
            <a:prstDash val="solid"/>
          </a:ln>
        </p:spPr>
      </p:sp>
      <p:sp>
        <p:nvSpPr>
          <p:cNvPr id="35" name="Text 33"/>
          <p:cNvSpPr txBox="1"/>
          <p:nvPr/>
        </p:nvSpPr>
        <p:spPr>
          <a:xfrm>
            <a:off x="8686800" y="3035808"/>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None: buys on price and habit</a:t>
            </a:r>
            <a:endParaRPr lang="en-US" sz="1000" dirty="0"/>
          </a:p>
        </p:txBody>
      </p:sp>
      <p:sp>
        <p:nvSpPr>
          <p:cNvPr id="36" name="Shape 34"/>
          <p:cNvSpPr/>
          <p:nvPr/>
        </p:nvSpPr>
        <p:spPr>
          <a:xfrm>
            <a:off x="548640" y="3621024"/>
            <a:ext cx="1600200" cy="548640"/>
          </a:xfrm>
          <a:prstGeom prst="roundRect">
            <a:avLst>
              <a:gd name="adj" fmla="val 8333"/>
            </a:avLst>
          </a:prstGeom>
          <a:solidFill>
            <a:srgbClr val="FFFFFF"/>
          </a:solidFill>
          <a:ln w="9525">
            <a:solidFill>
              <a:srgbClr val="C9D5CE"/>
            </a:solidFill>
            <a:prstDash val="solid"/>
          </a:ln>
        </p:spPr>
      </p:sp>
      <p:sp>
        <p:nvSpPr>
          <p:cNvPr id="37" name="Text 35"/>
          <p:cNvSpPr txBox="1"/>
          <p:nvPr/>
        </p:nvSpPr>
        <p:spPr>
          <a:xfrm>
            <a:off x="640080" y="3621024"/>
            <a:ext cx="1417320" cy="548640"/>
          </a:xfrm>
          <a:prstGeom prst="rect">
            <a:avLst/>
          </a:prstGeom>
          <a:noFill/>
          <a:ln/>
        </p:spPr>
        <p:txBody>
          <a:bodyPr wrap="square" lIns="0" tIns="0" rIns="0" bIns="0" rtlCol="0" anchor="ctr"/>
          <a:lstStyle/>
          <a:p>
            <a:pPr indent="0" marL="0">
              <a:buNone/>
            </a:pPr>
            <a:r>
              <a:rPr lang="en-US" sz="1000" b="1" dirty="0">
                <a:solidFill>
                  <a:srgbClr val="154B36"/>
                </a:solidFill>
                <a:latin typeface="Calibri" pitchFamily="34" charset="0"/>
                <a:ea typeface="Calibri" pitchFamily="34" charset="-122"/>
                <a:cs typeface="Calibri" pitchFamily="34" charset="-120"/>
              </a:rPr>
              <a:t>Access to alternatives</a:t>
            </a:r>
            <a:endParaRPr lang="en-US" sz="1000" dirty="0"/>
          </a:p>
        </p:txBody>
      </p:sp>
      <p:sp>
        <p:nvSpPr>
          <p:cNvPr id="38" name="Shape 36"/>
          <p:cNvSpPr/>
          <p:nvPr/>
        </p:nvSpPr>
        <p:spPr>
          <a:xfrm>
            <a:off x="2249424" y="3621024"/>
            <a:ext cx="3063240" cy="548640"/>
          </a:xfrm>
          <a:prstGeom prst="roundRect">
            <a:avLst>
              <a:gd name="adj" fmla="val 8333"/>
            </a:avLst>
          </a:prstGeom>
          <a:solidFill>
            <a:srgbClr val="E8F1EB"/>
          </a:solidFill>
          <a:ln w="15875">
            <a:solidFill>
              <a:srgbClr val="154B36"/>
            </a:solidFill>
            <a:prstDash val="solid"/>
          </a:ln>
        </p:spPr>
      </p:sp>
      <p:sp>
        <p:nvSpPr>
          <p:cNvPr id="39" name="Text 37"/>
          <p:cNvSpPr txBox="1"/>
          <p:nvPr/>
        </p:nvSpPr>
        <p:spPr>
          <a:xfrm>
            <a:off x="2359152" y="3621024"/>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Pack labels only; no online signal; added sugar not mandatory</a:t>
            </a:r>
            <a:endParaRPr lang="en-US" sz="1000" dirty="0"/>
          </a:p>
        </p:txBody>
      </p:sp>
      <p:sp>
        <p:nvSpPr>
          <p:cNvPr id="40" name="Shape 38"/>
          <p:cNvSpPr/>
          <p:nvPr/>
        </p:nvSpPr>
        <p:spPr>
          <a:xfrm>
            <a:off x="5413248" y="3621024"/>
            <a:ext cx="3063240" cy="548640"/>
          </a:xfrm>
          <a:prstGeom prst="roundRect">
            <a:avLst>
              <a:gd name="adj" fmla="val 8333"/>
            </a:avLst>
          </a:prstGeom>
          <a:solidFill>
            <a:srgbClr val="FFFFFF"/>
          </a:solidFill>
          <a:ln w="9525">
            <a:solidFill>
              <a:srgbClr val="C9D5CE"/>
            </a:solidFill>
            <a:prstDash val="solid"/>
          </a:ln>
        </p:spPr>
      </p:sp>
      <p:sp>
        <p:nvSpPr>
          <p:cNvPr id="41" name="Text 39"/>
          <p:cNvSpPr txBox="1"/>
          <p:nvPr/>
        </p:nvSpPr>
        <p:spPr>
          <a:xfrm>
            <a:off x="5522976" y="3621024"/>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Same, with no personalised guidance</a:t>
            </a:r>
            <a:endParaRPr lang="en-US" sz="1000" dirty="0"/>
          </a:p>
        </p:txBody>
      </p:sp>
      <p:sp>
        <p:nvSpPr>
          <p:cNvPr id="42" name="Shape 40"/>
          <p:cNvSpPr/>
          <p:nvPr/>
        </p:nvSpPr>
        <p:spPr>
          <a:xfrm>
            <a:off x="8577072" y="3621024"/>
            <a:ext cx="3063240" cy="548640"/>
          </a:xfrm>
          <a:prstGeom prst="roundRect">
            <a:avLst>
              <a:gd name="adj" fmla="val 8333"/>
            </a:avLst>
          </a:prstGeom>
          <a:solidFill>
            <a:srgbClr val="FFFFFF"/>
          </a:solidFill>
          <a:ln w="9525">
            <a:solidFill>
              <a:srgbClr val="C9D5CE"/>
            </a:solidFill>
            <a:prstDash val="solid"/>
          </a:ln>
        </p:spPr>
      </p:sp>
      <p:sp>
        <p:nvSpPr>
          <p:cNvPr id="43" name="Text 41"/>
          <p:cNvSpPr txBox="1"/>
          <p:nvPr/>
        </p:nvSpPr>
        <p:spPr>
          <a:xfrm>
            <a:off x="8686800" y="3621024"/>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Same; nothing prompts them to look</a:t>
            </a:r>
            <a:endParaRPr lang="en-US" sz="1000" dirty="0"/>
          </a:p>
        </p:txBody>
      </p:sp>
      <p:sp>
        <p:nvSpPr>
          <p:cNvPr id="44" name="Shape 42"/>
          <p:cNvSpPr/>
          <p:nvPr/>
        </p:nvSpPr>
        <p:spPr>
          <a:xfrm>
            <a:off x="548640" y="4206240"/>
            <a:ext cx="1600200" cy="548640"/>
          </a:xfrm>
          <a:prstGeom prst="roundRect">
            <a:avLst>
              <a:gd name="adj" fmla="val 8333"/>
            </a:avLst>
          </a:prstGeom>
          <a:solidFill>
            <a:srgbClr val="FFFFFF"/>
          </a:solidFill>
          <a:ln w="9525">
            <a:solidFill>
              <a:srgbClr val="C9D5CE"/>
            </a:solidFill>
            <a:prstDash val="solid"/>
          </a:ln>
        </p:spPr>
      </p:sp>
      <p:sp>
        <p:nvSpPr>
          <p:cNvPr id="45" name="Text 43"/>
          <p:cNvSpPr txBox="1"/>
          <p:nvPr/>
        </p:nvSpPr>
        <p:spPr>
          <a:xfrm>
            <a:off x="640080" y="4206240"/>
            <a:ext cx="1417320" cy="548640"/>
          </a:xfrm>
          <a:prstGeom prst="rect">
            <a:avLst/>
          </a:prstGeom>
          <a:noFill/>
          <a:ln/>
        </p:spPr>
        <p:txBody>
          <a:bodyPr wrap="square" lIns="0" tIns="0" rIns="0" bIns="0" rtlCol="0" anchor="ctr"/>
          <a:lstStyle/>
          <a:p>
            <a:pPr indent="0" marL="0">
              <a:buNone/>
            </a:pPr>
            <a:r>
              <a:rPr lang="en-US" sz="1000" b="1" dirty="0">
                <a:solidFill>
                  <a:srgbClr val="154B36"/>
                </a:solidFill>
                <a:latin typeface="Calibri" pitchFamily="34" charset="0"/>
                <a:ea typeface="Calibri" pitchFamily="34" charset="-122"/>
                <a:cs typeface="Calibri" pitchFamily="34" charset="-120"/>
              </a:rPr>
              <a:t>Role in the health system</a:t>
            </a:r>
            <a:endParaRPr lang="en-US" sz="1000" dirty="0"/>
          </a:p>
        </p:txBody>
      </p:sp>
      <p:sp>
        <p:nvSpPr>
          <p:cNvPr id="46" name="Shape 44"/>
          <p:cNvSpPr/>
          <p:nvPr/>
        </p:nvSpPr>
        <p:spPr>
          <a:xfrm>
            <a:off x="2249424" y="4206240"/>
            <a:ext cx="3063240" cy="548640"/>
          </a:xfrm>
          <a:prstGeom prst="roundRect">
            <a:avLst>
              <a:gd name="adj" fmla="val 8333"/>
            </a:avLst>
          </a:prstGeom>
          <a:solidFill>
            <a:srgbClr val="E8F1EB"/>
          </a:solidFill>
          <a:ln w="15875">
            <a:solidFill>
              <a:srgbClr val="154B36"/>
            </a:solidFill>
            <a:prstDash val="solid"/>
          </a:ln>
        </p:spPr>
      </p:sp>
      <p:sp>
        <p:nvSpPr>
          <p:cNvPr id="47" name="Text 45"/>
          <p:cNvSpPr txBox="1"/>
          <p:nvPr/>
        </p:nvSpPr>
        <p:spPr>
          <a:xfrm>
            <a:off x="2359152" y="4206240"/>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Secondary prevention: diagnosed, following advice</a:t>
            </a:r>
            <a:endParaRPr lang="en-US" sz="1000" dirty="0"/>
          </a:p>
        </p:txBody>
      </p:sp>
      <p:sp>
        <p:nvSpPr>
          <p:cNvPr id="48" name="Shape 46"/>
          <p:cNvSpPr/>
          <p:nvPr/>
        </p:nvSpPr>
        <p:spPr>
          <a:xfrm>
            <a:off x="5413248" y="4206240"/>
            <a:ext cx="3063240" cy="548640"/>
          </a:xfrm>
          <a:prstGeom prst="roundRect">
            <a:avLst>
              <a:gd name="adj" fmla="val 8333"/>
            </a:avLst>
          </a:prstGeom>
          <a:solidFill>
            <a:srgbClr val="FFFFFF"/>
          </a:solidFill>
          <a:ln w="9525">
            <a:solidFill>
              <a:srgbClr val="C9D5CE"/>
            </a:solidFill>
            <a:prstDash val="solid"/>
          </a:ln>
        </p:spPr>
      </p:sp>
      <p:sp>
        <p:nvSpPr>
          <p:cNvPr id="49" name="Text 47"/>
          <p:cNvSpPr txBox="1"/>
          <p:nvPr/>
        </p:nvSpPr>
        <p:spPr>
          <a:xfrm>
            <a:off x="5522976" y="4206240"/>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Primary prevention: the group national targets aim to reach</a:t>
            </a:r>
            <a:endParaRPr lang="en-US" sz="1000" dirty="0"/>
          </a:p>
        </p:txBody>
      </p:sp>
      <p:sp>
        <p:nvSpPr>
          <p:cNvPr id="50" name="Shape 48"/>
          <p:cNvSpPr/>
          <p:nvPr/>
        </p:nvSpPr>
        <p:spPr>
          <a:xfrm>
            <a:off x="8577072" y="4206240"/>
            <a:ext cx="3063240" cy="548640"/>
          </a:xfrm>
          <a:prstGeom prst="roundRect">
            <a:avLst>
              <a:gd name="adj" fmla="val 8333"/>
            </a:avLst>
          </a:prstGeom>
          <a:solidFill>
            <a:srgbClr val="FFFFFF"/>
          </a:solidFill>
          <a:ln w="9525">
            <a:solidFill>
              <a:srgbClr val="C9D5CE"/>
            </a:solidFill>
            <a:prstDash val="solid"/>
          </a:ln>
        </p:spPr>
      </p:sp>
      <p:sp>
        <p:nvSpPr>
          <p:cNvPr id="51" name="Text 49"/>
          <p:cNvSpPr txBox="1"/>
          <p:nvPr/>
        </p:nvSpPr>
        <p:spPr>
          <a:xfrm>
            <a:off x="8686800" y="4206240"/>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Primary prevention: the undiagnosed majority</a:t>
            </a:r>
            <a:endParaRPr lang="en-US" sz="1000" dirty="0"/>
          </a:p>
        </p:txBody>
      </p:sp>
      <p:sp>
        <p:nvSpPr>
          <p:cNvPr id="52" name="Shape 50"/>
          <p:cNvSpPr/>
          <p:nvPr/>
        </p:nvSpPr>
        <p:spPr>
          <a:xfrm>
            <a:off x="548640" y="4791456"/>
            <a:ext cx="1600200" cy="548640"/>
          </a:xfrm>
          <a:prstGeom prst="roundRect">
            <a:avLst>
              <a:gd name="adj" fmla="val 8333"/>
            </a:avLst>
          </a:prstGeom>
          <a:solidFill>
            <a:srgbClr val="FFFFFF"/>
          </a:solidFill>
          <a:ln w="9525">
            <a:solidFill>
              <a:srgbClr val="C9D5CE"/>
            </a:solidFill>
            <a:prstDash val="solid"/>
          </a:ln>
        </p:spPr>
      </p:sp>
      <p:sp>
        <p:nvSpPr>
          <p:cNvPr id="53" name="Text 51"/>
          <p:cNvSpPr txBox="1"/>
          <p:nvPr/>
        </p:nvSpPr>
        <p:spPr>
          <a:xfrm>
            <a:off x="640080" y="4791456"/>
            <a:ext cx="1417320" cy="548640"/>
          </a:xfrm>
          <a:prstGeom prst="rect">
            <a:avLst/>
          </a:prstGeom>
          <a:noFill/>
          <a:ln/>
        </p:spPr>
        <p:txBody>
          <a:bodyPr wrap="square" lIns="0" tIns="0" rIns="0" bIns="0" rtlCol="0" anchor="ctr"/>
          <a:lstStyle/>
          <a:p>
            <a:pPr indent="0" marL="0">
              <a:buNone/>
            </a:pPr>
            <a:r>
              <a:rPr lang="en-US" sz="1000" b="1" dirty="0">
                <a:solidFill>
                  <a:srgbClr val="154B36"/>
                </a:solidFill>
                <a:latin typeface="Calibri" pitchFamily="34" charset="0"/>
                <a:ea typeface="Calibri" pitchFamily="34" charset="-122"/>
                <a:cs typeface="Calibri" pitchFamily="34" charset="-120"/>
              </a:rPr>
              <a:t>Digital access and willingness to pay</a:t>
            </a:r>
            <a:endParaRPr lang="en-US" sz="1000" dirty="0"/>
          </a:p>
        </p:txBody>
      </p:sp>
      <p:sp>
        <p:nvSpPr>
          <p:cNvPr id="54" name="Shape 52"/>
          <p:cNvSpPr/>
          <p:nvPr/>
        </p:nvSpPr>
        <p:spPr>
          <a:xfrm>
            <a:off x="2249424" y="4791456"/>
            <a:ext cx="3063240" cy="548640"/>
          </a:xfrm>
          <a:prstGeom prst="roundRect">
            <a:avLst>
              <a:gd name="adj" fmla="val 8333"/>
            </a:avLst>
          </a:prstGeom>
          <a:solidFill>
            <a:srgbClr val="E8F1EB"/>
          </a:solidFill>
          <a:ln w="15875">
            <a:solidFill>
              <a:srgbClr val="154B36"/>
            </a:solidFill>
            <a:prstDash val="solid"/>
          </a:ln>
        </p:spPr>
      </p:sp>
      <p:sp>
        <p:nvSpPr>
          <p:cNvPr id="55" name="Text 53"/>
          <p:cNvSpPr txBox="1"/>
          <p:nvPr/>
        </p:nvSpPr>
        <p:spPr>
          <a:xfrm>
            <a:off x="2359152" y="4791456"/>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Already shops online; desktop vs app and payment to confirm</a:t>
            </a:r>
            <a:endParaRPr lang="en-US" sz="1000" dirty="0"/>
          </a:p>
        </p:txBody>
      </p:sp>
      <p:sp>
        <p:nvSpPr>
          <p:cNvPr id="56" name="Shape 54"/>
          <p:cNvSpPr/>
          <p:nvPr/>
        </p:nvSpPr>
        <p:spPr>
          <a:xfrm>
            <a:off x="5413248" y="4791456"/>
            <a:ext cx="3063240" cy="548640"/>
          </a:xfrm>
          <a:prstGeom prst="roundRect">
            <a:avLst>
              <a:gd name="adj" fmla="val 8333"/>
            </a:avLst>
          </a:prstGeom>
          <a:solidFill>
            <a:srgbClr val="FFFFFF"/>
          </a:solidFill>
          <a:ln w="9525">
            <a:solidFill>
              <a:srgbClr val="C9D5CE"/>
            </a:solidFill>
            <a:prstDash val="solid"/>
          </a:ln>
        </p:spPr>
      </p:sp>
      <p:sp>
        <p:nvSpPr>
          <p:cNvPr id="57" name="Text 55"/>
          <p:cNvSpPr txBox="1"/>
          <p:nvPr/>
        </p:nvSpPr>
        <p:spPr>
          <a:xfrm>
            <a:off x="5522976" y="4791456"/>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Likely confident; payment to confirm</a:t>
            </a:r>
            <a:endParaRPr lang="en-US" sz="1000" dirty="0"/>
          </a:p>
        </p:txBody>
      </p:sp>
      <p:sp>
        <p:nvSpPr>
          <p:cNvPr id="58" name="Shape 56"/>
          <p:cNvSpPr/>
          <p:nvPr/>
        </p:nvSpPr>
        <p:spPr>
          <a:xfrm>
            <a:off x="8577072" y="4791456"/>
            <a:ext cx="3063240" cy="548640"/>
          </a:xfrm>
          <a:prstGeom prst="roundRect">
            <a:avLst>
              <a:gd name="adj" fmla="val 8333"/>
            </a:avLst>
          </a:prstGeom>
          <a:solidFill>
            <a:srgbClr val="FFFFFF"/>
          </a:solidFill>
          <a:ln w="9525">
            <a:solidFill>
              <a:srgbClr val="C9D5CE"/>
            </a:solidFill>
            <a:prstDash val="solid"/>
          </a:ln>
        </p:spPr>
      </p:sp>
      <p:sp>
        <p:nvSpPr>
          <p:cNvPr id="59" name="Text 57"/>
          <p:cNvSpPr txBox="1"/>
          <p:nvPr/>
        </p:nvSpPr>
        <p:spPr>
          <a:xfrm>
            <a:off x="8686800" y="4791456"/>
            <a:ext cx="2843784" cy="548640"/>
          </a:xfrm>
          <a:prstGeom prst="rect">
            <a:avLst/>
          </a:prstGeom>
          <a:noFill/>
          <a:ln/>
        </p:spPr>
        <p:txBody>
          <a:bodyPr wrap="square" lIns="0" tIns="0" rIns="0" bIns="0" rtlCol="0" anchor="ctr"/>
          <a:lstStyle/>
          <a:p>
            <a:pPr indent="0" marL="0">
              <a:buNone/>
            </a:pPr>
            <a:r>
              <a:rPr lang="en-US" sz="1000" dirty="0">
                <a:solidFill>
                  <a:srgbClr val="1F2A24"/>
                </a:solidFill>
                <a:latin typeface="Calibri" pitchFamily="34" charset="0"/>
                <a:ea typeface="Calibri" pitchFamily="34" charset="-122"/>
                <a:cs typeface="Calibri" pitchFamily="34" charset="-120"/>
              </a:rPr>
              <a:t>Confident, but little pull to install</a:t>
            </a:r>
            <a:endParaRPr lang="en-US" sz="1000" dirty="0"/>
          </a:p>
        </p:txBody>
      </p:sp>
      <p:sp>
        <p:nvSpPr>
          <p:cNvPr id="60" name="Shape 58"/>
          <p:cNvSpPr/>
          <p:nvPr/>
        </p:nvSpPr>
        <p:spPr>
          <a:xfrm>
            <a:off x="548640" y="5440680"/>
            <a:ext cx="11091672" cy="676656"/>
          </a:xfrm>
          <a:prstGeom prst="roundRect">
            <a:avLst>
              <a:gd name="adj" fmla="val 8108"/>
            </a:avLst>
          </a:prstGeom>
          <a:solidFill>
            <a:srgbClr val="FFFFFF"/>
          </a:solidFill>
          <a:ln w="9525">
            <a:solidFill>
              <a:srgbClr val="C9D5CE"/>
            </a:solidFill>
            <a:prstDash val="solid"/>
          </a:ln>
        </p:spPr>
      </p:sp>
      <p:sp>
        <p:nvSpPr>
          <p:cNvPr id="61" name="Text 59"/>
          <p:cNvSpPr txBox="1"/>
          <p:nvPr/>
        </p:nvSpPr>
        <p:spPr>
          <a:xfrm>
            <a:off x="658368" y="5440680"/>
            <a:ext cx="1417320" cy="676656"/>
          </a:xfrm>
          <a:prstGeom prst="rect">
            <a:avLst/>
          </a:prstGeom>
          <a:noFill/>
          <a:ln/>
        </p:spPr>
        <p:txBody>
          <a:bodyPr wrap="square" lIns="0" tIns="0" rIns="0" bIns="0" rtlCol="0" anchor="ctr"/>
          <a:lstStyle/>
          <a:p>
            <a:pPr indent="0" marL="0">
              <a:buNone/>
            </a:pPr>
            <a:r>
              <a:rPr lang="en-US" sz="1000" b="1" spc="150" kern="0" dirty="0">
                <a:solidFill>
                  <a:srgbClr val="A85A00"/>
                </a:solidFill>
                <a:latin typeface="Calibri" pitchFamily="34" charset="0"/>
                <a:ea typeface="Calibri" pitchFamily="34" charset="-122"/>
                <a:cs typeface="Calibri" pitchFamily="34" charset="-120"/>
              </a:rPr>
              <a:t>WHY SEGMENT A</a:t>
            </a:r>
            <a:endParaRPr lang="en-US" sz="1000" dirty="0"/>
          </a:p>
        </p:txBody>
      </p:sp>
      <p:sp>
        <p:nvSpPr>
          <p:cNvPr id="62" name="Text 60"/>
          <p:cNvSpPr txBox="1"/>
          <p:nvPr/>
        </p:nvSpPr>
        <p:spPr>
          <a:xfrm>
            <a:off x="2359152" y="5458968"/>
            <a:ext cx="2843784" cy="640080"/>
          </a:xfrm>
          <a:prstGeom prst="rect">
            <a:avLst/>
          </a:prstGeom>
          <a:noFill/>
          <a:ln/>
        </p:spPr>
        <p:txBody>
          <a:bodyPr wrap="square" lIns="0" tIns="0" rIns="0" bIns="0" rtlCol="0" anchor="ctr"/>
          <a:lstStyle/>
          <a:p>
            <a:pPr indent="0" marL="0">
              <a:buNone/>
            </a:pPr>
            <a:r>
              <a:rPr lang="en-US" sz="950" b="1" dirty="0">
                <a:solidFill>
                  <a:srgbClr val="154B36"/>
                </a:solidFill>
                <a:latin typeface="Calibri" pitchFamily="34" charset="0"/>
                <a:ea typeface="Calibri" pitchFamily="34" charset="-122"/>
                <a:cs typeface="Calibri" pitchFamily="34" charset="-120"/>
              </a:rPr>
              <a:t>Strongest felt need. </a:t>
            </a:r>
            <a:pPr indent="0" marL="0">
              <a:buNone/>
            </a:pPr>
            <a:r>
              <a:rPr lang="en-US" sz="950" dirty="0">
                <a:solidFill>
                  <a:srgbClr val="1F2A24"/>
                </a:solidFill>
                <a:latin typeface="Calibri" pitchFamily="34" charset="0"/>
                <a:ea typeface="Calibri" pitchFamily="34" charset="-122"/>
                <a:cs typeface="Calibri" pitchFamily="34" charset="-120"/>
              </a:rPr>
              <a:t>They act on sugar or sodium every shop, and our thresholds mirror their rules.</a:t>
            </a:r>
            <a:endParaRPr lang="en-US" sz="950" dirty="0"/>
          </a:p>
        </p:txBody>
      </p:sp>
      <p:sp>
        <p:nvSpPr>
          <p:cNvPr id="63" name="Text 61"/>
          <p:cNvSpPr txBox="1"/>
          <p:nvPr/>
        </p:nvSpPr>
        <p:spPr>
          <a:xfrm>
            <a:off x="5522976" y="5458968"/>
            <a:ext cx="2843784" cy="640080"/>
          </a:xfrm>
          <a:prstGeom prst="rect">
            <a:avLst/>
          </a:prstGeom>
          <a:noFill/>
          <a:ln/>
        </p:spPr>
        <p:txBody>
          <a:bodyPr wrap="square" lIns="0" tIns="0" rIns="0" bIns="0" rtlCol="0" anchor="ctr"/>
          <a:lstStyle/>
          <a:p>
            <a:pPr indent="0" marL="0">
              <a:buNone/>
            </a:pPr>
            <a:r>
              <a:rPr lang="en-US" sz="950" b="1" dirty="0">
                <a:solidFill>
                  <a:srgbClr val="154B36"/>
                </a:solidFill>
                <a:latin typeface="Calibri" pitchFamily="34" charset="0"/>
                <a:ea typeface="Calibri" pitchFamily="34" charset="-122"/>
                <a:cs typeface="Calibri" pitchFamily="34" charset="-120"/>
              </a:rPr>
              <a:t>Poorest alternative. </a:t>
            </a:r>
            <a:pPr indent="0" marL="0">
              <a:buNone/>
            </a:pPr>
            <a:r>
              <a:rPr lang="en-US" sz="950" dirty="0">
                <a:solidFill>
                  <a:srgbClr val="1F2A24"/>
                </a:solidFill>
                <a:latin typeface="Calibri" pitchFamily="34" charset="0"/>
                <a:ea typeface="Calibri" pitchFamily="34" charset="-122"/>
                <a:cs typeface="Calibri" pitchFamily="34" charset="-120"/>
              </a:rPr>
              <a:t>Labels only, incomplete, and no signal on any Kenyan online store.</a:t>
            </a:r>
            <a:endParaRPr lang="en-US" sz="950" dirty="0"/>
          </a:p>
        </p:txBody>
      </p:sp>
      <p:sp>
        <p:nvSpPr>
          <p:cNvPr id="64" name="Text 62"/>
          <p:cNvSpPr txBox="1"/>
          <p:nvPr/>
        </p:nvSpPr>
        <p:spPr>
          <a:xfrm>
            <a:off x="8686800" y="5458968"/>
            <a:ext cx="2843784" cy="640080"/>
          </a:xfrm>
          <a:prstGeom prst="rect">
            <a:avLst/>
          </a:prstGeom>
          <a:noFill/>
          <a:ln/>
        </p:spPr>
        <p:txBody>
          <a:bodyPr wrap="square" lIns="0" tIns="0" rIns="0" bIns="0" rtlCol="0" anchor="ctr"/>
          <a:lstStyle/>
          <a:p>
            <a:pPr indent="0" marL="0">
              <a:buNone/>
            </a:pPr>
            <a:r>
              <a:rPr lang="en-US" sz="950" b="1" dirty="0">
                <a:solidFill>
                  <a:srgbClr val="154B36"/>
                </a:solidFill>
                <a:latin typeface="Calibri" pitchFamily="34" charset="0"/>
                <a:ea typeface="Calibri" pitchFamily="34" charset="-122"/>
                <a:cs typeface="Calibri" pitchFamily="34" charset="-120"/>
              </a:rPr>
              <a:t>Most testable. </a:t>
            </a:r>
            <a:pPr indent="0" marL="0">
              <a:buNone/>
            </a:pPr>
            <a:r>
              <a:rPr lang="en-US" sz="950" dirty="0">
                <a:solidFill>
                  <a:srgbClr val="1F2A24"/>
                </a:solidFill>
                <a:latin typeface="Calibri" pitchFamily="34" charset="0"/>
                <a:ea typeface="Calibri" pitchFamily="34" charset="-122"/>
                <a:cs typeface="Calibri" pitchFamily="34" charset="-120"/>
              </a:rPr>
              <a:t>They can retell their last shop; segment C cannot be interviewed about a problem it does not feel.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ASSIGNMENT 2 · USER &amp; STAKEHOLDER VALIDATION · STEP 3</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Validation: two conversations with priority-segment shoppers</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At least two conversations with people from segment A. Anonymise: no names, no diagnoses.</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2 / 4</a:t>
            </a:r>
            <a:endParaRPr lang="en-US" sz="900" dirty="0"/>
          </a:p>
        </p:txBody>
      </p:sp>
      <p:sp>
        <p:nvSpPr>
          <p:cNvPr id="12" name="Shape 10"/>
          <p:cNvSpPr/>
          <p:nvPr/>
        </p:nvSpPr>
        <p:spPr>
          <a:xfrm>
            <a:off x="548640" y="1508760"/>
            <a:ext cx="5440680" cy="3611880"/>
          </a:xfrm>
          <a:prstGeom prst="roundRect">
            <a:avLst>
              <a:gd name="adj" fmla="val 2025"/>
            </a:avLst>
          </a:prstGeom>
          <a:solidFill>
            <a:srgbClr val="FFFFFF"/>
          </a:solidFill>
          <a:ln w="9525">
            <a:solidFill>
              <a:srgbClr val="C9D5CE"/>
            </a:solidFill>
            <a:prstDash val="solid"/>
          </a:ln>
        </p:spPr>
      </p:sp>
      <p:sp>
        <p:nvSpPr>
          <p:cNvPr id="13" name="Shape 11"/>
          <p:cNvSpPr/>
          <p:nvPr/>
        </p:nvSpPr>
        <p:spPr>
          <a:xfrm>
            <a:off x="685800" y="1645920"/>
            <a:ext cx="5166360" cy="384048"/>
          </a:xfrm>
          <a:prstGeom prst="roundRect">
            <a:avLst>
              <a:gd name="adj" fmla="val 11905"/>
            </a:avLst>
          </a:prstGeom>
          <a:solidFill>
            <a:srgbClr val="154B36"/>
          </a:solidFill>
          <a:ln/>
        </p:spPr>
      </p:sp>
      <p:sp>
        <p:nvSpPr>
          <p:cNvPr id="14" name="Text 12"/>
          <p:cNvSpPr txBox="1"/>
          <p:nvPr/>
        </p:nvSpPr>
        <p:spPr>
          <a:xfrm>
            <a:off x="822960" y="1645920"/>
            <a:ext cx="4846320" cy="38404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V1  </a:t>
            </a:r>
            <a:pPr indent="0" marL="0">
              <a:buNone/>
            </a:pPr>
            <a:r>
              <a:rPr lang="en-US" sz="1000" dirty="0">
                <a:solidFill>
                  <a:srgbClr val="C9D5CE"/>
                </a:solidFill>
                <a:latin typeface="Calibri" pitchFamily="34" charset="0"/>
                <a:ea typeface="Calibri" pitchFamily="34" charset="-122"/>
                <a:cs typeface="Calibri" pitchFamily="34" charset="-120"/>
              </a:rPr>
              <a:t>age band · area · how they shop</a:t>
            </a:r>
            <a:endParaRPr lang="en-US" sz="1200" dirty="0"/>
          </a:p>
        </p:txBody>
      </p:sp>
      <p:sp>
        <p:nvSpPr>
          <p:cNvPr id="15" name="Text 13"/>
          <p:cNvSpPr txBox="1"/>
          <p:nvPr/>
        </p:nvSpPr>
        <p:spPr>
          <a:xfrm>
            <a:off x="685800" y="2130552"/>
            <a:ext cx="1463040" cy="530352"/>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What they currently do</a:t>
            </a:r>
            <a:endParaRPr lang="en-US" sz="1050" dirty="0"/>
          </a:p>
        </p:txBody>
      </p:sp>
      <p:sp>
        <p:nvSpPr>
          <p:cNvPr id="16" name="Shape 14"/>
          <p:cNvSpPr/>
          <p:nvPr/>
        </p:nvSpPr>
        <p:spPr>
          <a:xfrm>
            <a:off x="2240280" y="2130552"/>
            <a:ext cx="3611880" cy="530352"/>
          </a:xfrm>
          <a:prstGeom prst="roundRect">
            <a:avLst>
              <a:gd name="adj" fmla="val 10345"/>
            </a:avLst>
          </a:prstGeom>
          <a:solidFill>
            <a:srgbClr val="FDF0DC"/>
          </a:solidFill>
          <a:ln w="12700">
            <a:solidFill>
              <a:srgbClr val="EE8100"/>
            </a:solidFill>
            <a:prstDash val="dash"/>
          </a:ln>
        </p:spPr>
      </p:sp>
      <p:sp>
        <p:nvSpPr>
          <p:cNvPr id="17" name="Text 15"/>
          <p:cNvSpPr txBox="1"/>
          <p:nvPr/>
        </p:nvSpPr>
        <p:spPr>
          <a:xfrm>
            <a:off x="2350008" y="2167128"/>
            <a:ext cx="3392424" cy="457200"/>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V1</a:t>
            </a:r>
            <a:endParaRPr lang="en-US" sz="1050" dirty="0"/>
          </a:p>
        </p:txBody>
      </p:sp>
      <p:sp>
        <p:nvSpPr>
          <p:cNvPr id="18" name="Text 16"/>
          <p:cNvSpPr txBox="1"/>
          <p:nvPr/>
        </p:nvSpPr>
        <p:spPr>
          <a:xfrm>
            <a:off x="685800" y="2724912"/>
            <a:ext cx="1463040" cy="530352"/>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Biggest pain point</a:t>
            </a:r>
            <a:endParaRPr lang="en-US" sz="1050" dirty="0"/>
          </a:p>
        </p:txBody>
      </p:sp>
      <p:sp>
        <p:nvSpPr>
          <p:cNvPr id="19" name="Shape 17"/>
          <p:cNvSpPr/>
          <p:nvPr/>
        </p:nvSpPr>
        <p:spPr>
          <a:xfrm>
            <a:off x="2240280" y="2724912"/>
            <a:ext cx="3611880" cy="530352"/>
          </a:xfrm>
          <a:prstGeom prst="roundRect">
            <a:avLst>
              <a:gd name="adj" fmla="val 10345"/>
            </a:avLst>
          </a:prstGeom>
          <a:solidFill>
            <a:srgbClr val="FDF0DC"/>
          </a:solidFill>
          <a:ln w="12700">
            <a:solidFill>
              <a:srgbClr val="EE8100"/>
            </a:solidFill>
            <a:prstDash val="dash"/>
          </a:ln>
        </p:spPr>
      </p:sp>
      <p:sp>
        <p:nvSpPr>
          <p:cNvPr id="20" name="Text 18"/>
          <p:cNvSpPr txBox="1"/>
          <p:nvPr/>
        </p:nvSpPr>
        <p:spPr>
          <a:xfrm>
            <a:off x="2350008" y="2761488"/>
            <a:ext cx="3392424" cy="457200"/>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V1</a:t>
            </a:r>
            <a:endParaRPr lang="en-US" sz="1050" dirty="0"/>
          </a:p>
        </p:txBody>
      </p:sp>
      <p:sp>
        <p:nvSpPr>
          <p:cNvPr id="21" name="Text 19"/>
          <p:cNvSpPr txBox="1"/>
          <p:nvPr/>
        </p:nvSpPr>
        <p:spPr>
          <a:xfrm>
            <a:off x="685800" y="3319272"/>
            <a:ext cx="1463040" cy="530352"/>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Current alternative or workaround</a:t>
            </a:r>
            <a:endParaRPr lang="en-US" sz="1050" dirty="0"/>
          </a:p>
        </p:txBody>
      </p:sp>
      <p:sp>
        <p:nvSpPr>
          <p:cNvPr id="22" name="Shape 20"/>
          <p:cNvSpPr/>
          <p:nvPr/>
        </p:nvSpPr>
        <p:spPr>
          <a:xfrm>
            <a:off x="2240280" y="3319272"/>
            <a:ext cx="3611880" cy="530352"/>
          </a:xfrm>
          <a:prstGeom prst="roundRect">
            <a:avLst>
              <a:gd name="adj" fmla="val 10345"/>
            </a:avLst>
          </a:prstGeom>
          <a:solidFill>
            <a:srgbClr val="FDF0DC"/>
          </a:solidFill>
          <a:ln w="12700">
            <a:solidFill>
              <a:srgbClr val="EE8100"/>
            </a:solidFill>
            <a:prstDash val="dash"/>
          </a:ln>
        </p:spPr>
      </p:sp>
      <p:sp>
        <p:nvSpPr>
          <p:cNvPr id="23" name="Text 21"/>
          <p:cNvSpPr txBox="1"/>
          <p:nvPr/>
        </p:nvSpPr>
        <p:spPr>
          <a:xfrm>
            <a:off x="2350008" y="3355848"/>
            <a:ext cx="3392424" cy="457200"/>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V1</a:t>
            </a:r>
            <a:endParaRPr lang="en-US" sz="1050" dirty="0"/>
          </a:p>
        </p:txBody>
      </p:sp>
      <p:sp>
        <p:nvSpPr>
          <p:cNvPr id="24" name="Text 22"/>
          <p:cNvSpPr txBox="1"/>
          <p:nvPr/>
        </p:nvSpPr>
        <p:spPr>
          <a:xfrm>
            <a:off x="685800" y="3913632"/>
            <a:ext cx="1463040" cy="530352"/>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Why the problem matters to them</a:t>
            </a:r>
            <a:endParaRPr lang="en-US" sz="1050" dirty="0"/>
          </a:p>
        </p:txBody>
      </p:sp>
      <p:sp>
        <p:nvSpPr>
          <p:cNvPr id="25" name="Shape 23"/>
          <p:cNvSpPr/>
          <p:nvPr/>
        </p:nvSpPr>
        <p:spPr>
          <a:xfrm>
            <a:off x="2240280" y="3913632"/>
            <a:ext cx="3611880" cy="530352"/>
          </a:xfrm>
          <a:prstGeom prst="roundRect">
            <a:avLst>
              <a:gd name="adj" fmla="val 10345"/>
            </a:avLst>
          </a:prstGeom>
          <a:solidFill>
            <a:srgbClr val="FDF0DC"/>
          </a:solidFill>
          <a:ln w="12700">
            <a:solidFill>
              <a:srgbClr val="EE8100"/>
            </a:solidFill>
            <a:prstDash val="dash"/>
          </a:ln>
        </p:spPr>
      </p:sp>
      <p:sp>
        <p:nvSpPr>
          <p:cNvPr id="26" name="Text 24"/>
          <p:cNvSpPr txBox="1"/>
          <p:nvPr/>
        </p:nvSpPr>
        <p:spPr>
          <a:xfrm>
            <a:off x="2350008" y="3950208"/>
            <a:ext cx="3392424" cy="457200"/>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V1</a:t>
            </a:r>
            <a:endParaRPr lang="en-US" sz="1050" dirty="0"/>
          </a:p>
        </p:txBody>
      </p:sp>
      <p:sp>
        <p:nvSpPr>
          <p:cNvPr id="27" name="Text 25"/>
          <p:cNvSpPr txBox="1"/>
          <p:nvPr/>
        </p:nvSpPr>
        <p:spPr>
          <a:xfrm>
            <a:off x="685800" y="4507992"/>
            <a:ext cx="1463040" cy="530352"/>
          </a:xfrm>
          <a:prstGeom prst="rect">
            <a:avLst/>
          </a:prstGeom>
          <a:noFill/>
          <a:ln/>
        </p:spPr>
        <p:txBody>
          <a:bodyPr wrap="square" lIns="0" tIns="0" rIns="0" bIns="0" rtlCol="0" anchor="ctr"/>
          <a:lstStyle/>
          <a:p>
            <a:pPr indent="0" marL="0">
              <a:buNone/>
            </a:pPr>
            <a:r>
              <a:rPr lang="en-US" sz="1050" b="1" dirty="0">
                <a:solidFill>
                  <a:srgbClr val="A85A00"/>
                </a:solidFill>
                <a:latin typeface="Calibri" pitchFamily="34" charset="0"/>
                <a:ea typeface="Calibri" pitchFamily="34" charset="-122"/>
                <a:cs typeface="Calibri" pitchFamily="34" charset="-120"/>
              </a:rPr>
              <a:t>What contradicted our assumptions</a:t>
            </a:r>
            <a:endParaRPr lang="en-US" sz="1050" dirty="0"/>
          </a:p>
        </p:txBody>
      </p:sp>
      <p:sp>
        <p:nvSpPr>
          <p:cNvPr id="28" name="Shape 26"/>
          <p:cNvSpPr/>
          <p:nvPr/>
        </p:nvSpPr>
        <p:spPr>
          <a:xfrm>
            <a:off x="2240280" y="4507992"/>
            <a:ext cx="3611880" cy="530352"/>
          </a:xfrm>
          <a:prstGeom prst="roundRect">
            <a:avLst>
              <a:gd name="adj" fmla="val 10345"/>
            </a:avLst>
          </a:prstGeom>
          <a:solidFill>
            <a:srgbClr val="FDF0DC"/>
          </a:solidFill>
          <a:ln w="12700">
            <a:solidFill>
              <a:srgbClr val="EE8100"/>
            </a:solidFill>
            <a:prstDash val="dash"/>
          </a:ln>
        </p:spPr>
      </p:sp>
      <p:sp>
        <p:nvSpPr>
          <p:cNvPr id="29" name="Text 27"/>
          <p:cNvSpPr txBox="1"/>
          <p:nvPr/>
        </p:nvSpPr>
        <p:spPr>
          <a:xfrm>
            <a:off x="2350008" y="4544568"/>
            <a:ext cx="3392424" cy="457200"/>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V1</a:t>
            </a:r>
            <a:endParaRPr lang="en-US" sz="1050" dirty="0"/>
          </a:p>
        </p:txBody>
      </p:sp>
      <p:sp>
        <p:nvSpPr>
          <p:cNvPr id="30" name="Shape 28"/>
          <p:cNvSpPr/>
          <p:nvPr/>
        </p:nvSpPr>
        <p:spPr>
          <a:xfrm>
            <a:off x="6199632" y="1508760"/>
            <a:ext cx="5440680" cy="3611880"/>
          </a:xfrm>
          <a:prstGeom prst="roundRect">
            <a:avLst>
              <a:gd name="adj" fmla="val 2025"/>
            </a:avLst>
          </a:prstGeom>
          <a:solidFill>
            <a:srgbClr val="FFFFFF"/>
          </a:solidFill>
          <a:ln w="9525">
            <a:solidFill>
              <a:srgbClr val="C9D5CE"/>
            </a:solidFill>
            <a:prstDash val="solid"/>
          </a:ln>
        </p:spPr>
      </p:sp>
      <p:sp>
        <p:nvSpPr>
          <p:cNvPr id="31" name="Shape 29"/>
          <p:cNvSpPr/>
          <p:nvPr/>
        </p:nvSpPr>
        <p:spPr>
          <a:xfrm>
            <a:off x="6336792" y="1645920"/>
            <a:ext cx="5166360" cy="384048"/>
          </a:xfrm>
          <a:prstGeom prst="roundRect">
            <a:avLst>
              <a:gd name="adj" fmla="val 11905"/>
            </a:avLst>
          </a:prstGeom>
          <a:solidFill>
            <a:srgbClr val="154B36"/>
          </a:solidFill>
          <a:ln/>
        </p:spPr>
      </p:sp>
      <p:sp>
        <p:nvSpPr>
          <p:cNvPr id="32" name="Text 30"/>
          <p:cNvSpPr txBox="1"/>
          <p:nvPr/>
        </p:nvSpPr>
        <p:spPr>
          <a:xfrm>
            <a:off x="6473952" y="1645920"/>
            <a:ext cx="4846320" cy="38404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V2  </a:t>
            </a:r>
            <a:pPr indent="0" marL="0">
              <a:buNone/>
            </a:pPr>
            <a:r>
              <a:rPr lang="en-US" sz="1000" dirty="0">
                <a:solidFill>
                  <a:srgbClr val="C9D5CE"/>
                </a:solidFill>
                <a:latin typeface="Calibri" pitchFamily="34" charset="0"/>
                <a:ea typeface="Calibri" pitchFamily="34" charset="-122"/>
                <a:cs typeface="Calibri" pitchFamily="34" charset="-120"/>
              </a:rPr>
              <a:t>age band · area · how they shop</a:t>
            </a:r>
            <a:endParaRPr lang="en-US" sz="1200" dirty="0"/>
          </a:p>
        </p:txBody>
      </p:sp>
      <p:sp>
        <p:nvSpPr>
          <p:cNvPr id="33" name="Text 31"/>
          <p:cNvSpPr txBox="1"/>
          <p:nvPr/>
        </p:nvSpPr>
        <p:spPr>
          <a:xfrm>
            <a:off x="6336792" y="2130552"/>
            <a:ext cx="1463040" cy="530352"/>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What they currently do</a:t>
            </a:r>
            <a:endParaRPr lang="en-US" sz="1050" dirty="0"/>
          </a:p>
        </p:txBody>
      </p:sp>
      <p:sp>
        <p:nvSpPr>
          <p:cNvPr id="34" name="Shape 32"/>
          <p:cNvSpPr/>
          <p:nvPr/>
        </p:nvSpPr>
        <p:spPr>
          <a:xfrm>
            <a:off x="7891272" y="2130552"/>
            <a:ext cx="3611880" cy="530352"/>
          </a:xfrm>
          <a:prstGeom prst="roundRect">
            <a:avLst>
              <a:gd name="adj" fmla="val 10345"/>
            </a:avLst>
          </a:prstGeom>
          <a:solidFill>
            <a:srgbClr val="FDF0DC"/>
          </a:solidFill>
          <a:ln w="12700">
            <a:solidFill>
              <a:srgbClr val="EE8100"/>
            </a:solidFill>
            <a:prstDash val="dash"/>
          </a:ln>
        </p:spPr>
      </p:sp>
      <p:sp>
        <p:nvSpPr>
          <p:cNvPr id="35" name="Text 33"/>
          <p:cNvSpPr txBox="1"/>
          <p:nvPr/>
        </p:nvSpPr>
        <p:spPr>
          <a:xfrm>
            <a:off x="8001000" y="2167128"/>
            <a:ext cx="3392424" cy="457200"/>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V2</a:t>
            </a:r>
            <a:endParaRPr lang="en-US" sz="1050" dirty="0"/>
          </a:p>
        </p:txBody>
      </p:sp>
      <p:sp>
        <p:nvSpPr>
          <p:cNvPr id="36" name="Text 34"/>
          <p:cNvSpPr txBox="1"/>
          <p:nvPr/>
        </p:nvSpPr>
        <p:spPr>
          <a:xfrm>
            <a:off x="6336792" y="2724912"/>
            <a:ext cx="1463040" cy="530352"/>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Biggest pain point</a:t>
            </a:r>
            <a:endParaRPr lang="en-US" sz="1050" dirty="0"/>
          </a:p>
        </p:txBody>
      </p:sp>
      <p:sp>
        <p:nvSpPr>
          <p:cNvPr id="37" name="Shape 35"/>
          <p:cNvSpPr/>
          <p:nvPr/>
        </p:nvSpPr>
        <p:spPr>
          <a:xfrm>
            <a:off x="7891272" y="2724912"/>
            <a:ext cx="3611880" cy="530352"/>
          </a:xfrm>
          <a:prstGeom prst="roundRect">
            <a:avLst>
              <a:gd name="adj" fmla="val 10345"/>
            </a:avLst>
          </a:prstGeom>
          <a:solidFill>
            <a:srgbClr val="FDF0DC"/>
          </a:solidFill>
          <a:ln w="12700">
            <a:solidFill>
              <a:srgbClr val="EE8100"/>
            </a:solidFill>
            <a:prstDash val="dash"/>
          </a:ln>
        </p:spPr>
      </p:sp>
      <p:sp>
        <p:nvSpPr>
          <p:cNvPr id="38" name="Text 36"/>
          <p:cNvSpPr txBox="1"/>
          <p:nvPr/>
        </p:nvSpPr>
        <p:spPr>
          <a:xfrm>
            <a:off x="8001000" y="2761488"/>
            <a:ext cx="3392424" cy="457200"/>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V2</a:t>
            </a:r>
            <a:endParaRPr lang="en-US" sz="1050" dirty="0"/>
          </a:p>
        </p:txBody>
      </p:sp>
      <p:sp>
        <p:nvSpPr>
          <p:cNvPr id="39" name="Text 37"/>
          <p:cNvSpPr txBox="1"/>
          <p:nvPr/>
        </p:nvSpPr>
        <p:spPr>
          <a:xfrm>
            <a:off x="6336792" y="3319272"/>
            <a:ext cx="1463040" cy="530352"/>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Current alternative or workaround</a:t>
            </a:r>
            <a:endParaRPr lang="en-US" sz="1050" dirty="0"/>
          </a:p>
        </p:txBody>
      </p:sp>
      <p:sp>
        <p:nvSpPr>
          <p:cNvPr id="40" name="Shape 38"/>
          <p:cNvSpPr/>
          <p:nvPr/>
        </p:nvSpPr>
        <p:spPr>
          <a:xfrm>
            <a:off x="7891272" y="3319272"/>
            <a:ext cx="3611880" cy="530352"/>
          </a:xfrm>
          <a:prstGeom prst="roundRect">
            <a:avLst>
              <a:gd name="adj" fmla="val 10345"/>
            </a:avLst>
          </a:prstGeom>
          <a:solidFill>
            <a:srgbClr val="FDF0DC"/>
          </a:solidFill>
          <a:ln w="12700">
            <a:solidFill>
              <a:srgbClr val="EE8100"/>
            </a:solidFill>
            <a:prstDash val="dash"/>
          </a:ln>
        </p:spPr>
      </p:sp>
      <p:sp>
        <p:nvSpPr>
          <p:cNvPr id="41" name="Text 39"/>
          <p:cNvSpPr txBox="1"/>
          <p:nvPr/>
        </p:nvSpPr>
        <p:spPr>
          <a:xfrm>
            <a:off x="8001000" y="3355848"/>
            <a:ext cx="3392424" cy="457200"/>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V2</a:t>
            </a:r>
            <a:endParaRPr lang="en-US" sz="1050" dirty="0"/>
          </a:p>
        </p:txBody>
      </p:sp>
      <p:sp>
        <p:nvSpPr>
          <p:cNvPr id="42" name="Text 40"/>
          <p:cNvSpPr txBox="1"/>
          <p:nvPr/>
        </p:nvSpPr>
        <p:spPr>
          <a:xfrm>
            <a:off x="6336792" y="3913632"/>
            <a:ext cx="1463040" cy="530352"/>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Why the problem matters to them</a:t>
            </a:r>
            <a:endParaRPr lang="en-US" sz="1050" dirty="0"/>
          </a:p>
        </p:txBody>
      </p:sp>
      <p:sp>
        <p:nvSpPr>
          <p:cNvPr id="43" name="Shape 41"/>
          <p:cNvSpPr/>
          <p:nvPr/>
        </p:nvSpPr>
        <p:spPr>
          <a:xfrm>
            <a:off x="7891272" y="3913632"/>
            <a:ext cx="3611880" cy="530352"/>
          </a:xfrm>
          <a:prstGeom prst="roundRect">
            <a:avLst>
              <a:gd name="adj" fmla="val 10345"/>
            </a:avLst>
          </a:prstGeom>
          <a:solidFill>
            <a:srgbClr val="FDF0DC"/>
          </a:solidFill>
          <a:ln w="12700">
            <a:solidFill>
              <a:srgbClr val="EE8100"/>
            </a:solidFill>
            <a:prstDash val="dash"/>
          </a:ln>
        </p:spPr>
      </p:sp>
      <p:sp>
        <p:nvSpPr>
          <p:cNvPr id="44" name="Text 42"/>
          <p:cNvSpPr txBox="1"/>
          <p:nvPr/>
        </p:nvSpPr>
        <p:spPr>
          <a:xfrm>
            <a:off x="8001000" y="3950208"/>
            <a:ext cx="3392424" cy="457200"/>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V2</a:t>
            </a:r>
            <a:endParaRPr lang="en-US" sz="1050" dirty="0"/>
          </a:p>
        </p:txBody>
      </p:sp>
      <p:sp>
        <p:nvSpPr>
          <p:cNvPr id="45" name="Text 43"/>
          <p:cNvSpPr txBox="1"/>
          <p:nvPr/>
        </p:nvSpPr>
        <p:spPr>
          <a:xfrm>
            <a:off x="6336792" y="4507992"/>
            <a:ext cx="1463040" cy="530352"/>
          </a:xfrm>
          <a:prstGeom prst="rect">
            <a:avLst/>
          </a:prstGeom>
          <a:noFill/>
          <a:ln/>
        </p:spPr>
        <p:txBody>
          <a:bodyPr wrap="square" lIns="0" tIns="0" rIns="0" bIns="0" rtlCol="0" anchor="ctr"/>
          <a:lstStyle/>
          <a:p>
            <a:pPr indent="0" marL="0">
              <a:buNone/>
            </a:pPr>
            <a:r>
              <a:rPr lang="en-US" sz="1050" b="1" dirty="0">
                <a:solidFill>
                  <a:srgbClr val="A85A00"/>
                </a:solidFill>
                <a:latin typeface="Calibri" pitchFamily="34" charset="0"/>
                <a:ea typeface="Calibri" pitchFamily="34" charset="-122"/>
                <a:cs typeface="Calibri" pitchFamily="34" charset="-120"/>
              </a:rPr>
              <a:t>What contradicted our assumptions</a:t>
            </a:r>
            <a:endParaRPr lang="en-US" sz="1050" dirty="0"/>
          </a:p>
        </p:txBody>
      </p:sp>
      <p:sp>
        <p:nvSpPr>
          <p:cNvPr id="46" name="Shape 44"/>
          <p:cNvSpPr/>
          <p:nvPr/>
        </p:nvSpPr>
        <p:spPr>
          <a:xfrm>
            <a:off x="7891272" y="4507992"/>
            <a:ext cx="3611880" cy="530352"/>
          </a:xfrm>
          <a:prstGeom prst="roundRect">
            <a:avLst>
              <a:gd name="adj" fmla="val 10345"/>
            </a:avLst>
          </a:prstGeom>
          <a:solidFill>
            <a:srgbClr val="FDF0DC"/>
          </a:solidFill>
          <a:ln w="12700">
            <a:solidFill>
              <a:srgbClr val="EE8100"/>
            </a:solidFill>
            <a:prstDash val="dash"/>
          </a:ln>
        </p:spPr>
      </p:sp>
      <p:sp>
        <p:nvSpPr>
          <p:cNvPr id="47" name="Text 45"/>
          <p:cNvSpPr txBox="1"/>
          <p:nvPr/>
        </p:nvSpPr>
        <p:spPr>
          <a:xfrm>
            <a:off x="8001000" y="4544568"/>
            <a:ext cx="3392424" cy="457200"/>
          </a:xfrm>
          <a:prstGeom prst="rect">
            <a:avLst/>
          </a:prstGeom>
          <a:noFill/>
          <a:ln/>
        </p:spPr>
        <p:txBody>
          <a:bodyPr wrap="square" lIns="0" tIns="0" rIns="0" bIns="0" rtlCol="0" anchor="ctr"/>
          <a:lstStyle/>
          <a:p>
            <a:pPr algn="l" indent="0" marL="0">
              <a:buNone/>
            </a:pPr>
            <a:r>
              <a:rPr lang="en-US" sz="1050" i="1" dirty="0">
                <a:solidFill>
                  <a:srgbClr val="A85A00"/>
                </a:solidFill>
                <a:latin typeface="Calibri" pitchFamily="34" charset="0"/>
                <a:ea typeface="Calibri" pitchFamily="34" charset="-122"/>
                <a:cs typeface="Calibri" pitchFamily="34" charset="-120"/>
              </a:rPr>
              <a:t>INSERT  V2</a:t>
            </a:r>
            <a:endParaRPr lang="en-US" sz="1050" dirty="0"/>
          </a:p>
        </p:txBody>
      </p:sp>
      <p:sp>
        <p:nvSpPr>
          <p:cNvPr id="48" name="Shape 46"/>
          <p:cNvSpPr/>
          <p:nvPr/>
        </p:nvSpPr>
        <p:spPr>
          <a:xfrm>
            <a:off x="548640" y="5257800"/>
            <a:ext cx="11091672" cy="841248"/>
          </a:xfrm>
          <a:prstGeom prst="roundRect">
            <a:avLst>
              <a:gd name="adj" fmla="val 8696"/>
            </a:avLst>
          </a:prstGeom>
          <a:solidFill>
            <a:srgbClr val="154B36"/>
          </a:solidFill>
          <a:ln/>
        </p:spPr>
      </p:sp>
      <p:sp>
        <p:nvSpPr>
          <p:cNvPr id="49" name="Text 47"/>
          <p:cNvSpPr txBox="1"/>
          <p:nvPr/>
        </p:nvSpPr>
        <p:spPr>
          <a:xfrm>
            <a:off x="822960" y="5394960"/>
            <a:ext cx="3657600" cy="201168"/>
          </a:xfrm>
          <a:prstGeom prst="rect">
            <a:avLst/>
          </a:prstGeom>
          <a:noFill/>
          <a:ln/>
        </p:spPr>
        <p:txBody>
          <a:bodyPr wrap="square" lIns="0" tIns="0" rIns="0" bIns="0" rtlCol="0" anchor="t"/>
          <a:lstStyle/>
          <a:p>
            <a:pPr indent="0" marL="0">
              <a:buNone/>
            </a:pPr>
            <a:r>
              <a:rPr lang="en-US" sz="1000" b="1" spc="150" kern="0" dirty="0">
                <a:solidFill>
                  <a:srgbClr val="F5A623"/>
                </a:solidFill>
                <a:latin typeface="Calibri" pitchFamily="34" charset="0"/>
                <a:ea typeface="Calibri" pitchFamily="34" charset="-122"/>
                <a:cs typeface="Calibri" pitchFamily="34" charset="-120"/>
              </a:rPr>
              <a:t>TEST AGAINST EACH CONVERSATION</a:t>
            </a:r>
            <a:endParaRPr lang="en-US" sz="1000" dirty="0"/>
          </a:p>
        </p:txBody>
      </p:sp>
      <p:sp>
        <p:nvSpPr>
          <p:cNvPr id="50" name="Shape 48"/>
          <p:cNvSpPr/>
          <p:nvPr/>
        </p:nvSpPr>
        <p:spPr>
          <a:xfrm>
            <a:off x="822960" y="5669280"/>
            <a:ext cx="3429000" cy="329184"/>
          </a:xfrm>
          <a:prstGeom prst="roundRect">
            <a:avLst>
              <a:gd name="adj" fmla="val 22222"/>
            </a:avLst>
          </a:prstGeom>
          <a:solidFill>
            <a:srgbClr val="1E6047"/>
          </a:solidFill>
          <a:ln w="6350">
            <a:solidFill>
              <a:srgbClr val="1E6047"/>
            </a:solidFill>
            <a:prstDash val="solid"/>
          </a:ln>
        </p:spPr>
      </p:sp>
      <p:sp>
        <p:nvSpPr>
          <p:cNvPr id="51" name="Text 49"/>
          <p:cNvSpPr txBox="1"/>
          <p:nvPr/>
        </p:nvSpPr>
        <p:spPr>
          <a:xfrm>
            <a:off x="932688" y="5669280"/>
            <a:ext cx="3246120" cy="329184"/>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Feels the problem on most weekly shops</a:t>
            </a:r>
            <a:endParaRPr lang="en-US" sz="1050" dirty="0"/>
          </a:p>
        </p:txBody>
      </p:sp>
      <p:sp>
        <p:nvSpPr>
          <p:cNvPr id="52" name="Shape 50"/>
          <p:cNvSpPr/>
          <p:nvPr/>
        </p:nvSpPr>
        <p:spPr>
          <a:xfrm>
            <a:off x="4434840" y="5669280"/>
            <a:ext cx="3429000" cy="329184"/>
          </a:xfrm>
          <a:prstGeom prst="roundRect">
            <a:avLst>
              <a:gd name="adj" fmla="val 22222"/>
            </a:avLst>
          </a:prstGeom>
          <a:solidFill>
            <a:srgbClr val="1E6047"/>
          </a:solidFill>
          <a:ln w="6350">
            <a:solidFill>
              <a:srgbClr val="1E6047"/>
            </a:solidFill>
            <a:prstDash val="solid"/>
          </a:ln>
        </p:spPr>
      </p:sp>
      <p:sp>
        <p:nvSpPr>
          <p:cNvPr id="53" name="Text 51"/>
          <p:cNvSpPr txBox="1"/>
          <p:nvPr/>
        </p:nvSpPr>
        <p:spPr>
          <a:xfrm>
            <a:off x="4544568" y="5669280"/>
            <a:ext cx="3246120" cy="329184"/>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Shops in a desktop browser, not just an app</a:t>
            </a:r>
            <a:endParaRPr lang="en-US" sz="1050" dirty="0"/>
          </a:p>
        </p:txBody>
      </p:sp>
      <p:sp>
        <p:nvSpPr>
          <p:cNvPr id="54" name="Shape 52"/>
          <p:cNvSpPr/>
          <p:nvPr/>
        </p:nvSpPr>
        <p:spPr>
          <a:xfrm>
            <a:off x="8046720" y="5669280"/>
            <a:ext cx="3429000" cy="329184"/>
          </a:xfrm>
          <a:prstGeom prst="roundRect">
            <a:avLst>
              <a:gd name="adj" fmla="val 22222"/>
            </a:avLst>
          </a:prstGeom>
          <a:solidFill>
            <a:srgbClr val="1E6047"/>
          </a:solidFill>
          <a:ln w="6350">
            <a:solidFill>
              <a:srgbClr val="1E6047"/>
            </a:solidFill>
            <a:prstDash val="solid"/>
          </a:ln>
        </p:spPr>
      </p:sp>
      <p:sp>
        <p:nvSpPr>
          <p:cNvPr id="55" name="Text 53"/>
          <p:cNvSpPr txBox="1"/>
          <p:nvPr/>
        </p:nvSpPr>
        <p:spPr>
          <a:xfrm>
            <a:off x="8156448" y="5669280"/>
            <a:ext cx="3246120" cy="329184"/>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Relies on outside advice today (clinician, family)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ASSIGNMENT 2 · USER &amp; STAKEHOLDER VALIDATION · STEP 4</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Seven stakeholders decide adoption, access and credibility</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Map positions are the team’s current judgement and will be tested in the first stakeholder conversations.</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3 / 4</a:t>
            </a:r>
            <a:endParaRPr lang="en-US" sz="900" dirty="0"/>
          </a:p>
        </p:txBody>
      </p:sp>
      <p:sp>
        <p:nvSpPr>
          <p:cNvPr id="12" name="Shape 10"/>
          <p:cNvSpPr/>
          <p:nvPr/>
        </p:nvSpPr>
        <p:spPr>
          <a:xfrm>
            <a:off x="548640" y="1508760"/>
            <a:ext cx="5577840" cy="4572000"/>
          </a:xfrm>
          <a:prstGeom prst="roundRect">
            <a:avLst>
              <a:gd name="adj" fmla="val 1600"/>
            </a:avLst>
          </a:prstGeom>
          <a:solidFill>
            <a:srgbClr val="FFFFFF"/>
          </a:solidFill>
          <a:ln w="9525">
            <a:solidFill>
              <a:srgbClr val="C9D5CE"/>
            </a:solidFill>
            <a:prstDash val="solid"/>
          </a:ln>
        </p:spPr>
      </p:sp>
      <p:sp>
        <p:nvSpPr>
          <p:cNvPr id="13" name="Shape 11"/>
          <p:cNvSpPr/>
          <p:nvPr/>
        </p:nvSpPr>
        <p:spPr>
          <a:xfrm>
            <a:off x="868680" y="1783080"/>
            <a:ext cx="2514600" cy="1851660"/>
          </a:xfrm>
          <a:prstGeom prst="rect">
            <a:avLst/>
          </a:prstGeom>
          <a:solidFill>
            <a:srgbClr val="E8F1EB"/>
          </a:solidFill>
          <a:ln/>
        </p:spPr>
      </p:sp>
      <p:sp>
        <p:nvSpPr>
          <p:cNvPr id="14" name="Shape 12"/>
          <p:cNvSpPr/>
          <p:nvPr/>
        </p:nvSpPr>
        <p:spPr>
          <a:xfrm>
            <a:off x="3383280" y="1783080"/>
            <a:ext cx="2514600" cy="1851660"/>
          </a:xfrm>
          <a:prstGeom prst="rect">
            <a:avLst/>
          </a:prstGeom>
          <a:solidFill>
            <a:srgbClr val="F6E6DF"/>
          </a:solidFill>
          <a:ln/>
        </p:spPr>
      </p:sp>
      <p:sp>
        <p:nvSpPr>
          <p:cNvPr id="15" name="Shape 13"/>
          <p:cNvSpPr/>
          <p:nvPr/>
        </p:nvSpPr>
        <p:spPr>
          <a:xfrm>
            <a:off x="868680" y="3634740"/>
            <a:ext cx="2514600" cy="1851660"/>
          </a:xfrm>
          <a:prstGeom prst="rect">
            <a:avLst/>
          </a:prstGeom>
          <a:solidFill>
            <a:srgbClr val="F1F5F2"/>
          </a:solidFill>
          <a:ln/>
        </p:spPr>
      </p:sp>
      <p:sp>
        <p:nvSpPr>
          <p:cNvPr id="16" name="Shape 14"/>
          <p:cNvSpPr/>
          <p:nvPr/>
        </p:nvSpPr>
        <p:spPr>
          <a:xfrm>
            <a:off x="3383280" y="3634740"/>
            <a:ext cx="2514600" cy="1851660"/>
          </a:xfrm>
          <a:prstGeom prst="rect">
            <a:avLst/>
          </a:prstGeom>
          <a:solidFill>
            <a:srgbClr val="F1F5F2"/>
          </a:solidFill>
          <a:ln/>
        </p:spPr>
      </p:sp>
      <p:sp>
        <p:nvSpPr>
          <p:cNvPr id="17" name="Text 15"/>
          <p:cNvSpPr txBox="1"/>
          <p:nvPr/>
        </p:nvSpPr>
        <p:spPr>
          <a:xfrm>
            <a:off x="941832" y="1837944"/>
            <a:ext cx="1463040" cy="182880"/>
          </a:xfrm>
          <a:prstGeom prst="rect">
            <a:avLst/>
          </a:prstGeom>
          <a:noFill/>
          <a:ln/>
        </p:spPr>
        <p:txBody>
          <a:bodyPr wrap="square" lIns="0" tIns="0" rIns="0" bIns="0" rtlCol="0" anchor="t"/>
          <a:lstStyle/>
          <a:p>
            <a:pPr indent="0" marL="0">
              <a:buNone/>
            </a:pPr>
            <a:r>
              <a:rPr lang="en-US" sz="850" b="1" spc="150" kern="0" dirty="0">
                <a:solidFill>
                  <a:srgbClr val="5C6B63"/>
                </a:solidFill>
                <a:latin typeface="Calibri" pitchFamily="34" charset="0"/>
                <a:ea typeface="Calibri" pitchFamily="34" charset="-122"/>
                <a:cs typeface="Calibri" pitchFamily="34" charset="-120"/>
              </a:rPr>
              <a:t>CHAMPIONS</a:t>
            </a:r>
            <a:endParaRPr lang="en-US" sz="850" dirty="0"/>
          </a:p>
        </p:txBody>
      </p:sp>
      <p:sp>
        <p:nvSpPr>
          <p:cNvPr id="18" name="Text 16"/>
          <p:cNvSpPr txBox="1"/>
          <p:nvPr/>
        </p:nvSpPr>
        <p:spPr>
          <a:xfrm>
            <a:off x="4361688" y="1837944"/>
            <a:ext cx="1463040" cy="182880"/>
          </a:xfrm>
          <a:prstGeom prst="rect">
            <a:avLst/>
          </a:prstGeom>
          <a:noFill/>
          <a:ln/>
        </p:spPr>
        <p:txBody>
          <a:bodyPr wrap="square" lIns="0" tIns="0" rIns="0" bIns="0" rtlCol="0" anchor="t"/>
          <a:lstStyle/>
          <a:p>
            <a:pPr algn="r" indent="0" marL="0">
              <a:buNone/>
            </a:pPr>
            <a:r>
              <a:rPr lang="en-US" sz="850" b="1" spc="150" kern="0" dirty="0">
                <a:solidFill>
                  <a:srgbClr val="5C6B63"/>
                </a:solidFill>
                <a:latin typeface="Calibri" pitchFamily="34" charset="0"/>
                <a:ea typeface="Calibri" pitchFamily="34" charset="-122"/>
                <a:cs typeface="Calibri" pitchFamily="34" charset="-120"/>
              </a:rPr>
              <a:t>GATEKEEPERS</a:t>
            </a:r>
            <a:endParaRPr lang="en-US" sz="850" dirty="0"/>
          </a:p>
        </p:txBody>
      </p:sp>
      <p:sp>
        <p:nvSpPr>
          <p:cNvPr id="19" name="Text 17"/>
          <p:cNvSpPr txBox="1"/>
          <p:nvPr/>
        </p:nvSpPr>
        <p:spPr>
          <a:xfrm>
            <a:off x="941832" y="5248656"/>
            <a:ext cx="1463040" cy="182880"/>
          </a:xfrm>
          <a:prstGeom prst="rect">
            <a:avLst/>
          </a:prstGeom>
          <a:noFill/>
          <a:ln/>
        </p:spPr>
        <p:txBody>
          <a:bodyPr wrap="square" lIns="0" tIns="0" rIns="0" bIns="0" rtlCol="0" anchor="t"/>
          <a:lstStyle/>
          <a:p>
            <a:pPr indent="0" marL="0">
              <a:buNone/>
            </a:pPr>
            <a:r>
              <a:rPr lang="en-US" sz="850" b="1" spc="150" kern="0" dirty="0">
                <a:solidFill>
                  <a:srgbClr val="5C6B63"/>
                </a:solidFill>
                <a:latin typeface="Calibri" pitchFamily="34" charset="0"/>
                <a:ea typeface="Calibri" pitchFamily="34" charset="-122"/>
                <a:cs typeface="Calibri" pitchFamily="34" charset="-120"/>
              </a:rPr>
              <a:t>SUPPORTERS</a:t>
            </a:r>
            <a:endParaRPr lang="en-US" sz="850" dirty="0"/>
          </a:p>
        </p:txBody>
      </p:sp>
      <p:sp>
        <p:nvSpPr>
          <p:cNvPr id="20" name="Text 18"/>
          <p:cNvSpPr txBox="1"/>
          <p:nvPr/>
        </p:nvSpPr>
        <p:spPr>
          <a:xfrm>
            <a:off x="4361688" y="5248656"/>
            <a:ext cx="1463040" cy="182880"/>
          </a:xfrm>
          <a:prstGeom prst="rect">
            <a:avLst/>
          </a:prstGeom>
          <a:noFill/>
          <a:ln/>
        </p:spPr>
        <p:txBody>
          <a:bodyPr wrap="square" lIns="0" tIns="0" rIns="0" bIns="0" rtlCol="0" anchor="t"/>
          <a:lstStyle/>
          <a:p>
            <a:pPr algn="r" indent="0" marL="0">
              <a:buNone/>
            </a:pPr>
            <a:r>
              <a:rPr lang="en-US" sz="850" b="1" spc="150" kern="0" dirty="0">
                <a:solidFill>
                  <a:srgbClr val="5C6B63"/>
                </a:solidFill>
                <a:latin typeface="Calibri" pitchFamily="34" charset="0"/>
                <a:ea typeface="Calibri" pitchFamily="34" charset="-122"/>
                <a:cs typeface="Calibri" pitchFamily="34" charset="-120"/>
              </a:rPr>
              <a:t>WATCH</a:t>
            </a:r>
            <a:endParaRPr lang="en-US" sz="850" dirty="0"/>
          </a:p>
        </p:txBody>
      </p:sp>
      <p:sp>
        <p:nvSpPr>
          <p:cNvPr id="21" name="Text 19"/>
          <p:cNvSpPr txBox="1"/>
          <p:nvPr/>
        </p:nvSpPr>
        <p:spPr>
          <a:xfrm>
            <a:off x="868680" y="5577840"/>
            <a:ext cx="2468880" cy="201168"/>
          </a:xfrm>
          <a:prstGeom prst="rect">
            <a:avLst/>
          </a:prstGeom>
          <a:noFill/>
          <a:ln/>
        </p:spPr>
        <p:txBody>
          <a:bodyPr wrap="square" lIns="0" tIns="0" rIns="0" bIns="0" rtlCol="0" anchor="t"/>
          <a:lstStyle/>
          <a:p>
            <a:pPr indent="0" marL="0">
              <a:buNone/>
            </a:pPr>
            <a:r>
              <a:rPr lang="en-US" sz="950" b="1" dirty="0">
                <a:solidFill>
                  <a:srgbClr val="154B36"/>
                </a:solidFill>
                <a:latin typeface="Calibri" pitchFamily="34" charset="0"/>
                <a:ea typeface="Calibri" pitchFamily="34" charset="-122"/>
                <a:cs typeface="Calibri" pitchFamily="34" charset="-120"/>
              </a:rPr>
              <a:t>← HELPS the venture succeed</a:t>
            </a:r>
            <a:endParaRPr lang="en-US" sz="950" dirty="0"/>
          </a:p>
        </p:txBody>
      </p:sp>
      <p:sp>
        <p:nvSpPr>
          <p:cNvPr id="22" name="Text 20"/>
          <p:cNvSpPr txBox="1"/>
          <p:nvPr/>
        </p:nvSpPr>
        <p:spPr>
          <a:xfrm>
            <a:off x="3429000" y="5577840"/>
            <a:ext cx="2468880" cy="201168"/>
          </a:xfrm>
          <a:prstGeom prst="rect">
            <a:avLst/>
          </a:prstGeom>
          <a:noFill/>
          <a:ln/>
        </p:spPr>
        <p:txBody>
          <a:bodyPr wrap="square" lIns="0" tIns="0" rIns="0" bIns="0" rtlCol="0" anchor="t"/>
          <a:lstStyle/>
          <a:p>
            <a:pPr algn="r" indent="0" marL="0">
              <a:buNone/>
            </a:pPr>
            <a:r>
              <a:rPr lang="en-US" sz="950" b="1" dirty="0">
                <a:solidFill>
                  <a:srgbClr val="E63E11"/>
                </a:solidFill>
                <a:latin typeface="Calibri" pitchFamily="34" charset="0"/>
                <a:ea typeface="Calibri" pitchFamily="34" charset="-122"/>
                <a:cs typeface="Calibri" pitchFamily="34" charset="-120"/>
              </a:rPr>
              <a:t>COULD SLOW or block it →</a:t>
            </a:r>
            <a:endParaRPr lang="en-US" sz="950" dirty="0"/>
          </a:p>
        </p:txBody>
      </p:sp>
      <p:sp>
        <p:nvSpPr>
          <p:cNvPr id="23" name="Text 21"/>
          <p:cNvSpPr txBox="1"/>
          <p:nvPr/>
        </p:nvSpPr>
        <p:spPr>
          <a:xfrm>
            <a:off x="685800" y="1581912"/>
            <a:ext cx="1828800" cy="182880"/>
          </a:xfrm>
          <a:prstGeom prst="rect">
            <a:avLst/>
          </a:prstGeom>
          <a:noFill/>
          <a:ln/>
        </p:spPr>
        <p:txBody>
          <a:bodyPr wrap="square" lIns="0" tIns="0" rIns="0" bIns="0" rtlCol="0" anchor="t"/>
          <a:lstStyle/>
          <a:p>
            <a:pPr indent="0" marL="0">
              <a:buNone/>
            </a:pPr>
            <a:r>
              <a:rPr lang="en-US" sz="950" b="1" dirty="0">
                <a:solidFill>
                  <a:srgbClr val="5C6B63"/>
                </a:solidFill>
                <a:latin typeface="Calibri" pitchFamily="34" charset="0"/>
                <a:ea typeface="Calibri" pitchFamily="34" charset="-122"/>
                <a:cs typeface="Calibri" pitchFamily="34" charset="-120"/>
              </a:rPr>
              <a:t>↑ More influence</a:t>
            </a:r>
            <a:endParaRPr lang="en-US" sz="950" dirty="0"/>
          </a:p>
        </p:txBody>
      </p:sp>
      <p:sp>
        <p:nvSpPr>
          <p:cNvPr id="24" name="Shape 22"/>
          <p:cNvSpPr/>
          <p:nvPr/>
        </p:nvSpPr>
        <p:spPr>
          <a:xfrm>
            <a:off x="1348740" y="2064258"/>
            <a:ext cx="548640" cy="548640"/>
          </a:xfrm>
          <a:prstGeom prst="ellipse">
            <a:avLst/>
          </a:prstGeom>
          <a:solidFill>
            <a:srgbClr val="FFFFFF"/>
          </a:solidFill>
          <a:ln w="38100">
            <a:solidFill>
              <a:srgbClr val="EE8100"/>
            </a:solidFill>
            <a:prstDash val="solid"/>
          </a:ln>
        </p:spPr>
      </p:sp>
      <p:sp>
        <p:nvSpPr>
          <p:cNvPr id="25" name="Shape 23"/>
          <p:cNvSpPr/>
          <p:nvPr/>
        </p:nvSpPr>
        <p:spPr>
          <a:xfrm>
            <a:off x="1412748" y="2128266"/>
            <a:ext cx="420624" cy="420624"/>
          </a:xfrm>
          <a:prstGeom prst="ellipse">
            <a:avLst/>
          </a:prstGeom>
          <a:solidFill>
            <a:srgbClr val="038141"/>
          </a:solidFill>
          <a:ln/>
        </p:spPr>
      </p:sp>
      <p:sp>
        <p:nvSpPr>
          <p:cNvPr id="26" name="Text 24"/>
          <p:cNvSpPr txBox="1"/>
          <p:nvPr/>
        </p:nvSpPr>
        <p:spPr>
          <a:xfrm>
            <a:off x="1412748" y="212826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7" name="Text 25"/>
          <p:cNvSpPr txBox="1"/>
          <p:nvPr/>
        </p:nvSpPr>
        <p:spPr>
          <a:xfrm>
            <a:off x="845820" y="2603754"/>
            <a:ext cx="1554480" cy="201168"/>
          </a:xfrm>
          <a:prstGeom prst="rect">
            <a:avLst/>
          </a:prstGeom>
          <a:noFill/>
          <a:ln/>
        </p:spPr>
        <p:txBody>
          <a:bodyPr wrap="square" lIns="0" tIns="0" rIns="0" bIns="0" rtlCol="0" anchor="t"/>
          <a:lstStyle/>
          <a:p>
            <a:pPr algn="ctr" indent="0" marL="0">
              <a:buNone/>
            </a:pPr>
            <a:r>
              <a:rPr lang="en-US" sz="950" b="1" dirty="0">
                <a:solidFill>
                  <a:srgbClr val="1F2A24"/>
                </a:solidFill>
                <a:latin typeface="Calibri" pitchFamily="34" charset="0"/>
                <a:ea typeface="Calibri" pitchFamily="34" charset="-122"/>
                <a:cs typeface="Calibri" pitchFamily="34" charset="-120"/>
              </a:rPr>
              <a:t>Priority shopper</a:t>
            </a:r>
            <a:endParaRPr lang="en-US" sz="950" dirty="0"/>
          </a:p>
        </p:txBody>
      </p:sp>
      <p:sp>
        <p:nvSpPr>
          <p:cNvPr id="28" name="Shape 26"/>
          <p:cNvSpPr/>
          <p:nvPr/>
        </p:nvSpPr>
        <p:spPr>
          <a:xfrm>
            <a:off x="4818888" y="1990192"/>
            <a:ext cx="548640" cy="548640"/>
          </a:xfrm>
          <a:prstGeom prst="ellipse">
            <a:avLst/>
          </a:prstGeom>
          <a:solidFill>
            <a:srgbClr val="FFFFFF"/>
          </a:solidFill>
          <a:ln w="38100">
            <a:solidFill>
              <a:srgbClr val="EE8100"/>
            </a:solidFill>
            <a:prstDash val="solid"/>
          </a:ln>
        </p:spPr>
      </p:sp>
      <p:sp>
        <p:nvSpPr>
          <p:cNvPr id="29" name="Shape 27"/>
          <p:cNvSpPr/>
          <p:nvPr/>
        </p:nvSpPr>
        <p:spPr>
          <a:xfrm>
            <a:off x="4882896" y="2054200"/>
            <a:ext cx="420624" cy="420624"/>
          </a:xfrm>
          <a:prstGeom prst="ellipse">
            <a:avLst/>
          </a:prstGeom>
          <a:solidFill>
            <a:srgbClr val="E63E11"/>
          </a:solidFill>
          <a:ln/>
        </p:spPr>
      </p:sp>
      <p:sp>
        <p:nvSpPr>
          <p:cNvPr id="30" name="Text 28"/>
          <p:cNvSpPr txBox="1"/>
          <p:nvPr/>
        </p:nvSpPr>
        <p:spPr>
          <a:xfrm>
            <a:off x="4882896" y="20542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31" name="Text 29"/>
          <p:cNvSpPr txBox="1"/>
          <p:nvPr/>
        </p:nvSpPr>
        <p:spPr>
          <a:xfrm>
            <a:off x="4315968" y="2529688"/>
            <a:ext cx="1554480" cy="201168"/>
          </a:xfrm>
          <a:prstGeom prst="rect">
            <a:avLst/>
          </a:prstGeom>
          <a:noFill/>
          <a:ln/>
        </p:spPr>
        <p:txBody>
          <a:bodyPr wrap="square" lIns="0" tIns="0" rIns="0" bIns="0" rtlCol="0" anchor="t"/>
          <a:lstStyle/>
          <a:p>
            <a:pPr algn="ctr" indent="0" marL="0">
              <a:buNone/>
            </a:pPr>
            <a:r>
              <a:rPr lang="en-US" sz="950" b="1" dirty="0">
                <a:solidFill>
                  <a:srgbClr val="1F2A24"/>
                </a:solidFill>
                <a:latin typeface="Calibri" pitchFamily="34" charset="0"/>
                <a:ea typeface="Calibri" pitchFamily="34" charset="-122"/>
                <a:cs typeface="Calibri" pitchFamily="34" charset="-120"/>
              </a:rPr>
              <a:t>Naivas &amp; Carrefour</a:t>
            </a:r>
            <a:endParaRPr lang="en-US" sz="950" dirty="0"/>
          </a:p>
        </p:txBody>
      </p:sp>
      <p:sp>
        <p:nvSpPr>
          <p:cNvPr id="32" name="Shape 30"/>
          <p:cNvSpPr/>
          <p:nvPr/>
        </p:nvSpPr>
        <p:spPr>
          <a:xfrm>
            <a:off x="2253996" y="2916022"/>
            <a:ext cx="548640" cy="548640"/>
          </a:xfrm>
          <a:prstGeom prst="ellipse">
            <a:avLst/>
          </a:prstGeom>
          <a:solidFill>
            <a:srgbClr val="FFFFFF"/>
          </a:solidFill>
          <a:ln w="38100">
            <a:solidFill>
              <a:srgbClr val="EE8100"/>
            </a:solidFill>
            <a:prstDash val="solid"/>
          </a:ln>
        </p:spPr>
      </p:sp>
      <p:sp>
        <p:nvSpPr>
          <p:cNvPr id="33" name="Shape 31"/>
          <p:cNvSpPr/>
          <p:nvPr/>
        </p:nvSpPr>
        <p:spPr>
          <a:xfrm>
            <a:off x="2318004" y="2980030"/>
            <a:ext cx="420624" cy="420624"/>
          </a:xfrm>
          <a:prstGeom prst="ellipse">
            <a:avLst/>
          </a:prstGeom>
          <a:solidFill>
            <a:srgbClr val="038141"/>
          </a:solidFill>
          <a:ln/>
        </p:spPr>
      </p:sp>
      <p:sp>
        <p:nvSpPr>
          <p:cNvPr id="34" name="Text 32"/>
          <p:cNvSpPr txBox="1"/>
          <p:nvPr/>
        </p:nvSpPr>
        <p:spPr>
          <a:xfrm>
            <a:off x="2318004" y="298003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35" name="Text 33"/>
          <p:cNvSpPr txBox="1"/>
          <p:nvPr/>
        </p:nvSpPr>
        <p:spPr>
          <a:xfrm>
            <a:off x="1751076" y="3455518"/>
            <a:ext cx="1554480" cy="201168"/>
          </a:xfrm>
          <a:prstGeom prst="rect">
            <a:avLst/>
          </a:prstGeom>
          <a:noFill/>
          <a:ln/>
        </p:spPr>
        <p:txBody>
          <a:bodyPr wrap="square" lIns="0" tIns="0" rIns="0" bIns="0" rtlCol="0" anchor="t"/>
          <a:lstStyle/>
          <a:p>
            <a:pPr algn="ctr" indent="0" marL="0">
              <a:buNone/>
            </a:pPr>
            <a:r>
              <a:rPr lang="en-US" sz="950" b="1" dirty="0">
                <a:solidFill>
                  <a:srgbClr val="1F2A24"/>
                </a:solidFill>
                <a:latin typeface="Calibri" pitchFamily="34" charset="0"/>
                <a:ea typeface="Calibri" pitchFamily="34" charset="-122"/>
                <a:cs typeface="Calibri" pitchFamily="34" charset="-120"/>
              </a:rPr>
              <a:t>Clinicians &amp; KNDI</a:t>
            </a:r>
            <a:endParaRPr lang="en-US" sz="950" dirty="0"/>
          </a:p>
        </p:txBody>
      </p:sp>
      <p:sp>
        <p:nvSpPr>
          <p:cNvPr id="36" name="Shape 34"/>
          <p:cNvSpPr/>
          <p:nvPr/>
        </p:nvSpPr>
        <p:spPr>
          <a:xfrm>
            <a:off x="1513332" y="4016959"/>
            <a:ext cx="420624" cy="420624"/>
          </a:xfrm>
          <a:prstGeom prst="ellipse">
            <a:avLst/>
          </a:prstGeom>
          <a:solidFill>
            <a:srgbClr val="038141"/>
          </a:solidFill>
          <a:ln/>
        </p:spPr>
      </p:sp>
      <p:sp>
        <p:nvSpPr>
          <p:cNvPr id="37" name="Text 35"/>
          <p:cNvSpPr txBox="1"/>
          <p:nvPr/>
        </p:nvSpPr>
        <p:spPr>
          <a:xfrm>
            <a:off x="1513332" y="4016959"/>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38" name="Text 36"/>
          <p:cNvSpPr txBox="1"/>
          <p:nvPr/>
        </p:nvSpPr>
        <p:spPr>
          <a:xfrm>
            <a:off x="946404" y="4492447"/>
            <a:ext cx="1554480" cy="201168"/>
          </a:xfrm>
          <a:prstGeom prst="rect">
            <a:avLst/>
          </a:prstGeom>
          <a:noFill/>
          <a:ln/>
        </p:spPr>
        <p:txBody>
          <a:bodyPr wrap="square" lIns="0" tIns="0" rIns="0" bIns="0" rtlCol="0" anchor="t"/>
          <a:lstStyle/>
          <a:p>
            <a:pPr algn="ctr" indent="0" marL="0">
              <a:buNone/>
            </a:pPr>
            <a:r>
              <a:rPr lang="en-US" sz="950" b="1" dirty="0">
                <a:solidFill>
                  <a:srgbClr val="1F2A24"/>
                </a:solidFill>
                <a:latin typeface="Calibri" pitchFamily="34" charset="0"/>
                <a:ea typeface="Calibri" pitchFamily="34" charset="-122"/>
                <a:cs typeface="Calibri" pitchFamily="34" charset="-120"/>
              </a:rPr>
              <a:t>MoH &amp; Amref</a:t>
            </a:r>
            <a:endParaRPr lang="en-US" sz="950" dirty="0"/>
          </a:p>
        </p:txBody>
      </p:sp>
      <p:sp>
        <p:nvSpPr>
          <p:cNvPr id="39" name="Shape 37"/>
          <p:cNvSpPr/>
          <p:nvPr/>
        </p:nvSpPr>
        <p:spPr>
          <a:xfrm>
            <a:off x="4229100" y="3054096"/>
            <a:ext cx="420624" cy="420624"/>
          </a:xfrm>
          <a:prstGeom prst="ellipse">
            <a:avLst/>
          </a:prstGeom>
          <a:solidFill>
            <a:srgbClr val="E63E11"/>
          </a:solidFill>
          <a:ln/>
        </p:spPr>
      </p:sp>
      <p:sp>
        <p:nvSpPr>
          <p:cNvPr id="40" name="Text 38"/>
          <p:cNvSpPr txBox="1"/>
          <p:nvPr/>
        </p:nvSpPr>
        <p:spPr>
          <a:xfrm>
            <a:off x="4229100" y="30540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41" name="Text 39"/>
          <p:cNvSpPr txBox="1"/>
          <p:nvPr/>
        </p:nvSpPr>
        <p:spPr>
          <a:xfrm>
            <a:off x="3662172" y="3529584"/>
            <a:ext cx="1554480" cy="201168"/>
          </a:xfrm>
          <a:prstGeom prst="rect">
            <a:avLst/>
          </a:prstGeom>
          <a:noFill/>
          <a:ln/>
        </p:spPr>
        <p:txBody>
          <a:bodyPr wrap="square" lIns="0" tIns="0" rIns="0" bIns="0" rtlCol="0" anchor="t"/>
          <a:lstStyle/>
          <a:p>
            <a:pPr algn="ctr" indent="0" marL="0">
              <a:buNone/>
            </a:pPr>
            <a:r>
              <a:rPr lang="en-US" sz="950" b="1" dirty="0">
                <a:solidFill>
                  <a:srgbClr val="1F2A24"/>
                </a:solidFill>
                <a:latin typeface="Calibri" pitchFamily="34" charset="0"/>
                <a:ea typeface="Calibri" pitchFamily="34" charset="-122"/>
                <a:cs typeface="Calibri" pitchFamily="34" charset="-120"/>
              </a:rPr>
              <a:t>Chrome Web Store</a:t>
            </a:r>
            <a:endParaRPr lang="en-US" sz="950" dirty="0"/>
          </a:p>
        </p:txBody>
      </p:sp>
      <p:sp>
        <p:nvSpPr>
          <p:cNvPr id="42" name="Shape 40"/>
          <p:cNvSpPr/>
          <p:nvPr/>
        </p:nvSpPr>
        <p:spPr>
          <a:xfrm>
            <a:off x="3022092" y="4535424"/>
            <a:ext cx="420624" cy="420624"/>
          </a:xfrm>
          <a:prstGeom prst="ellipse">
            <a:avLst/>
          </a:prstGeom>
          <a:solidFill>
            <a:srgbClr val="F2A900"/>
          </a:solidFill>
          <a:ln/>
        </p:spPr>
      </p:sp>
      <p:sp>
        <p:nvSpPr>
          <p:cNvPr id="43" name="Text 41"/>
          <p:cNvSpPr txBox="1"/>
          <p:nvPr/>
        </p:nvSpPr>
        <p:spPr>
          <a:xfrm>
            <a:off x="3022092" y="4535424"/>
            <a:ext cx="420624" cy="420624"/>
          </a:xfrm>
          <a:prstGeom prst="rect">
            <a:avLst/>
          </a:prstGeom>
          <a:noFill/>
          <a:ln/>
        </p:spPr>
        <p:txBody>
          <a:bodyPr wrap="square" lIns="0" tIns="0" rIns="0" bIns="0" rtlCol="0" anchor="ctr"/>
          <a:lstStyle/>
          <a:p>
            <a:pPr algn="ctr" indent="0" marL="0">
              <a:buNone/>
            </a:pPr>
            <a:r>
              <a:rPr lang="en-US" sz="1400" b="1" dirty="0">
                <a:solidFill>
                  <a:srgbClr val="1F2A24"/>
                </a:solidFill>
                <a:latin typeface="Cambria" pitchFamily="34" charset="0"/>
                <a:ea typeface="Cambria" pitchFamily="34" charset="-122"/>
                <a:cs typeface="Cambria" pitchFamily="34" charset="-120"/>
              </a:rPr>
              <a:t>6</a:t>
            </a:r>
            <a:endParaRPr lang="en-US" sz="1400" dirty="0"/>
          </a:p>
        </p:txBody>
      </p:sp>
      <p:sp>
        <p:nvSpPr>
          <p:cNvPr id="44" name="Text 42"/>
          <p:cNvSpPr txBox="1"/>
          <p:nvPr/>
        </p:nvSpPr>
        <p:spPr>
          <a:xfrm>
            <a:off x="2455164" y="5010912"/>
            <a:ext cx="1554480" cy="201168"/>
          </a:xfrm>
          <a:prstGeom prst="rect">
            <a:avLst/>
          </a:prstGeom>
          <a:noFill/>
          <a:ln/>
        </p:spPr>
        <p:txBody>
          <a:bodyPr wrap="square" lIns="0" tIns="0" rIns="0" bIns="0" rtlCol="0" anchor="t"/>
          <a:lstStyle/>
          <a:p>
            <a:pPr algn="ctr" indent="0" marL="0">
              <a:buNone/>
            </a:pPr>
            <a:r>
              <a:rPr lang="en-US" sz="950" b="1" dirty="0">
                <a:solidFill>
                  <a:srgbClr val="1F2A24"/>
                </a:solidFill>
                <a:latin typeface="Calibri" pitchFamily="34" charset="0"/>
                <a:ea typeface="Calibri" pitchFamily="34" charset="-122"/>
                <a:cs typeface="Calibri" pitchFamily="34" charset="-120"/>
              </a:rPr>
              <a:t>Data sources &amp; brands</a:t>
            </a:r>
            <a:endParaRPr lang="en-US" sz="950" dirty="0"/>
          </a:p>
        </p:txBody>
      </p:sp>
      <p:sp>
        <p:nvSpPr>
          <p:cNvPr id="45" name="Shape 43"/>
          <p:cNvSpPr/>
          <p:nvPr/>
        </p:nvSpPr>
        <p:spPr>
          <a:xfrm>
            <a:off x="4933188" y="4053992"/>
            <a:ext cx="420624" cy="420624"/>
          </a:xfrm>
          <a:prstGeom prst="ellipse">
            <a:avLst/>
          </a:prstGeom>
          <a:solidFill>
            <a:srgbClr val="E63E11"/>
          </a:solidFill>
          <a:ln/>
        </p:spPr>
      </p:sp>
      <p:sp>
        <p:nvSpPr>
          <p:cNvPr id="46" name="Text 44"/>
          <p:cNvSpPr txBox="1"/>
          <p:nvPr/>
        </p:nvSpPr>
        <p:spPr>
          <a:xfrm>
            <a:off x="4933188" y="40539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47" name="Text 45"/>
          <p:cNvSpPr txBox="1"/>
          <p:nvPr/>
        </p:nvSpPr>
        <p:spPr>
          <a:xfrm>
            <a:off x="4366260" y="4529480"/>
            <a:ext cx="1554480" cy="201168"/>
          </a:xfrm>
          <a:prstGeom prst="rect">
            <a:avLst/>
          </a:prstGeom>
          <a:noFill/>
          <a:ln/>
        </p:spPr>
        <p:txBody>
          <a:bodyPr wrap="square" lIns="0" tIns="0" rIns="0" bIns="0" rtlCol="0" anchor="t"/>
          <a:lstStyle/>
          <a:p>
            <a:pPr algn="ctr" indent="0" marL="0">
              <a:buNone/>
            </a:pPr>
            <a:r>
              <a:rPr lang="en-US" sz="950" b="1" dirty="0">
                <a:solidFill>
                  <a:srgbClr val="1F2A24"/>
                </a:solidFill>
                <a:latin typeface="Calibri" pitchFamily="34" charset="0"/>
                <a:ea typeface="Calibri" pitchFamily="34" charset="-122"/>
                <a:cs typeface="Calibri" pitchFamily="34" charset="-120"/>
              </a:rPr>
              <a:t>Data Protection Comm.</a:t>
            </a:r>
            <a:endParaRPr lang="en-US" sz="950" dirty="0"/>
          </a:p>
        </p:txBody>
      </p:sp>
      <p:sp>
        <p:nvSpPr>
          <p:cNvPr id="48" name="Shape 46"/>
          <p:cNvSpPr/>
          <p:nvPr/>
        </p:nvSpPr>
        <p:spPr>
          <a:xfrm>
            <a:off x="2606040" y="1600200"/>
            <a:ext cx="146304" cy="146304"/>
          </a:xfrm>
          <a:prstGeom prst="ellipse">
            <a:avLst/>
          </a:prstGeom>
          <a:solidFill>
            <a:srgbClr val="FFFFFF"/>
          </a:solidFill>
          <a:ln w="25400">
            <a:solidFill>
              <a:srgbClr val="EE8100"/>
            </a:solidFill>
            <a:prstDash val="solid"/>
          </a:ln>
        </p:spPr>
      </p:sp>
      <p:sp>
        <p:nvSpPr>
          <p:cNvPr id="49" name="Text 47"/>
          <p:cNvSpPr txBox="1"/>
          <p:nvPr/>
        </p:nvSpPr>
        <p:spPr>
          <a:xfrm>
            <a:off x="2807208" y="1581912"/>
            <a:ext cx="109728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Top-3 critical</a:t>
            </a:r>
            <a:endParaRPr lang="en-US" sz="900" dirty="0"/>
          </a:p>
        </p:txBody>
      </p:sp>
      <p:sp>
        <p:nvSpPr>
          <p:cNvPr id="50" name="Shape 48"/>
          <p:cNvSpPr/>
          <p:nvPr/>
        </p:nvSpPr>
        <p:spPr>
          <a:xfrm>
            <a:off x="3886200" y="1600200"/>
            <a:ext cx="146304" cy="146304"/>
          </a:xfrm>
          <a:prstGeom prst="ellipse">
            <a:avLst/>
          </a:prstGeom>
          <a:solidFill>
            <a:srgbClr val="038141"/>
          </a:solidFill>
          <a:ln/>
        </p:spPr>
      </p:sp>
      <p:sp>
        <p:nvSpPr>
          <p:cNvPr id="51" name="Text 49"/>
          <p:cNvSpPr txBox="1"/>
          <p:nvPr/>
        </p:nvSpPr>
        <p:spPr>
          <a:xfrm>
            <a:off x="4087368" y="1581912"/>
            <a:ext cx="54864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Helps</a:t>
            </a:r>
            <a:endParaRPr lang="en-US" sz="900" dirty="0"/>
          </a:p>
        </p:txBody>
      </p:sp>
      <p:sp>
        <p:nvSpPr>
          <p:cNvPr id="52" name="Shape 50"/>
          <p:cNvSpPr/>
          <p:nvPr/>
        </p:nvSpPr>
        <p:spPr>
          <a:xfrm>
            <a:off x="4572000" y="1600200"/>
            <a:ext cx="146304" cy="146304"/>
          </a:xfrm>
          <a:prstGeom prst="ellipse">
            <a:avLst/>
          </a:prstGeom>
          <a:solidFill>
            <a:srgbClr val="F2A900"/>
          </a:solidFill>
          <a:ln/>
        </p:spPr>
      </p:sp>
      <p:sp>
        <p:nvSpPr>
          <p:cNvPr id="53" name="Text 51"/>
          <p:cNvSpPr txBox="1"/>
          <p:nvPr/>
        </p:nvSpPr>
        <p:spPr>
          <a:xfrm>
            <a:off x="4773168" y="1581912"/>
            <a:ext cx="54864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Mixed</a:t>
            </a:r>
            <a:endParaRPr lang="en-US" sz="900" dirty="0"/>
          </a:p>
        </p:txBody>
      </p:sp>
      <p:sp>
        <p:nvSpPr>
          <p:cNvPr id="54" name="Shape 52"/>
          <p:cNvSpPr/>
          <p:nvPr/>
        </p:nvSpPr>
        <p:spPr>
          <a:xfrm>
            <a:off x="5303520" y="1600200"/>
            <a:ext cx="146304" cy="146304"/>
          </a:xfrm>
          <a:prstGeom prst="ellipse">
            <a:avLst/>
          </a:prstGeom>
          <a:solidFill>
            <a:srgbClr val="E63E11"/>
          </a:solidFill>
          <a:ln/>
        </p:spPr>
      </p:sp>
      <p:sp>
        <p:nvSpPr>
          <p:cNvPr id="55" name="Text 53"/>
          <p:cNvSpPr txBox="1"/>
          <p:nvPr/>
        </p:nvSpPr>
        <p:spPr>
          <a:xfrm>
            <a:off x="5504688" y="1581912"/>
            <a:ext cx="82296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Could slow</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355080" y="1508760"/>
          <a:ext cx="5285232" cy="914400"/>
        </p:xfrm>
        <a:graphic>
          <a:graphicData uri="http://schemas.openxmlformats.org/drawingml/2006/table">
            <a:tbl>
              <a:tblPr/>
              <a:tblGrid>
                <a:gridCol w="365760"/>
                <a:gridCol w="1828800"/>
                <a:gridCol w="1417320"/>
                <a:gridCol w="1673352"/>
              </a:tblGrid>
              <a:tr h="31089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Stakeholder</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Role in the ecosystem</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Influence on the venture</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154B36"/>
                    </a:solidFill>
                  </a:tcPr>
                </a:tc>
              </a:tr>
              <a:tr h="512064">
                <a:tc>
                  <a:txBody>
                    <a:bodyPr/>
                    <a:lstStyle/>
                    <a:p>
                      <a:pPr algn="ctr" indent="0" marL="0">
                        <a:buNone/>
                      </a:pPr>
                      <a:r>
                        <a:rPr lang="en-US" sz="1200" b="1" dirty="0">
                          <a:solidFill>
                            <a:srgbClr val="154B36"/>
                          </a:solidFill>
                          <a:latin typeface="Cambria" pitchFamily="34" charset="0"/>
                          <a:ea typeface="Cambria" pitchFamily="34" charset="-122"/>
                          <a:cs typeface="Cambria" pitchFamily="34" charset="-120"/>
                        </a:rPr>
                        <a:t>1</a:t>
                      </a:r>
                      <a:endParaRPr lang="en-US" sz="1200" dirty="0">
                        <a:latin typeface="Cambria" charset="0"/>
                        <a:ea typeface="Cambria" charset="0"/>
                        <a:cs typeface="Cambria"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24"/>
                          </a:solidFill>
                          <a:latin typeface="Calibri" pitchFamily="34" charset="0"/>
                          <a:ea typeface="Calibri" pitchFamily="34" charset="-122"/>
                          <a:cs typeface="Calibri" pitchFamily="34" charset="-120"/>
                        </a:rPr>
                        <a:t>Priority shopper (segment A)</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Primary user</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Adoption and continued use</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r h="512064">
                <a:tc>
                  <a:txBody>
                    <a:bodyPr/>
                    <a:lstStyle/>
                    <a:p>
                      <a:pPr algn="ctr" indent="0" marL="0">
                        <a:buNone/>
                      </a:pPr>
                      <a:r>
                        <a:rPr lang="en-US" sz="1200" b="1" dirty="0">
                          <a:solidFill>
                            <a:srgbClr val="154B36"/>
                          </a:solidFill>
                          <a:latin typeface="Cambria" pitchFamily="34" charset="0"/>
                          <a:ea typeface="Cambria" pitchFamily="34" charset="-122"/>
                          <a:cs typeface="Cambria" pitchFamily="34" charset="-120"/>
                        </a:rPr>
                        <a:t>2</a:t>
                      </a:r>
                      <a:endParaRPr lang="en-US" sz="1200" dirty="0">
                        <a:latin typeface="Cambria" charset="0"/>
                        <a:ea typeface="Cambria" charset="0"/>
                        <a:cs typeface="Cambria"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24"/>
                          </a:solidFill>
                          <a:latin typeface="Calibri" pitchFamily="34" charset="0"/>
                          <a:ea typeface="Calibri" pitchFamily="34" charset="-122"/>
                          <a:cs typeface="Calibri" pitchFamily="34" charset="-120"/>
                        </a:rPr>
                        <a:t>Naivas Online &amp; Carrefour Kenya</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Storefronts the tool runs on</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Access; can break or block it</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r h="512064">
                <a:tc>
                  <a:txBody>
                    <a:bodyPr/>
                    <a:lstStyle/>
                    <a:p>
                      <a:pPr algn="ctr" indent="0" marL="0">
                        <a:buNone/>
                      </a:pPr>
                      <a:r>
                        <a:rPr lang="en-US" sz="1200" b="1" dirty="0">
                          <a:solidFill>
                            <a:srgbClr val="154B36"/>
                          </a:solidFill>
                          <a:latin typeface="Cambria" pitchFamily="34" charset="0"/>
                          <a:ea typeface="Cambria" pitchFamily="34" charset="-122"/>
                          <a:cs typeface="Cambria" pitchFamily="34" charset="-120"/>
                        </a:rPr>
                        <a:t>3</a:t>
                      </a:r>
                      <a:endParaRPr lang="en-US" sz="1200" dirty="0">
                        <a:latin typeface="Cambria" charset="0"/>
                        <a:ea typeface="Cambria" charset="0"/>
                        <a:cs typeface="Cambria"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24"/>
                          </a:solidFill>
                          <a:latin typeface="Calibri" pitchFamily="34" charset="0"/>
                          <a:ea typeface="Calibri" pitchFamily="34" charset="-122"/>
                          <a:cs typeface="Calibri" pitchFamily="34" charset="-120"/>
                        </a:rPr>
                        <a:t>Clinicians &amp; dietitians (KNDI)</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Advisers and validators</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Trust, referral, threshold endorsement</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r h="512064">
                <a:tc>
                  <a:txBody>
                    <a:bodyPr/>
                    <a:lstStyle/>
                    <a:p>
                      <a:pPr algn="ctr" indent="0" marL="0">
                        <a:buNone/>
                      </a:pPr>
                      <a:r>
                        <a:rPr lang="en-US" sz="1200" b="1" dirty="0">
                          <a:solidFill>
                            <a:srgbClr val="154B36"/>
                          </a:solidFill>
                          <a:latin typeface="Cambria" pitchFamily="34" charset="0"/>
                          <a:ea typeface="Cambria" pitchFamily="34" charset="-122"/>
                          <a:cs typeface="Cambria" pitchFamily="34" charset="-120"/>
                        </a:rPr>
                        <a:t>4</a:t>
                      </a:r>
                      <a:endParaRPr lang="en-US" sz="1200" dirty="0">
                        <a:latin typeface="Cambria" charset="0"/>
                        <a:ea typeface="Cambria" charset="0"/>
                        <a:cs typeface="Cambria"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Ministry of Health &amp; Amref</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Public-health partners</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Legitimacy, reach, funding route</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r h="512064">
                <a:tc>
                  <a:txBody>
                    <a:bodyPr/>
                    <a:lstStyle/>
                    <a:p>
                      <a:pPr algn="ctr" indent="0" marL="0">
                        <a:buNone/>
                      </a:pPr>
                      <a:r>
                        <a:rPr lang="en-US" sz="1200" b="1" dirty="0">
                          <a:solidFill>
                            <a:srgbClr val="154B36"/>
                          </a:solidFill>
                          <a:latin typeface="Cambria" pitchFamily="34" charset="0"/>
                          <a:ea typeface="Cambria" pitchFamily="34" charset="-122"/>
                          <a:cs typeface="Cambria" pitchFamily="34" charset="-120"/>
                        </a:rPr>
                        <a:t>5</a:t>
                      </a:r>
                      <a:endParaRPr lang="en-US" sz="1200" dirty="0">
                        <a:latin typeface="Cambria" charset="0"/>
                        <a:ea typeface="Cambria" charset="0"/>
                        <a:cs typeface="Cambria"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Chrome Web Store (Google)</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Distribution channel</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Listing approval, permissions review</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r h="512064">
                <a:tc>
                  <a:txBody>
                    <a:bodyPr/>
                    <a:lstStyle/>
                    <a:p>
                      <a:pPr algn="ctr" indent="0" marL="0">
                        <a:buNone/>
                      </a:pPr>
                      <a:r>
                        <a:rPr lang="en-US" sz="1200" b="1" dirty="0">
                          <a:solidFill>
                            <a:srgbClr val="154B36"/>
                          </a:solidFill>
                          <a:latin typeface="Cambria" pitchFamily="34" charset="0"/>
                          <a:ea typeface="Cambria" pitchFamily="34" charset="-122"/>
                          <a:cs typeface="Cambria" pitchFamily="34" charset="-120"/>
                        </a:rPr>
                        <a:t>6</a:t>
                      </a:r>
                      <a:endParaRPr lang="en-US" sz="1200" dirty="0">
                        <a:latin typeface="Cambria" charset="0"/>
                        <a:ea typeface="Cambria" charset="0"/>
                        <a:cs typeface="Cambria"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Data sources &amp; food brands</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Nutrition data supply</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Grade coverage and accuracy</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r h="512064">
                <a:tc>
                  <a:txBody>
                    <a:bodyPr/>
                    <a:lstStyle/>
                    <a:p>
                      <a:pPr algn="ctr" indent="0" marL="0">
                        <a:buNone/>
                      </a:pPr>
                      <a:r>
                        <a:rPr lang="en-US" sz="1200" b="1" dirty="0">
                          <a:solidFill>
                            <a:srgbClr val="154B36"/>
                          </a:solidFill>
                          <a:latin typeface="Cambria" pitchFamily="34" charset="0"/>
                          <a:ea typeface="Cambria" pitchFamily="34" charset="-122"/>
                          <a:cs typeface="Cambria" pitchFamily="34" charset="-120"/>
                        </a:rPr>
                        <a:t>7</a:t>
                      </a:r>
                      <a:endParaRPr lang="en-US" sz="1200" dirty="0">
                        <a:latin typeface="Cambria" charset="0"/>
                        <a:ea typeface="Cambria" charset="0"/>
                        <a:cs typeface="Cambria"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Data Protection Commissioner</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Regulator</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c>
                  <a:txBody>
                    <a:bodyPr/>
                    <a:lstStyle/>
                    <a:p>
                      <a:pPr indent="0" marL="0">
                        <a:buNone/>
                      </a:pPr>
                      <a:r>
                        <a:rPr lang="en-US" sz="1000" dirty="0">
                          <a:solidFill>
                            <a:srgbClr val="1F2A24"/>
                          </a:solidFill>
                          <a:latin typeface="Calibri" pitchFamily="34" charset="0"/>
                          <a:ea typeface="Calibri" pitchFamily="34" charset="-122"/>
                          <a:cs typeface="Calibri" pitchFamily="34" charset="-120"/>
                        </a:rPr>
                        <a:t>Compliance on health-related data</a:t>
                      </a:r>
                      <a:endParaRPr lang="en-US" sz="1000" dirty="0">
                        <a:latin typeface="Calibri" charset="0"/>
                        <a:ea typeface="Calibri" charset="0"/>
                        <a:cs typeface="Calibri" charset="0"/>
                      </a:endParaRPr>
                    </a:p>
                  </a:txBody>
                  <a:tcPr marL="73152" marR="73152" marT="0" marB="0" anchor="ctr">
                    <a:lnL w="9525" cap="flat" cmpd="sng" algn="ctr">
                      <a:solidFill>
                        <a:srgbClr val="C9D5CE"/>
                      </a:solidFill>
                      <a:prstDash val="solid"/>
                      <a:round/>
                      <a:headEnd type="none" w="med" len="med"/>
                      <a:tailEnd type="none" w="med" len="med"/>
                    </a:lnL>
                    <a:lnR w="9525" cap="flat" cmpd="sng" algn="ctr">
                      <a:solidFill>
                        <a:srgbClr val="C9D5CE"/>
                      </a:solidFill>
                      <a:prstDash val="solid"/>
                      <a:round/>
                      <a:headEnd type="none" w="med" len="med"/>
                      <a:tailEnd type="none" w="med" len="med"/>
                    </a:lnR>
                    <a:lnT w="9525" cap="flat" cmpd="sng" algn="ctr">
                      <a:solidFill>
                        <a:srgbClr val="C9D5CE"/>
                      </a:solidFill>
                      <a:prstDash val="solid"/>
                      <a:round/>
                      <a:headEnd type="none" w="med" len="med"/>
                      <a:tailEnd type="none" w="med" len="med"/>
                    </a:lnT>
                    <a:lnB w="9525" cap="flat" cmpd="sng" algn="ctr">
                      <a:solidFill>
                        <a:srgbClr val="C9D5CE"/>
                      </a:solidFill>
                      <a:prstDash val="solid"/>
                      <a:round/>
                      <a:headEnd type="none" w="med" len="med"/>
                      <a:tailEnd type="none" w="med" len="med"/>
                    </a:lnB>
                    <a:solidFill>
                      <a:srgbClr val="FFFFFF"/>
                    </a:solidFill>
                  </a:tcPr>
                </a:tc>
              </a:tr>
            </a:tbl>
          </a:graphicData>
        </a:graphic>
      </p:graphicFrame>
      <p:sp>
        <p:nvSpPr>
          <p:cNvPr id="57" name="Shape 54"/>
          <p:cNvSpPr/>
          <p:nvPr/>
        </p:nvSpPr>
        <p:spPr>
          <a:xfrm>
            <a:off x="6355080" y="5532120"/>
            <a:ext cx="5285232" cy="548640"/>
          </a:xfrm>
          <a:prstGeom prst="roundRect">
            <a:avLst>
              <a:gd name="adj" fmla="val 10000"/>
            </a:avLst>
          </a:prstGeom>
          <a:solidFill>
            <a:srgbClr val="154B36"/>
          </a:solidFill>
          <a:ln/>
        </p:spPr>
      </p:sp>
      <p:sp>
        <p:nvSpPr>
          <p:cNvPr id="58" name="Text 55"/>
          <p:cNvSpPr txBox="1"/>
          <p:nvPr/>
        </p:nvSpPr>
        <p:spPr>
          <a:xfrm>
            <a:off x="6510528" y="5532120"/>
            <a:ext cx="5029200" cy="548640"/>
          </a:xfrm>
          <a:prstGeom prst="rect">
            <a:avLst/>
          </a:prstGeom>
          <a:noFill/>
          <a:ln/>
        </p:spPr>
        <p:txBody>
          <a:bodyPr wrap="square" lIns="0" tIns="0" rIns="0" bIns="0" rtlCol="0" anchor="ctr"/>
          <a:lstStyle/>
          <a:p>
            <a:pPr indent="0" marL="0">
              <a:buNone/>
            </a:pPr>
            <a:r>
              <a:rPr lang="en-US" sz="950" b="1" spc="150" kern="0" dirty="0">
                <a:solidFill>
                  <a:srgbClr val="F5A623"/>
                </a:solidFill>
                <a:latin typeface="Calibri" pitchFamily="34" charset="0"/>
                <a:ea typeface="Calibri" pitchFamily="34" charset="-122"/>
                <a:cs typeface="Calibri" pitchFamily="34" charset="-120"/>
              </a:rPr>
              <a:t>MOST CRITICAL  </a:t>
            </a:r>
            <a:pPr indent="0" marL="0">
              <a:buNone/>
            </a:pPr>
            <a:r>
              <a:rPr lang="en-US" sz="1050" dirty="0">
                <a:solidFill>
                  <a:srgbClr val="FFFFFF"/>
                </a:solidFill>
                <a:latin typeface="Calibri" pitchFamily="34" charset="0"/>
                <a:ea typeface="Calibri" pitchFamily="34" charset="-122"/>
                <a:cs typeface="Calibri" pitchFamily="34" charset="-120"/>
              </a:rPr>
              <a:t>1 Shopper (adoption)  ·  2 Retail platforms (access)  ·  3 Clinicians (trust)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3"/>
        </a:solidFill>
      </p:bgPr>
    </p:bg>
    <p:spTree>
      <p:nvGrpSpPr>
        <p:cNvPr id="1" name=""/>
        <p:cNvGrpSpPr/>
        <p:nvPr/>
      </p:nvGrpSpPr>
      <p:grpSpPr>
        <a:xfrm>
          <a:off x="0" y="0"/>
          <a:ext cx="0" cy="0"/>
          <a:chOff x="0" y="0"/>
          <a:chExt cx="0" cy="0"/>
        </a:xfrm>
      </p:grpSpPr>
      <p:sp>
        <p:nvSpPr>
          <p:cNvPr id="2" name="Text 0"/>
          <p:cNvSpPr txBox="1"/>
          <p:nvPr/>
        </p:nvSpPr>
        <p:spPr>
          <a:xfrm>
            <a:off x="548640" y="292608"/>
            <a:ext cx="9692640" cy="228600"/>
          </a:xfrm>
          <a:prstGeom prst="rect">
            <a:avLst/>
          </a:prstGeom>
          <a:noFill/>
          <a:ln/>
        </p:spPr>
        <p:txBody>
          <a:bodyPr wrap="square" lIns="0" tIns="0" rIns="0" bIns="0" rtlCol="0" anchor="t"/>
          <a:lstStyle/>
          <a:p>
            <a:pPr indent="0" marL="0">
              <a:buNone/>
            </a:pPr>
            <a:r>
              <a:rPr lang="en-US" sz="1000" b="1" spc="200" kern="0" dirty="0">
                <a:solidFill>
                  <a:srgbClr val="5C6B63"/>
                </a:solidFill>
                <a:latin typeface="Calibri" pitchFamily="34" charset="0"/>
                <a:ea typeface="Calibri" pitchFamily="34" charset="-122"/>
                <a:cs typeface="Calibri" pitchFamily="34" charset="-120"/>
              </a:rPr>
              <a:t>ASSIGNMENT 2 · USER &amp; STAKEHOLDER VALIDATION · RISK, CHANGE, REFLECTION</a:t>
            </a:r>
            <a:endParaRPr lang="en-US" sz="1000" dirty="0"/>
          </a:p>
        </p:txBody>
      </p:sp>
      <p:sp>
        <p:nvSpPr>
          <p:cNvPr id="3" name="Shape 1"/>
          <p:cNvSpPr/>
          <p:nvPr/>
        </p:nvSpPr>
        <p:spPr>
          <a:xfrm>
            <a:off x="10643616" y="310896"/>
            <a:ext cx="155448" cy="155448"/>
          </a:xfrm>
          <a:prstGeom prst="rect">
            <a:avLst/>
          </a:prstGeom>
          <a:solidFill>
            <a:srgbClr val="038141"/>
          </a:solidFill>
          <a:ln/>
        </p:spPr>
      </p:sp>
      <p:sp>
        <p:nvSpPr>
          <p:cNvPr id="4" name="Shape 2"/>
          <p:cNvSpPr/>
          <p:nvPr/>
        </p:nvSpPr>
        <p:spPr>
          <a:xfrm>
            <a:off x="10853928" y="310896"/>
            <a:ext cx="155448" cy="155448"/>
          </a:xfrm>
          <a:prstGeom prst="rect">
            <a:avLst/>
          </a:prstGeom>
          <a:solidFill>
            <a:srgbClr val="85BB2F"/>
          </a:solidFill>
          <a:ln/>
        </p:spPr>
      </p:sp>
      <p:sp>
        <p:nvSpPr>
          <p:cNvPr id="5" name="Shape 3"/>
          <p:cNvSpPr/>
          <p:nvPr/>
        </p:nvSpPr>
        <p:spPr>
          <a:xfrm>
            <a:off x="11064240" y="310896"/>
            <a:ext cx="155448" cy="155448"/>
          </a:xfrm>
          <a:prstGeom prst="rect">
            <a:avLst/>
          </a:prstGeom>
          <a:solidFill>
            <a:srgbClr val="FECB02"/>
          </a:solidFill>
          <a:ln/>
        </p:spPr>
      </p:sp>
      <p:sp>
        <p:nvSpPr>
          <p:cNvPr id="6" name="Shape 4"/>
          <p:cNvSpPr/>
          <p:nvPr/>
        </p:nvSpPr>
        <p:spPr>
          <a:xfrm>
            <a:off x="11274552" y="310896"/>
            <a:ext cx="155448" cy="155448"/>
          </a:xfrm>
          <a:prstGeom prst="rect">
            <a:avLst/>
          </a:prstGeom>
          <a:solidFill>
            <a:srgbClr val="EE8100"/>
          </a:solidFill>
          <a:ln/>
        </p:spPr>
      </p:sp>
      <p:sp>
        <p:nvSpPr>
          <p:cNvPr id="7" name="Shape 5"/>
          <p:cNvSpPr/>
          <p:nvPr/>
        </p:nvSpPr>
        <p:spPr>
          <a:xfrm>
            <a:off x="11484864" y="310896"/>
            <a:ext cx="155448" cy="155448"/>
          </a:xfrm>
          <a:prstGeom prst="rect">
            <a:avLst/>
          </a:prstGeom>
          <a:solidFill>
            <a:srgbClr val="E63E11"/>
          </a:solidFill>
          <a:ln/>
        </p:spPr>
      </p:sp>
      <p:sp>
        <p:nvSpPr>
          <p:cNvPr id="8" name="Text 6"/>
          <p:cNvSpPr txBox="1"/>
          <p:nvPr/>
        </p:nvSpPr>
        <p:spPr>
          <a:xfrm>
            <a:off x="548640" y="603504"/>
            <a:ext cx="11064240" cy="822960"/>
          </a:xfrm>
          <a:prstGeom prst="rect">
            <a:avLst/>
          </a:prstGeom>
          <a:noFill/>
          <a:ln/>
        </p:spPr>
        <p:txBody>
          <a:bodyPr wrap="square" lIns="0" tIns="0" rIns="0" bIns="0" rtlCol="0" anchor="t"/>
          <a:lstStyle/>
          <a:p>
            <a:pPr indent="0" marL="0">
              <a:buNone/>
            </a:pPr>
            <a:r>
              <a:rPr lang="en-US" sz="2600" b="1" dirty="0">
                <a:solidFill>
                  <a:srgbClr val="154B36"/>
                </a:solidFill>
                <a:latin typeface="Cambria" pitchFamily="34" charset="0"/>
                <a:ea typeface="Cambria" pitchFamily="34" charset="-122"/>
                <a:cs typeface="Cambria" pitchFamily="34" charset="-120"/>
              </a:rPr>
              <a:t>One stakeholder risk, one change, one honest reflection</a:t>
            </a:r>
            <a:endParaRPr lang="en-US" sz="2600" dirty="0"/>
          </a:p>
        </p:txBody>
      </p:sp>
      <p:sp>
        <p:nvSpPr>
          <p:cNvPr id="9" name="Text 7"/>
          <p:cNvSpPr txBox="1"/>
          <p:nvPr/>
        </p:nvSpPr>
        <p:spPr>
          <a:xfrm>
            <a:off x="548640" y="6199632"/>
            <a:ext cx="11064240" cy="219456"/>
          </a:xfrm>
          <a:prstGeom prst="rect">
            <a:avLst/>
          </a:prstGeom>
          <a:noFill/>
          <a:ln/>
        </p:spPr>
        <p:txBody>
          <a:bodyPr wrap="square" lIns="0" tIns="0" rIns="0" bIns="0" rtlCol="0" anchor="t"/>
          <a:lstStyle/>
          <a:p>
            <a:pPr indent="0" marL="0">
              <a:buNone/>
            </a:pPr>
            <a:r>
              <a:rPr lang="en-US" sz="900" i="1" dirty="0">
                <a:solidFill>
                  <a:srgbClr val="5C6B63"/>
                </a:solidFill>
                <a:latin typeface="Calibri" pitchFamily="34" charset="0"/>
                <a:ea typeface="Calibri" pitchFamily="34" charset="-122"/>
                <a:cs typeface="Calibri" pitchFamily="34" charset="-120"/>
              </a:rPr>
              <a:t>Shipped v1.1.0 datasets: Carrefour 3,094 of 6,698 and Naivas 1,609 of 3,820 records can display a grade; 5,660 of 10,518 are UNVERIFIED.</a:t>
            </a:r>
            <a:endParaRPr lang="en-US" sz="900" dirty="0"/>
          </a:p>
        </p:txBody>
      </p:sp>
      <p:sp>
        <p:nvSpPr>
          <p:cNvPr id="10" name="Text 8"/>
          <p:cNvSpPr txBox="1"/>
          <p:nvPr/>
        </p:nvSpPr>
        <p:spPr>
          <a:xfrm>
            <a:off x="548640" y="6510528"/>
            <a:ext cx="9601200" cy="182880"/>
          </a:xfrm>
          <a:prstGeom prst="rect">
            <a:avLst/>
          </a:prstGeom>
          <a:noFill/>
          <a:ln/>
        </p:spPr>
        <p:txBody>
          <a:bodyPr wrap="square" lIns="0" tIns="0" rIns="0" bIns="0" rtlCol="0" anchor="t"/>
          <a:lstStyle/>
          <a:p>
            <a:pPr indent="0" marL="0">
              <a:buNone/>
            </a:pPr>
            <a:r>
              <a:rPr lang="en-US" sz="900" dirty="0">
                <a:solidFill>
                  <a:srgbClr val="5C6B63"/>
                </a:solidFill>
                <a:latin typeface="Calibri" pitchFamily="34" charset="0"/>
                <a:ea typeface="Calibri" pitchFamily="34" charset="-122"/>
                <a:cs typeface="Calibri" pitchFamily="34" charset="-120"/>
              </a:rPr>
              <a:t>NutriScore Checkout Tool  |  NUT-04, JHUB Africa / AfyaVentures  |  Kibet, Project Lead</a:t>
            </a:r>
            <a:endParaRPr lang="en-US" sz="900" dirty="0"/>
          </a:p>
        </p:txBody>
      </p:sp>
      <p:sp>
        <p:nvSpPr>
          <p:cNvPr id="11" name="Text 9"/>
          <p:cNvSpPr txBox="1"/>
          <p:nvPr/>
        </p:nvSpPr>
        <p:spPr>
          <a:xfrm>
            <a:off x="10725912" y="6510528"/>
            <a:ext cx="914400" cy="182880"/>
          </a:xfrm>
          <a:prstGeom prst="rect">
            <a:avLst/>
          </a:prstGeom>
          <a:noFill/>
          <a:ln/>
        </p:spPr>
        <p:txBody>
          <a:bodyPr wrap="square" lIns="0" tIns="0" rIns="0" bIns="0" rtlCol="0" anchor="t"/>
          <a:lstStyle/>
          <a:p>
            <a:pPr algn="r" indent="0" marL="0">
              <a:buNone/>
            </a:pPr>
            <a:r>
              <a:rPr lang="en-US" sz="900" dirty="0">
                <a:solidFill>
                  <a:srgbClr val="5C6B63"/>
                </a:solidFill>
                <a:latin typeface="Calibri" pitchFamily="34" charset="0"/>
                <a:ea typeface="Calibri" pitchFamily="34" charset="-122"/>
                <a:cs typeface="Calibri" pitchFamily="34" charset="-120"/>
              </a:rPr>
              <a:t>4 / 4</a:t>
            </a:r>
            <a:endParaRPr lang="en-US" sz="900" dirty="0"/>
          </a:p>
        </p:txBody>
      </p:sp>
      <p:sp>
        <p:nvSpPr>
          <p:cNvPr id="12" name="Shape 10"/>
          <p:cNvSpPr/>
          <p:nvPr/>
        </p:nvSpPr>
        <p:spPr>
          <a:xfrm>
            <a:off x="548640" y="1508760"/>
            <a:ext cx="3566160" cy="4572000"/>
          </a:xfrm>
          <a:prstGeom prst="roundRect">
            <a:avLst>
              <a:gd name="adj" fmla="val 2051"/>
            </a:avLst>
          </a:prstGeom>
          <a:solidFill>
            <a:srgbClr val="FFFFFF"/>
          </a:solidFill>
          <a:ln w="9525">
            <a:solidFill>
              <a:srgbClr val="C9D5CE"/>
            </a:solidFill>
            <a:prstDash val="solid"/>
          </a:ln>
        </p:spPr>
      </p:sp>
      <p:sp>
        <p:nvSpPr>
          <p:cNvPr id="13" name="Shape 11"/>
          <p:cNvSpPr/>
          <p:nvPr/>
        </p:nvSpPr>
        <p:spPr>
          <a:xfrm>
            <a:off x="777240" y="1737360"/>
            <a:ext cx="2103120" cy="237744"/>
          </a:xfrm>
          <a:prstGeom prst="roundRect">
            <a:avLst>
              <a:gd name="adj" fmla="val 46154"/>
            </a:avLst>
          </a:prstGeom>
          <a:solidFill>
            <a:srgbClr val="FCEEE8"/>
          </a:solidFill>
          <a:ln/>
        </p:spPr>
      </p:sp>
      <p:sp>
        <p:nvSpPr>
          <p:cNvPr id="14" name="Text 12"/>
          <p:cNvSpPr txBox="1"/>
          <p:nvPr/>
        </p:nvSpPr>
        <p:spPr>
          <a:xfrm>
            <a:off x="777240" y="1737360"/>
            <a:ext cx="2103120" cy="237744"/>
          </a:xfrm>
          <a:prstGeom prst="rect">
            <a:avLst/>
          </a:prstGeom>
          <a:noFill/>
          <a:ln/>
        </p:spPr>
        <p:txBody>
          <a:bodyPr wrap="square" lIns="0" tIns="0" rIns="0" bIns="0" rtlCol="0" anchor="ctr"/>
          <a:lstStyle/>
          <a:p>
            <a:pPr algn="ctr" indent="0" marL="0">
              <a:buNone/>
            </a:pPr>
            <a:r>
              <a:rPr lang="en-US" sz="900" b="1" spc="100" kern="0" dirty="0">
                <a:solidFill>
                  <a:srgbClr val="E63E11"/>
                </a:solidFill>
                <a:latin typeface="Calibri" pitchFamily="34" charset="0"/>
                <a:ea typeface="Calibri" pitchFamily="34" charset="-122"/>
                <a:cs typeface="Calibri" pitchFamily="34" charset="-120"/>
              </a:rPr>
              <a:t>MAJOR STAKEHOLDER RISK</a:t>
            </a:r>
            <a:endParaRPr lang="en-US" sz="900" dirty="0"/>
          </a:p>
        </p:txBody>
      </p:sp>
      <p:sp>
        <p:nvSpPr>
          <p:cNvPr id="15" name="Text 13"/>
          <p:cNvSpPr txBox="1"/>
          <p:nvPr/>
        </p:nvSpPr>
        <p:spPr>
          <a:xfrm>
            <a:off x="777240" y="2148840"/>
            <a:ext cx="3108960" cy="777240"/>
          </a:xfrm>
          <a:prstGeom prst="rect">
            <a:avLst/>
          </a:prstGeom>
          <a:noFill/>
          <a:ln/>
        </p:spPr>
        <p:txBody>
          <a:bodyPr wrap="square" lIns="0" tIns="0" rIns="0" bIns="0" rtlCol="0" anchor="t"/>
          <a:lstStyle/>
          <a:p>
            <a:pPr indent="0" marL="0">
              <a:buNone/>
            </a:pPr>
            <a:r>
              <a:rPr lang="en-US" sz="1800" b="1" dirty="0">
                <a:solidFill>
                  <a:srgbClr val="154B36"/>
                </a:solidFill>
                <a:latin typeface="Cambria" pitchFamily="34" charset="0"/>
                <a:ea typeface="Cambria" pitchFamily="34" charset="-122"/>
                <a:cs typeface="Cambria" pitchFamily="34" charset="-120"/>
              </a:rPr>
              <a:t>Retailers hold the switch</a:t>
            </a:r>
            <a:endParaRPr lang="en-US" sz="1800" dirty="0"/>
          </a:p>
        </p:txBody>
      </p:sp>
      <p:sp>
        <p:nvSpPr>
          <p:cNvPr id="16" name="Text 14"/>
          <p:cNvSpPr txBox="1"/>
          <p:nvPr/>
        </p:nvSpPr>
        <p:spPr>
          <a:xfrm>
            <a:off x="777240" y="2788920"/>
            <a:ext cx="3108960" cy="1143000"/>
          </a:xfrm>
          <a:prstGeom prst="rect">
            <a:avLst/>
          </a:prstGeom>
          <a:noFill/>
          <a:ln/>
        </p:spPr>
        <p:txBody>
          <a:bodyPr wrap="square" lIns="0" tIns="0" rIns="0" bIns="0" rtlCol="0" anchor="t"/>
          <a:lstStyle/>
          <a:p>
            <a:pPr indent="0" marL="0">
              <a:buNone/>
            </a:pPr>
            <a:r>
              <a:rPr lang="en-US" sz="1200" dirty="0">
                <a:solidFill>
                  <a:srgbClr val="1F2A24"/>
                </a:solidFill>
                <a:latin typeface="Calibri" pitchFamily="34" charset="0"/>
                <a:ea typeface="Calibri" pitchFamily="34" charset="-122"/>
                <a:cs typeface="Calibri" pitchFamily="34" charset="-120"/>
              </a:rPr>
              <a:t>The tool reads Naivas and Carrefour pages without a partnership. A site redesign, or a retailer objecting to a third-party grade beside its products, could break or block it overnight.</a:t>
            </a:r>
            <a:endParaRPr lang="en-US" sz="1200" dirty="0"/>
          </a:p>
        </p:txBody>
      </p:sp>
      <p:sp>
        <p:nvSpPr>
          <p:cNvPr id="17" name="Shape 15"/>
          <p:cNvSpPr/>
          <p:nvPr/>
        </p:nvSpPr>
        <p:spPr>
          <a:xfrm>
            <a:off x="777240" y="4023360"/>
            <a:ext cx="3108960" cy="868680"/>
          </a:xfrm>
          <a:prstGeom prst="roundRect">
            <a:avLst>
              <a:gd name="adj" fmla="val 6316"/>
            </a:avLst>
          </a:prstGeom>
          <a:solidFill>
            <a:srgbClr val="F2F6F3"/>
          </a:solidFill>
          <a:ln/>
        </p:spPr>
      </p:sp>
      <p:sp>
        <p:nvSpPr>
          <p:cNvPr id="18" name="Text 16"/>
          <p:cNvSpPr txBox="1"/>
          <p:nvPr/>
        </p:nvSpPr>
        <p:spPr>
          <a:xfrm>
            <a:off x="914400" y="4023360"/>
            <a:ext cx="1051560" cy="868680"/>
          </a:xfrm>
          <a:prstGeom prst="rect">
            <a:avLst/>
          </a:prstGeom>
          <a:noFill/>
          <a:ln/>
        </p:spPr>
        <p:txBody>
          <a:bodyPr wrap="square" lIns="0" tIns="0" rIns="0" bIns="0" rtlCol="0" anchor="ctr"/>
          <a:lstStyle/>
          <a:p>
            <a:pPr indent="0" marL="0">
              <a:buNone/>
            </a:pPr>
            <a:r>
              <a:rPr lang="en-US" sz="3000" b="1" dirty="0">
                <a:solidFill>
                  <a:srgbClr val="A85A00"/>
                </a:solidFill>
                <a:latin typeface="Cambria" pitchFamily="34" charset="0"/>
                <a:ea typeface="Cambria" pitchFamily="34" charset="-122"/>
                <a:cs typeface="Cambria" pitchFamily="34" charset="-120"/>
              </a:rPr>
              <a:t>64%</a:t>
            </a:r>
            <a:endParaRPr lang="en-US" sz="3000" dirty="0"/>
          </a:p>
        </p:txBody>
      </p:sp>
      <p:sp>
        <p:nvSpPr>
          <p:cNvPr id="19" name="Text 17"/>
          <p:cNvSpPr txBox="1"/>
          <p:nvPr/>
        </p:nvSpPr>
        <p:spPr>
          <a:xfrm>
            <a:off x="1965960" y="4023360"/>
            <a:ext cx="1828800" cy="868680"/>
          </a:xfrm>
          <a:prstGeom prst="rect">
            <a:avLst/>
          </a:prstGeom>
          <a:noFill/>
          <a:ln/>
        </p:spPr>
        <p:txBody>
          <a:bodyPr wrap="square" lIns="0" tIns="0" rIns="0" bIns="0" rtlCol="0" anchor="ctr"/>
          <a:lstStyle/>
          <a:p>
            <a:pPr indent="0" marL="0">
              <a:buNone/>
            </a:pPr>
            <a:r>
              <a:rPr lang="en-US" sz="1050" dirty="0">
                <a:solidFill>
                  <a:srgbClr val="1F2A24"/>
                </a:solidFill>
                <a:latin typeface="Calibri" pitchFamily="34" charset="0"/>
                <a:ea typeface="Calibri" pitchFamily="34" charset="-122"/>
                <a:cs typeface="Calibri" pitchFamily="34" charset="-120"/>
              </a:rPr>
              <a:t>of our 10,518 product records sit behind one retailer, Carrefour Kenya</a:t>
            </a:r>
            <a:endParaRPr lang="en-US" sz="1050" dirty="0"/>
          </a:p>
        </p:txBody>
      </p:sp>
      <p:sp>
        <p:nvSpPr>
          <p:cNvPr id="20" name="Text 18"/>
          <p:cNvSpPr txBox="1"/>
          <p:nvPr/>
        </p:nvSpPr>
        <p:spPr>
          <a:xfrm>
            <a:off x="777240" y="5029200"/>
            <a:ext cx="3108960" cy="201168"/>
          </a:xfrm>
          <a:prstGeom prst="rect">
            <a:avLst/>
          </a:prstGeom>
          <a:noFill/>
          <a:ln/>
        </p:spPr>
        <p:txBody>
          <a:bodyPr wrap="square" lIns="0" tIns="0" rIns="0" bIns="0" rtlCol="0" anchor="t"/>
          <a:lstStyle/>
          <a:p>
            <a:pPr indent="0" marL="0">
              <a:buNone/>
            </a:pPr>
            <a:r>
              <a:rPr lang="en-US" sz="1000" b="1" spc="150" kern="0" dirty="0">
                <a:solidFill>
                  <a:srgbClr val="038141"/>
                </a:solidFill>
                <a:latin typeface="Calibri" pitchFamily="34" charset="0"/>
                <a:ea typeface="Calibri" pitchFamily="34" charset="-122"/>
                <a:cs typeface="Calibri" pitchFamily="34" charset="-120"/>
              </a:rPr>
              <a:t>MITIGATION</a:t>
            </a:r>
            <a:endParaRPr lang="en-US" sz="1000" dirty="0"/>
          </a:p>
        </p:txBody>
      </p:sp>
      <p:sp>
        <p:nvSpPr>
          <p:cNvPr id="21" name="Text 19"/>
          <p:cNvSpPr txBox="1"/>
          <p:nvPr/>
        </p:nvSpPr>
        <p:spPr>
          <a:xfrm>
            <a:off x="777240" y="5266944"/>
            <a:ext cx="3108960" cy="731520"/>
          </a:xfrm>
          <a:prstGeom prst="rect">
            <a:avLst/>
          </a:prstGeom>
          <a:noFill/>
          <a:ln/>
        </p:spPr>
        <p:txBody>
          <a:bodyPr wrap="square" lIns="0" tIns="0" rIns="0" bIns="0" rtlCol="0" anchor="t"/>
          <a:lstStyle/>
          <a:p>
            <a:pPr indent="0" marL="0">
              <a:buNone/>
            </a:pPr>
            <a:r>
              <a:rPr lang="en-US" sz="1100" dirty="0">
                <a:solidFill>
                  <a:srgbClr val="1F2A24"/>
                </a:solidFill>
                <a:latin typeface="Calibri" pitchFamily="34" charset="0"/>
                <a:ea typeface="Calibri" pitchFamily="34" charset="-122"/>
                <a:cs typeface="Calibri" pitchFamily="34" charset="-120"/>
              </a:rPr>
              <a:t>Open a low-ask pilot conversation early, and keep each retailer’s adapter isolated so one change does not stop the other.</a:t>
            </a:r>
            <a:endParaRPr lang="en-US" sz="1100" dirty="0"/>
          </a:p>
        </p:txBody>
      </p:sp>
      <p:sp>
        <p:nvSpPr>
          <p:cNvPr id="22" name="Shape 20"/>
          <p:cNvSpPr/>
          <p:nvPr/>
        </p:nvSpPr>
        <p:spPr>
          <a:xfrm>
            <a:off x="4315968" y="1508760"/>
            <a:ext cx="3566160" cy="4572000"/>
          </a:xfrm>
          <a:prstGeom prst="roundRect">
            <a:avLst>
              <a:gd name="adj" fmla="val 2051"/>
            </a:avLst>
          </a:prstGeom>
          <a:solidFill>
            <a:srgbClr val="FFFFFF"/>
          </a:solidFill>
          <a:ln w="9525">
            <a:solidFill>
              <a:srgbClr val="C9D5CE"/>
            </a:solidFill>
            <a:prstDash val="solid"/>
          </a:ln>
        </p:spPr>
      </p:sp>
      <p:sp>
        <p:nvSpPr>
          <p:cNvPr id="23" name="Shape 21"/>
          <p:cNvSpPr/>
          <p:nvPr/>
        </p:nvSpPr>
        <p:spPr>
          <a:xfrm>
            <a:off x="4544568" y="1737360"/>
            <a:ext cx="2286000" cy="237744"/>
          </a:xfrm>
          <a:prstGeom prst="roundRect">
            <a:avLst>
              <a:gd name="adj" fmla="val 46154"/>
            </a:avLst>
          </a:prstGeom>
          <a:solidFill>
            <a:srgbClr val="E8F1EB"/>
          </a:solidFill>
          <a:ln/>
        </p:spPr>
      </p:sp>
      <p:sp>
        <p:nvSpPr>
          <p:cNvPr id="24" name="Text 22"/>
          <p:cNvSpPr txBox="1"/>
          <p:nvPr/>
        </p:nvSpPr>
        <p:spPr>
          <a:xfrm>
            <a:off x="4544568" y="1737360"/>
            <a:ext cx="2286000" cy="237744"/>
          </a:xfrm>
          <a:prstGeom prst="rect">
            <a:avLst/>
          </a:prstGeom>
          <a:noFill/>
          <a:ln/>
        </p:spPr>
        <p:txBody>
          <a:bodyPr wrap="square" lIns="0" tIns="0" rIns="0" bIns="0" rtlCol="0" anchor="ctr"/>
          <a:lstStyle/>
          <a:p>
            <a:pPr algn="ctr" indent="0" marL="0">
              <a:buNone/>
            </a:pPr>
            <a:r>
              <a:rPr lang="en-US" sz="900" b="1" spc="100" kern="0" dirty="0">
                <a:solidFill>
                  <a:srgbClr val="154B36"/>
                </a:solidFill>
                <a:latin typeface="Calibri" pitchFamily="34" charset="0"/>
                <a:ea typeface="Calibri" pitchFamily="34" charset="-122"/>
                <a:cs typeface="Calibri" pitchFamily="34" charset="-120"/>
              </a:rPr>
              <a:t>ONE CHANGE WE WOULD MAKE</a:t>
            </a:r>
            <a:endParaRPr lang="en-US" sz="900" dirty="0"/>
          </a:p>
        </p:txBody>
      </p:sp>
      <p:sp>
        <p:nvSpPr>
          <p:cNvPr id="25" name="Text 23"/>
          <p:cNvSpPr txBox="1"/>
          <p:nvPr/>
        </p:nvSpPr>
        <p:spPr>
          <a:xfrm>
            <a:off x="4544568" y="2148840"/>
            <a:ext cx="3108960" cy="777240"/>
          </a:xfrm>
          <a:prstGeom prst="rect">
            <a:avLst/>
          </a:prstGeom>
          <a:noFill/>
          <a:ln/>
        </p:spPr>
        <p:txBody>
          <a:bodyPr wrap="square" lIns="0" tIns="0" rIns="0" bIns="0" rtlCol="0" anchor="t"/>
          <a:lstStyle/>
          <a:p>
            <a:pPr indent="0" marL="0">
              <a:buNone/>
            </a:pPr>
            <a:r>
              <a:rPr lang="en-US" sz="1800" b="1" dirty="0">
                <a:solidFill>
                  <a:srgbClr val="154B36"/>
                </a:solidFill>
                <a:latin typeface="Cambria" pitchFamily="34" charset="0"/>
                <a:ea typeface="Cambria" pitchFamily="34" charset="-122"/>
                <a:cs typeface="Cambria" pitchFamily="34" charset="-120"/>
              </a:rPr>
              <a:t>Curate what segment A actually buys</a:t>
            </a:r>
            <a:endParaRPr lang="en-US" sz="1800" dirty="0"/>
          </a:p>
        </p:txBody>
      </p:sp>
      <p:sp>
        <p:nvSpPr>
          <p:cNvPr id="26" name="Text 24"/>
          <p:cNvSpPr txBox="1"/>
          <p:nvPr/>
        </p:nvSpPr>
        <p:spPr>
          <a:xfrm>
            <a:off x="4544568" y="2788920"/>
            <a:ext cx="3108960" cy="1143000"/>
          </a:xfrm>
          <a:prstGeom prst="rect">
            <a:avLst/>
          </a:prstGeom>
          <a:noFill/>
          <a:ln/>
        </p:spPr>
        <p:txBody>
          <a:bodyPr wrap="square" lIns="0" tIns="0" rIns="0" bIns="0" rtlCol="0" anchor="t"/>
          <a:lstStyle/>
          <a:p>
            <a:pPr indent="0" marL="0">
              <a:buNone/>
            </a:pPr>
            <a:r>
              <a:rPr lang="en-US" sz="1200" dirty="0">
                <a:solidFill>
                  <a:srgbClr val="1F2A24"/>
                </a:solidFill>
                <a:latin typeface="Calibri" pitchFamily="34" charset="0"/>
                <a:ea typeface="Calibri" pitchFamily="34" charset="-122"/>
                <a:cs typeface="Calibri" pitchFamily="34" charset="-120"/>
              </a:rPr>
              <a:t>Only 42–46% of catalog records can show a grade today. Ask each interviewee to show their last cart, then verify those products first, so the grade appears on the items they really buy.</a:t>
            </a:r>
            <a:endParaRPr lang="en-US" sz="1200" dirty="0"/>
          </a:p>
        </p:txBody>
      </p:sp>
      <p:sp>
        <p:nvSpPr>
          <p:cNvPr id="27" name="Text 25"/>
          <p:cNvSpPr txBox="1"/>
          <p:nvPr/>
        </p:nvSpPr>
        <p:spPr>
          <a:xfrm>
            <a:off x="4544568" y="4114800"/>
            <a:ext cx="3108960" cy="201168"/>
          </a:xfrm>
          <a:prstGeom prst="rect">
            <a:avLst/>
          </a:prstGeom>
          <a:noFill/>
          <a:ln/>
        </p:spPr>
        <p:txBody>
          <a:bodyPr wrap="square" lIns="0" tIns="0" rIns="0" bIns="0" rtlCol="0" anchor="t"/>
          <a:lstStyle/>
          <a:p>
            <a:pPr indent="0" marL="0">
              <a:buNone/>
            </a:pPr>
            <a:r>
              <a:rPr lang="en-US" sz="1000" b="1" spc="150" kern="0" dirty="0">
                <a:solidFill>
                  <a:srgbClr val="5C6B63"/>
                </a:solidFill>
                <a:latin typeface="Calibri" pitchFamily="34" charset="0"/>
                <a:ea typeface="Calibri" pitchFamily="34" charset="-122"/>
                <a:cs typeface="Calibri" pitchFamily="34" charset="-120"/>
              </a:rPr>
              <a:t>RECORDS THAT CAN SHOW A GRADE TODAY</a:t>
            </a:r>
            <a:endParaRPr lang="en-US" sz="1000" dirty="0"/>
          </a:p>
        </p:txBody>
      </p:sp>
      <p:sp>
        <p:nvSpPr>
          <p:cNvPr id="28" name="Text 26"/>
          <p:cNvSpPr txBox="1"/>
          <p:nvPr/>
        </p:nvSpPr>
        <p:spPr>
          <a:xfrm>
            <a:off x="4544568" y="4480560"/>
            <a:ext cx="822960" cy="329184"/>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Carrefour</a:t>
            </a:r>
            <a:endParaRPr lang="en-US" sz="1050" dirty="0"/>
          </a:p>
        </p:txBody>
      </p:sp>
      <p:sp>
        <p:nvSpPr>
          <p:cNvPr id="29" name="Shape 27"/>
          <p:cNvSpPr/>
          <p:nvPr/>
        </p:nvSpPr>
        <p:spPr>
          <a:xfrm>
            <a:off x="5413248" y="4480560"/>
            <a:ext cx="2148840" cy="329184"/>
          </a:xfrm>
          <a:prstGeom prst="roundRect">
            <a:avLst>
              <a:gd name="adj" fmla="val 11111"/>
            </a:avLst>
          </a:prstGeom>
          <a:solidFill>
            <a:srgbClr val="DDE6E0"/>
          </a:solidFill>
          <a:ln/>
        </p:spPr>
      </p:sp>
      <p:sp>
        <p:nvSpPr>
          <p:cNvPr id="30" name="Shape 28"/>
          <p:cNvSpPr/>
          <p:nvPr/>
        </p:nvSpPr>
        <p:spPr>
          <a:xfrm>
            <a:off x="5413248" y="4480560"/>
            <a:ext cx="988466" cy="329184"/>
          </a:xfrm>
          <a:prstGeom prst="roundRect">
            <a:avLst>
              <a:gd name="adj" fmla="val 11111"/>
            </a:avLst>
          </a:prstGeom>
          <a:solidFill>
            <a:srgbClr val="154B36"/>
          </a:solidFill>
          <a:ln/>
        </p:spPr>
      </p:sp>
      <p:sp>
        <p:nvSpPr>
          <p:cNvPr id="31" name="Text 29"/>
          <p:cNvSpPr txBox="1"/>
          <p:nvPr/>
        </p:nvSpPr>
        <p:spPr>
          <a:xfrm>
            <a:off x="5413248" y="4480560"/>
            <a:ext cx="988466"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46%</a:t>
            </a:r>
            <a:endParaRPr lang="en-US" sz="1200" dirty="0"/>
          </a:p>
        </p:txBody>
      </p:sp>
      <p:sp>
        <p:nvSpPr>
          <p:cNvPr id="32" name="Text 30"/>
          <p:cNvSpPr txBox="1"/>
          <p:nvPr/>
        </p:nvSpPr>
        <p:spPr>
          <a:xfrm>
            <a:off x="4544568" y="5029200"/>
            <a:ext cx="822960" cy="329184"/>
          </a:xfrm>
          <a:prstGeom prst="rect">
            <a:avLst/>
          </a:prstGeom>
          <a:noFill/>
          <a:ln/>
        </p:spPr>
        <p:txBody>
          <a:bodyPr wrap="square" lIns="0" tIns="0" rIns="0" bIns="0" rtlCol="0" anchor="ctr"/>
          <a:lstStyle/>
          <a:p>
            <a:pPr indent="0" marL="0">
              <a:buNone/>
            </a:pPr>
            <a:r>
              <a:rPr lang="en-US" sz="1050" b="1" dirty="0">
                <a:solidFill>
                  <a:srgbClr val="154B36"/>
                </a:solidFill>
                <a:latin typeface="Calibri" pitchFamily="34" charset="0"/>
                <a:ea typeface="Calibri" pitchFamily="34" charset="-122"/>
                <a:cs typeface="Calibri" pitchFamily="34" charset="-120"/>
              </a:rPr>
              <a:t>Naivas</a:t>
            </a:r>
            <a:endParaRPr lang="en-US" sz="1050" dirty="0"/>
          </a:p>
        </p:txBody>
      </p:sp>
      <p:sp>
        <p:nvSpPr>
          <p:cNvPr id="33" name="Shape 31"/>
          <p:cNvSpPr/>
          <p:nvPr/>
        </p:nvSpPr>
        <p:spPr>
          <a:xfrm>
            <a:off x="5413248" y="5029200"/>
            <a:ext cx="2148840" cy="329184"/>
          </a:xfrm>
          <a:prstGeom prst="roundRect">
            <a:avLst>
              <a:gd name="adj" fmla="val 11111"/>
            </a:avLst>
          </a:prstGeom>
          <a:solidFill>
            <a:srgbClr val="DDE6E0"/>
          </a:solidFill>
          <a:ln/>
        </p:spPr>
      </p:sp>
      <p:sp>
        <p:nvSpPr>
          <p:cNvPr id="34" name="Shape 32"/>
          <p:cNvSpPr/>
          <p:nvPr/>
        </p:nvSpPr>
        <p:spPr>
          <a:xfrm>
            <a:off x="5413248" y="5029200"/>
            <a:ext cx="902513" cy="329184"/>
          </a:xfrm>
          <a:prstGeom prst="roundRect">
            <a:avLst>
              <a:gd name="adj" fmla="val 11111"/>
            </a:avLst>
          </a:prstGeom>
          <a:solidFill>
            <a:srgbClr val="154B36"/>
          </a:solidFill>
          <a:ln/>
        </p:spPr>
      </p:sp>
      <p:sp>
        <p:nvSpPr>
          <p:cNvPr id="35" name="Text 33"/>
          <p:cNvSpPr txBox="1"/>
          <p:nvPr/>
        </p:nvSpPr>
        <p:spPr>
          <a:xfrm>
            <a:off x="5413248" y="5029200"/>
            <a:ext cx="902513"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42%</a:t>
            </a:r>
            <a:endParaRPr lang="en-US" sz="1200" dirty="0"/>
          </a:p>
        </p:txBody>
      </p:sp>
      <p:sp>
        <p:nvSpPr>
          <p:cNvPr id="36" name="Text 34"/>
          <p:cNvSpPr txBox="1"/>
          <p:nvPr/>
        </p:nvSpPr>
        <p:spPr>
          <a:xfrm>
            <a:off x="4544568" y="5623560"/>
            <a:ext cx="3108960" cy="274320"/>
          </a:xfrm>
          <a:prstGeom prst="rect">
            <a:avLst/>
          </a:prstGeom>
          <a:noFill/>
          <a:ln/>
        </p:spPr>
        <p:txBody>
          <a:bodyPr wrap="square" lIns="0" tIns="0" rIns="0" bIns="0" rtlCol="0" anchor="t"/>
          <a:lstStyle/>
          <a:p>
            <a:pPr indent="0" marL="0">
              <a:buNone/>
            </a:pPr>
            <a:r>
              <a:rPr lang="en-US" sz="1000" i="1" dirty="0">
                <a:solidFill>
                  <a:srgbClr val="5C6B63"/>
                </a:solidFill>
                <a:latin typeface="Calibri" pitchFamily="34" charset="0"/>
                <a:ea typeface="Calibri" pitchFamily="34" charset="-122"/>
                <a:cs typeface="Calibri" pitchFamily="34" charset="-120"/>
              </a:rPr>
              <a:t>54% of all records are still unverified</a:t>
            </a:r>
            <a:endParaRPr lang="en-US" sz="1000" dirty="0"/>
          </a:p>
        </p:txBody>
      </p:sp>
      <p:sp>
        <p:nvSpPr>
          <p:cNvPr id="37" name="Shape 35"/>
          <p:cNvSpPr/>
          <p:nvPr/>
        </p:nvSpPr>
        <p:spPr>
          <a:xfrm>
            <a:off x="8083296" y="1508760"/>
            <a:ext cx="3566160" cy="4572000"/>
          </a:xfrm>
          <a:prstGeom prst="roundRect">
            <a:avLst>
              <a:gd name="adj" fmla="val 2051"/>
            </a:avLst>
          </a:prstGeom>
          <a:solidFill>
            <a:srgbClr val="154B36"/>
          </a:solidFill>
          <a:ln/>
        </p:spPr>
      </p:sp>
      <p:sp>
        <p:nvSpPr>
          <p:cNvPr id="38" name="Text 36"/>
          <p:cNvSpPr txBox="1"/>
          <p:nvPr/>
        </p:nvSpPr>
        <p:spPr>
          <a:xfrm>
            <a:off x="8311896" y="1755648"/>
            <a:ext cx="3200400" cy="201168"/>
          </a:xfrm>
          <a:prstGeom prst="rect">
            <a:avLst/>
          </a:prstGeom>
          <a:noFill/>
          <a:ln/>
        </p:spPr>
        <p:txBody>
          <a:bodyPr wrap="square" lIns="0" tIns="0" rIns="0" bIns="0" rtlCol="0" anchor="t"/>
          <a:lstStyle/>
          <a:p>
            <a:pPr indent="0" marL="0">
              <a:buNone/>
            </a:pPr>
            <a:r>
              <a:rPr lang="en-US" sz="1000" b="1" spc="150" kern="0" dirty="0">
                <a:solidFill>
                  <a:srgbClr val="F5A623"/>
                </a:solidFill>
                <a:latin typeface="Calibri" pitchFamily="34" charset="0"/>
                <a:ea typeface="Calibri" pitchFamily="34" charset="-122"/>
                <a:cs typeface="Calibri" pitchFamily="34" charset="-120"/>
              </a:rPr>
              <a:t>FINAL REFLECTION  ·  WHAT HAS CHANGED?</a:t>
            </a:r>
            <a:endParaRPr lang="en-US" sz="1000" dirty="0"/>
          </a:p>
        </p:txBody>
      </p:sp>
      <p:sp>
        <p:nvSpPr>
          <p:cNvPr id="39" name="Text 37"/>
          <p:cNvSpPr txBox="1"/>
          <p:nvPr/>
        </p:nvSpPr>
        <p:spPr>
          <a:xfrm>
            <a:off x="8311896" y="2057400"/>
            <a:ext cx="3108960" cy="274320"/>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Working answer, before interviews</a:t>
            </a:r>
            <a:endParaRPr lang="en-US" sz="1300" dirty="0"/>
          </a:p>
        </p:txBody>
      </p:sp>
      <p:sp>
        <p:nvSpPr>
          <p:cNvPr id="40" name="Text 38"/>
          <p:cNvSpPr txBox="1"/>
          <p:nvPr/>
        </p:nvSpPr>
        <p:spPr>
          <a:xfrm>
            <a:off x="8311896" y="2423160"/>
            <a:ext cx="3108960" cy="16916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The user narrowed: from all online shoppers to shoppers already managing a condition.</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User and payer differ: shoppers benefit, but no payer is identified yet.</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Retailers moved from data source to gatekeeper.</a:t>
            </a:r>
            <a:endParaRPr lang="en-US" sz="1150" dirty="0"/>
          </a:p>
        </p:txBody>
      </p:sp>
      <p:sp>
        <p:nvSpPr>
          <p:cNvPr id="41" name="Shape 39"/>
          <p:cNvSpPr/>
          <p:nvPr/>
        </p:nvSpPr>
        <p:spPr>
          <a:xfrm>
            <a:off x="8311896" y="4206240"/>
            <a:ext cx="3108960" cy="1691640"/>
          </a:xfrm>
          <a:prstGeom prst="roundRect">
            <a:avLst>
              <a:gd name="adj" fmla="val 3243"/>
            </a:avLst>
          </a:prstGeom>
          <a:solidFill>
            <a:srgbClr val="1E6047"/>
          </a:solidFill>
          <a:ln w="12700">
            <a:solidFill>
              <a:srgbClr val="F5A623"/>
            </a:solidFill>
            <a:prstDash val="dash"/>
          </a:ln>
        </p:spPr>
      </p:sp>
      <p:sp>
        <p:nvSpPr>
          <p:cNvPr id="42" name="Text 40"/>
          <p:cNvSpPr txBox="1"/>
          <p:nvPr/>
        </p:nvSpPr>
        <p:spPr>
          <a:xfrm>
            <a:off x="8421624" y="4242816"/>
            <a:ext cx="2889504" cy="1618488"/>
          </a:xfrm>
          <a:prstGeom prst="rect">
            <a:avLst/>
          </a:prstGeom>
          <a:noFill/>
          <a:ln/>
        </p:spPr>
        <p:txBody>
          <a:bodyPr wrap="square" lIns="0" tIns="0" rIns="0" bIns="0" rtlCol="0" anchor="ctr"/>
          <a:lstStyle/>
          <a:p>
            <a:pPr algn="l" indent="0" marL="0">
              <a:buNone/>
            </a:pPr>
            <a:r>
              <a:rPr lang="en-US" sz="1100" i="1" dirty="0">
                <a:solidFill>
                  <a:srgbClr val="FFE2B0"/>
                </a:solidFill>
                <a:latin typeface="Calibri" pitchFamily="34" charset="0"/>
                <a:ea typeface="Calibri" pitchFamily="34" charset="-122"/>
                <a:cs typeface="Calibri" pitchFamily="34" charset="-120"/>
              </a:rPr>
              <a:t>INSERT what the interviews confirmed or contradicted, and whether the direction stands.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Assignment_2_Presentation</dc:title>
  <dc:subject>PptxGenJS Presentation</dc:subject>
  <dc:creator>Kibet, NUT-04</dc:creator>
  <cp:lastModifiedBy>Kibet, NUT-04</cp:lastModifiedBy>
  <cp:revision>1</cp:revision>
  <dcterms:created xsi:type="dcterms:W3CDTF">2026-09-18T21:55:54Z</dcterms:created>
  <dcterms:modified xsi:type="dcterms:W3CDTF">2026-09-18T21:55:54Z</dcterms:modified>
</cp:coreProperties>
</file>