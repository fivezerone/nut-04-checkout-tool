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adults (%)</c:v>
                </c:pt>
              </c:strCache>
            </c:strRef>
          </c:tx>
          <c:spPr>
            <a:solidFill>
              <a:srgbClr val="B7C6BD"/>
            </a:solidFill>
            <a:effectLst/>
          </c:spPr>
          <c:invertIfNegative val="0"/>
          <c:dLbls>
            <c:numFmt formatCode="0.0&quot;%&quot;" sourceLinked="0"/>
            <c:txPr>
              <a:bodyPr/>
              <a:lstStyle/>
              <a:p>
                <a:pPr>
                  <a:defRPr b="1" i="0" strike="noStrike" sz="1300" u="none">
                    <a:solidFill>
                      <a:srgbClr val="1F2A24"/>
                    </a:solidFill>
                    <a:latin typeface="Calibri"/>
                  </a:defRPr>
                </a:pPr>
              </a:p>
            </c:txPr>
            <c:showLegendKey val="0"/>
            <c:showVal val="1"/>
            <c:showCatName val="0"/>
            <c:showSerName val="0"/>
            <c:showPercent val="0"/>
            <c:showBubbleSize val="0"/>
            <c:showLeaderLines val="0"/>
          </c:dLbls>
          <c:dPt>
            <c:idx val="0"/>
            <c:invertIfNegative val="0"/>
            <c:bubble3D val="0"/>
            <c:spPr>
              <a:solidFill>
                <a:srgbClr val="B7C6BD"/>
              </a:solidFill>
              <a:effectLst/>
            </c:spPr>
          </c:dPt>
          <c:dPt>
            <c:idx val="1"/>
            <c:invertIfNegative val="0"/>
            <c:bubble3D val="0"/>
            <c:spPr>
              <a:solidFill>
                <a:srgbClr val="B7C6BD"/>
              </a:solidFill>
              <a:effectLst/>
            </c:spPr>
          </c:dPt>
          <c:dPt>
            <c:idx val="2"/>
            <c:invertIfNegative val="0"/>
            <c:bubble3D val="0"/>
            <c:spPr>
              <a:solidFill>
                <a:srgbClr val="EE8100"/>
              </a:solidFill>
              <a:effectLst/>
            </c:spPr>
          </c:dPt>
          <c:cat>
            <c:multiLvlStrRef>
              <c:f>Sheet1!$A$2:$A$4</c:f>
              <c:multiLvlStrCache>
                <c:ptCount val="3"/>
                <c:lvl>
                  <c:pt idx="0">
                    <c:v>Overweight or obese</c:v>
                  </c:pt>
                  <c:pt idx="1">
                    <c:v>Raised blood pressure</c:v>
                  </c:pt>
                  <c:pt idx="2">
                    <c:v>Meet fruit &amp; veg minimum</c:v>
                  </c:pt>
                </c:lvl>
              </c:multiLvlStrCache>
            </c:multiLvlStrRef>
          </c:cat>
          <c:val>
            <c:numRef>
              <c:f>Sheet1!$B$2:$B$4</c:f>
              <c:numCache>
                <c:formatCode>General</c:formatCode>
                <c:ptCount val="3"/>
                <c:pt idx="0">
                  <c:v>27.9</c:v>
                </c:pt>
                <c:pt idx="1">
                  <c:v>23.8</c:v>
                </c:pt>
                <c:pt idx="2">
                  <c:v>6</c:v>
                </c:pt>
              </c:numCache>
            </c:numRef>
          </c:val>
        </c:ser>
        <c:dLbls>
          <c:numFmt formatCode="0.0&quot;%&quot;" sourceLinked="0"/>
          <c:txPr>
            <a:bodyPr/>
            <a:lstStyle/>
            <a:p>
              <a:pPr>
                <a:defRPr b="1" i="0" strike="noStrike" sz="1300" u="none">
                  <a:solidFill>
                    <a:srgbClr val="1F2A24"/>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24"/>
                </a:solidFill>
                <a:latin typeface="Calibri"/>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Records with a displayable grade (%)</c:v>
                </c:pt>
              </c:strCache>
            </c:strRef>
          </c:tx>
          <c:spPr>
            <a:solidFill>
              <a:srgbClr val="154B36"/>
            </a:solidFill>
            <a:effectLst/>
          </c:spPr>
          <c:invertIfNegative val="0"/>
          <c:dLbls>
            <c:numFmt formatCode="0&quot;%&quot;" sourceLinked="0"/>
            <c:txPr>
              <a:bodyPr/>
              <a:lstStyle/>
              <a:p>
                <a:pPr>
                  <a:defRPr b="1" i="0" strike="noStrike" sz="1300" u="none">
                    <a:solidFill>
                      <a:srgbClr val="1F2A24"/>
                    </a:solidFill>
                    <a:latin typeface="Calibri"/>
                  </a:defRPr>
                </a:pPr>
              </a:p>
            </c:txPr>
            <c:showLegendKey val="0"/>
            <c:showVal val="1"/>
            <c:showCatName val="0"/>
            <c:showSerName val="0"/>
            <c:showPercent val="0"/>
            <c:showBubbleSize val="0"/>
            <c:showLeaderLines val="0"/>
          </c:dLbls>
          <c:dPt>
            <c:idx val="0"/>
            <c:invertIfNegative val="0"/>
            <c:bubble3D val="0"/>
            <c:spPr>
              <a:solidFill>
                <a:srgbClr val="154B36"/>
              </a:solidFill>
              <a:effectLst/>
            </c:spPr>
          </c:dPt>
          <c:dPt>
            <c:idx val="1"/>
            <c:invertIfNegative val="0"/>
            <c:bubble3D val="0"/>
            <c:spPr>
              <a:solidFill>
                <a:srgbClr val="154B36"/>
              </a:solidFill>
              <a:effectLst/>
            </c:spPr>
          </c:dPt>
          <c:cat>
            <c:multiLvlStrRef>
              <c:f>Sheet1!$A$2:$A$3</c:f>
              <c:multiLvlStrCache>
                <c:ptCount val="2"/>
                <c:lvl>
                  <c:pt idx="0">
                    <c:v>Carrefour Kenya</c:v>
                  </c:pt>
                  <c:pt idx="1">
                    <c:v>Naivas Online</c:v>
                  </c:pt>
                </c:lvl>
              </c:multiLvlStrCache>
            </c:multiLvlStrRef>
          </c:cat>
          <c:val>
            <c:numRef>
              <c:f>Sheet1!$B$2:$B$3</c:f>
              <c:numCache>
                <c:formatCode>General</c:formatCode>
                <c:ptCount val="2"/>
                <c:pt idx="0">
                  <c:v>46</c:v>
                </c:pt>
                <c:pt idx="1">
                  <c:v>42</c:v>
                </c:pt>
              </c:numCache>
            </c:numRef>
          </c:val>
        </c:ser>
        <c:dLbls>
          <c:numFmt formatCode="0&quot;%&quot;" sourceLinked="0"/>
          <c:txPr>
            <a:bodyPr/>
            <a:lstStyle/>
            <a:p>
              <a:pPr>
                <a:defRPr b="1" i="0" strike="noStrike" sz="1300" u="none">
                  <a:solidFill>
                    <a:srgbClr val="1F2A24"/>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24"/>
                </a:solidFill>
                <a:latin typeface="Calibri"/>
              </a:defRPr>
            </a:pPr>
            <a:endParaRPr lang="en-US"/>
          </a:p>
        </c:txPr>
        <c:crossAx val="2094734552"/>
        <c:crosses val="autoZero"/>
        <c:auto val="1"/>
        <c:lblAlgn val="ctr"/>
        <c:noMultiLvlLbl val="1"/>
      </c:catAx>
      <c:valAx>
        <c:axId val="2094734552"/>
        <c:scaling>
          <c:orientation val="minMax"/>
          <c:max val="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We built a tool that tells shoppers what is in their cart; now we have to prove that someone needs it and that someone will let us run it.
THE CORE ARGUMENT
1. This deck merges two assignments into one story: first whether the problem is real, then who we serve first and who can help or block us.
2. Every orange dashed box is an evidence slot that only real interviews can fill. Everything else is finished desk work.
3. The appendix holds the desk evidence behind the hypotheses, drawn from the earlier NutriScore deck.
THE TRANSITION
First, a one-page storyline so the room knows how the pieces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Three moves: is the problem real, who do we serve first and who decides, and what do we do next.
THE CORE ARGUMENT
1. Part 1 answers Assignment 1: we state the venture, the problem hypothesis and three assumptions, then capture evidence from at least three users and make a validation decision.
2. Part 2 answers Assignment 2: we narrow to a priority segment, validate it in at least two conversations, and map the five to seven stakeholders who can help or block us.
3. The status pills are honest: the structure, desk evidence and reasoning are built, but the interview evidence is still to be collected.
THE TRANSITION
Part 1 starts with what we believed before asking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Before we asked anyone anything, we held one belief: in Kenya’s online grocery aisles, nutrition information disappears at exactly the moment people choose.
THE CORE ARGUMENT
1. This slide covers Assignment 1 sections 1 to 3 in one view: the venture in a single sentence, the problem we believed existed before any interview, and the user we think feels it most.
2. Everything in the three tiles is desk evidence: Food-EPI 2020 (no Kenyan online retailer shows front-of-pack signals), our June 2026 scan (no extension scores Kenyan grocery sites) and STEPS 2015 (23.8% raised blood pressure). It makes the hypothesis plausible; it does not validate it, which is why the assignment demands direct user evidence.
3. The primary user is deliberately broad and diagnosis-free. Assignment 1 excludes personally identifiable or sensitive health information, and Assignment 2 is where we narrow the user.
THE TRANSITION
A hypothesis only helps if we can say what would prove it wrong, so next we name the three assumptions we must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Three sentences on this slide can each sink the venture if they turn out to be false.
THE CORE ARGUMENT
1. We chose the assumptions that are both most uncertain and most costly if wrong: whether the need exists at the cart, whether today’s workarounds really fall short, and whether people shop where a browser tool can reach them.
2. Each has a “wrong if” statement, so an interview can genuinely disconfirm it. The aim is to find out, not to be proven right.
3. The questions come straight from the assignment’s interview guidance. We never demo or mention the tool, because pitching contaminates the evidence.
THE TRANSITION
Now the evidence itself: what real shoppers do, what frustrates them, and how they cope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This is the one slide only real people can fill in, and we have deliberately left it empty until they do.
THE CORE ARGUMENT
1. The grid mirrors the assignment: what participants do, what frustrates them, how often it happens and what it costs, and how they cope today, for at least three people.
2. The strongest quote must be verbatim: one sentence in the participant’s own words that captures the problem, anonymised as P1 to P3 with no names and no diagnoses.
3. Desk research cannot stand in for interviews. Filling these boxes with plausible-sounding content would defeat the purpose of the assignment.
THE TRANSITION
With the evidence in, we score each assumption and make the call.
BEFORE PRESENTING: replace every orange dashed box with real interview evidence, then delete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Validation is a decision, not a feeling, so we fix the rule before the data comes in.
THE CORE ARGUMENT
1. Validated means at least two of three participants describe the problem unprompted, recently, with a real cost. Partially validated means it is real but narrower than we assumed. Not validated means few feel it or care enough to act.
2. The scorecard ties the decision back to the three assumptions, so the verdict cannot drift away from the evidence.
3. The revised problem statement starts from a working draft sharpened by desk evidence and is rewritten in participants’ words. The final reflection answers one question: do we continue as defined?
THE TRANSITION
If the problem holds, in whole or in part, the next question is who exactly we should serve first. That is Assignment 2.
BEFORE PRESENTING: tick one decision option, complete the scorecard, and replace the orange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Proving a problem is real is only half the job; we also have to know exactly whose problem it is and who can open or close the door.
THE CORE ARGUMENT
1. Part 1 ends in one of three verdicts: validated, partially validated or not validated. Each points somewhere different, so the verdict decides how confidently we move on.
2. Part 2 narrows the broad user from Part 1 into one priority segment, then tests it with at least two more conversations.
3. Three things carry over: the assumptions we could not settle, the participants who fit the priority segment, and the revised problem statement.
THE TRANSITION
We start Part 2 by breaking the broad user into segments and choosing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“Kenyan shoppers” is not a user: three groups feel this problem very differently.
THE CORE ARGUMENT
1. The segments differ on the dimensions Assignment 2 asks for: severity and frequency, workaround, access to alternatives, role in the health system, and digital confidence or willingness to pay.
2. We prioritise segment A, shoppers already managing a condition, for three reasons: the strongest felt need, the poorest existing alternative, and the fact that they can retell their last shop in an interview.
3. The honest trade-off: segment C is larger, but people who do not feel a problem cannot validate it, and our evidence so far is desk research. Segment A is the current bet, not a conclusion.
THE TRANSITION
A bet needs testing, so next we see what two segment-A shoppers actually told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Everything we say about segment A so far comes from desk research; this slide is where real shoppers confirm or contradict it.
THE CORE ARGUMENT
1. We hold at least two conversations with people from segment A and capture the five things the assignment asks for: what they do, their biggest pain point, their workaround, why it matters to them, and what contradicted our assumptions.
2. The last box matters most. A contradiction is the most valuable finding, because it tells us whether the segment, the problem or the channel is wrong.
3. Each conversation also tests three carried-over assumptions. Participants stay anonymous and no diagnoses are recorded.
THE TRANSITION
Validating the user is half the job. The other half is who around them can make or break adoption.
BEFORE PRESENTING: fill V1 and V2 with real conversation evidence, then delete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Even a perfect product for the right shopper fails if the storefront blocks it or clinicians do not trust it.
THE CORE ARGUMENT
1. Seven stakeholders, each with a role and a specific influence: the user, the retailers, clinicians and dietitians, the Ministry of Health and Amref, the Chrome Web Store, data sources and brands, and the Data Protection Commissioner.
2. The map answers the assignment’s two questions. Left to right shows who helps us succeed and who could slow or block us; height shows how much influence they hold.
3. The three most critical are the shopper (adoption), retail platforms (access) and clinicians through KNDI (credibility). Positions are our current judgement and get tested in the first stakeholder conversations.
THE TRANSITION
From the map we pull the single risk we worry about most, and the one change it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If we could fix only one thing this month, what should it be, and what has changed about the idea?
THE CORE ARGUMENT
1. Major stakeholder risk: retailers. The tool runs on their storefronts without a partnership, so a redesign or an objection could stop it. The mitigation is an early low-ask pilot conversation and isolated adapters per retailer.
2. One change: verify the products segment A really buys first, using participants’ last carts, because only 42 to 46 percent of catalog records can currently show a grade.
3. Final reflection: the user narrowed, the user and payer are different with no payer identified yet, and retailers moved from data source to gatekeeper. Interview evidence then confirms or overturns this.
THE TRANSITION
That completes the validation frame. The next step is to run the interviews and update every evidence slot.
BEFORE PRESENTING: replace the orange box with what the interviews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Validation is not finished until the orange boxes are gone, so here is the order we finish it in and who we need beside us.
THE CORE ARGUMENT
1. Four moves, in sequence: run the interviews, fill every slot and record the decision, confirm or change the priority segment, then open partner conversations with KNDI first for credibility and the retailers second for access.
2. Four asks carry over from the earlier deck: a Gate 0 review from the JHUB Africa panel, KNDI threshold validation and an endorsement letter, data-curation support, and Amref and Ministry of Health engagement.
3. We ask the panel to judge us on this evidence-first plan rather than on target-state roadmap checkboxes.
THE TRANSITION
The appendix shows the desk evidence behind everything we have claimed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These two charts are the desk evidence we lean on until real interviews replace it.
THE CORE ARGUMENT
1. The left chart shows why the problem matters: 27.9% of adults are overweight or obese, 23.8% have raised blood pressure, and only 6.0% meet the fruit and vegetable minimum, all from the 2015 STEPS survey.
2. The right chart shows why data curation is our proposed change: fewer than half of records in either catalog can display a grade today.
3. Both charts come from documented sources and do not replace the interview evidence Assignments 1 and 2 ask for.
THE TRANSITION
End of deck. Questions, and then the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4B36"/>
        </a:solidFill>
      </p:bgPr>
    </p:bg>
    <p:spTree>
      <p:nvGrpSpPr>
        <p:cNvPr id="1" name=""/>
        <p:cNvGrpSpPr/>
        <p:nvPr/>
      </p:nvGrpSpPr>
      <p:grpSpPr>
        <a:xfrm>
          <a:off x="0" y="0"/>
          <a:ext cx="0" cy="0"/>
          <a:chOff x="0" y="0"/>
          <a:chExt cx="0" cy="0"/>
        </a:xfrm>
      </p:grpSpPr>
      <p:sp>
        <p:nvSpPr>
          <p:cNvPr id="2" name="Shape 0"/>
          <p:cNvSpPr/>
          <p:nvPr/>
        </p:nvSpPr>
        <p:spPr>
          <a:xfrm>
            <a:off x="731520" y="640080"/>
            <a:ext cx="155448" cy="155448"/>
          </a:xfrm>
          <a:prstGeom prst="rect">
            <a:avLst/>
          </a:prstGeom>
          <a:solidFill>
            <a:srgbClr val="038141"/>
          </a:solidFill>
          <a:ln/>
        </p:spPr>
      </p:sp>
      <p:sp>
        <p:nvSpPr>
          <p:cNvPr id="3" name="Shape 1"/>
          <p:cNvSpPr/>
          <p:nvPr/>
        </p:nvSpPr>
        <p:spPr>
          <a:xfrm>
            <a:off x="941832" y="640080"/>
            <a:ext cx="155448" cy="155448"/>
          </a:xfrm>
          <a:prstGeom prst="rect">
            <a:avLst/>
          </a:prstGeom>
          <a:solidFill>
            <a:srgbClr val="85BB2F"/>
          </a:solidFill>
          <a:ln/>
        </p:spPr>
      </p:sp>
      <p:sp>
        <p:nvSpPr>
          <p:cNvPr id="4" name="Shape 2"/>
          <p:cNvSpPr/>
          <p:nvPr/>
        </p:nvSpPr>
        <p:spPr>
          <a:xfrm>
            <a:off x="1152144" y="640080"/>
            <a:ext cx="155448" cy="155448"/>
          </a:xfrm>
          <a:prstGeom prst="rect">
            <a:avLst/>
          </a:prstGeom>
          <a:solidFill>
            <a:srgbClr val="FECB02"/>
          </a:solidFill>
          <a:ln/>
        </p:spPr>
      </p:sp>
      <p:sp>
        <p:nvSpPr>
          <p:cNvPr id="5" name="Shape 3"/>
          <p:cNvSpPr/>
          <p:nvPr/>
        </p:nvSpPr>
        <p:spPr>
          <a:xfrm>
            <a:off x="1362456" y="640080"/>
            <a:ext cx="155448" cy="155448"/>
          </a:xfrm>
          <a:prstGeom prst="rect">
            <a:avLst/>
          </a:prstGeom>
          <a:solidFill>
            <a:srgbClr val="EE8100"/>
          </a:solidFill>
          <a:ln/>
        </p:spPr>
      </p:sp>
      <p:sp>
        <p:nvSpPr>
          <p:cNvPr id="6" name="Shape 4"/>
          <p:cNvSpPr/>
          <p:nvPr/>
        </p:nvSpPr>
        <p:spPr>
          <a:xfrm>
            <a:off x="1572768" y="640080"/>
            <a:ext cx="155448" cy="155448"/>
          </a:xfrm>
          <a:prstGeom prst="rect">
            <a:avLst/>
          </a:prstGeom>
          <a:solidFill>
            <a:srgbClr val="E63E11"/>
          </a:solidFill>
          <a:ln/>
        </p:spPr>
      </p:sp>
      <p:sp>
        <p:nvSpPr>
          <p:cNvPr id="7" name="Text 5"/>
          <p:cNvSpPr txBox="1"/>
          <p:nvPr/>
        </p:nvSpPr>
        <p:spPr>
          <a:xfrm>
            <a:off x="731520" y="1143000"/>
            <a:ext cx="9144000" cy="274320"/>
          </a:xfrm>
          <a:prstGeom prst="rect">
            <a:avLst/>
          </a:prstGeom>
          <a:noFill/>
          <a:ln/>
        </p:spPr>
        <p:txBody>
          <a:bodyPr wrap="square" lIns="0" tIns="0" rIns="0" bIns="0" rtlCol="0" anchor="t"/>
          <a:lstStyle/>
          <a:p>
            <a:pPr indent="0" marL="0">
              <a:buNone/>
            </a:pPr>
            <a:r>
              <a:rPr lang="en-US" sz="1100" b="1" spc="250" kern="0" dirty="0">
                <a:solidFill>
                  <a:srgbClr val="F5A623"/>
                </a:solidFill>
                <a:latin typeface="Calibri" pitchFamily="34" charset="0"/>
                <a:ea typeface="Calibri" pitchFamily="34" charset="-122"/>
                <a:cs typeface="Calibri" pitchFamily="34" charset="-120"/>
              </a:rPr>
              <a:t>NUT-04  ·  JHUB AFRICA / AFYAVENTURES  ·  SEPTEMBER 2026</a:t>
            </a:r>
            <a:endParaRPr lang="en-US" sz="1100" dirty="0"/>
          </a:p>
        </p:txBody>
      </p:sp>
      <p:sp>
        <p:nvSpPr>
          <p:cNvPr id="8" name="Text 6"/>
          <p:cNvSpPr txBox="1"/>
          <p:nvPr/>
        </p:nvSpPr>
        <p:spPr>
          <a:xfrm>
            <a:off x="731520" y="1828800"/>
            <a:ext cx="7498080" cy="2011680"/>
          </a:xfrm>
          <a:prstGeom prst="rect">
            <a:avLst/>
          </a:prstGeom>
          <a:noFill/>
          <a:ln/>
        </p:spPr>
        <p:txBody>
          <a:bodyPr wrap="square" lIns="0" tIns="0" rIns="0" bIns="0" rtlCol="0" anchor="t"/>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Is the problem real, who feels it first, and who can stop us?</a:t>
            </a:r>
            <a:endParaRPr lang="en-US" sz="4200" dirty="0"/>
          </a:p>
        </p:txBody>
      </p:sp>
      <p:sp>
        <p:nvSpPr>
          <p:cNvPr id="9" name="Text 7"/>
          <p:cNvSpPr txBox="1"/>
          <p:nvPr/>
        </p:nvSpPr>
        <p:spPr>
          <a:xfrm>
            <a:off x="731520" y="4023360"/>
            <a:ext cx="7680960" cy="822960"/>
          </a:xfrm>
          <a:prstGeom prst="rect">
            <a:avLst/>
          </a:prstGeom>
          <a:noFill/>
          <a:ln/>
        </p:spPr>
        <p:txBody>
          <a:bodyPr wrap="square" lIns="0" tIns="0" rIns="0" bIns="0" rtlCol="0" anchor="t"/>
          <a:lstStyle/>
          <a:p>
            <a:pPr indent="0" marL="0">
              <a:buNone/>
            </a:pPr>
            <a:r>
              <a:rPr lang="en-US" sz="1700" dirty="0">
                <a:solidFill>
                  <a:srgbClr val="C9D5CE"/>
                </a:solidFill>
                <a:latin typeface="Calibri" pitchFamily="34" charset="0"/>
                <a:ea typeface="Calibri" pitchFamily="34" charset="-122"/>
                <a:cs typeface="Calibri" pitchFamily="34" charset="-120"/>
              </a:rPr>
              <a:t>NutriScore Checkout Tool: validating the problem, the priority user and the stakeholder ecosystem</a:t>
            </a:r>
            <a:endParaRPr lang="en-US" sz="1700" dirty="0"/>
          </a:p>
        </p:txBody>
      </p:sp>
      <p:sp>
        <p:nvSpPr>
          <p:cNvPr id="10" name="Text 8"/>
          <p:cNvSpPr txBox="1"/>
          <p:nvPr/>
        </p:nvSpPr>
        <p:spPr>
          <a:xfrm>
            <a:off x="731520" y="5989320"/>
            <a:ext cx="8229600" cy="274320"/>
          </a:xfrm>
          <a:prstGeom prst="rect">
            <a:avLst/>
          </a:prstGeom>
          <a:noFill/>
          <a:ln/>
        </p:spPr>
        <p:txBody>
          <a:bodyPr wrap="square" lIns="0" tIns="0" rIns="0" bIns="0" rtlCol="0" anchor="t"/>
          <a:lstStyle/>
          <a:p>
            <a:pPr indent="0" marL="0">
              <a:buNone/>
            </a:pPr>
            <a:r>
              <a:rPr lang="en-US" sz="1200" dirty="0">
                <a:solidFill>
                  <a:srgbClr val="C9D5CE"/>
                </a:solidFill>
                <a:latin typeface="Calibri" pitchFamily="34" charset="0"/>
                <a:ea typeface="Calibri" pitchFamily="34" charset="-122"/>
                <a:cs typeface="Calibri" pitchFamily="34" charset="-120"/>
              </a:rPr>
              <a:t>Combined master strategy  ·  Assignments 1 and 2  ·  Kibet, Project Lead</a:t>
            </a:r>
            <a:endParaRPr lang="en-US" sz="1200" dirty="0"/>
          </a:p>
        </p:txBody>
      </p:sp>
      <p:sp>
        <p:nvSpPr>
          <p:cNvPr id="11" name="Shape 9"/>
          <p:cNvSpPr/>
          <p:nvPr/>
        </p:nvSpPr>
        <p:spPr>
          <a:xfrm>
            <a:off x="8458200" y="1920240"/>
            <a:ext cx="566928" cy="566928"/>
          </a:xfrm>
          <a:prstGeom prst="roundRect">
            <a:avLst>
              <a:gd name="adj" fmla="val 16129"/>
            </a:avLst>
          </a:prstGeom>
          <a:solidFill>
            <a:srgbClr val="038141"/>
          </a:solidFill>
          <a:ln/>
        </p:spPr>
      </p:sp>
      <p:sp>
        <p:nvSpPr>
          <p:cNvPr id="12" name="Text 10"/>
          <p:cNvSpPr txBox="1"/>
          <p:nvPr/>
        </p:nvSpPr>
        <p:spPr>
          <a:xfrm>
            <a:off x="8458200" y="1920240"/>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Cambria" pitchFamily="34" charset="0"/>
                <a:ea typeface="Cambria" pitchFamily="34" charset="-122"/>
                <a:cs typeface="Cambria" pitchFamily="34" charset="-120"/>
              </a:rPr>
              <a:t>A</a:t>
            </a:r>
            <a:endParaRPr lang="en-US" sz="2108" dirty="0"/>
          </a:p>
        </p:txBody>
      </p:sp>
      <p:sp>
        <p:nvSpPr>
          <p:cNvPr id="13" name="Shape 11"/>
          <p:cNvSpPr/>
          <p:nvPr/>
        </p:nvSpPr>
        <p:spPr>
          <a:xfrm>
            <a:off x="9134856" y="1920240"/>
            <a:ext cx="566928" cy="566928"/>
          </a:xfrm>
          <a:prstGeom prst="roundRect">
            <a:avLst>
              <a:gd name="adj" fmla="val 16129"/>
            </a:avLst>
          </a:prstGeom>
          <a:solidFill>
            <a:srgbClr val="85BB2F"/>
          </a:solidFill>
          <a:ln/>
        </p:spPr>
      </p:sp>
      <p:sp>
        <p:nvSpPr>
          <p:cNvPr id="14" name="Text 12"/>
          <p:cNvSpPr txBox="1"/>
          <p:nvPr/>
        </p:nvSpPr>
        <p:spPr>
          <a:xfrm>
            <a:off x="9134856" y="1920240"/>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Cambria" pitchFamily="34" charset="0"/>
                <a:ea typeface="Cambria" pitchFamily="34" charset="-122"/>
                <a:cs typeface="Cambria" pitchFamily="34" charset="-120"/>
              </a:rPr>
              <a:t>B</a:t>
            </a:r>
            <a:endParaRPr lang="en-US" sz="2108" dirty="0"/>
          </a:p>
        </p:txBody>
      </p:sp>
      <p:sp>
        <p:nvSpPr>
          <p:cNvPr id="15" name="Shape 13"/>
          <p:cNvSpPr/>
          <p:nvPr/>
        </p:nvSpPr>
        <p:spPr>
          <a:xfrm>
            <a:off x="9811512" y="1920240"/>
            <a:ext cx="566928" cy="566928"/>
          </a:xfrm>
          <a:prstGeom prst="roundRect">
            <a:avLst>
              <a:gd name="adj" fmla="val 16129"/>
            </a:avLst>
          </a:prstGeom>
          <a:solidFill>
            <a:srgbClr val="FECB02"/>
          </a:solidFill>
          <a:ln/>
        </p:spPr>
      </p:sp>
      <p:sp>
        <p:nvSpPr>
          <p:cNvPr id="16" name="Text 14"/>
          <p:cNvSpPr txBox="1"/>
          <p:nvPr/>
        </p:nvSpPr>
        <p:spPr>
          <a:xfrm>
            <a:off x="9811512" y="1920240"/>
            <a:ext cx="566928" cy="566928"/>
          </a:xfrm>
          <a:prstGeom prst="rect">
            <a:avLst/>
          </a:prstGeom>
          <a:noFill/>
          <a:ln/>
        </p:spPr>
        <p:txBody>
          <a:bodyPr wrap="square" lIns="0" tIns="0" rIns="0" bIns="0" rtlCol="0" anchor="ctr"/>
          <a:lstStyle/>
          <a:p>
            <a:pPr algn="ctr" indent="0" marL="0">
              <a:buNone/>
            </a:pPr>
            <a:r>
              <a:rPr lang="en-US" sz="2108" b="1" dirty="0">
                <a:solidFill>
                  <a:srgbClr val="1F2A24"/>
                </a:solidFill>
                <a:latin typeface="Cambria" pitchFamily="34" charset="0"/>
                <a:ea typeface="Cambria" pitchFamily="34" charset="-122"/>
                <a:cs typeface="Cambria" pitchFamily="34" charset="-120"/>
              </a:rPr>
              <a:t>C</a:t>
            </a:r>
            <a:endParaRPr lang="en-US" sz="2108" dirty="0"/>
          </a:p>
        </p:txBody>
      </p:sp>
      <p:sp>
        <p:nvSpPr>
          <p:cNvPr id="17" name="Shape 15"/>
          <p:cNvSpPr/>
          <p:nvPr/>
        </p:nvSpPr>
        <p:spPr>
          <a:xfrm>
            <a:off x="10488168" y="1920240"/>
            <a:ext cx="566928" cy="566928"/>
          </a:xfrm>
          <a:prstGeom prst="roundRect">
            <a:avLst>
              <a:gd name="adj" fmla="val 16129"/>
            </a:avLst>
          </a:prstGeom>
          <a:solidFill>
            <a:srgbClr val="EE8100"/>
          </a:solidFill>
          <a:ln/>
        </p:spPr>
      </p:sp>
      <p:sp>
        <p:nvSpPr>
          <p:cNvPr id="18" name="Text 16"/>
          <p:cNvSpPr txBox="1"/>
          <p:nvPr/>
        </p:nvSpPr>
        <p:spPr>
          <a:xfrm>
            <a:off x="10488168" y="1920240"/>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Cambria" pitchFamily="34" charset="0"/>
                <a:ea typeface="Cambria" pitchFamily="34" charset="-122"/>
                <a:cs typeface="Cambria" pitchFamily="34" charset="-120"/>
              </a:rPr>
              <a:t>D</a:t>
            </a:r>
            <a:endParaRPr lang="en-US" sz="2108" dirty="0"/>
          </a:p>
        </p:txBody>
      </p:sp>
      <p:sp>
        <p:nvSpPr>
          <p:cNvPr id="19" name="Shape 17"/>
          <p:cNvSpPr/>
          <p:nvPr/>
        </p:nvSpPr>
        <p:spPr>
          <a:xfrm>
            <a:off x="11164824" y="1920240"/>
            <a:ext cx="566928" cy="566928"/>
          </a:xfrm>
          <a:prstGeom prst="roundRect">
            <a:avLst>
              <a:gd name="adj" fmla="val 16129"/>
            </a:avLst>
          </a:prstGeom>
          <a:solidFill>
            <a:srgbClr val="E63E11"/>
          </a:solidFill>
          <a:ln/>
        </p:spPr>
      </p:sp>
      <p:sp>
        <p:nvSpPr>
          <p:cNvPr id="20" name="Text 18"/>
          <p:cNvSpPr txBox="1"/>
          <p:nvPr/>
        </p:nvSpPr>
        <p:spPr>
          <a:xfrm>
            <a:off x="11164824" y="1920240"/>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Cambria" pitchFamily="34" charset="0"/>
                <a:ea typeface="Cambria" pitchFamily="34" charset="-122"/>
                <a:cs typeface="Cambria" pitchFamily="34" charset="-120"/>
              </a:rPr>
              <a:t>E</a:t>
            </a:r>
            <a:endParaRPr lang="en-US" sz="2108" dirty="0"/>
          </a:p>
        </p:txBody>
      </p:sp>
      <p:sp>
        <p:nvSpPr>
          <p:cNvPr id="21" name="Text 19"/>
          <p:cNvSpPr txBox="1"/>
          <p:nvPr/>
        </p:nvSpPr>
        <p:spPr>
          <a:xfrm>
            <a:off x="8458200" y="2606040"/>
            <a:ext cx="3200400" cy="27432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Nutri-Score grade, rendered at the point of purchase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THE STORYLINE</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The story in three moves</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Status reflects this deck: desk work is complete; interview evidence is still to be collected.</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2 / 13</a:t>
            </a:r>
            <a:endParaRPr lang="en-US" sz="900" dirty="0"/>
          </a:p>
        </p:txBody>
      </p:sp>
      <p:sp>
        <p:nvSpPr>
          <p:cNvPr id="12" name="Shape 10"/>
          <p:cNvSpPr/>
          <p:nvPr/>
        </p:nvSpPr>
        <p:spPr>
          <a:xfrm>
            <a:off x="548640" y="1600200"/>
            <a:ext cx="3474720" cy="3246120"/>
          </a:xfrm>
          <a:prstGeom prst="roundRect">
            <a:avLst>
              <a:gd name="adj" fmla="val 2254"/>
            </a:avLst>
          </a:prstGeom>
          <a:solidFill>
            <a:srgbClr val="FFFFFF"/>
          </a:solidFill>
          <a:ln w="9525">
            <a:solidFill>
              <a:srgbClr val="C9D5CE"/>
            </a:solidFill>
            <a:prstDash val="solid"/>
          </a:ln>
        </p:spPr>
      </p:sp>
      <p:sp>
        <p:nvSpPr>
          <p:cNvPr id="13" name="Shape 11"/>
          <p:cNvSpPr/>
          <p:nvPr/>
        </p:nvSpPr>
        <p:spPr>
          <a:xfrm>
            <a:off x="804672" y="1828800"/>
            <a:ext cx="548640" cy="548640"/>
          </a:xfrm>
          <a:prstGeom prst="ellipse">
            <a:avLst/>
          </a:prstGeom>
          <a:solidFill>
            <a:srgbClr val="154B36"/>
          </a:solidFill>
          <a:ln/>
        </p:spPr>
      </p:sp>
      <p:sp>
        <p:nvSpPr>
          <p:cNvPr id="14" name="Text 12"/>
          <p:cNvSpPr txBox="1"/>
          <p:nvPr/>
        </p:nvSpPr>
        <p:spPr>
          <a:xfrm>
            <a:off x="804672"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5" name="Text 13"/>
          <p:cNvSpPr txBox="1"/>
          <p:nvPr/>
        </p:nvSpPr>
        <p:spPr>
          <a:xfrm>
            <a:off x="1508760" y="1874520"/>
            <a:ext cx="237744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ASSIGNMENT 1</a:t>
            </a:r>
            <a:endParaRPr lang="en-US" sz="1000" dirty="0"/>
          </a:p>
        </p:txBody>
      </p:sp>
      <p:sp>
        <p:nvSpPr>
          <p:cNvPr id="16" name="Text 14"/>
          <p:cNvSpPr txBox="1"/>
          <p:nvPr/>
        </p:nvSpPr>
        <p:spPr>
          <a:xfrm>
            <a:off x="1508760" y="2103120"/>
            <a:ext cx="2377440" cy="640080"/>
          </a:xfrm>
          <a:prstGeom prst="rect">
            <a:avLst/>
          </a:prstGeom>
          <a:noFill/>
          <a:ln/>
        </p:spPr>
        <p:txBody>
          <a:bodyPr wrap="square" lIns="0" tIns="0" rIns="0" bIns="0" rtlCol="0" anchor="t"/>
          <a:lstStyle/>
          <a:p>
            <a:pPr indent="0" marL="0">
              <a:buNone/>
            </a:pPr>
            <a:r>
              <a:rPr lang="en-US" sz="1600" b="1" dirty="0">
                <a:solidFill>
                  <a:srgbClr val="154B36"/>
                </a:solidFill>
                <a:latin typeface="Cambria" pitchFamily="34" charset="0"/>
                <a:ea typeface="Cambria" pitchFamily="34" charset="-122"/>
                <a:cs typeface="Cambria" pitchFamily="34" charset="-120"/>
              </a:rPr>
              <a:t>Is the problem real?</a:t>
            </a:r>
            <a:endParaRPr lang="en-US" sz="1600" dirty="0"/>
          </a:p>
        </p:txBody>
      </p:sp>
      <p:sp>
        <p:nvSpPr>
          <p:cNvPr id="17" name="Text 15"/>
          <p:cNvSpPr txBox="1"/>
          <p:nvPr/>
        </p:nvSpPr>
        <p:spPr>
          <a:xfrm>
            <a:off x="804672" y="3017520"/>
            <a:ext cx="2962656" cy="118872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Venture, hypothesis, three assumptions, interview evidence, validation decision, revised problem.</a:t>
            </a:r>
            <a:endParaRPr lang="en-US" sz="1200" dirty="0"/>
          </a:p>
        </p:txBody>
      </p:sp>
      <p:sp>
        <p:nvSpPr>
          <p:cNvPr id="18" name="Shape 16"/>
          <p:cNvSpPr/>
          <p:nvPr/>
        </p:nvSpPr>
        <p:spPr>
          <a:xfrm>
            <a:off x="804672" y="4315968"/>
            <a:ext cx="1737360" cy="237744"/>
          </a:xfrm>
          <a:prstGeom prst="roundRect">
            <a:avLst>
              <a:gd name="adj" fmla="val 46154"/>
            </a:avLst>
          </a:prstGeom>
          <a:solidFill>
            <a:srgbClr val="FDF0DC"/>
          </a:solidFill>
          <a:ln/>
        </p:spPr>
      </p:sp>
      <p:sp>
        <p:nvSpPr>
          <p:cNvPr id="19" name="Text 17"/>
          <p:cNvSpPr txBox="1"/>
          <p:nvPr/>
        </p:nvSpPr>
        <p:spPr>
          <a:xfrm>
            <a:off x="804672" y="4315968"/>
            <a:ext cx="1737360" cy="237744"/>
          </a:xfrm>
          <a:prstGeom prst="rect">
            <a:avLst/>
          </a:prstGeom>
          <a:noFill/>
          <a:ln/>
        </p:spPr>
        <p:txBody>
          <a:bodyPr wrap="square" lIns="0" tIns="0" rIns="0" bIns="0" rtlCol="0" anchor="ctr"/>
          <a:lstStyle/>
          <a:p>
            <a:pPr algn="ctr" indent="0" marL="0">
              <a:buNone/>
            </a:pPr>
            <a:r>
              <a:rPr lang="en-US" sz="900" b="1" spc="100" kern="0" dirty="0">
                <a:solidFill>
                  <a:srgbClr val="A85A00"/>
                </a:solidFill>
                <a:latin typeface="Calibri" pitchFamily="34" charset="0"/>
                <a:ea typeface="Calibri" pitchFamily="34" charset="-122"/>
                <a:cs typeface="Calibri" pitchFamily="34" charset="-120"/>
              </a:rPr>
              <a:t>Built · evidence open</a:t>
            </a:r>
            <a:endParaRPr lang="en-US" sz="900" dirty="0"/>
          </a:p>
        </p:txBody>
      </p:sp>
      <p:sp>
        <p:nvSpPr>
          <p:cNvPr id="20" name="Text 18"/>
          <p:cNvSpPr txBox="1"/>
          <p:nvPr/>
        </p:nvSpPr>
        <p:spPr>
          <a:xfrm>
            <a:off x="4041648" y="2926080"/>
            <a:ext cx="310896" cy="548640"/>
          </a:xfrm>
          <a:prstGeom prst="rect">
            <a:avLst/>
          </a:prstGeom>
          <a:noFill/>
          <a:ln/>
        </p:spPr>
        <p:txBody>
          <a:bodyPr wrap="square" lIns="0" tIns="0" rIns="0" bIns="0" rtlCol="0" anchor="ctr"/>
          <a:lstStyle/>
          <a:p>
            <a:pPr algn="ctr" indent="0" marL="0">
              <a:buNone/>
            </a:pPr>
            <a:r>
              <a:rPr lang="en-US" sz="4000" b="1" dirty="0">
                <a:solidFill>
                  <a:srgbClr val="B7C6BD"/>
                </a:solidFill>
                <a:latin typeface="Cambria" pitchFamily="34" charset="0"/>
                <a:ea typeface="Cambria" pitchFamily="34" charset="-122"/>
                <a:cs typeface="Cambria" pitchFamily="34" charset="-120"/>
              </a:rPr>
              <a:t>›</a:t>
            </a:r>
            <a:endParaRPr lang="en-US" sz="4000" dirty="0"/>
          </a:p>
        </p:txBody>
      </p:sp>
      <p:sp>
        <p:nvSpPr>
          <p:cNvPr id="21" name="Shape 19"/>
          <p:cNvSpPr/>
          <p:nvPr/>
        </p:nvSpPr>
        <p:spPr>
          <a:xfrm>
            <a:off x="4352544" y="1600200"/>
            <a:ext cx="3474720" cy="3246120"/>
          </a:xfrm>
          <a:prstGeom prst="roundRect">
            <a:avLst>
              <a:gd name="adj" fmla="val 2254"/>
            </a:avLst>
          </a:prstGeom>
          <a:solidFill>
            <a:srgbClr val="FFFFFF"/>
          </a:solidFill>
          <a:ln w="9525">
            <a:solidFill>
              <a:srgbClr val="C9D5CE"/>
            </a:solidFill>
            <a:prstDash val="solid"/>
          </a:ln>
        </p:spPr>
      </p:sp>
      <p:sp>
        <p:nvSpPr>
          <p:cNvPr id="22" name="Shape 20"/>
          <p:cNvSpPr/>
          <p:nvPr/>
        </p:nvSpPr>
        <p:spPr>
          <a:xfrm>
            <a:off x="4608576" y="1828800"/>
            <a:ext cx="548640" cy="548640"/>
          </a:xfrm>
          <a:prstGeom prst="ellipse">
            <a:avLst/>
          </a:prstGeom>
          <a:solidFill>
            <a:srgbClr val="154B36"/>
          </a:solidFill>
          <a:ln/>
        </p:spPr>
      </p:sp>
      <p:sp>
        <p:nvSpPr>
          <p:cNvPr id="23" name="Text 21"/>
          <p:cNvSpPr txBox="1"/>
          <p:nvPr/>
        </p:nvSpPr>
        <p:spPr>
          <a:xfrm>
            <a:off x="4608576"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24" name="Text 22"/>
          <p:cNvSpPr txBox="1"/>
          <p:nvPr/>
        </p:nvSpPr>
        <p:spPr>
          <a:xfrm>
            <a:off x="5312664" y="1874520"/>
            <a:ext cx="237744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ASSIGNMENT 2</a:t>
            </a:r>
            <a:endParaRPr lang="en-US" sz="1000" dirty="0"/>
          </a:p>
        </p:txBody>
      </p:sp>
      <p:sp>
        <p:nvSpPr>
          <p:cNvPr id="25" name="Text 23"/>
          <p:cNvSpPr txBox="1"/>
          <p:nvPr/>
        </p:nvSpPr>
        <p:spPr>
          <a:xfrm>
            <a:off x="5312664" y="2103120"/>
            <a:ext cx="2377440" cy="640080"/>
          </a:xfrm>
          <a:prstGeom prst="rect">
            <a:avLst/>
          </a:prstGeom>
          <a:noFill/>
          <a:ln/>
        </p:spPr>
        <p:txBody>
          <a:bodyPr wrap="square" lIns="0" tIns="0" rIns="0" bIns="0" rtlCol="0" anchor="t"/>
          <a:lstStyle/>
          <a:p>
            <a:pPr indent="0" marL="0">
              <a:buNone/>
            </a:pPr>
            <a:r>
              <a:rPr lang="en-US" sz="1600" b="1" dirty="0">
                <a:solidFill>
                  <a:srgbClr val="154B36"/>
                </a:solidFill>
                <a:latin typeface="Cambria" pitchFamily="34" charset="0"/>
                <a:ea typeface="Cambria" pitchFamily="34" charset="-122"/>
                <a:cs typeface="Cambria" pitchFamily="34" charset="-120"/>
              </a:rPr>
              <a:t>Who first, and who decides?</a:t>
            </a:r>
            <a:endParaRPr lang="en-US" sz="1600" dirty="0"/>
          </a:p>
        </p:txBody>
      </p:sp>
      <p:sp>
        <p:nvSpPr>
          <p:cNvPr id="26" name="Text 24"/>
          <p:cNvSpPr txBox="1"/>
          <p:nvPr/>
        </p:nvSpPr>
        <p:spPr>
          <a:xfrm>
            <a:off x="4608576" y="3017520"/>
            <a:ext cx="2962656" cy="118872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Three segments, a priority user, validation conversations, a stakeholder map, one risk and one change.</a:t>
            </a:r>
            <a:endParaRPr lang="en-US" sz="1200" dirty="0"/>
          </a:p>
        </p:txBody>
      </p:sp>
      <p:sp>
        <p:nvSpPr>
          <p:cNvPr id="27" name="Shape 25"/>
          <p:cNvSpPr/>
          <p:nvPr/>
        </p:nvSpPr>
        <p:spPr>
          <a:xfrm>
            <a:off x="4608576" y="4315968"/>
            <a:ext cx="1737360" cy="237744"/>
          </a:xfrm>
          <a:prstGeom prst="roundRect">
            <a:avLst>
              <a:gd name="adj" fmla="val 46154"/>
            </a:avLst>
          </a:prstGeom>
          <a:solidFill>
            <a:srgbClr val="FDF0DC"/>
          </a:solidFill>
          <a:ln/>
        </p:spPr>
      </p:sp>
      <p:sp>
        <p:nvSpPr>
          <p:cNvPr id="28" name="Text 26"/>
          <p:cNvSpPr txBox="1"/>
          <p:nvPr/>
        </p:nvSpPr>
        <p:spPr>
          <a:xfrm>
            <a:off x="4608576" y="4315968"/>
            <a:ext cx="1737360" cy="237744"/>
          </a:xfrm>
          <a:prstGeom prst="rect">
            <a:avLst/>
          </a:prstGeom>
          <a:noFill/>
          <a:ln/>
        </p:spPr>
        <p:txBody>
          <a:bodyPr wrap="square" lIns="0" tIns="0" rIns="0" bIns="0" rtlCol="0" anchor="ctr"/>
          <a:lstStyle/>
          <a:p>
            <a:pPr algn="ctr" indent="0" marL="0">
              <a:buNone/>
            </a:pPr>
            <a:r>
              <a:rPr lang="en-US" sz="900" b="1" spc="100" kern="0" dirty="0">
                <a:solidFill>
                  <a:srgbClr val="A85A00"/>
                </a:solidFill>
                <a:latin typeface="Calibri" pitchFamily="34" charset="0"/>
                <a:ea typeface="Calibri" pitchFamily="34" charset="-122"/>
                <a:cs typeface="Calibri" pitchFamily="34" charset="-120"/>
              </a:rPr>
              <a:t>Built · evidence open</a:t>
            </a:r>
            <a:endParaRPr lang="en-US" sz="900" dirty="0"/>
          </a:p>
        </p:txBody>
      </p:sp>
      <p:sp>
        <p:nvSpPr>
          <p:cNvPr id="29" name="Text 27"/>
          <p:cNvSpPr txBox="1"/>
          <p:nvPr/>
        </p:nvSpPr>
        <p:spPr>
          <a:xfrm>
            <a:off x="7845552" y="2926080"/>
            <a:ext cx="310896" cy="548640"/>
          </a:xfrm>
          <a:prstGeom prst="rect">
            <a:avLst/>
          </a:prstGeom>
          <a:noFill/>
          <a:ln/>
        </p:spPr>
        <p:txBody>
          <a:bodyPr wrap="square" lIns="0" tIns="0" rIns="0" bIns="0" rtlCol="0" anchor="ctr"/>
          <a:lstStyle/>
          <a:p>
            <a:pPr algn="ctr" indent="0" marL="0">
              <a:buNone/>
            </a:pPr>
            <a:r>
              <a:rPr lang="en-US" sz="4000" b="1" dirty="0">
                <a:solidFill>
                  <a:srgbClr val="B7C6BD"/>
                </a:solidFill>
                <a:latin typeface="Cambria" pitchFamily="34" charset="0"/>
                <a:ea typeface="Cambria" pitchFamily="34" charset="-122"/>
                <a:cs typeface="Cambria" pitchFamily="34" charset="-120"/>
              </a:rPr>
              <a:t>›</a:t>
            </a:r>
            <a:endParaRPr lang="en-US" sz="4000" dirty="0"/>
          </a:p>
        </p:txBody>
      </p:sp>
      <p:sp>
        <p:nvSpPr>
          <p:cNvPr id="30" name="Shape 28"/>
          <p:cNvSpPr/>
          <p:nvPr/>
        </p:nvSpPr>
        <p:spPr>
          <a:xfrm>
            <a:off x="8156448" y="1600200"/>
            <a:ext cx="3474720" cy="3246120"/>
          </a:xfrm>
          <a:prstGeom prst="roundRect">
            <a:avLst>
              <a:gd name="adj" fmla="val 2254"/>
            </a:avLst>
          </a:prstGeom>
          <a:solidFill>
            <a:srgbClr val="FFFFFF"/>
          </a:solidFill>
          <a:ln w="9525">
            <a:solidFill>
              <a:srgbClr val="C9D5CE"/>
            </a:solidFill>
            <a:prstDash val="solid"/>
          </a:ln>
        </p:spPr>
      </p:sp>
      <p:sp>
        <p:nvSpPr>
          <p:cNvPr id="31" name="Shape 29"/>
          <p:cNvSpPr/>
          <p:nvPr/>
        </p:nvSpPr>
        <p:spPr>
          <a:xfrm>
            <a:off x="8412480" y="1828800"/>
            <a:ext cx="548640" cy="548640"/>
          </a:xfrm>
          <a:prstGeom prst="ellipse">
            <a:avLst/>
          </a:prstGeom>
          <a:solidFill>
            <a:srgbClr val="154B36"/>
          </a:solidFill>
          <a:ln/>
        </p:spPr>
      </p:sp>
      <p:sp>
        <p:nvSpPr>
          <p:cNvPr id="32" name="Text 30"/>
          <p:cNvSpPr txBox="1"/>
          <p:nvPr/>
        </p:nvSpPr>
        <p:spPr>
          <a:xfrm>
            <a:off x="8412480"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33" name="Text 31"/>
          <p:cNvSpPr txBox="1"/>
          <p:nvPr/>
        </p:nvSpPr>
        <p:spPr>
          <a:xfrm>
            <a:off x="9116568" y="1874520"/>
            <a:ext cx="237744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THE PLAN</a:t>
            </a:r>
            <a:endParaRPr lang="en-US" sz="1000" dirty="0"/>
          </a:p>
        </p:txBody>
      </p:sp>
      <p:sp>
        <p:nvSpPr>
          <p:cNvPr id="34" name="Text 32"/>
          <p:cNvSpPr txBox="1"/>
          <p:nvPr/>
        </p:nvSpPr>
        <p:spPr>
          <a:xfrm>
            <a:off x="9116568" y="2103120"/>
            <a:ext cx="2377440" cy="640080"/>
          </a:xfrm>
          <a:prstGeom prst="rect">
            <a:avLst/>
          </a:prstGeom>
          <a:noFill/>
          <a:ln/>
        </p:spPr>
        <p:txBody>
          <a:bodyPr wrap="square" lIns="0" tIns="0" rIns="0" bIns="0" rtlCol="0" anchor="t"/>
          <a:lstStyle/>
          <a:p>
            <a:pPr indent="0" marL="0">
              <a:buNone/>
            </a:pPr>
            <a:r>
              <a:rPr lang="en-US" sz="1600" b="1" dirty="0">
                <a:solidFill>
                  <a:srgbClr val="154B36"/>
                </a:solidFill>
                <a:latin typeface="Cambria" pitchFamily="34" charset="0"/>
                <a:ea typeface="Cambria" pitchFamily="34" charset="-122"/>
                <a:cs typeface="Cambria" pitchFamily="34" charset="-120"/>
              </a:rPr>
              <a:t>What happens next?</a:t>
            </a:r>
            <a:endParaRPr lang="en-US" sz="1600" dirty="0"/>
          </a:p>
        </p:txBody>
      </p:sp>
      <p:sp>
        <p:nvSpPr>
          <p:cNvPr id="35" name="Text 33"/>
          <p:cNvSpPr txBox="1"/>
          <p:nvPr/>
        </p:nvSpPr>
        <p:spPr>
          <a:xfrm>
            <a:off x="8412480" y="3017520"/>
            <a:ext cx="2962656" cy="118872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Run the interviews, fill every orange box, then confirm the decision, the segment and the first partner conversations.</a:t>
            </a:r>
            <a:endParaRPr lang="en-US" sz="1200" dirty="0"/>
          </a:p>
        </p:txBody>
      </p:sp>
      <p:sp>
        <p:nvSpPr>
          <p:cNvPr id="36" name="Shape 34"/>
          <p:cNvSpPr/>
          <p:nvPr/>
        </p:nvSpPr>
        <p:spPr>
          <a:xfrm>
            <a:off x="8412480" y="4315968"/>
            <a:ext cx="640080" cy="237744"/>
          </a:xfrm>
          <a:prstGeom prst="roundRect">
            <a:avLst>
              <a:gd name="adj" fmla="val 46154"/>
            </a:avLst>
          </a:prstGeom>
          <a:solidFill>
            <a:srgbClr val="E8F1EB"/>
          </a:solidFill>
          <a:ln/>
        </p:spPr>
      </p:sp>
      <p:sp>
        <p:nvSpPr>
          <p:cNvPr id="37" name="Text 35"/>
          <p:cNvSpPr txBox="1"/>
          <p:nvPr/>
        </p:nvSpPr>
        <p:spPr>
          <a:xfrm>
            <a:off x="8412480" y="4315968"/>
            <a:ext cx="640080" cy="237744"/>
          </a:xfrm>
          <a:prstGeom prst="rect">
            <a:avLst/>
          </a:prstGeom>
          <a:noFill/>
          <a:ln/>
        </p:spPr>
        <p:txBody>
          <a:bodyPr wrap="square" lIns="0" tIns="0" rIns="0" bIns="0" rtlCol="0" anchor="ctr"/>
          <a:lstStyle/>
          <a:p>
            <a:pPr algn="ctr" indent="0" marL="0">
              <a:buNone/>
            </a:pPr>
            <a:r>
              <a:rPr lang="en-US" sz="900" b="1" spc="100" kern="0" dirty="0">
                <a:solidFill>
                  <a:srgbClr val="154B36"/>
                </a:solidFill>
                <a:latin typeface="Calibri" pitchFamily="34" charset="0"/>
                <a:ea typeface="Calibri" pitchFamily="34" charset="-122"/>
                <a:cs typeface="Calibri" pitchFamily="34" charset="-120"/>
              </a:rPr>
              <a:t>Next</a:t>
            </a:r>
            <a:endParaRPr lang="en-US" sz="900" dirty="0"/>
          </a:p>
        </p:txBody>
      </p:sp>
      <p:sp>
        <p:nvSpPr>
          <p:cNvPr id="38" name="Shape 36"/>
          <p:cNvSpPr/>
          <p:nvPr/>
        </p:nvSpPr>
        <p:spPr>
          <a:xfrm>
            <a:off x="548640" y="5029200"/>
            <a:ext cx="11091672" cy="1051560"/>
          </a:xfrm>
          <a:prstGeom prst="roundRect">
            <a:avLst>
              <a:gd name="adj" fmla="val 6957"/>
            </a:avLst>
          </a:prstGeom>
          <a:solidFill>
            <a:srgbClr val="154B36"/>
          </a:solidFill>
          <a:ln/>
        </p:spPr>
      </p:sp>
      <p:sp>
        <p:nvSpPr>
          <p:cNvPr id="39" name="Text 37"/>
          <p:cNvSpPr txBox="1"/>
          <p:nvPr/>
        </p:nvSpPr>
        <p:spPr>
          <a:xfrm>
            <a:off x="822960" y="5212080"/>
            <a:ext cx="36576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HOW TO READ THE SLIDES</a:t>
            </a:r>
            <a:endParaRPr lang="en-US" sz="1000" dirty="0"/>
          </a:p>
        </p:txBody>
      </p:sp>
      <p:sp>
        <p:nvSpPr>
          <p:cNvPr id="40" name="Shape 38"/>
          <p:cNvSpPr/>
          <p:nvPr/>
        </p:nvSpPr>
        <p:spPr>
          <a:xfrm>
            <a:off x="822960" y="5504688"/>
            <a:ext cx="2103120" cy="402336"/>
          </a:xfrm>
          <a:prstGeom prst="roundRect">
            <a:avLst>
              <a:gd name="adj" fmla="val 13636"/>
            </a:avLst>
          </a:prstGeom>
          <a:solidFill>
            <a:srgbClr val="1E6047"/>
          </a:solidFill>
          <a:ln w="12700">
            <a:solidFill>
              <a:srgbClr val="F5A623"/>
            </a:solidFill>
            <a:prstDash val="dash"/>
          </a:ln>
        </p:spPr>
      </p:sp>
      <p:sp>
        <p:nvSpPr>
          <p:cNvPr id="41" name="Text 39"/>
          <p:cNvSpPr txBox="1"/>
          <p:nvPr/>
        </p:nvSpPr>
        <p:spPr>
          <a:xfrm>
            <a:off x="932688" y="5541264"/>
            <a:ext cx="1883664" cy="329184"/>
          </a:xfrm>
          <a:prstGeom prst="rect">
            <a:avLst/>
          </a:prstGeom>
          <a:noFill/>
          <a:ln/>
        </p:spPr>
        <p:txBody>
          <a:bodyPr wrap="square" lIns="0" tIns="0" rIns="0" bIns="0" rtlCol="0" anchor="ctr"/>
          <a:lstStyle/>
          <a:p>
            <a:pPr algn="ctr" indent="0" marL="0">
              <a:buNone/>
            </a:pPr>
            <a:r>
              <a:rPr lang="en-US" sz="1050" i="1" dirty="0">
                <a:solidFill>
                  <a:srgbClr val="FFE2B0"/>
                </a:solidFill>
                <a:latin typeface="Calibri" pitchFamily="34" charset="0"/>
                <a:ea typeface="Calibri" pitchFamily="34" charset="-122"/>
                <a:cs typeface="Calibri" pitchFamily="34" charset="-120"/>
              </a:rPr>
              <a:t>INSERT  interview evidence</a:t>
            </a:r>
            <a:endParaRPr lang="en-US" sz="1050" dirty="0"/>
          </a:p>
        </p:txBody>
      </p:sp>
      <p:sp>
        <p:nvSpPr>
          <p:cNvPr id="42" name="Text 40"/>
          <p:cNvSpPr txBox="1"/>
          <p:nvPr/>
        </p:nvSpPr>
        <p:spPr>
          <a:xfrm>
            <a:off x="3200400" y="5468112"/>
            <a:ext cx="813816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An orange dashed box marks a slot that only real conversations can fill. It is left empty on purpose. Record no names and no diagnoses in it.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PART 1 · ASSIGNMENT 1 · PROBLEM VALIDATION · SECTIONS 1–3</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Our hypothesis: Kenyan online shoppers choose blind on sugar, salt and fat</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Sources: Food-EPI Kenya 2020; internal competitive scan EV-004 (June 2026); ATNi / EAMA Kenya Market Assessment 2025; Kenya STEPS Survey 2015.</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3 / 13</a:t>
            </a:r>
            <a:endParaRPr lang="en-US" sz="900" dirty="0"/>
          </a:p>
        </p:txBody>
      </p:sp>
      <p:sp>
        <p:nvSpPr>
          <p:cNvPr id="12" name="Shape 10"/>
          <p:cNvSpPr/>
          <p:nvPr/>
        </p:nvSpPr>
        <p:spPr>
          <a:xfrm>
            <a:off x="548640" y="1508760"/>
            <a:ext cx="3749040" cy="4572000"/>
          </a:xfrm>
          <a:prstGeom prst="roundRect">
            <a:avLst>
              <a:gd name="adj" fmla="val 1951"/>
            </a:avLst>
          </a:prstGeom>
          <a:solidFill>
            <a:srgbClr val="154B36"/>
          </a:solidFill>
          <a:ln/>
        </p:spPr>
      </p:sp>
      <p:sp>
        <p:nvSpPr>
          <p:cNvPr id="13" name="Text 11"/>
          <p:cNvSpPr txBox="1"/>
          <p:nvPr/>
        </p:nvSpPr>
        <p:spPr>
          <a:xfrm>
            <a:off x="822960" y="1783080"/>
            <a:ext cx="32004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1 · VENTURE IDEA</a:t>
            </a:r>
            <a:endParaRPr lang="en-US" sz="1000" dirty="0"/>
          </a:p>
        </p:txBody>
      </p:sp>
      <p:sp>
        <p:nvSpPr>
          <p:cNvPr id="14" name="Text 12"/>
          <p:cNvSpPr txBox="1"/>
          <p:nvPr/>
        </p:nvSpPr>
        <p:spPr>
          <a:xfrm>
            <a:off x="822960" y="2103120"/>
            <a:ext cx="3200400" cy="2377440"/>
          </a:xfrm>
          <a:prstGeom prst="rect">
            <a:avLst/>
          </a:prstGeom>
          <a:noFill/>
          <a:ln/>
        </p:spPr>
        <p:txBody>
          <a:bodyPr wrap="square" lIns="0" tIns="0" rIns="0" bIns="0" rtlCol="0" anchor="t"/>
          <a:lstStyle/>
          <a:p>
            <a:pPr indent="0" marL="0">
              <a:lnSpc>
                <a:spcPct val="110000"/>
              </a:lnSpc>
              <a:buNone/>
            </a:pPr>
            <a:r>
              <a:rPr lang="en-US" sz="1700" dirty="0">
                <a:solidFill>
                  <a:srgbClr val="FFFFFF"/>
                </a:solidFill>
                <a:latin typeface="Cambria" pitchFamily="34" charset="0"/>
                <a:ea typeface="Cambria" pitchFamily="34" charset="-122"/>
                <a:cs typeface="Cambria" pitchFamily="34" charset="-120"/>
              </a:rPr>
              <a:t>A Chrome extension that shows a Nutri-Score grade and condition-specific warnings beside products on Naivas Online and Carrefour Kenya, so shoppers see nutrition quality before they pay.</a:t>
            </a:r>
            <a:endParaRPr lang="en-US" sz="1700" dirty="0"/>
          </a:p>
        </p:txBody>
      </p:sp>
      <p:sp>
        <p:nvSpPr>
          <p:cNvPr id="15" name="Shape 13"/>
          <p:cNvSpPr/>
          <p:nvPr/>
        </p:nvSpPr>
        <p:spPr>
          <a:xfrm>
            <a:off x="822960" y="4754880"/>
            <a:ext cx="530352" cy="530352"/>
          </a:xfrm>
          <a:prstGeom prst="roundRect">
            <a:avLst>
              <a:gd name="adj" fmla="val 17241"/>
            </a:avLst>
          </a:prstGeom>
          <a:solidFill>
            <a:srgbClr val="038141"/>
          </a:solidFill>
          <a:ln/>
        </p:spPr>
      </p:sp>
      <p:sp>
        <p:nvSpPr>
          <p:cNvPr id="16" name="Text 14"/>
          <p:cNvSpPr txBox="1"/>
          <p:nvPr/>
        </p:nvSpPr>
        <p:spPr>
          <a:xfrm>
            <a:off x="822960" y="4754880"/>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Cambria" pitchFamily="34" charset="0"/>
                <a:ea typeface="Cambria" pitchFamily="34" charset="-122"/>
                <a:cs typeface="Cambria" pitchFamily="34" charset="-120"/>
              </a:rPr>
              <a:t>A</a:t>
            </a:r>
            <a:endParaRPr lang="en-US" sz="1972" dirty="0"/>
          </a:p>
        </p:txBody>
      </p:sp>
      <p:sp>
        <p:nvSpPr>
          <p:cNvPr id="17" name="Shape 15"/>
          <p:cNvSpPr/>
          <p:nvPr/>
        </p:nvSpPr>
        <p:spPr>
          <a:xfrm>
            <a:off x="1444752" y="4754880"/>
            <a:ext cx="530352" cy="530352"/>
          </a:xfrm>
          <a:prstGeom prst="roundRect">
            <a:avLst>
              <a:gd name="adj" fmla="val 17241"/>
            </a:avLst>
          </a:prstGeom>
          <a:solidFill>
            <a:srgbClr val="85BB2F"/>
          </a:solidFill>
          <a:ln/>
        </p:spPr>
      </p:sp>
      <p:sp>
        <p:nvSpPr>
          <p:cNvPr id="18" name="Text 16"/>
          <p:cNvSpPr txBox="1"/>
          <p:nvPr/>
        </p:nvSpPr>
        <p:spPr>
          <a:xfrm>
            <a:off x="1444752" y="4754880"/>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Cambria" pitchFamily="34" charset="0"/>
                <a:ea typeface="Cambria" pitchFamily="34" charset="-122"/>
                <a:cs typeface="Cambria" pitchFamily="34" charset="-120"/>
              </a:rPr>
              <a:t>B</a:t>
            </a:r>
            <a:endParaRPr lang="en-US" sz="1972" dirty="0"/>
          </a:p>
        </p:txBody>
      </p:sp>
      <p:sp>
        <p:nvSpPr>
          <p:cNvPr id="19" name="Shape 17"/>
          <p:cNvSpPr/>
          <p:nvPr/>
        </p:nvSpPr>
        <p:spPr>
          <a:xfrm>
            <a:off x="2066544" y="4754880"/>
            <a:ext cx="530352" cy="530352"/>
          </a:xfrm>
          <a:prstGeom prst="roundRect">
            <a:avLst>
              <a:gd name="adj" fmla="val 17241"/>
            </a:avLst>
          </a:prstGeom>
          <a:solidFill>
            <a:srgbClr val="FECB02"/>
          </a:solidFill>
          <a:ln/>
        </p:spPr>
      </p:sp>
      <p:sp>
        <p:nvSpPr>
          <p:cNvPr id="20" name="Text 18"/>
          <p:cNvSpPr txBox="1"/>
          <p:nvPr/>
        </p:nvSpPr>
        <p:spPr>
          <a:xfrm>
            <a:off x="2066544" y="4754880"/>
            <a:ext cx="530352" cy="530352"/>
          </a:xfrm>
          <a:prstGeom prst="rect">
            <a:avLst/>
          </a:prstGeom>
          <a:noFill/>
          <a:ln/>
        </p:spPr>
        <p:txBody>
          <a:bodyPr wrap="square" lIns="0" tIns="0" rIns="0" bIns="0" rtlCol="0" anchor="ctr"/>
          <a:lstStyle/>
          <a:p>
            <a:pPr algn="ctr" indent="0" marL="0">
              <a:buNone/>
            </a:pPr>
            <a:r>
              <a:rPr lang="en-US" sz="1972" b="1" dirty="0">
                <a:solidFill>
                  <a:srgbClr val="1F2A24"/>
                </a:solidFill>
                <a:latin typeface="Cambria" pitchFamily="34" charset="0"/>
                <a:ea typeface="Cambria" pitchFamily="34" charset="-122"/>
                <a:cs typeface="Cambria" pitchFamily="34" charset="-120"/>
              </a:rPr>
              <a:t>C</a:t>
            </a:r>
            <a:endParaRPr lang="en-US" sz="1972" dirty="0"/>
          </a:p>
        </p:txBody>
      </p:sp>
      <p:sp>
        <p:nvSpPr>
          <p:cNvPr id="21" name="Shape 19"/>
          <p:cNvSpPr/>
          <p:nvPr/>
        </p:nvSpPr>
        <p:spPr>
          <a:xfrm>
            <a:off x="2688336" y="4754880"/>
            <a:ext cx="530352" cy="530352"/>
          </a:xfrm>
          <a:prstGeom prst="roundRect">
            <a:avLst>
              <a:gd name="adj" fmla="val 17241"/>
            </a:avLst>
          </a:prstGeom>
          <a:solidFill>
            <a:srgbClr val="EE8100"/>
          </a:solidFill>
          <a:ln/>
        </p:spPr>
      </p:sp>
      <p:sp>
        <p:nvSpPr>
          <p:cNvPr id="22" name="Text 20"/>
          <p:cNvSpPr txBox="1"/>
          <p:nvPr/>
        </p:nvSpPr>
        <p:spPr>
          <a:xfrm>
            <a:off x="2688336" y="4754880"/>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Cambria" pitchFamily="34" charset="0"/>
                <a:ea typeface="Cambria" pitchFamily="34" charset="-122"/>
                <a:cs typeface="Cambria" pitchFamily="34" charset="-120"/>
              </a:rPr>
              <a:t>D</a:t>
            </a:r>
            <a:endParaRPr lang="en-US" sz="1972" dirty="0"/>
          </a:p>
        </p:txBody>
      </p:sp>
      <p:sp>
        <p:nvSpPr>
          <p:cNvPr id="23" name="Shape 21"/>
          <p:cNvSpPr/>
          <p:nvPr/>
        </p:nvSpPr>
        <p:spPr>
          <a:xfrm>
            <a:off x="3310128" y="4754880"/>
            <a:ext cx="530352" cy="530352"/>
          </a:xfrm>
          <a:prstGeom prst="roundRect">
            <a:avLst>
              <a:gd name="adj" fmla="val 17241"/>
            </a:avLst>
          </a:prstGeom>
          <a:solidFill>
            <a:srgbClr val="E63E11"/>
          </a:solidFill>
          <a:ln/>
        </p:spPr>
      </p:sp>
      <p:sp>
        <p:nvSpPr>
          <p:cNvPr id="24" name="Text 22"/>
          <p:cNvSpPr txBox="1"/>
          <p:nvPr/>
        </p:nvSpPr>
        <p:spPr>
          <a:xfrm>
            <a:off x="3310128" y="4754880"/>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Cambria" pitchFamily="34" charset="0"/>
                <a:ea typeface="Cambria" pitchFamily="34" charset="-122"/>
                <a:cs typeface="Cambria" pitchFamily="34" charset="-120"/>
              </a:rPr>
              <a:t>E</a:t>
            </a:r>
            <a:endParaRPr lang="en-US" sz="1972" dirty="0"/>
          </a:p>
        </p:txBody>
      </p:sp>
      <p:sp>
        <p:nvSpPr>
          <p:cNvPr id="25" name="Text 23"/>
          <p:cNvSpPr txBox="1"/>
          <p:nvPr/>
        </p:nvSpPr>
        <p:spPr>
          <a:xfrm>
            <a:off x="822960" y="5440680"/>
            <a:ext cx="3200400" cy="228600"/>
          </a:xfrm>
          <a:prstGeom prst="rect">
            <a:avLst/>
          </a:prstGeom>
          <a:noFill/>
          <a:ln/>
        </p:spPr>
        <p:txBody>
          <a:bodyPr wrap="square" lIns="0" tIns="0" rIns="0" bIns="0" rtlCol="0" anchor="t"/>
          <a:lstStyle/>
          <a:p>
            <a:pPr indent="0" marL="0">
              <a:buNone/>
            </a:pPr>
            <a:r>
              <a:rPr lang="en-US" sz="1000" dirty="0">
                <a:solidFill>
                  <a:srgbClr val="C9D5CE"/>
                </a:solidFill>
                <a:latin typeface="Calibri" pitchFamily="34" charset="0"/>
                <a:ea typeface="Calibri" pitchFamily="34" charset="-122"/>
                <a:cs typeface="Calibri" pitchFamily="34" charset="-120"/>
              </a:rPr>
              <a:t>Nutri-Score grade, rendered at the point of purchase</a:t>
            </a:r>
            <a:endParaRPr lang="en-US" sz="1000" dirty="0"/>
          </a:p>
        </p:txBody>
      </p:sp>
      <p:sp>
        <p:nvSpPr>
          <p:cNvPr id="26" name="Text 24"/>
          <p:cNvSpPr txBox="1"/>
          <p:nvPr/>
        </p:nvSpPr>
        <p:spPr>
          <a:xfrm>
            <a:off x="822960" y="5669280"/>
            <a:ext cx="3200400" cy="228600"/>
          </a:xfrm>
          <a:prstGeom prst="rect">
            <a:avLst/>
          </a:prstGeom>
          <a:noFill/>
          <a:ln/>
        </p:spPr>
        <p:txBody>
          <a:bodyPr wrap="square" lIns="0" tIns="0" rIns="0" bIns="0" rtlCol="0" anchor="t"/>
          <a:lstStyle/>
          <a:p>
            <a:pPr indent="0" marL="0">
              <a:buNone/>
            </a:pPr>
            <a:r>
              <a:rPr lang="en-US" sz="1000" dirty="0">
                <a:solidFill>
                  <a:srgbClr val="C9D5CE"/>
                </a:solidFill>
                <a:latin typeface="Calibri" pitchFamily="34" charset="0"/>
                <a:ea typeface="Calibri" pitchFamily="34" charset="-122"/>
                <a:cs typeface="Calibri" pitchFamily="34" charset="-120"/>
              </a:rPr>
              <a:t>Runs fully in the browser · 10,518 products · 2 retailers</a:t>
            </a:r>
            <a:endParaRPr lang="en-US" sz="1000" dirty="0"/>
          </a:p>
        </p:txBody>
      </p:sp>
      <p:sp>
        <p:nvSpPr>
          <p:cNvPr id="27" name="Shape 25"/>
          <p:cNvSpPr/>
          <p:nvPr/>
        </p:nvSpPr>
        <p:spPr>
          <a:xfrm>
            <a:off x="4572000" y="1508760"/>
            <a:ext cx="7068312" cy="1920240"/>
          </a:xfrm>
          <a:prstGeom prst="roundRect">
            <a:avLst>
              <a:gd name="adj" fmla="val 3810"/>
            </a:avLst>
          </a:prstGeom>
          <a:solidFill>
            <a:srgbClr val="FFFFFF"/>
          </a:solidFill>
          <a:ln w="9525">
            <a:solidFill>
              <a:srgbClr val="C9D5CE"/>
            </a:solidFill>
            <a:prstDash val="solid"/>
          </a:ln>
        </p:spPr>
      </p:sp>
      <p:sp>
        <p:nvSpPr>
          <p:cNvPr id="28" name="Text 26"/>
          <p:cNvSpPr txBox="1"/>
          <p:nvPr/>
        </p:nvSpPr>
        <p:spPr>
          <a:xfrm>
            <a:off x="4846320" y="1737360"/>
            <a:ext cx="658368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2 · PROBLEM HYPOTHESIS  (what we believed before any interview)</a:t>
            </a:r>
            <a:endParaRPr lang="en-US" sz="1000" dirty="0"/>
          </a:p>
        </p:txBody>
      </p:sp>
      <p:sp>
        <p:nvSpPr>
          <p:cNvPr id="29" name="Text 27"/>
          <p:cNvSpPr txBox="1"/>
          <p:nvPr/>
        </p:nvSpPr>
        <p:spPr>
          <a:xfrm>
            <a:off x="4846320" y="2029968"/>
            <a:ext cx="6519672" cy="1325880"/>
          </a:xfrm>
          <a:prstGeom prst="rect">
            <a:avLst/>
          </a:prstGeom>
          <a:noFill/>
          <a:ln/>
        </p:spPr>
        <p:txBody>
          <a:bodyPr wrap="square" lIns="0" tIns="0" rIns="0" bIns="0" rtlCol="0" anchor="t"/>
          <a:lstStyle/>
          <a:p>
            <a:pPr indent="0" marL="0">
              <a:lnSpc>
                <a:spcPct val="105000"/>
              </a:lnSpc>
              <a:buNone/>
            </a:pPr>
            <a:r>
              <a:rPr lang="en-US" sz="1350" dirty="0">
                <a:solidFill>
                  <a:srgbClr val="1F2A24"/>
                </a:solidFill>
                <a:latin typeface="Calibri" pitchFamily="34" charset="0"/>
                <a:ea typeface="Calibri" pitchFamily="34" charset="-122"/>
                <a:cs typeface="Calibri" pitchFamily="34" charset="-120"/>
              </a:rPr>
              <a:t>Shoppers who need to limit sugar, salt or fat cannot tell, at the moment they add an item to an online cart, whether it fits their limits. Kenyan retailers show no front-of-pack signal online, and on-pack labels are too incomplete to work it out: added sugar is not even a mandatory label field.</a:t>
            </a:r>
            <a:endParaRPr lang="en-US" sz="1350" dirty="0"/>
          </a:p>
        </p:txBody>
      </p:sp>
      <p:sp>
        <p:nvSpPr>
          <p:cNvPr id="30" name="Shape 28"/>
          <p:cNvSpPr/>
          <p:nvPr/>
        </p:nvSpPr>
        <p:spPr>
          <a:xfrm>
            <a:off x="4572000" y="3566160"/>
            <a:ext cx="7068312" cy="1188720"/>
          </a:xfrm>
          <a:prstGeom prst="roundRect">
            <a:avLst>
              <a:gd name="adj" fmla="val 6154"/>
            </a:avLst>
          </a:prstGeom>
          <a:solidFill>
            <a:srgbClr val="FFFFFF"/>
          </a:solidFill>
          <a:ln w="9525">
            <a:solidFill>
              <a:srgbClr val="C9D5CE"/>
            </a:solidFill>
            <a:prstDash val="solid"/>
          </a:ln>
        </p:spPr>
      </p:sp>
      <p:sp>
        <p:nvSpPr>
          <p:cNvPr id="31" name="Text 29"/>
          <p:cNvSpPr txBox="1"/>
          <p:nvPr/>
        </p:nvSpPr>
        <p:spPr>
          <a:xfrm>
            <a:off x="4846320" y="3767328"/>
            <a:ext cx="658368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3 · PRIMARY USER  (hypothesis)</a:t>
            </a:r>
            <a:endParaRPr lang="en-US" sz="1000" dirty="0"/>
          </a:p>
        </p:txBody>
      </p:sp>
      <p:sp>
        <p:nvSpPr>
          <p:cNvPr id="32" name="Text 30"/>
          <p:cNvSpPr txBox="1"/>
          <p:nvPr/>
        </p:nvSpPr>
        <p:spPr>
          <a:xfrm>
            <a:off x="4846320" y="4041648"/>
            <a:ext cx="6519672" cy="658368"/>
          </a:xfrm>
          <a:prstGeom prst="rect">
            <a:avLst/>
          </a:prstGeom>
          <a:noFill/>
          <a:ln/>
        </p:spPr>
        <p:txBody>
          <a:bodyPr wrap="square" lIns="0" tIns="0" rIns="0" bIns="0" rtlCol="0" anchor="t"/>
          <a:lstStyle/>
          <a:p>
            <a:pPr indent="0" marL="0">
              <a:lnSpc>
                <a:spcPct val="105000"/>
              </a:lnSpc>
              <a:buNone/>
            </a:pPr>
            <a:r>
              <a:rPr lang="en-US" sz="1350" dirty="0">
                <a:solidFill>
                  <a:srgbClr val="1F2A24"/>
                </a:solidFill>
                <a:latin typeface="Calibri" pitchFamily="34" charset="0"/>
                <a:ea typeface="Calibri" pitchFamily="34" charset="-122"/>
                <a:cs typeface="Calibri" pitchFamily="34" charset="-120"/>
              </a:rPr>
              <a:t>Adults who buy groceries online in Kenya (Naivas Online, Carrefour Kenya) and must or want to control sugar, salt or fat for health reasons, starting with people already advised to do so.</a:t>
            </a:r>
            <a:endParaRPr lang="en-US" sz="1350" dirty="0"/>
          </a:p>
        </p:txBody>
      </p:sp>
      <p:sp>
        <p:nvSpPr>
          <p:cNvPr id="33" name="Shape 31"/>
          <p:cNvSpPr/>
          <p:nvPr/>
        </p:nvSpPr>
        <p:spPr>
          <a:xfrm>
            <a:off x="4572000" y="4892040"/>
            <a:ext cx="2240280" cy="1188720"/>
          </a:xfrm>
          <a:prstGeom prst="roundRect">
            <a:avLst>
              <a:gd name="adj" fmla="val 6154"/>
            </a:avLst>
          </a:prstGeom>
          <a:solidFill>
            <a:srgbClr val="FFFFFF"/>
          </a:solidFill>
          <a:ln w="9525">
            <a:solidFill>
              <a:srgbClr val="C9D5CE"/>
            </a:solidFill>
            <a:prstDash val="solid"/>
          </a:ln>
        </p:spPr>
      </p:sp>
      <p:sp>
        <p:nvSpPr>
          <p:cNvPr id="34" name="Text 32"/>
          <p:cNvSpPr txBox="1"/>
          <p:nvPr/>
        </p:nvSpPr>
        <p:spPr>
          <a:xfrm>
            <a:off x="4736592" y="4956048"/>
            <a:ext cx="1920240" cy="502920"/>
          </a:xfrm>
          <a:prstGeom prst="rect">
            <a:avLst/>
          </a:prstGeom>
          <a:noFill/>
          <a:ln/>
        </p:spPr>
        <p:txBody>
          <a:bodyPr wrap="square" lIns="0" tIns="0" rIns="0" bIns="0" rtlCol="0" anchor="t"/>
          <a:lstStyle/>
          <a:p>
            <a:pPr indent="0" marL="0">
              <a:buNone/>
            </a:pPr>
            <a:r>
              <a:rPr lang="en-US" sz="3000" b="1" dirty="0">
                <a:solidFill>
                  <a:srgbClr val="A85A00"/>
                </a:solidFill>
                <a:latin typeface="Cambria" pitchFamily="34" charset="0"/>
                <a:ea typeface="Cambria" pitchFamily="34" charset="-122"/>
                <a:cs typeface="Cambria" pitchFamily="34" charset="-120"/>
              </a:rPr>
              <a:t>0</a:t>
            </a:r>
            <a:endParaRPr lang="en-US" sz="3000" dirty="0"/>
          </a:p>
        </p:txBody>
      </p:sp>
      <p:sp>
        <p:nvSpPr>
          <p:cNvPr id="35" name="Text 33"/>
          <p:cNvSpPr txBox="1"/>
          <p:nvPr/>
        </p:nvSpPr>
        <p:spPr>
          <a:xfrm>
            <a:off x="4736592" y="5468112"/>
            <a:ext cx="1938528" cy="566928"/>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Kenyan online retailers surface a front-of-pack nutrition signal (Food-EPI, 2020)</a:t>
            </a:r>
            <a:endParaRPr lang="en-US" sz="1000" dirty="0"/>
          </a:p>
        </p:txBody>
      </p:sp>
      <p:sp>
        <p:nvSpPr>
          <p:cNvPr id="36" name="Shape 34"/>
          <p:cNvSpPr/>
          <p:nvPr/>
        </p:nvSpPr>
        <p:spPr>
          <a:xfrm>
            <a:off x="6986016" y="4892040"/>
            <a:ext cx="2240280" cy="1188720"/>
          </a:xfrm>
          <a:prstGeom prst="roundRect">
            <a:avLst>
              <a:gd name="adj" fmla="val 6154"/>
            </a:avLst>
          </a:prstGeom>
          <a:solidFill>
            <a:srgbClr val="FFFFFF"/>
          </a:solidFill>
          <a:ln w="9525">
            <a:solidFill>
              <a:srgbClr val="C9D5CE"/>
            </a:solidFill>
            <a:prstDash val="solid"/>
          </a:ln>
        </p:spPr>
      </p:sp>
      <p:sp>
        <p:nvSpPr>
          <p:cNvPr id="37" name="Text 35"/>
          <p:cNvSpPr txBox="1"/>
          <p:nvPr/>
        </p:nvSpPr>
        <p:spPr>
          <a:xfrm>
            <a:off x="7150608" y="4956048"/>
            <a:ext cx="1920240" cy="502920"/>
          </a:xfrm>
          <a:prstGeom prst="rect">
            <a:avLst/>
          </a:prstGeom>
          <a:noFill/>
          <a:ln/>
        </p:spPr>
        <p:txBody>
          <a:bodyPr wrap="square" lIns="0" tIns="0" rIns="0" bIns="0" rtlCol="0" anchor="t"/>
          <a:lstStyle/>
          <a:p>
            <a:pPr indent="0" marL="0">
              <a:buNone/>
            </a:pPr>
            <a:r>
              <a:rPr lang="en-US" sz="3000" b="1" dirty="0">
                <a:solidFill>
                  <a:srgbClr val="A85A00"/>
                </a:solidFill>
                <a:latin typeface="Cambria" pitchFamily="34" charset="0"/>
                <a:ea typeface="Cambria" pitchFamily="34" charset="-122"/>
                <a:cs typeface="Cambria" pitchFamily="34" charset="-120"/>
              </a:rPr>
              <a:t>0</a:t>
            </a:r>
            <a:endParaRPr lang="en-US" sz="3000" dirty="0"/>
          </a:p>
        </p:txBody>
      </p:sp>
      <p:sp>
        <p:nvSpPr>
          <p:cNvPr id="38" name="Text 36"/>
          <p:cNvSpPr txBox="1"/>
          <p:nvPr/>
        </p:nvSpPr>
        <p:spPr>
          <a:xfrm>
            <a:off x="7150608" y="5468112"/>
            <a:ext cx="1938528" cy="566928"/>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Chrome extensions score Kenyan grocery sites (competitive scan, June 2026)</a:t>
            </a:r>
            <a:endParaRPr lang="en-US" sz="1000" dirty="0"/>
          </a:p>
        </p:txBody>
      </p:sp>
      <p:sp>
        <p:nvSpPr>
          <p:cNvPr id="39" name="Shape 37"/>
          <p:cNvSpPr/>
          <p:nvPr/>
        </p:nvSpPr>
        <p:spPr>
          <a:xfrm>
            <a:off x="9400032" y="4892040"/>
            <a:ext cx="2240280" cy="1188720"/>
          </a:xfrm>
          <a:prstGeom prst="roundRect">
            <a:avLst>
              <a:gd name="adj" fmla="val 6154"/>
            </a:avLst>
          </a:prstGeom>
          <a:solidFill>
            <a:srgbClr val="FFFFFF"/>
          </a:solidFill>
          <a:ln w="9525">
            <a:solidFill>
              <a:srgbClr val="C9D5CE"/>
            </a:solidFill>
            <a:prstDash val="solid"/>
          </a:ln>
        </p:spPr>
      </p:sp>
      <p:sp>
        <p:nvSpPr>
          <p:cNvPr id="40" name="Text 38"/>
          <p:cNvSpPr txBox="1"/>
          <p:nvPr/>
        </p:nvSpPr>
        <p:spPr>
          <a:xfrm>
            <a:off x="9564624" y="4956048"/>
            <a:ext cx="1920240" cy="502920"/>
          </a:xfrm>
          <a:prstGeom prst="rect">
            <a:avLst/>
          </a:prstGeom>
          <a:noFill/>
          <a:ln/>
        </p:spPr>
        <p:txBody>
          <a:bodyPr wrap="square" lIns="0" tIns="0" rIns="0" bIns="0" rtlCol="0" anchor="t"/>
          <a:lstStyle/>
          <a:p>
            <a:pPr indent="0" marL="0">
              <a:buNone/>
            </a:pPr>
            <a:r>
              <a:rPr lang="en-US" sz="3000" b="1" dirty="0">
                <a:solidFill>
                  <a:srgbClr val="A85A00"/>
                </a:solidFill>
                <a:latin typeface="Cambria" pitchFamily="34" charset="0"/>
                <a:ea typeface="Cambria" pitchFamily="34" charset="-122"/>
                <a:cs typeface="Cambria" pitchFamily="34" charset="-120"/>
              </a:rPr>
              <a:t>23.8%</a:t>
            </a:r>
            <a:endParaRPr lang="en-US" sz="3000" dirty="0"/>
          </a:p>
        </p:txBody>
      </p:sp>
      <p:sp>
        <p:nvSpPr>
          <p:cNvPr id="41" name="Text 39"/>
          <p:cNvSpPr txBox="1"/>
          <p:nvPr/>
        </p:nvSpPr>
        <p:spPr>
          <a:xfrm>
            <a:off x="9564624" y="5468112"/>
            <a:ext cx="1938528" cy="566928"/>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of Kenyan adults have raised blood pressure (STEPS 2015)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PART 1 · ASSIGNMENT 1 · PROBLEM VALIDATION · SECTION 4</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Three unproven beliefs decide whether this problem is real</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Interview questions follow the Assignment 1 guidance. None of them mentions or demonstrates the tool.</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4 / 13</a:t>
            </a:r>
            <a:endParaRPr lang="en-US" sz="900" dirty="0"/>
          </a:p>
        </p:txBody>
      </p:sp>
      <p:sp>
        <p:nvSpPr>
          <p:cNvPr id="12" name="Shape 10"/>
          <p:cNvSpPr/>
          <p:nvPr/>
        </p:nvSpPr>
        <p:spPr>
          <a:xfrm>
            <a:off x="548640" y="1508760"/>
            <a:ext cx="3566160" cy="3520440"/>
          </a:xfrm>
          <a:prstGeom prst="roundRect">
            <a:avLst>
              <a:gd name="adj" fmla="val 2078"/>
            </a:avLst>
          </a:prstGeom>
          <a:solidFill>
            <a:srgbClr val="FFFFFF"/>
          </a:solidFill>
          <a:ln w="9525">
            <a:solidFill>
              <a:srgbClr val="C9D5CE"/>
            </a:solidFill>
            <a:prstDash val="solid"/>
          </a:ln>
        </p:spPr>
      </p:sp>
      <p:sp>
        <p:nvSpPr>
          <p:cNvPr id="13" name="Shape 11"/>
          <p:cNvSpPr/>
          <p:nvPr/>
        </p:nvSpPr>
        <p:spPr>
          <a:xfrm>
            <a:off x="777240" y="1709928"/>
            <a:ext cx="457200" cy="457200"/>
          </a:xfrm>
          <a:prstGeom prst="ellipse">
            <a:avLst/>
          </a:prstGeom>
          <a:solidFill>
            <a:srgbClr val="154B36"/>
          </a:solidFill>
          <a:ln/>
        </p:spPr>
      </p:sp>
      <p:sp>
        <p:nvSpPr>
          <p:cNvPr id="14" name="Text 12"/>
          <p:cNvSpPr txBox="1"/>
          <p:nvPr/>
        </p:nvSpPr>
        <p:spPr>
          <a:xfrm>
            <a:off x="777240" y="1709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5" name="Text 13"/>
          <p:cNvSpPr txBox="1"/>
          <p:nvPr/>
        </p:nvSpPr>
        <p:spPr>
          <a:xfrm>
            <a:off x="1371600" y="1709928"/>
            <a:ext cx="2560320" cy="457200"/>
          </a:xfrm>
          <a:prstGeom prst="rect">
            <a:avLst/>
          </a:prstGeom>
          <a:noFill/>
          <a:ln/>
        </p:spPr>
        <p:txBody>
          <a:bodyPr wrap="square" lIns="0" tIns="0" rIns="0" bIns="0" rtlCol="0" anchor="ctr"/>
          <a:lstStyle/>
          <a:p>
            <a:pPr indent="0" marL="0">
              <a:buNone/>
            </a:pPr>
            <a:r>
              <a:rPr lang="en-US" sz="1500" b="1" dirty="0">
                <a:solidFill>
                  <a:srgbClr val="154B36"/>
                </a:solidFill>
                <a:latin typeface="Cambria" pitchFamily="34" charset="0"/>
                <a:ea typeface="Cambria" pitchFamily="34" charset="-122"/>
                <a:cs typeface="Cambria" pitchFamily="34" charset="-120"/>
              </a:rPr>
              <a:t>Need at the cart</a:t>
            </a:r>
            <a:endParaRPr lang="en-US" sz="1500" dirty="0"/>
          </a:p>
        </p:txBody>
      </p:sp>
      <p:sp>
        <p:nvSpPr>
          <p:cNvPr id="16" name="Text 14"/>
          <p:cNvSpPr txBox="1"/>
          <p:nvPr/>
        </p:nvSpPr>
        <p:spPr>
          <a:xfrm>
            <a:off x="777240" y="2377440"/>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BELIEVE</a:t>
            </a:r>
            <a:endParaRPr lang="en-US" sz="1000" dirty="0"/>
          </a:p>
        </p:txBody>
      </p:sp>
      <p:sp>
        <p:nvSpPr>
          <p:cNvPr id="17" name="Text 15"/>
          <p:cNvSpPr txBox="1"/>
          <p:nvPr/>
        </p:nvSpPr>
        <p:spPr>
          <a:xfrm>
            <a:off x="777240" y="2606040"/>
            <a:ext cx="3108960" cy="86868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At the cart, shoppers cannot tell whether a product fits their sugar, salt or fat limits.</a:t>
            </a:r>
            <a:endParaRPr lang="en-US" sz="1200" dirty="0"/>
          </a:p>
        </p:txBody>
      </p:sp>
      <p:sp>
        <p:nvSpPr>
          <p:cNvPr id="18" name="Text 16"/>
          <p:cNvSpPr txBox="1"/>
          <p:nvPr/>
        </p:nvSpPr>
        <p:spPr>
          <a:xfrm>
            <a:off x="777240" y="349300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19" name="Text 17"/>
          <p:cNvSpPr txBox="1"/>
          <p:nvPr/>
        </p:nvSpPr>
        <p:spPr>
          <a:xfrm>
            <a:off x="777240" y="3721608"/>
            <a:ext cx="3108960" cy="5029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They already know what to buy, or they do not check nutrition when shopping online.</a:t>
            </a:r>
            <a:endParaRPr lang="en-US" sz="1150" dirty="0"/>
          </a:p>
        </p:txBody>
      </p:sp>
      <p:sp>
        <p:nvSpPr>
          <p:cNvPr id="20" name="Text 18"/>
          <p:cNvSpPr txBox="1"/>
          <p:nvPr/>
        </p:nvSpPr>
        <p:spPr>
          <a:xfrm>
            <a:off x="777240" y="4224528"/>
            <a:ext cx="3108960" cy="201168"/>
          </a:xfrm>
          <a:prstGeom prst="rect">
            <a:avLst/>
          </a:prstGeom>
          <a:noFill/>
          <a:ln/>
        </p:spPr>
        <p:txBody>
          <a:bodyPr wrap="square" lIns="0" tIns="0" rIns="0" bIns="0" rtlCol="0" anchor="t"/>
          <a:lstStyle/>
          <a:p>
            <a:pPr indent="0" marL="0">
              <a:buNone/>
            </a:pPr>
            <a:r>
              <a:rPr lang="en-US" sz="1000" b="1" spc="150" kern="0" dirty="0">
                <a:solidFill>
                  <a:srgbClr val="038141"/>
                </a:solidFill>
                <a:latin typeface="Calibri" pitchFamily="34" charset="0"/>
                <a:ea typeface="Calibri" pitchFamily="34" charset="-122"/>
                <a:cs typeface="Calibri" pitchFamily="34" charset="-120"/>
              </a:rPr>
              <a:t>ASK</a:t>
            </a:r>
            <a:endParaRPr lang="en-US" sz="1000" dirty="0"/>
          </a:p>
        </p:txBody>
      </p:sp>
      <p:sp>
        <p:nvSpPr>
          <p:cNvPr id="21" name="Text 19"/>
          <p:cNvSpPr txBox="1"/>
          <p:nvPr/>
        </p:nvSpPr>
        <p:spPr>
          <a:xfrm>
            <a:off x="777240" y="4443984"/>
            <a:ext cx="3108960" cy="548640"/>
          </a:xfrm>
          <a:prstGeom prst="rect">
            <a:avLst/>
          </a:prstGeom>
          <a:noFill/>
          <a:ln/>
        </p:spPr>
        <p:txBody>
          <a:bodyPr wrap="square" lIns="0" tIns="0" rIns="0" bIns="0" rtlCol="0" anchor="t"/>
          <a:lstStyle/>
          <a:p>
            <a:pPr indent="0" marL="0">
              <a:buNone/>
            </a:pPr>
            <a:r>
              <a:rPr lang="en-US" sz="1050" i="1" dirty="0">
                <a:solidFill>
                  <a:srgbClr val="5C6B63"/>
                </a:solidFill>
                <a:latin typeface="Calibri" pitchFamily="34" charset="0"/>
                <a:ea typeface="Calibri" pitchFamily="34" charset="-122"/>
                <a:cs typeface="Calibri" pitchFamily="34" charset="-120"/>
              </a:rPr>
              <a:t>“Tell me about the last time you did your grocery shop online. What happened?”</a:t>
            </a:r>
            <a:endParaRPr lang="en-US" sz="1050" dirty="0"/>
          </a:p>
        </p:txBody>
      </p:sp>
      <p:sp>
        <p:nvSpPr>
          <p:cNvPr id="22" name="Shape 20"/>
          <p:cNvSpPr/>
          <p:nvPr/>
        </p:nvSpPr>
        <p:spPr>
          <a:xfrm>
            <a:off x="4315968" y="1508760"/>
            <a:ext cx="3566160" cy="3520440"/>
          </a:xfrm>
          <a:prstGeom prst="roundRect">
            <a:avLst>
              <a:gd name="adj" fmla="val 2078"/>
            </a:avLst>
          </a:prstGeom>
          <a:solidFill>
            <a:srgbClr val="FFFFFF"/>
          </a:solidFill>
          <a:ln w="9525">
            <a:solidFill>
              <a:srgbClr val="C9D5CE"/>
            </a:solidFill>
            <a:prstDash val="solid"/>
          </a:ln>
        </p:spPr>
      </p:sp>
      <p:sp>
        <p:nvSpPr>
          <p:cNvPr id="23" name="Shape 21"/>
          <p:cNvSpPr/>
          <p:nvPr/>
        </p:nvSpPr>
        <p:spPr>
          <a:xfrm>
            <a:off x="4544568" y="1709928"/>
            <a:ext cx="457200" cy="457200"/>
          </a:xfrm>
          <a:prstGeom prst="ellipse">
            <a:avLst/>
          </a:prstGeom>
          <a:solidFill>
            <a:srgbClr val="154B36"/>
          </a:solidFill>
          <a:ln/>
        </p:spPr>
      </p:sp>
      <p:sp>
        <p:nvSpPr>
          <p:cNvPr id="24" name="Text 22"/>
          <p:cNvSpPr txBox="1"/>
          <p:nvPr/>
        </p:nvSpPr>
        <p:spPr>
          <a:xfrm>
            <a:off x="4544568" y="1709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5" name="Text 23"/>
          <p:cNvSpPr txBox="1"/>
          <p:nvPr/>
        </p:nvSpPr>
        <p:spPr>
          <a:xfrm>
            <a:off x="5138928" y="1709928"/>
            <a:ext cx="2560320" cy="457200"/>
          </a:xfrm>
          <a:prstGeom prst="rect">
            <a:avLst/>
          </a:prstGeom>
          <a:noFill/>
          <a:ln/>
        </p:spPr>
        <p:txBody>
          <a:bodyPr wrap="square" lIns="0" tIns="0" rIns="0" bIns="0" rtlCol="0" anchor="ctr"/>
          <a:lstStyle/>
          <a:p>
            <a:pPr indent="0" marL="0">
              <a:buNone/>
            </a:pPr>
            <a:r>
              <a:rPr lang="en-US" sz="1500" b="1" dirty="0">
                <a:solidFill>
                  <a:srgbClr val="154B36"/>
                </a:solidFill>
                <a:latin typeface="Cambria" pitchFamily="34" charset="0"/>
                <a:ea typeface="Cambria" pitchFamily="34" charset="-122"/>
                <a:cs typeface="Cambria" pitchFamily="34" charset="-120"/>
              </a:rPr>
              <a:t>Today’s fix falls short</a:t>
            </a:r>
            <a:endParaRPr lang="en-US" sz="1500" dirty="0"/>
          </a:p>
        </p:txBody>
      </p:sp>
      <p:sp>
        <p:nvSpPr>
          <p:cNvPr id="26" name="Text 24"/>
          <p:cNvSpPr txBox="1"/>
          <p:nvPr/>
        </p:nvSpPr>
        <p:spPr>
          <a:xfrm>
            <a:off x="4544568" y="2377440"/>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BELIEVE</a:t>
            </a:r>
            <a:endParaRPr lang="en-US" sz="1000" dirty="0"/>
          </a:p>
        </p:txBody>
      </p:sp>
      <p:sp>
        <p:nvSpPr>
          <p:cNvPr id="27" name="Text 25"/>
          <p:cNvSpPr txBox="1"/>
          <p:nvPr/>
        </p:nvSpPr>
        <p:spPr>
          <a:xfrm>
            <a:off x="4544568" y="2606040"/>
            <a:ext cx="3108960" cy="86868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Current workarounds (reading packs, memorised rules, asking others) cost time or stress and still lead to wrong choices.</a:t>
            </a:r>
            <a:endParaRPr lang="en-US" sz="1200" dirty="0"/>
          </a:p>
        </p:txBody>
      </p:sp>
      <p:sp>
        <p:nvSpPr>
          <p:cNvPr id="28" name="Text 26"/>
          <p:cNvSpPr txBox="1"/>
          <p:nvPr/>
        </p:nvSpPr>
        <p:spPr>
          <a:xfrm>
            <a:off x="4544568" y="349300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29" name="Text 27"/>
          <p:cNvSpPr txBox="1"/>
          <p:nvPr/>
        </p:nvSpPr>
        <p:spPr>
          <a:xfrm>
            <a:off x="4544568" y="3721608"/>
            <a:ext cx="3108960" cy="5029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Their workaround is quick and reliable, and they are satisfied with it.</a:t>
            </a:r>
            <a:endParaRPr lang="en-US" sz="1150" dirty="0"/>
          </a:p>
        </p:txBody>
      </p:sp>
      <p:sp>
        <p:nvSpPr>
          <p:cNvPr id="30" name="Text 28"/>
          <p:cNvSpPr txBox="1"/>
          <p:nvPr/>
        </p:nvSpPr>
        <p:spPr>
          <a:xfrm>
            <a:off x="4544568" y="4224528"/>
            <a:ext cx="3108960" cy="201168"/>
          </a:xfrm>
          <a:prstGeom prst="rect">
            <a:avLst/>
          </a:prstGeom>
          <a:noFill/>
          <a:ln/>
        </p:spPr>
        <p:txBody>
          <a:bodyPr wrap="square" lIns="0" tIns="0" rIns="0" bIns="0" rtlCol="0" anchor="t"/>
          <a:lstStyle/>
          <a:p>
            <a:pPr indent="0" marL="0">
              <a:buNone/>
            </a:pPr>
            <a:r>
              <a:rPr lang="en-US" sz="1000" b="1" spc="150" kern="0" dirty="0">
                <a:solidFill>
                  <a:srgbClr val="038141"/>
                </a:solidFill>
                <a:latin typeface="Calibri" pitchFamily="34" charset="0"/>
                <a:ea typeface="Calibri" pitchFamily="34" charset="-122"/>
                <a:cs typeface="Calibri" pitchFamily="34" charset="-120"/>
              </a:rPr>
              <a:t>ASK</a:t>
            </a:r>
            <a:endParaRPr lang="en-US" sz="1000" dirty="0"/>
          </a:p>
        </p:txBody>
      </p:sp>
      <p:sp>
        <p:nvSpPr>
          <p:cNvPr id="31" name="Text 29"/>
          <p:cNvSpPr txBox="1"/>
          <p:nvPr/>
        </p:nvSpPr>
        <p:spPr>
          <a:xfrm>
            <a:off x="4544568" y="4443984"/>
            <a:ext cx="3108960" cy="548640"/>
          </a:xfrm>
          <a:prstGeom prst="rect">
            <a:avLst/>
          </a:prstGeom>
          <a:noFill/>
          <a:ln/>
        </p:spPr>
        <p:txBody>
          <a:bodyPr wrap="square" lIns="0" tIns="0" rIns="0" bIns="0" rtlCol="0" anchor="t"/>
          <a:lstStyle/>
          <a:p>
            <a:pPr indent="0" marL="0">
              <a:buNone/>
            </a:pPr>
            <a:r>
              <a:rPr lang="en-US" sz="1050" i="1" dirty="0">
                <a:solidFill>
                  <a:srgbClr val="5C6B63"/>
                </a:solidFill>
                <a:latin typeface="Calibri" pitchFamily="34" charset="0"/>
                <a:ea typeface="Calibri" pitchFamily="34" charset="-122"/>
                <a:cs typeface="Calibri" pitchFamily="34" charset="-120"/>
              </a:rPr>
              <a:t>“How are you dealing with it now? What does it cost you in time, money, effort or stress?”</a:t>
            </a:r>
            <a:endParaRPr lang="en-US" sz="1050" dirty="0"/>
          </a:p>
        </p:txBody>
      </p:sp>
      <p:sp>
        <p:nvSpPr>
          <p:cNvPr id="32" name="Shape 30"/>
          <p:cNvSpPr/>
          <p:nvPr/>
        </p:nvSpPr>
        <p:spPr>
          <a:xfrm>
            <a:off x="8083296" y="1508760"/>
            <a:ext cx="3566160" cy="3520440"/>
          </a:xfrm>
          <a:prstGeom prst="roundRect">
            <a:avLst>
              <a:gd name="adj" fmla="val 2078"/>
            </a:avLst>
          </a:prstGeom>
          <a:solidFill>
            <a:srgbClr val="FFFFFF"/>
          </a:solidFill>
          <a:ln w="9525">
            <a:solidFill>
              <a:srgbClr val="C9D5CE"/>
            </a:solidFill>
            <a:prstDash val="solid"/>
          </a:ln>
        </p:spPr>
      </p:sp>
      <p:sp>
        <p:nvSpPr>
          <p:cNvPr id="33" name="Shape 31"/>
          <p:cNvSpPr/>
          <p:nvPr/>
        </p:nvSpPr>
        <p:spPr>
          <a:xfrm>
            <a:off x="8311896" y="1709928"/>
            <a:ext cx="457200" cy="457200"/>
          </a:xfrm>
          <a:prstGeom prst="ellipse">
            <a:avLst/>
          </a:prstGeom>
          <a:solidFill>
            <a:srgbClr val="154B36"/>
          </a:solidFill>
          <a:ln/>
        </p:spPr>
      </p:sp>
      <p:sp>
        <p:nvSpPr>
          <p:cNvPr id="34" name="Text 32"/>
          <p:cNvSpPr txBox="1"/>
          <p:nvPr/>
        </p:nvSpPr>
        <p:spPr>
          <a:xfrm>
            <a:off x="8311896" y="1709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35" name="Text 33"/>
          <p:cNvSpPr txBox="1"/>
          <p:nvPr/>
        </p:nvSpPr>
        <p:spPr>
          <a:xfrm>
            <a:off x="8906256" y="1709928"/>
            <a:ext cx="2560320" cy="457200"/>
          </a:xfrm>
          <a:prstGeom prst="rect">
            <a:avLst/>
          </a:prstGeom>
          <a:noFill/>
          <a:ln/>
        </p:spPr>
        <p:txBody>
          <a:bodyPr wrap="square" lIns="0" tIns="0" rIns="0" bIns="0" rtlCol="0" anchor="ctr"/>
          <a:lstStyle/>
          <a:p>
            <a:pPr indent="0" marL="0">
              <a:buNone/>
            </a:pPr>
            <a:r>
              <a:rPr lang="en-US" sz="1500" b="1" dirty="0">
                <a:solidFill>
                  <a:srgbClr val="154B36"/>
                </a:solidFill>
                <a:latin typeface="Cambria" pitchFamily="34" charset="0"/>
                <a:ea typeface="Cambria" pitchFamily="34" charset="-122"/>
                <a:cs typeface="Cambria" pitchFamily="34" charset="-120"/>
              </a:rPr>
              <a:t>Channel and trust</a:t>
            </a:r>
            <a:endParaRPr lang="en-US" sz="1500" dirty="0"/>
          </a:p>
        </p:txBody>
      </p:sp>
      <p:sp>
        <p:nvSpPr>
          <p:cNvPr id="36" name="Text 34"/>
          <p:cNvSpPr txBox="1"/>
          <p:nvPr/>
        </p:nvSpPr>
        <p:spPr>
          <a:xfrm>
            <a:off x="8311896" y="2377440"/>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BELIEVE</a:t>
            </a:r>
            <a:endParaRPr lang="en-US" sz="1000" dirty="0"/>
          </a:p>
        </p:txBody>
      </p:sp>
      <p:sp>
        <p:nvSpPr>
          <p:cNvPr id="37" name="Text 35"/>
          <p:cNvSpPr txBox="1"/>
          <p:nvPr/>
        </p:nvSpPr>
        <p:spPr>
          <a:xfrm>
            <a:off x="8311896" y="2606040"/>
            <a:ext cx="3108960" cy="86868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They shop groceries in a desktop browser, not only in an app, and lean on outside sources to judge a food product.</a:t>
            </a:r>
            <a:endParaRPr lang="en-US" sz="1200" dirty="0"/>
          </a:p>
        </p:txBody>
      </p:sp>
      <p:sp>
        <p:nvSpPr>
          <p:cNvPr id="38" name="Text 36"/>
          <p:cNvSpPr txBox="1"/>
          <p:nvPr/>
        </p:nvSpPr>
        <p:spPr>
          <a:xfrm>
            <a:off x="8311896" y="349300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39" name="Text 37"/>
          <p:cNvSpPr txBox="1"/>
          <p:nvPr/>
        </p:nvSpPr>
        <p:spPr>
          <a:xfrm>
            <a:off x="8311896" y="3721608"/>
            <a:ext cx="3108960" cy="5029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They shop mostly in a retailer’s phone app, or trust only brand and pack claims.</a:t>
            </a:r>
            <a:endParaRPr lang="en-US" sz="1150" dirty="0"/>
          </a:p>
        </p:txBody>
      </p:sp>
      <p:sp>
        <p:nvSpPr>
          <p:cNvPr id="40" name="Text 38"/>
          <p:cNvSpPr txBox="1"/>
          <p:nvPr/>
        </p:nvSpPr>
        <p:spPr>
          <a:xfrm>
            <a:off x="8311896" y="4224528"/>
            <a:ext cx="3108960" cy="201168"/>
          </a:xfrm>
          <a:prstGeom prst="rect">
            <a:avLst/>
          </a:prstGeom>
          <a:noFill/>
          <a:ln/>
        </p:spPr>
        <p:txBody>
          <a:bodyPr wrap="square" lIns="0" tIns="0" rIns="0" bIns="0" rtlCol="0" anchor="t"/>
          <a:lstStyle/>
          <a:p>
            <a:pPr indent="0" marL="0">
              <a:buNone/>
            </a:pPr>
            <a:r>
              <a:rPr lang="en-US" sz="1000" b="1" spc="150" kern="0" dirty="0">
                <a:solidFill>
                  <a:srgbClr val="038141"/>
                </a:solidFill>
                <a:latin typeface="Calibri" pitchFamily="34" charset="0"/>
                <a:ea typeface="Calibri" pitchFamily="34" charset="-122"/>
                <a:cs typeface="Calibri" pitchFamily="34" charset="-120"/>
              </a:rPr>
              <a:t>ASK</a:t>
            </a:r>
            <a:endParaRPr lang="en-US" sz="1000" dirty="0"/>
          </a:p>
        </p:txBody>
      </p:sp>
      <p:sp>
        <p:nvSpPr>
          <p:cNvPr id="41" name="Text 39"/>
          <p:cNvSpPr txBox="1"/>
          <p:nvPr/>
        </p:nvSpPr>
        <p:spPr>
          <a:xfrm>
            <a:off x="8311896" y="4443984"/>
            <a:ext cx="3108960" cy="548640"/>
          </a:xfrm>
          <a:prstGeom prst="rect">
            <a:avLst/>
          </a:prstGeom>
          <a:noFill/>
          <a:ln/>
        </p:spPr>
        <p:txBody>
          <a:bodyPr wrap="square" lIns="0" tIns="0" rIns="0" bIns="0" rtlCol="0" anchor="t"/>
          <a:lstStyle/>
          <a:p>
            <a:pPr indent="0" marL="0">
              <a:buNone/>
            </a:pPr>
            <a:r>
              <a:rPr lang="en-US" sz="1050" i="1" dirty="0">
                <a:solidFill>
                  <a:srgbClr val="5C6B63"/>
                </a:solidFill>
                <a:latin typeface="Calibri" pitchFamily="34" charset="0"/>
                <a:ea typeface="Calibri" pitchFamily="34" charset="-122"/>
                <a:cs typeface="Calibri" pitchFamily="34" charset="-120"/>
              </a:rPr>
              <a:t>“Which device and site or app do you use? How do you decide what to trust about a food product?”</a:t>
            </a:r>
            <a:endParaRPr lang="en-US" sz="1050" dirty="0"/>
          </a:p>
        </p:txBody>
      </p:sp>
      <p:sp>
        <p:nvSpPr>
          <p:cNvPr id="42" name="Shape 40"/>
          <p:cNvSpPr/>
          <p:nvPr/>
        </p:nvSpPr>
        <p:spPr>
          <a:xfrm>
            <a:off x="548640" y="5193792"/>
            <a:ext cx="11091672" cy="896112"/>
          </a:xfrm>
          <a:prstGeom prst="roundRect">
            <a:avLst>
              <a:gd name="adj" fmla="val 8163"/>
            </a:avLst>
          </a:prstGeom>
          <a:solidFill>
            <a:srgbClr val="154B36"/>
          </a:solidFill>
          <a:ln/>
        </p:spPr>
      </p:sp>
      <p:sp>
        <p:nvSpPr>
          <p:cNvPr id="43" name="Text 41"/>
          <p:cNvSpPr txBox="1"/>
          <p:nvPr/>
        </p:nvSpPr>
        <p:spPr>
          <a:xfrm>
            <a:off x="822960" y="5358384"/>
            <a:ext cx="251460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Do not pitch</a:t>
            </a:r>
            <a:endParaRPr lang="en-US" sz="1300" dirty="0"/>
          </a:p>
        </p:txBody>
      </p:sp>
      <p:sp>
        <p:nvSpPr>
          <p:cNvPr id="44" name="Text 42"/>
          <p:cNvSpPr txBox="1"/>
          <p:nvPr/>
        </p:nvSpPr>
        <p:spPr>
          <a:xfrm>
            <a:off x="822960" y="5669280"/>
            <a:ext cx="2514600" cy="36576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Understand the problem, not sell the idea</a:t>
            </a:r>
            <a:endParaRPr lang="en-US" sz="1050" dirty="0"/>
          </a:p>
        </p:txBody>
      </p:sp>
      <p:sp>
        <p:nvSpPr>
          <p:cNvPr id="45" name="Text 43"/>
          <p:cNvSpPr txBox="1"/>
          <p:nvPr/>
        </p:nvSpPr>
        <p:spPr>
          <a:xfrm>
            <a:off x="3547872" y="5358384"/>
            <a:ext cx="251460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At least 3 people</a:t>
            </a:r>
            <a:endParaRPr lang="en-US" sz="1300" dirty="0"/>
          </a:p>
        </p:txBody>
      </p:sp>
      <p:sp>
        <p:nvSpPr>
          <p:cNvPr id="46" name="Text 44"/>
          <p:cNvSpPr txBox="1"/>
          <p:nvPr/>
        </p:nvSpPr>
        <p:spPr>
          <a:xfrm>
            <a:off x="3547872" y="5669280"/>
            <a:ext cx="2514600" cy="36576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Who genuinely live the problem</a:t>
            </a:r>
            <a:endParaRPr lang="en-US" sz="1050" dirty="0"/>
          </a:p>
        </p:txBody>
      </p:sp>
      <p:sp>
        <p:nvSpPr>
          <p:cNvPr id="47" name="Text 45"/>
          <p:cNvSpPr txBox="1"/>
          <p:nvPr/>
        </p:nvSpPr>
        <p:spPr>
          <a:xfrm>
            <a:off x="6272784" y="5358384"/>
            <a:ext cx="251460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Ask for the last time</a:t>
            </a:r>
            <a:endParaRPr lang="en-US" sz="1300" dirty="0"/>
          </a:p>
        </p:txBody>
      </p:sp>
      <p:sp>
        <p:nvSpPr>
          <p:cNvPr id="48" name="Text 46"/>
          <p:cNvSpPr txBox="1"/>
          <p:nvPr/>
        </p:nvSpPr>
        <p:spPr>
          <a:xfrm>
            <a:off x="6272784" y="5669280"/>
            <a:ext cx="2514600" cy="36576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Stories beat opinions</a:t>
            </a:r>
            <a:endParaRPr lang="en-US" sz="1050" dirty="0"/>
          </a:p>
        </p:txBody>
      </p:sp>
      <p:sp>
        <p:nvSpPr>
          <p:cNvPr id="49" name="Text 47"/>
          <p:cNvSpPr txBox="1"/>
          <p:nvPr/>
        </p:nvSpPr>
        <p:spPr>
          <a:xfrm>
            <a:off x="8997696" y="5358384"/>
            <a:ext cx="251460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Anonymise</a:t>
            </a:r>
            <a:endParaRPr lang="en-US" sz="1300" dirty="0"/>
          </a:p>
        </p:txBody>
      </p:sp>
      <p:sp>
        <p:nvSpPr>
          <p:cNvPr id="50" name="Text 48"/>
          <p:cNvSpPr txBox="1"/>
          <p:nvPr/>
        </p:nvSpPr>
        <p:spPr>
          <a:xfrm>
            <a:off x="8997696" y="5669280"/>
            <a:ext cx="2514600" cy="36576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P1, P2, P3. No names, no diagnoses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PART 1 · ASSIGNMENT 1 · PROBLEM VALIDATION · SECTIONS 5–6</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Evidence: what three shoppers do, what frustrates them, how they cope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Anonymise every participant. Record no names, diagnoses or other sensitive health details. Desk evidence for the hypothesis is in the appendix.</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5 / 13</a:t>
            </a:r>
            <a:endParaRPr lang="en-US" sz="900" dirty="0"/>
          </a:p>
        </p:txBody>
      </p:sp>
      <p:sp>
        <p:nvSpPr>
          <p:cNvPr id="12" name="Shape 10"/>
          <p:cNvSpPr/>
          <p:nvPr/>
        </p:nvSpPr>
        <p:spPr>
          <a:xfrm>
            <a:off x="2011680" y="1508760"/>
            <a:ext cx="1938528" cy="548640"/>
          </a:xfrm>
          <a:prstGeom prst="roundRect">
            <a:avLst>
              <a:gd name="adj" fmla="val 10000"/>
            </a:avLst>
          </a:prstGeom>
          <a:solidFill>
            <a:srgbClr val="154B36"/>
          </a:solidFill>
          <a:ln/>
        </p:spPr>
      </p:sp>
      <p:sp>
        <p:nvSpPr>
          <p:cNvPr id="13" name="Text 11"/>
          <p:cNvSpPr txBox="1"/>
          <p:nvPr/>
        </p:nvSpPr>
        <p:spPr>
          <a:xfrm>
            <a:off x="2121408" y="1527048"/>
            <a:ext cx="1719072" cy="51206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P1</a:t>
            </a:r>
            <a:endParaRPr lang="en-US" sz="1200" dirty="0"/>
          </a:p>
          <a:p>
            <a:pPr indent="0" marL="0">
              <a:buNone/>
            </a:pPr>
            <a:r>
              <a:rPr lang="en-US" sz="950" dirty="0">
                <a:solidFill>
                  <a:srgbClr val="C9D5CE"/>
                </a:solidFill>
                <a:latin typeface="Calibri" pitchFamily="34" charset="0"/>
                <a:ea typeface="Calibri" pitchFamily="34" charset="-122"/>
                <a:cs typeface="Calibri" pitchFamily="34" charset="-120"/>
              </a:rPr>
              <a:t>age band · area · web or app</a:t>
            </a:r>
            <a:endParaRPr lang="en-US" sz="1200" dirty="0"/>
          </a:p>
        </p:txBody>
      </p:sp>
      <p:sp>
        <p:nvSpPr>
          <p:cNvPr id="14" name="Shape 12"/>
          <p:cNvSpPr/>
          <p:nvPr/>
        </p:nvSpPr>
        <p:spPr>
          <a:xfrm>
            <a:off x="4041648" y="1508760"/>
            <a:ext cx="1938528" cy="548640"/>
          </a:xfrm>
          <a:prstGeom prst="roundRect">
            <a:avLst>
              <a:gd name="adj" fmla="val 10000"/>
            </a:avLst>
          </a:prstGeom>
          <a:solidFill>
            <a:srgbClr val="154B36"/>
          </a:solidFill>
          <a:ln/>
        </p:spPr>
      </p:sp>
      <p:sp>
        <p:nvSpPr>
          <p:cNvPr id="15" name="Text 13"/>
          <p:cNvSpPr txBox="1"/>
          <p:nvPr/>
        </p:nvSpPr>
        <p:spPr>
          <a:xfrm>
            <a:off x="4151376" y="1527048"/>
            <a:ext cx="1719072" cy="51206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P2</a:t>
            </a:r>
            <a:endParaRPr lang="en-US" sz="1200" dirty="0"/>
          </a:p>
          <a:p>
            <a:pPr indent="0" marL="0">
              <a:buNone/>
            </a:pPr>
            <a:r>
              <a:rPr lang="en-US" sz="950" dirty="0">
                <a:solidFill>
                  <a:srgbClr val="C9D5CE"/>
                </a:solidFill>
                <a:latin typeface="Calibri" pitchFamily="34" charset="0"/>
                <a:ea typeface="Calibri" pitchFamily="34" charset="-122"/>
                <a:cs typeface="Calibri" pitchFamily="34" charset="-120"/>
              </a:rPr>
              <a:t>age band · area · web or app</a:t>
            </a:r>
            <a:endParaRPr lang="en-US" sz="1200" dirty="0"/>
          </a:p>
        </p:txBody>
      </p:sp>
      <p:sp>
        <p:nvSpPr>
          <p:cNvPr id="16" name="Shape 14"/>
          <p:cNvSpPr/>
          <p:nvPr/>
        </p:nvSpPr>
        <p:spPr>
          <a:xfrm>
            <a:off x="6071616" y="1508760"/>
            <a:ext cx="1938528" cy="548640"/>
          </a:xfrm>
          <a:prstGeom prst="roundRect">
            <a:avLst>
              <a:gd name="adj" fmla="val 10000"/>
            </a:avLst>
          </a:prstGeom>
          <a:solidFill>
            <a:srgbClr val="154B36"/>
          </a:solidFill>
          <a:ln/>
        </p:spPr>
      </p:sp>
      <p:sp>
        <p:nvSpPr>
          <p:cNvPr id="17" name="Text 15"/>
          <p:cNvSpPr txBox="1"/>
          <p:nvPr/>
        </p:nvSpPr>
        <p:spPr>
          <a:xfrm>
            <a:off x="6181344" y="1527048"/>
            <a:ext cx="1719072" cy="51206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P3</a:t>
            </a:r>
            <a:endParaRPr lang="en-US" sz="1200" dirty="0"/>
          </a:p>
          <a:p>
            <a:pPr indent="0" marL="0">
              <a:buNone/>
            </a:pPr>
            <a:r>
              <a:rPr lang="en-US" sz="950" dirty="0">
                <a:solidFill>
                  <a:srgbClr val="C9D5CE"/>
                </a:solidFill>
                <a:latin typeface="Calibri" pitchFamily="34" charset="0"/>
                <a:ea typeface="Calibri" pitchFamily="34" charset="-122"/>
                <a:cs typeface="Calibri" pitchFamily="34" charset="-120"/>
              </a:rPr>
              <a:t>age band · area · web or app</a:t>
            </a:r>
            <a:endParaRPr lang="en-US" sz="1200" dirty="0"/>
          </a:p>
        </p:txBody>
      </p:sp>
      <p:sp>
        <p:nvSpPr>
          <p:cNvPr id="18" name="Text 16"/>
          <p:cNvSpPr txBox="1"/>
          <p:nvPr/>
        </p:nvSpPr>
        <p:spPr>
          <a:xfrm>
            <a:off x="548640" y="2240280"/>
            <a:ext cx="1371600" cy="36576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What they do</a:t>
            </a:r>
            <a:endParaRPr lang="en-US" sz="1150" dirty="0"/>
          </a:p>
        </p:txBody>
      </p:sp>
      <p:sp>
        <p:nvSpPr>
          <p:cNvPr id="19" name="Text 17"/>
          <p:cNvSpPr txBox="1"/>
          <p:nvPr/>
        </p:nvSpPr>
        <p:spPr>
          <a:xfrm>
            <a:off x="548640" y="2606040"/>
            <a:ext cx="1371600" cy="411480"/>
          </a:xfrm>
          <a:prstGeom prst="rect">
            <a:avLst/>
          </a:prstGeom>
          <a:noFill/>
          <a:ln/>
        </p:spPr>
        <p:txBody>
          <a:bodyPr wrap="square" lIns="0" tIns="0" rIns="0" bIns="0" rtlCol="0" anchor="t"/>
          <a:lstStyle/>
          <a:p>
            <a:pPr indent="0" marL="0">
              <a:buNone/>
            </a:pPr>
            <a:r>
              <a:rPr lang="en-US" sz="950" dirty="0">
                <a:solidFill>
                  <a:srgbClr val="5C6B63"/>
                </a:solidFill>
                <a:latin typeface="Calibri" pitchFamily="34" charset="0"/>
                <a:ea typeface="Calibri" pitchFamily="34" charset="-122"/>
                <a:cs typeface="Calibri" pitchFamily="34" charset="-120"/>
              </a:rPr>
              <a:t>Last online shop, step by step</a:t>
            </a:r>
            <a:endParaRPr lang="en-US" sz="950" dirty="0"/>
          </a:p>
        </p:txBody>
      </p:sp>
      <p:sp>
        <p:nvSpPr>
          <p:cNvPr id="20" name="Shape 18"/>
          <p:cNvSpPr/>
          <p:nvPr/>
        </p:nvSpPr>
        <p:spPr>
          <a:xfrm>
            <a:off x="2011680" y="2148840"/>
            <a:ext cx="1938528" cy="896112"/>
          </a:xfrm>
          <a:prstGeom prst="roundRect">
            <a:avLst>
              <a:gd name="adj" fmla="val 6122"/>
            </a:avLst>
          </a:prstGeom>
          <a:solidFill>
            <a:srgbClr val="FDF0DC"/>
          </a:solidFill>
          <a:ln w="12700">
            <a:solidFill>
              <a:srgbClr val="EE8100"/>
            </a:solidFill>
            <a:prstDash val="dash"/>
          </a:ln>
        </p:spPr>
      </p:sp>
      <p:sp>
        <p:nvSpPr>
          <p:cNvPr id="21" name="Text 19"/>
          <p:cNvSpPr txBox="1"/>
          <p:nvPr/>
        </p:nvSpPr>
        <p:spPr>
          <a:xfrm>
            <a:off x="2121408" y="2185416"/>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P1</a:t>
            </a:r>
            <a:endParaRPr lang="en-US" sz="1050" dirty="0"/>
          </a:p>
        </p:txBody>
      </p:sp>
      <p:sp>
        <p:nvSpPr>
          <p:cNvPr id="22" name="Shape 20"/>
          <p:cNvSpPr/>
          <p:nvPr/>
        </p:nvSpPr>
        <p:spPr>
          <a:xfrm>
            <a:off x="4041648" y="2148840"/>
            <a:ext cx="1938528" cy="896112"/>
          </a:xfrm>
          <a:prstGeom prst="roundRect">
            <a:avLst>
              <a:gd name="adj" fmla="val 6122"/>
            </a:avLst>
          </a:prstGeom>
          <a:solidFill>
            <a:srgbClr val="FDF0DC"/>
          </a:solidFill>
          <a:ln w="12700">
            <a:solidFill>
              <a:srgbClr val="EE8100"/>
            </a:solidFill>
            <a:prstDash val="dash"/>
          </a:ln>
        </p:spPr>
      </p:sp>
      <p:sp>
        <p:nvSpPr>
          <p:cNvPr id="23" name="Text 21"/>
          <p:cNvSpPr txBox="1"/>
          <p:nvPr/>
        </p:nvSpPr>
        <p:spPr>
          <a:xfrm>
            <a:off x="4151376" y="2185416"/>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P2</a:t>
            </a:r>
            <a:endParaRPr lang="en-US" sz="1050" dirty="0"/>
          </a:p>
        </p:txBody>
      </p:sp>
      <p:sp>
        <p:nvSpPr>
          <p:cNvPr id="24" name="Shape 22"/>
          <p:cNvSpPr/>
          <p:nvPr/>
        </p:nvSpPr>
        <p:spPr>
          <a:xfrm>
            <a:off x="6071616" y="2148840"/>
            <a:ext cx="1938528" cy="896112"/>
          </a:xfrm>
          <a:prstGeom prst="roundRect">
            <a:avLst>
              <a:gd name="adj" fmla="val 6122"/>
            </a:avLst>
          </a:prstGeom>
          <a:solidFill>
            <a:srgbClr val="FDF0DC"/>
          </a:solidFill>
          <a:ln w="12700">
            <a:solidFill>
              <a:srgbClr val="EE8100"/>
            </a:solidFill>
            <a:prstDash val="dash"/>
          </a:ln>
        </p:spPr>
      </p:sp>
      <p:sp>
        <p:nvSpPr>
          <p:cNvPr id="25" name="Text 23"/>
          <p:cNvSpPr txBox="1"/>
          <p:nvPr/>
        </p:nvSpPr>
        <p:spPr>
          <a:xfrm>
            <a:off x="6181344" y="2185416"/>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P3</a:t>
            </a:r>
            <a:endParaRPr lang="en-US" sz="1050" dirty="0"/>
          </a:p>
        </p:txBody>
      </p:sp>
      <p:sp>
        <p:nvSpPr>
          <p:cNvPr id="26" name="Text 24"/>
          <p:cNvSpPr txBox="1"/>
          <p:nvPr/>
        </p:nvSpPr>
        <p:spPr>
          <a:xfrm>
            <a:off x="548640" y="3227832"/>
            <a:ext cx="1371600" cy="36576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What frustrates them</a:t>
            </a:r>
            <a:endParaRPr lang="en-US" sz="1150" dirty="0"/>
          </a:p>
        </p:txBody>
      </p:sp>
      <p:sp>
        <p:nvSpPr>
          <p:cNvPr id="27" name="Text 25"/>
          <p:cNvSpPr txBox="1"/>
          <p:nvPr/>
        </p:nvSpPr>
        <p:spPr>
          <a:xfrm>
            <a:off x="548640" y="3593592"/>
            <a:ext cx="1371600" cy="411480"/>
          </a:xfrm>
          <a:prstGeom prst="rect">
            <a:avLst/>
          </a:prstGeom>
          <a:noFill/>
          <a:ln/>
        </p:spPr>
        <p:txBody>
          <a:bodyPr wrap="square" lIns="0" tIns="0" rIns="0" bIns="0" rtlCol="0" anchor="t"/>
          <a:lstStyle/>
          <a:p>
            <a:pPr indent="0" marL="0">
              <a:buNone/>
            </a:pPr>
            <a:r>
              <a:rPr lang="en-US" sz="950" dirty="0">
                <a:solidFill>
                  <a:srgbClr val="5C6B63"/>
                </a:solidFill>
                <a:latin typeface="Calibri" pitchFamily="34" charset="0"/>
                <a:ea typeface="Calibri" pitchFamily="34" charset="-122"/>
                <a:cs typeface="Calibri" pitchFamily="34" charset="-120"/>
              </a:rPr>
              <a:t>The hardest moment</a:t>
            </a:r>
            <a:endParaRPr lang="en-US" sz="950" dirty="0"/>
          </a:p>
        </p:txBody>
      </p:sp>
      <p:sp>
        <p:nvSpPr>
          <p:cNvPr id="28" name="Shape 26"/>
          <p:cNvSpPr/>
          <p:nvPr/>
        </p:nvSpPr>
        <p:spPr>
          <a:xfrm>
            <a:off x="2011680" y="3136392"/>
            <a:ext cx="1938528" cy="896112"/>
          </a:xfrm>
          <a:prstGeom prst="roundRect">
            <a:avLst>
              <a:gd name="adj" fmla="val 6122"/>
            </a:avLst>
          </a:prstGeom>
          <a:solidFill>
            <a:srgbClr val="FDF0DC"/>
          </a:solidFill>
          <a:ln w="12700">
            <a:solidFill>
              <a:srgbClr val="EE8100"/>
            </a:solidFill>
            <a:prstDash val="dash"/>
          </a:ln>
        </p:spPr>
      </p:sp>
      <p:sp>
        <p:nvSpPr>
          <p:cNvPr id="29" name="Text 27"/>
          <p:cNvSpPr txBox="1"/>
          <p:nvPr/>
        </p:nvSpPr>
        <p:spPr>
          <a:xfrm>
            <a:off x="2121408" y="3172968"/>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P1</a:t>
            </a:r>
            <a:endParaRPr lang="en-US" sz="1050" dirty="0"/>
          </a:p>
        </p:txBody>
      </p:sp>
      <p:sp>
        <p:nvSpPr>
          <p:cNvPr id="30" name="Shape 28"/>
          <p:cNvSpPr/>
          <p:nvPr/>
        </p:nvSpPr>
        <p:spPr>
          <a:xfrm>
            <a:off x="4041648" y="3136392"/>
            <a:ext cx="1938528" cy="896112"/>
          </a:xfrm>
          <a:prstGeom prst="roundRect">
            <a:avLst>
              <a:gd name="adj" fmla="val 6122"/>
            </a:avLst>
          </a:prstGeom>
          <a:solidFill>
            <a:srgbClr val="FDF0DC"/>
          </a:solidFill>
          <a:ln w="12700">
            <a:solidFill>
              <a:srgbClr val="EE8100"/>
            </a:solidFill>
            <a:prstDash val="dash"/>
          </a:ln>
        </p:spPr>
      </p:sp>
      <p:sp>
        <p:nvSpPr>
          <p:cNvPr id="31" name="Text 29"/>
          <p:cNvSpPr txBox="1"/>
          <p:nvPr/>
        </p:nvSpPr>
        <p:spPr>
          <a:xfrm>
            <a:off x="4151376" y="3172968"/>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P2</a:t>
            </a:r>
            <a:endParaRPr lang="en-US" sz="1050" dirty="0"/>
          </a:p>
        </p:txBody>
      </p:sp>
      <p:sp>
        <p:nvSpPr>
          <p:cNvPr id="32" name="Shape 30"/>
          <p:cNvSpPr/>
          <p:nvPr/>
        </p:nvSpPr>
        <p:spPr>
          <a:xfrm>
            <a:off x="6071616" y="3136392"/>
            <a:ext cx="1938528" cy="896112"/>
          </a:xfrm>
          <a:prstGeom prst="roundRect">
            <a:avLst>
              <a:gd name="adj" fmla="val 6122"/>
            </a:avLst>
          </a:prstGeom>
          <a:solidFill>
            <a:srgbClr val="FDF0DC"/>
          </a:solidFill>
          <a:ln w="12700">
            <a:solidFill>
              <a:srgbClr val="EE8100"/>
            </a:solidFill>
            <a:prstDash val="dash"/>
          </a:ln>
        </p:spPr>
      </p:sp>
      <p:sp>
        <p:nvSpPr>
          <p:cNvPr id="33" name="Text 31"/>
          <p:cNvSpPr txBox="1"/>
          <p:nvPr/>
        </p:nvSpPr>
        <p:spPr>
          <a:xfrm>
            <a:off x="6181344" y="3172968"/>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P3</a:t>
            </a:r>
            <a:endParaRPr lang="en-US" sz="1050" dirty="0"/>
          </a:p>
        </p:txBody>
      </p:sp>
      <p:sp>
        <p:nvSpPr>
          <p:cNvPr id="34" name="Text 32"/>
          <p:cNvSpPr txBox="1"/>
          <p:nvPr/>
        </p:nvSpPr>
        <p:spPr>
          <a:xfrm>
            <a:off x="548640" y="4215384"/>
            <a:ext cx="1371600" cy="36576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How often, and cost</a:t>
            </a:r>
            <a:endParaRPr lang="en-US" sz="1150" dirty="0"/>
          </a:p>
        </p:txBody>
      </p:sp>
      <p:sp>
        <p:nvSpPr>
          <p:cNvPr id="35" name="Text 33"/>
          <p:cNvSpPr txBox="1"/>
          <p:nvPr/>
        </p:nvSpPr>
        <p:spPr>
          <a:xfrm>
            <a:off x="548640" y="4581144"/>
            <a:ext cx="1371600" cy="411480"/>
          </a:xfrm>
          <a:prstGeom prst="rect">
            <a:avLst/>
          </a:prstGeom>
          <a:noFill/>
          <a:ln/>
        </p:spPr>
        <p:txBody>
          <a:bodyPr wrap="square" lIns="0" tIns="0" rIns="0" bIns="0" rtlCol="0" anchor="t"/>
          <a:lstStyle/>
          <a:p>
            <a:pPr indent="0" marL="0">
              <a:buNone/>
            </a:pPr>
            <a:r>
              <a:rPr lang="en-US" sz="950" dirty="0">
                <a:solidFill>
                  <a:srgbClr val="5C6B63"/>
                </a:solidFill>
                <a:latin typeface="Calibri" pitchFamily="34" charset="0"/>
                <a:ea typeface="Calibri" pitchFamily="34" charset="-122"/>
                <a:cs typeface="Calibri" pitchFamily="34" charset="-120"/>
              </a:rPr>
              <a:t>Times a month · time · money · stress</a:t>
            </a:r>
            <a:endParaRPr lang="en-US" sz="950" dirty="0"/>
          </a:p>
        </p:txBody>
      </p:sp>
      <p:sp>
        <p:nvSpPr>
          <p:cNvPr id="36" name="Shape 34"/>
          <p:cNvSpPr/>
          <p:nvPr/>
        </p:nvSpPr>
        <p:spPr>
          <a:xfrm>
            <a:off x="2011680" y="4123944"/>
            <a:ext cx="1938528" cy="896112"/>
          </a:xfrm>
          <a:prstGeom prst="roundRect">
            <a:avLst>
              <a:gd name="adj" fmla="val 6122"/>
            </a:avLst>
          </a:prstGeom>
          <a:solidFill>
            <a:srgbClr val="FDF0DC"/>
          </a:solidFill>
          <a:ln w="12700">
            <a:solidFill>
              <a:srgbClr val="EE8100"/>
            </a:solidFill>
            <a:prstDash val="dash"/>
          </a:ln>
        </p:spPr>
      </p:sp>
      <p:sp>
        <p:nvSpPr>
          <p:cNvPr id="37" name="Text 35"/>
          <p:cNvSpPr txBox="1"/>
          <p:nvPr/>
        </p:nvSpPr>
        <p:spPr>
          <a:xfrm>
            <a:off x="2121408" y="4160520"/>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P1</a:t>
            </a:r>
            <a:endParaRPr lang="en-US" sz="1050" dirty="0"/>
          </a:p>
        </p:txBody>
      </p:sp>
      <p:sp>
        <p:nvSpPr>
          <p:cNvPr id="38" name="Shape 36"/>
          <p:cNvSpPr/>
          <p:nvPr/>
        </p:nvSpPr>
        <p:spPr>
          <a:xfrm>
            <a:off x="4041648" y="4123944"/>
            <a:ext cx="1938528" cy="896112"/>
          </a:xfrm>
          <a:prstGeom prst="roundRect">
            <a:avLst>
              <a:gd name="adj" fmla="val 6122"/>
            </a:avLst>
          </a:prstGeom>
          <a:solidFill>
            <a:srgbClr val="FDF0DC"/>
          </a:solidFill>
          <a:ln w="12700">
            <a:solidFill>
              <a:srgbClr val="EE8100"/>
            </a:solidFill>
            <a:prstDash val="dash"/>
          </a:ln>
        </p:spPr>
      </p:sp>
      <p:sp>
        <p:nvSpPr>
          <p:cNvPr id="39" name="Text 37"/>
          <p:cNvSpPr txBox="1"/>
          <p:nvPr/>
        </p:nvSpPr>
        <p:spPr>
          <a:xfrm>
            <a:off x="4151376" y="4160520"/>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P2</a:t>
            </a:r>
            <a:endParaRPr lang="en-US" sz="1050" dirty="0"/>
          </a:p>
        </p:txBody>
      </p:sp>
      <p:sp>
        <p:nvSpPr>
          <p:cNvPr id="40" name="Shape 38"/>
          <p:cNvSpPr/>
          <p:nvPr/>
        </p:nvSpPr>
        <p:spPr>
          <a:xfrm>
            <a:off x="6071616" y="4123944"/>
            <a:ext cx="1938528" cy="896112"/>
          </a:xfrm>
          <a:prstGeom prst="roundRect">
            <a:avLst>
              <a:gd name="adj" fmla="val 6122"/>
            </a:avLst>
          </a:prstGeom>
          <a:solidFill>
            <a:srgbClr val="FDF0DC"/>
          </a:solidFill>
          <a:ln w="12700">
            <a:solidFill>
              <a:srgbClr val="EE8100"/>
            </a:solidFill>
            <a:prstDash val="dash"/>
          </a:ln>
        </p:spPr>
      </p:sp>
      <p:sp>
        <p:nvSpPr>
          <p:cNvPr id="41" name="Text 39"/>
          <p:cNvSpPr txBox="1"/>
          <p:nvPr/>
        </p:nvSpPr>
        <p:spPr>
          <a:xfrm>
            <a:off x="6181344" y="4160520"/>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P3</a:t>
            </a:r>
            <a:endParaRPr lang="en-US" sz="1050" dirty="0"/>
          </a:p>
        </p:txBody>
      </p:sp>
      <p:sp>
        <p:nvSpPr>
          <p:cNvPr id="42" name="Text 40"/>
          <p:cNvSpPr txBox="1"/>
          <p:nvPr/>
        </p:nvSpPr>
        <p:spPr>
          <a:xfrm>
            <a:off x="548640" y="5202936"/>
            <a:ext cx="1371600" cy="36576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How they cope today</a:t>
            </a:r>
            <a:endParaRPr lang="en-US" sz="1150" dirty="0"/>
          </a:p>
        </p:txBody>
      </p:sp>
      <p:sp>
        <p:nvSpPr>
          <p:cNvPr id="43" name="Text 41"/>
          <p:cNvSpPr txBox="1"/>
          <p:nvPr/>
        </p:nvSpPr>
        <p:spPr>
          <a:xfrm>
            <a:off x="548640" y="5568696"/>
            <a:ext cx="1371600" cy="411480"/>
          </a:xfrm>
          <a:prstGeom prst="rect">
            <a:avLst/>
          </a:prstGeom>
          <a:noFill/>
          <a:ln/>
        </p:spPr>
        <p:txBody>
          <a:bodyPr wrap="square" lIns="0" tIns="0" rIns="0" bIns="0" rtlCol="0" anchor="t"/>
          <a:lstStyle/>
          <a:p>
            <a:pPr indent="0" marL="0">
              <a:buNone/>
            </a:pPr>
            <a:r>
              <a:rPr lang="en-US" sz="950" dirty="0">
                <a:solidFill>
                  <a:srgbClr val="5C6B63"/>
                </a:solidFill>
                <a:latin typeface="Calibri" pitchFamily="34" charset="0"/>
                <a:ea typeface="Calibri" pitchFamily="34" charset="-122"/>
                <a:cs typeface="Calibri" pitchFamily="34" charset="-120"/>
              </a:rPr>
              <a:t>Workaround or what they tried</a:t>
            </a:r>
            <a:endParaRPr lang="en-US" sz="950" dirty="0"/>
          </a:p>
        </p:txBody>
      </p:sp>
      <p:sp>
        <p:nvSpPr>
          <p:cNvPr id="44" name="Shape 42"/>
          <p:cNvSpPr/>
          <p:nvPr/>
        </p:nvSpPr>
        <p:spPr>
          <a:xfrm>
            <a:off x="2011680" y="5111496"/>
            <a:ext cx="1938528" cy="896112"/>
          </a:xfrm>
          <a:prstGeom prst="roundRect">
            <a:avLst>
              <a:gd name="adj" fmla="val 6122"/>
            </a:avLst>
          </a:prstGeom>
          <a:solidFill>
            <a:srgbClr val="FDF0DC"/>
          </a:solidFill>
          <a:ln w="12700">
            <a:solidFill>
              <a:srgbClr val="EE8100"/>
            </a:solidFill>
            <a:prstDash val="dash"/>
          </a:ln>
        </p:spPr>
      </p:sp>
      <p:sp>
        <p:nvSpPr>
          <p:cNvPr id="45" name="Text 43"/>
          <p:cNvSpPr txBox="1"/>
          <p:nvPr/>
        </p:nvSpPr>
        <p:spPr>
          <a:xfrm>
            <a:off x="2121408" y="5148072"/>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P1</a:t>
            </a:r>
            <a:endParaRPr lang="en-US" sz="1050" dirty="0"/>
          </a:p>
        </p:txBody>
      </p:sp>
      <p:sp>
        <p:nvSpPr>
          <p:cNvPr id="46" name="Shape 44"/>
          <p:cNvSpPr/>
          <p:nvPr/>
        </p:nvSpPr>
        <p:spPr>
          <a:xfrm>
            <a:off x="4041648" y="5111496"/>
            <a:ext cx="1938528" cy="896112"/>
          </a:xfrm>
          <a:prstGeom prst="roundRect">
            <a:avLst>
              <a:gd name="adj" fmla="val 6122"/>
            </a:avLst>
          </a:prstGeom>
          <a:solidFill>
            <a:srgbClr val="FDF0DC"/>
          </a:solidFill>
          <a:ln w="12700">
            <a:solidFill>
              <a:srgbClr val="EE8100"/>
            </a:solidFill>
            <a:prstDash val="dash"/>
          </a:ln>
        </p:spPr>
      </p:sp>
      <p:sp>
        <p:nvSpPr>
          <p:cNvPr id="47" name="Text 45"/>
          <p:cNvSpPr txBox="1"/>
          <p:nvPr/>
        </p:nvSpPr>
        <p:spPr>
          <a:xfrm>
            <a:off x="4151376" y="5148072"/>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P2</a:t>
            </a:r>
            <a:endParaRPr lang="en-US" sz="1050" dirty="0"/>
          </a:p>
        </p:txBody>
      </p:sp>
      <p:sp>
        <p:nvSpPr>
          <p:cNvPr id="48" name="Shape 46"/>
          <p:cNvSpPr/>
          <p:nvPr/>
        </p:nvSpPr>
        <p:spPr>
          <a:xfrm>
            <a:off x="6071616" y="5111496"/>
            <a:ext cx="1938528" cy="896112"/>
          </a:xfrm>
          <a:prstGeom prst="roundRect">
            <a:avLst>
              <a:gd name="adj" fmla="val 6122"/>
            </a:avLst>
          </a:prstGeom>
          <a:solidFill>
            <a:srgbClr val="FDF0DC"/>
          </a:solidFill>
          <a:ln w="12700">
            <a:solidFill>
              <a:srgbClr val="EE8100"/>
            </a:solidFill>
            <a:prstDash val="dash"/>
          </a:ln>
        </p:spPr>
      </p:sp>
      <p:sp>
        <p:nvSpPr>
          <p:cNvPr id="49" name="Text 47"/>
          <p:cNvSpPr txBox="1"/>
          <p:nvPr/>
        </p:nvSpPr>
        <p:spPr>
          <a:xfrm>
            <a:off x="6181344" y="5148072"/>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P3</a:t>
            </a:r>
            <a:endParaRPr lang="en-US" sz="1050" dirty="0"/>
          </a:p>
        </p:txBody>
      </p:sp>
      <p:sp>
        <p:nvSpPr>
          <p:cNvPr id="50" name="Shape 48"/>
          <p:cNvSpPr/>
          <p:nvPr/>
        </p:nvSpPr>
        <p:spPr>
          <a:xfrm>
            <a:off x="8229600" y="1508760"/>
            <a:ext cx="3410712" cy="4544568"/>
          </a:xfrm>
          <a:prstGeom prst="roundRect">
            <a:avLst>
              <a:gd name="adj" fmla="val 2145"/>
            </a:avLst>
          </a:prstGeom>
          <a:solidFill>
            <a:srgbClr val="154B36"/>
          </a:solidFill>
          <a:ln/>
        </p:spPr>
      </p:sp>
      <p:sp>
        <p:nvSpPr>
          <p:cNvPr id="51" name="Text 49"/>
          <p:cNvSpPr txBox="1"/>
          <p:nvPr/>
        </p:nvSpPr>
        <p:spPr>
          <a:xfrm>
            <a:off x="8503920" y="1783080"/>
            <a:ext cx="292608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STRONGEST QUOTE</a:t>
            </a:r>
            <a:endParaRPr lang="en-US" sz="1000" dirty="0"/>
          </a:p>
        </p:txBody>
      </p:sp>
      <p:sp>
        <p:nvSpPr>
          <p:cNvPr id="52" name="Text 50"/>
          <p:cNvSpPr txBox="1"/>
          <p:nvPr/>
        </p:nvSpPr>
        <p:spPr>
          <a:xfrm>
            <a:off x="8503920" y="2011680"/>
            <a:ext cx="914400" cy="914400"/>
          </a:xfrm>
          <a:prstGeom prst="rect">
            <a:avLst/>
          </a:prstGeom>
          <a:noFill/>
          <a:ln/>
        </p:spPr>
        <p:txBody>
          <a:bodyPr wrap="square" lIns="0" tIns="0" rIns="0" bIns="0" rtlCol="0" anchor="t"/>
          <a:lstStyle/>
          <a:p>
            <a:pPr indent="0" marL="0">
              <a:buNone/>
            </a:pPr>
            <a:r>
              <a:rPr lang="en-US" sz="8000" b="1" dirty="0">
                <a:solidFill>
                  <a:srgbClr val="F5A623"/>
                </a:solidFill>
                <a:latin typeface="Cambria" pitchFamily="34" charset="0"/>
                <a:ea typeface="Cambria" pitchFamily="34" charset="-122"/>
                <a:cs typeface="Cambria" pitchFamily="34" charset="-120"/>
              </a:rPr>
              <a:t>“</a:t>
            </a:r>
            <a:endParaRPr lang="en-US" sz="8000" dirty="0"/>
          </a:p>
        </p:txBody>
      </p:sp>
      <p:sp>
        <p:nvSpPr>
          <p:cNvPr id="53" name="Shape 51"/>
          <p:cNvSpPr/>
          <p:nvPr/>
        </p:nvSpPr>
        <p:spPr>
          <a:xfrm>
            <a:off x="8503920" y="3063240"/>
            <a:ext cx="2862072" cy="1737360"/>
          </a:xfrm>
          <a:prstGeom prst="roundRect">
            <a:avLst>
              <a:gd name="adj" fmla="val 3158"/>
            </a:avLst>
          </a:prstGeom>
          <a:solidFill>
            <a:srgbClr val="1E6047"/>
          </a:solidFill>
          <a:ln w="12700">
            <a:solidFill>
              <a:srgbClr val="F5A623"/>
            </a:solidFill>
            <a:prstDash val="dash"/>
          </a:ln>
        </p:spPr>
      </p:sp>
      <p:sp>
        <p:nvSpPr>
          <p:cNvPr id="54" name="Text 52"/>
          <p:cNvSpPr txBox="1"/>
          <p:nvPr/>
        </p:nvSpPr>
        <p:spPr>
          <a:xfrm>
            <a:off x="8613648" y="3099816"/>
            <a:ext cx="2642616" cy="1664208"/>
          </a:xfrm>
          <a:prstGeom prst="rect">
            <a:avLst/>
          </a:prstGeom>
          <a:noFill/>
          <a:ln/>
        </p:spPr>
        <p:txBody>
          <a:bodyPr wrap="square" lIns="0" tIns="0" rIns="0" bIns="0" rtlCol="0" anchor="ctr"/>
          <a:lstStyle/>
          <a:p>
            <a:pPr algn="l" indent="0" marL="0">
              <a:buNone/>
            </a:pPr>
            <a:r>
              <a:rPr lang="en-US" sz="1150" i="1" dirty="0">
                <a:solidFill>
                  <a:srgbClr val="FFE2B0"/>
                </a:solidFill>
                <a:latin typeface="Calibri" pitchFamily="34" charset="0"/>
                <a:ea typeface="Calibri" pitchFamily="34" charset="-122"/>
                <a:cs typeface="Calibri" pitchFamily="34" charset="-120"/>
              </a:rPr>
              <a:t>INSERT the one verbatim sentence that best captures the problem, in the participant’s own words.</a:t>
            </a:r>
            <a:endParaRPr lang="en-US" sz="1150" dirty="0"/>
          </a:p>
        </p:txBody>
      </p:sp>
      <p:sp>
        <p:nvSpPr>
          <p:cNvPr id="55" name="Text 53"/>
          <p:cNvSpPr txBox="1"/>
          <p:nvPr/>
        </p:nvSpPr>
        <p:spPr>
          <a:xfrm>
            <a:off x="8503920" y="4937760"/>
            <a:ext cx="2862072" cy="274320"/>
          </a:xfrm>
          <a:prstGeom prst="rect">
            <a:avLst/>
          </a:prstGeom>
          <a:noFill/>
          <a:ln/>
        </p:spPr>
        <p:txBody>
          <a:bodyPr wrap="square" lIns="0" tIns="0" rIns="0" bIns="0" rtlCol="0" anchor="t"/>
          <a:lstStyle/>
          <a:p>
            <a:pPr indent="0" marL="0">
              <a:buNone/>
            </a:pPr>
            <a:r>
              <a:rPr lang="en-US" sz="1050" i="1" dirty="0">
                <a:solidFill>
                  <a:srgbClr val="C9D5CE"/>
                </a:solidFill>
                <a:latin typeface="Calibri" pitchFamily="34" charset="0"/>
                <a:ea typeface="Calibri" pitchFamily="34" charset="-122"/>
                <a:cs typeface="Calibri" pitchFamily="34" charset="-120"/>
              </a:rPr>
              <a:t>— P_ , age band, area (anonymised)</a:t>
            </a:r>
            <a:endParaRPr lang="en-US" sz="1050" dirty="0"/>
          </a:p>
        </p:txBody>
      </p:sp>
      <p:sp>
        <p:nvSpPr>
          <p:cNvPr id="56" name="Text 54"/>
          <p:cNvSpPr txBox="1"/>
          <p:nvPr/>
        </p:nvSpPr>
        <p:spPr>
          <a:xfrm>
            <a:off x="8503920" y="5440680"/>
            <a:ext cx="2862072" cy="365760"/>
          </a:xfrm>
          <a:prstGeom prst="rect">
            <a:avLst/>
          </a:prstGeom>
          <a:noFill/>
          <a:ln/>
        </p:spPr>
        <p:txBody>
          <a:bodyPr wrap="square" lIns="0" tIns="0" rIns="0" bIns="0" rtlCol="0" anchor="t"/>
          <a:lstStyle/>
          <a:p>
            <a:pPr indent="0" marL="0">
              <a:buNone/>
            </a:pPr>
            <a:r>
              <a:rPr lang="en-US" sz="1000" dirty="0">
                <a:solidFill>
                  <a:srgbClr val="C9D5CE"/>
                </a:solidFill>
                <a:latin typeface="Calibri" pitchFamily="34" charset="0"/>
                <a:ea typeface="Calibri" pitchFamily="34" charset="-122"/>
                <a:cs typeface="Calibri" pitchFamily="34" charset="-120"/>
              </a:rPr>
              <a:t>Use exact words. Trim it, do not paraphrase it.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PART 1 · ASSIGNMENT 1 · PROBLEM VALIDATION · SECTIONS 7–8 + REFLECTION</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Decision: is the problem real enough to keep building for?</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Decision rule proposed by the team before interviews, so the verdict cannot drift away from the evidence. Mark ✓ confirmed · ~ partly · ✗ contradicted.</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6 / 13</a:t>
            </a:r>
            <a:endParaRPr lang="en-US" sz="900" dirty="0"/>
          </a:p>
        </p:txBody>
      </p:sp>
      <p:sp>
        <p:nvSpPr>
          <p:cNvPr id="12" name="Text 10"/>
          <p:cNvSpPr txBox="1"/>
          <p:nvPr/>
        </p:nvSpPr>
        <p:spPr>
          <a:xfrm>
            <a:off x="548640" y="1508760"/>
            <a:ext cx="548640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7 · VALIDATION DECISION</a:t>
            </a:r>
            <a:endParaRPr lang="en-US" sz="1000" dirty="0"/>
          </a:p>
        </p:txBody>
      </p:sp>
      <p:sp>
        <p:nvSpPr>
          <p:cNvPr id="13" name="Shape 11"/>
          <p:cNvSpPr/>
          <p:nvPr/>
        </p:nvSpPr>
        <p:spPr>
          <a:xfrm>
            <a:off x="548640" y="1783080"/>
            <a:ext cx="1828800" cy="1600200"/>
          </a:xfrm>
          <a:prstGeom prst="roundRect">
            <a:avLst>
              <a:gd name="adj" fmla="val 4571"/>
            </a:avLst>
          </a:prstGeom>
          <a:solidFill>
            <a:srgbClr val="FFFFFF"/>
          </a:solidFill>
          <a:ln w="9525">
            <a:solidFill>
              <a:srgbClr val="C9D5CE"/>
            </a:solidFill>
            <a:prstDash val="solid"/>
          </a:ln>
        </p:spPr>
      </p:sp>
      <p:sp>
        <p:nvSpPr>
          <p:cNvPr id="14" name="Shape 12"/>
          <p:cNvSpPr/>
          <p:nvPr/>
        </p:nvSpPr>
        <p:spPr>
          <a:xfrm>
            <a:off x="713232" y="1947672"/>
            <a:ext cx="256032" cy="256032"/>
          </a:xfrm>
          <a:prstGeom prst="ellipse">
            <a:avLst/>
          </a:prstGeom>
          <a:solidFill>
            <a:srgbClr val="FFFFFF"/>
          </a:solidFill>
          <a:ln w="31750">
            <a:solidFill>
              <a:srgbClr val="038141"/>
            </a:solidFill>
            <a:prstDash val="solid"/>
          </a:ln>
        </p:spPr>
      </p:sp>
      <p:sp>
        <p:nvSpPr>
          <p:cNvPr id="15" name="Text 13"/>
          <p:cNvSpPr txBox="1"/>
          <p:nvPr/>
        </p:nvSpPr>
        <p:spPr>
          <a:xfrm>
            <a:off x="1051560" y="1929384"/>
            <a:ext cx="1280160" cy="310896"/>
          </a:xfrm>
          <a:prstGeom prst="rect">
            <a:avLst/>
          </a:prstGeom>
          <a:noFill/>
          <a:ln/>
        </p:spPr>
        <p:txBody>
          <a:bodyPr wrap="square" lIns="0" tIns="0" rIns="0" bIns="0" rtlCol="0" anchor="ctr"/>
          <a:lstStyle/>
          <a:p>
            <a:pPr indent="0" marL="0">
              <a:buNone/>
            </a:pPr>
            <a:r>
              <a:rPr lang="en-US" sz="1250" b="1" dirty="0">
                <a:solidFill>
                  <a:srgbClr val="154B36"/>
                </a:solidFill>
                <a:latin typeface="Cambria" pitchFamily="34" charset="0"/>
                <a:ea typeface="Cambria" pitchFamily="34" charset="-122"/>
                <a:cs typeface="Cambria" pitchFamily="34" charset="-120"/>
              </a:rPr>
              <a:t>Validated</a:t>
            </a:r>
            <a:endParaRPr lang="en-US" sz="1250" dirty="0"/>
          </a:p>
        </p:txBody>
      </p:sp>
      <p:sp>
        <p:nvSpPr>
          <p:cNvPr id="16" name="Text 14"/>
          <p:cNvSpPr txBox="1"/>
          <p:nvPr/>
        </p:nvSpPr>
        <p:spPr>
          <a:xfrm>
            <a:off x="713232" y="2377440"/>
            <a:ext cx="1517904" cy="960120"/>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At least 2 of 3 describe the problem unprompted, recently, with a real cost.</a:t>
            </a:r>
            <a:endParaRPr lang="en-US" sz="1000" dirty="0"/>
          </a:p>
        </p:txBody>
      </p:sp>
      <p:sp>
        <p:nvSpPr>
          <p:cNvPr id="17" name="Shape 15"/>
          <p:cNvSpPr/>
          <p:nvPr/>
        </p:nvSpPr>
        <p:spPr>
          <a:xfrm>
            <a:off x="2496312" y="1783080"/>
            <a:ext cx="1828800" cy="1600200"/>
          </a:xfrm>
          <a:prstGeom prst="roundRect">
            <a:avLst>
              <a:gd name="adj" fmla="val 4571"/>
            </a:avLst>
          </a:prstGeom>
          <a:solidFill>
            <a:srgbClr val="FFFFFF"/>
          </a:solidFill>
          <a:ln w="9525">
            <a:solidFill>
              <a:srgbClr val="C9D5CE"/>
            </a:solidFill>
            <a:prstDash val="solid"/>
          </a:ln>
        </p:spPr>
      </p:sp>
      <p:sp>
        <p:nvSpPr>
          <p:cNvPr id="18" name="Shape 16"/>
          <p:cNvSpPr/>
          <p:nvPr/>
        </p:nvSpPr>
        <p:spPr>
          <a:xfrm>
            <a:off x="2660904" y="1947672"/>
            <a:ext cx="256032" cy="256032"/>
          </a:xfrm>
          <a:prstGeom prst="ellipse">
            <a:avLst/>
          </a:prstGeom>
          <a:solidFill>
            <a:srgbClr val="FFFFFF"/>
          </a:solidFill>
          <a:ln w="31750">
            <a:solidFill>
              <a:srgbClr val="F2A900"/>
            </a:solidFill>
            <a:prstDash val="solid"/>
          </a:ln>
        </p:spPr>
      </p:sp>
      <p:sp>
        <p:nvSpPr>
          <p:cNvPr id="19" name="Text 17"/>
          <p:cNvSpPr txBox="1"/>
          <p:nvPr/>
        </p:nvSpPr>
        <p:spPr>
          <a:xfrm>
            <a:off x="2999232" y="1929384"/>
            <a:ext cx="1280160" cy="310896"/>
          </a:xfrm>
          <a:prstGeom prst="rect">
            <a:avLst/>
          </a:prstGeom>
          <a:noFill/>
          <a:ln/>
        </p:spPr>
        <p:txBody>
          <a:bodyPr wrap="square" lIns="0" tIns="0" rIns="0" bIns="0" rtlCol="0" anchor="ctr"/>
          <a:lstStyle/>
          <a:p>
            <a:pPr indent="0" marL="0">
              <a:buNone/>
            </a:pPr>
            <a:r>
              <a:rPr lang="en-US" sz="1250" b="1" dirty="0">
                <a:solidFill>
                  <a:srgbClr val="154B36"/>
                </a:solidFill>
                <a:latin typeface="Cambria" pitchFamily="34" charset="0"/>
                <a:ea typeface="Cambria" pitchFamily="34" charset="-122"/>
                <a:cs typeface="Cambria" pitchFamily="34" charset="-120"/>
              </a:rPr>
              <a:t>Partially validated</a:t>
            </a:r>
            <a:endParaRPr lang="en-US" sz="1250" dirty="0"/>
          </a:p>
        </p:txBody>
      </p:sp>
      <p:sp>
        <p:nvSpPr>
          <p:cNvPr id="20" name="Text 18"/>
          <p:cNvSpPr txBox="1"/>
          <p:nvPr/>
        </p:nvSpPr>
        <p:spPr>
          <a:xfrm>
            <a:off x="2660904" y="2377440"/>
            <a:ext cx="1517904" cy="960120"/>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Real, but narrower: only some users, contexts or shops feel it.</a:t>
            </a:r>
            <a:endParaRPr lang="en-US" sz="1000" dirty="0"/>
          </a:p>
        </p:txBody>
      </p:sp>
      <p:sp>
        <p:nvSpPr>
          <p:cNvPr id="21" name="Shape 19"/>
          <p:cNvSpPr/>
          <p:nvPr/>
        </p:nvSpPr>
        <p:spPr>
          <a:xfrm>
            <a:off x="4443984" y="1783080"/>
            <a:ext cx="1828800" cy="1600200"/>
          </a:xfrm>
          <a:prstGeom prst="roundRect">
            <a:avLst>
              <a:gd name="adj" fmla="val 4571"/>
            </a:avLst>
          </a:prstGeom>
          <a:solidFill>
            <a:srgbClr val="FFFFFF"/>
          </a:solidFill>
          <a:ln w="9525">
            <a:solidFill>
              <a:srgbClr val="C9D5CE"/>
            </a:solidFill>
            <a:prstDash val="solid"/>
          </a:ln>
        </p:spPr>
      </p:sp>
      <p:sp>
        <p:nvSpPr>
          <p:cNvPr id="22" name="Shape 20"/>
          <p:cNvSpPr/>
          <p:nvPr/>
        </p:nvSpPr>
        <p:spPr>
          <a:xfrm>
            <a:off x="4608576" y="1947672"/>
            <a:ext cx="256032" cy="256032"/>
          </a:xfrm>
          <a:prstGeom prst="ellipse">
            <a:avLst/>
          </a:prstGeom>
          <a:solidFill>
            <a:srgbClr val="FFFFFF"/>
          </a:solidFill>
          <a:ln w="31750">
            <a:solidFill>
              <a:srgbClr val="E63E11"/>
            </a:solidFill>
            <a:prstDash val="solid"/>
          </a:ln>
        </p:spPr>
      </p:sp>
      <p:sp>
        <p:nvSpPr>
          <p:cNvPr id="23" name="Text 21"/>
          <p:cNvSpPr txBox="1"/>
          <p:nvPr/>
        </p:nvSpPr>
        <p:spPr>
          <a:xfrm>
            <a:off x="4946904" y="1929384"/>
            <a:ext cx="1280160" cy="310896"/>
          </a:xfrm>
          <a:prstGeom prst="rect">
            <a:avLst/>
          </a:prstGeom>
          <a:noFill/>
          <a:ln/>
        </p:spPr>
        <p:txBody>
          <a:bodyPr wrap="square" lIns="0" tIns="0" rIns="0" bIns="0" rtlCol="0" anchor="ctr"/>
          <a:lstStyle/>
          <a:p>
            <a:pPr indent="0" marL="0">
              <a:buNone/>
            </a:pPr>
            <a:r>
              <a:rPr lang="en-US" sz="1250" b="1" dirty="0">
                <a:solidFill>
                  <a:srgbClr val="154B36"/>
                </a:solidFill>
                <a:latin typeface="Cambria" pitchFamily="34" charset="0"/>
                <a:ea typeface="Cambria" pitchFamily="34" charset="-122"/>
                <a:cs typeface="Cambria" pitchFamily="34" charset="-120"/>
              </a:rPr>
              <a:t>Not validated</a:t>
            </a:r>
            <a:endParaRPr lang="en-US" sz="1250" dirty="0"/>
          </a:p>
        </p:txBody>
      </p:sp>
      <p:sp>
        <p:nvSpPr>
          <p:cNvPr id="24" name="Text 22"/>
          <p:cNvSpPr txBox="1"/>
          <p:nvPr/>
        </p:nvSpPr>
        <p:spPr>
          <a:xfrm>
            <a:off x="4608576" y="2377440"/>
            <a:ext cx="1517904" cy="960120"/>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Few describe it, or they do not care enough to act on it.</a:t>
            </a:r>
            <a:endParaRPr lang="en-US" sz="1000" dirty="0"/>
          </a:p>
        </p:txBody>
      </p:sp>
      <p:sp>
        <p:nvSpPr>
          <p:cNvPr id="25" name="Text 23"/>
          <p:cNvSpPr txBox="1"/>
          <p:nvPr/>
        </p:nvSpPr>
        <p:spPr>
          <a:xfrm>
            <a:off x="548640" y="3584448"/>
            <a:ext cx="548640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ASSUMPTION SCORECARD</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5724144" cy="914400"/>
        </p:xfrm>
        <a:graphic>
          <a:graphicData uri="http://schemas.openxmlformats.org/drawingml/2006/table">
            <a:tbl>
              <a:tblPr/>
              <a:tblGrid>
                <a:gridCol w="2249424"/>
                <a:gridCol w="868680"/>
                <a:gridCol w="868680"/>
                <a:gridCol w="868680"/>
                <a:gridCol w="86868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Assumption</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P1</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P3</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r>
              <a:tr h="502920">
                <a:tc>
                  <a:txBody>
                    <a:bodyPr/>
                    <a:lstStyle/>
                    <a:p>
                      <a:pPr algn="l" indent="0" marL="0">
                        <a:buNone/>
                      </a:pPr>
                      <a:r>
                        <a:rPr lang="en-US" sz="1050" dirty="0">
                          <a:solidFill>
                            <a:srgbClr val="1F2A24"/>
                          </a:solidFill>
                          <a:latin typeface="Calibri" pitchFamily="34" charset="0"/>
                          <a:ea typeface="Calibri" pitchFamily="34" charset="-122"/>
                          <a:cs typeface="Calibri" pitchFamily="34" charset="-120"/>
                        </a:rPr>
                        <a:t>1  Need at the cart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_ / 3</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02920">
                <a:tc>
                  <a:txBody>
                    <a:bodyPr/>
                    <a:lstStyle/>
                    <a:p>
                      <a:pPr algn="l" indent="0" marL="0">
                        <a:buNone/>
                      </a:pPr>
                      <a:r>
                        <a:rPr lang="en-US" sz="1050" dirty="0">
                          <a:solidFill>
                            <a:srgbClr val="1F2A24"/>
                          </a:solidFill>
                          <a:latin typeface="Calibri" pitchFamily="34" charset="0"/>
                          <a:ea typeface="Calibri" pitchFamily="34" charset="-122"/>
                          <a:cs typeface="Calibri" pitchFamily="34" charset="-120"/>
                        </a:rPr>
                        <a:t>2  Today’s fix falls short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_ / 3</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02920">
                <a:tc>
                  <a:txBody>
                    <a:bodyPr/>
                    <a:lstStyle/>
                    <a:p>
                      <a:pPr algn="l" indent="0" marL="0">
                        <a:buNone/>
                      </a:pPr>
                      <a:r>
                        <a:rPr lang="en-US" sz="1050" dirty="0">
                          <a:solidFill>
                            <a:srgbClr val="1F2A24"/>
                          </a:solidFill>
                          <a:latin typeface="Calibri" pitchFamily="34" charset="0"/>
                          <a:ea typeface="Calibri" pitchFamily="34" charset="-122"/>
                          <a:cs typeface="Calibri" pitchFamily="34" charset="-120"/>
                        </a:rPr>
                        <a:t>3  Channel and trust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_ / 3</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bl>
          </a:graphicData>
        </a:graphic>
      </p:graphicFrame>
      <p:sp>
        <p:nvSpPr>
          <p:cNvPr id="27" name="Shape 24"/>
          <p:cNvSpPr/>
          <p:nvPr/>
        </p:nvSpPr>
        <p:spPr>
          <a:xfrm>
            <a:off x="6537960" y="1508760"/>
            <a:ext cx="5102352" cy="2331720"/>
          </a:xfrm>
          <a:prstGeom prst="roundRect">
            <a:avLst>
              <a:gd name="adj" fmla="val 3137"/>
            </a:avLst>
          </a:prstGeom>
          <a:solidFill>
            <a:srgbClr val="FFFFFF"/>
          </a:solidFill>
          <a:ln w="9525">
            <a:solidFill>
              <a:srgbClr val="C9D5CE"/>
            </a:solidFill>
            <a:prstDash val="solid"/>
          </a:ln>
        </p:spPr>
      </p:sp>
      <p:sp>
        <p:nvSpPr>
          <p:cNvPr id="28" name="Text 25"/>
          <p:cNvSpPr txBox="1"/>
          <p:nvPr/>
        </p:nvSpPr>
        <p:spPr>
          <a:xfrm>
            <a:off x="6766560" y="1719072"/>
            <a:ext cx="457200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8 · REVISED PROBLEM STATEMENT</a:t>
            </a:r>
            <a:endParaRPr lang="en-US" sz="1000" dirty="0"/>
          </a:p>
        </p:txBody>
      </p:sp>
      <p:sp>
        <p:nvSpPr>
          <p:cNvPr id="29" name="Text 26"/>
          <p:cNvSpPr txBox="1"/>
          <p:nvPr/>
        </p:nvSpPr>
        <p:spPr>
          <a:xfrm>
            <a:off x="6766560" y="1975104"/>
            <a:ext cx="4645152" cy="114300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Working draft, sharpened by desk evidence: </a:t>
            </a:r>
            <a:pPr indent="0" marL="0">
              <a:buNone/>
            </a:pPr>
            <a:r>
              <a:rPr lang="en-US" sz="1150" dirty="0">
                <a:solidFill>
                  <a:srgbClr val="1F2A24"/>
                </a:solidFill>
                <a:latin typeface="Calibri" pitchFamily="34" charset="0"/>
                <a:ea typeface="Calibri" pitchFamily="34" charset="-122"/>
                <a:cs typeface="Calibri" pitchFamily="34" charset="-120"/>
              </a:rPr>
              <a:t>Adults in Kenya who must limit sugar, salt or fat cannot see, when they add an item to an online grocery cart, whether it fits their limits, because retailers show no front-of-pack signal and labels omit fields such as added sugar.</a:t>
            </a:r>
            <a:endParaRPr lang="en-US" sz="1150" dirty="0"/>
          </a:p>
        </p:txBody>
      </p:sp>
      <p:sp>
        <p:nvSpPr>
          <p:cNvPr id="30" name="Shape 27"/>
          <p:cNvSpPr/>
          <p:nvPr/>
        </p:nvSpPr>
        <p:spPr>
          <a:xfrm>
            <a:off x="6766560" y="3154680"/>
            <a:ext cx="4645152" cy="594360"/>
          </a:xfrm>
          <a:prstGeom prst="roundRect">
            <a:avLst>
              <a:gd name="adj" fmla="val 9231"/>
            </a:avLst>
          </a:prstGeom>
          <a:solidFill>
            <a:srgbClr val="FDF0DC"/>
          </a:solidFill>
          <a:ln w="12700">
            <a:solidFill>
              <a:srgbClr val="EE8100"/>
            </a:solidFill>
            <a:prstDash val="dash"/>
          </a:ln>
        </p:spPr>
      </p:sp>
      <p:sp>
        <p:nvSpPr>
          <p:cNvPr id="31" name="Text 28"/>
          <p:cNvSpPr txBox="1"/>
          <p:nvPr/>
        </p:nvSpPr>
        <p:spPr>
          <a:xfrm>
            <a:off x="6876288" y="3191256"/>
            <a:ext cx="4425696" cy="521208"/>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the version rewritten in participants’ words after the interviews.</a:t>
            </a:r>
            <a:endParaRPr lang="en-US" sz="1050" dirty="0"/>
          </a:p>
        </p:txBody>
      </p:sp>
      <p:sp>
        <p:nvSpPr>
          <p:cNvPr id="32" name="Shape 29"/>
          <p:cNvSpPr/>
          <p:nvPr/>
        </p:nvSpPr>
        <p:spPr>
          <a:xfrm>
            <a:off x="6537960" y="3977640"/>
            <a:ext cx="5102352" cy="2103120"/>
          </a:xfrm>
          <a:prstGeom prst="roundRect">
            <a:avLst>
              <a:gd name="adj" fmla="val 3478"/>
            </a:avLst>
          </a:prstGeom>
          <a:solidFill>
            <a:srgbClr val="154B36"/>
          </a:solidFill>
          <a:ln/>
        </p:spPr>
      </p:sp>
      <p:sp>
        <p:nvSpPr>
          <p:cNvPr id="33" name="Text 30"/>
          <p:cNvSpPr txBox="1"/>
          <p:nvPr/>
        </p:nvSpPr>
        <p:spPr>
          <a:xfrm>
            <a:off x="6766560" y="4160520"/>
            <a:ext cx="45720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FINAL REFLECTION  ·  CONTINUE AS DEFINED?</a:t>
            </a:r>
            <a:endParaRPr lang="en-US" sz="1000" dirty="0"/>
          </a:p>
        </p:txBody>
      </p:sp>
      <p:sp>
        <p:nvSpPr>
          <p:cNvPr id="34" name="Text 31"/>
          <p:cNvSpPr txBox="1"/>
          <p:nvPr/>
        </p:nvSpPr>
        <p:spPr>
          <a:xfrm>
            <a:off x="6766560" y="4443984"/>
            <a:ext cx="466344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Validated  </a:t>
            </a:r>
            <a:pPr indent="0" marL="0">
              <a:buNone/>
            </a:pPr>
            <a:r>
              <a:rPr lang="en-US" sz="1050" dirty="0">
                <a:solidFill>
                  <a:srgbClr val="C9D5CE"/>
                </a:solidFill>
                <a:latin typeface="Calibri" pitchFamily="34" charset="0"/>
                <a:ea typeface="Calibri" pitchFamily="34" charset="-122"/>
                <a:cs typeface="Calibri" pitchFamily="34" charset="-120"/>
              </a:rPr>
              <a:t>continue, then pick the priority segment (Assignment 2)</a:t>
            </a:r>
            <a:endParaRPr lang="en-US" sz="1050" dirty="0"/>
          </a:p>
        </p:txBody>
      </p:sp>
      <p:sp>
        <p:nvSpPr>
          <p:cNvPr id="35" name="Text 32"/>
          <p:cNvSpPr txBox="1"/>
          <p:nvPr/>
        </p:nvSpPr>
        <p:spPr>
          <a:xfrm>
            <a:off x="6766560" y="4690872"/>
            <a:ext cx="466344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Partially  </a:t>
            </a:r>
            <a:pPr indent="0" marL="0">
              <a:buNone/>
            </a:pPr>
            <a:r>
              <a:rPr lang="en-US" sz="1050" dirty="0">
                <a:solidFill>
                  <a:srgbClr val="C9D5CE"/>
                </a:solidFill>
                <a:latin typeface="Calibri" pitchFamily="34" charset="0"/>
                <a:ea typeface="Calibri" pitchFamily="34" charset="-122"/>
                <a:cs typeface="Calibri" pitchFamily="34" charset="-120"/>
              </a:rPr>
              <a:t>narrow to the group or context that felt it</a:t>
            </a:r>
            <a:endParaRPr lang="en-US" sz="1050" dirty="0"/>
          </a:p>
        </p:txBody>
      </p:sp>
      <p:sp>
        <p:nvSpPr>
          <p:cNvPr id="36" name="Text 33"/>
          <p:cNvSpPr txBox="1"/>
          <p:nvPr/>
        </p:nvSpPr>
        <p:spPr>
          <a:xfrm>
            <a:off x="6766560" y="4937760"/>
            <a:ext cx="466344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Not validated  </a:t>
            </a:r>
            <a:pPr indent="0" marL="0">
              <a:buNone/>
            </a:pPr>
            <a:r>
              <a:rPr lang="en-US" sz="1050" dirty="0">
                <a:solidFill>
                  <a:srgbClr val="C9D5CE"/>
                </a:solidFill>
                <a:latin typeface="Calibri" pitchFamily="34" charset="0"/>
                <a:ea typeface="Calibri" pitchFamily="34" charset="-122"/>
                <a:cs typeface="Calibri" pitchFamily="34" charset="-120"/>
              </a:rPr>
              <a:t>stop and choose a different problem</a:t>
            </a:r>
            <a:endParaRPr lang="en-US" sz="1050" dirty="0"/>
          </a:p>
        </p:txBody>
      </p:sp>
      <p:sp>
        <p:nvSpPr>
          <p:cNvPr id="37" name="Shape 34"/>
          <p:cNvSpPr/>
          <p:nvPr/>
        </p:nvSpPr>
        <p:spPr>
          <a:xfrm>
            <a:off x="6766560" y="5230368"/>
            <a:ext cx="4645152" cy="713232"/>
          </a:xfrm>
          <a:prstGeom prst="roundRect">
            <a:avLst>
              <a:gd name="adj" fmla="val 7692"/>
            </a:avLst>
          </a:prstGeom>
          <a:solidFill>
            <a:srgbClr val="1E6047"/>
          </a:solidFill>
          <a:ln w="12700">
            <a:solidFill>
              <a:srgbClr val="F5A623"/>
            </a:solidFill>
            <a:prstDash val="dash"/>
          </a:ln>
        </p:spPr>
      </p:sp>
      <p:sp>
        <p:nvSpPr>
          <p:cNvPr id="38" name="Text 35"/>
          <p:cNvSpPr txBox="1"/>
          <p:nvPr/>
        </p:nvSpPr>
        <p:spPr>
          <a:xfrm>
            <a:off x="6876288" y="5266944"/>
            <a:ext cx="4425696" cy="640080"/>
          </a:xfrm>
          <a:prstGeom prst="rect">
            <a:avLst/>
          </a:prstGeom>
          <a:noFill/>
          <a:ln/>
        </p:spPr>
        <p:txBody>
          <a:bodyPr wrap="square" lIns="0" tIns="0" rIns="0" bIns="0" rtlCol="0" anchor="ctr"/>
          <a:lstStyle/>
          <a:p>
            <a:pPr algn="l" indent="0" marL="0">
              <a:buNone/>
            </a:pPr>
            <a:r>
              <a:rPr lang="en-US" sz="1050" i="1" dirty="0">
                <a:solidFill>
                  <a:srgbClr val="FFE2B0"/>
                </a:solidFill>
                <a:latin typeface="Calibri" pitchFamily="34" charset="0"/>
                <a:ea typeface="Calibri" pitchFamily="34" charset="-122"/>
                <a:cs typeface="Calibri" pitchFamily="34" charset="-120"/>
              </a:rPr>
              <a:t>INSERT your answer and why, in 2–3 sentences.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4B36"/>
        </a:solidFill>
      </p:bgPr>
    </p:bg>
    <p:spTree>
      <p:nvGrpSpPr>
        <p:cNvPr id="1" name=""/>
        <p:cNvGrpSpPr/>
        <p:nvPr/>
      </p:nvGrpSpPr>
      <p:grpSpPr>
        <a:xfrm>
          <a:off x="0" y="0"/>
          <a:ext cx="0" cy="0"/>
          <a:chOff x="0" y="0"/>
          <a:chExt cx="0" cy="0"/>
        </a:xfrm>
      </p:grpSpPr>
      <p:sp>
        <p:nvSpPr>
          <p:cNvPr id="2" name="Shape 0"/>
          <p:cNvSpPr/>
          <p:nvPr/>
        </p:nvSpPr>
        <p:spPr>
          <a:xfrm>
            <a:off x="731520" y="640080"/>
            <a:ext cx="155448" cy="155448"/>
          </a:xfrm>
          <a:prstGeom prst="rect">
            <a:avLst/>
          </a:prstGeom>
          <a:solidFill>
            <a:srgbClr val="038141"/>
          </a:solidFill>
          <a:ln/>
        </p:spPr>
      </p:sp>
      <p:sp>
        <p:nvSpPr>
          <p:cNvPr id="3" name="Shape 1"/>
          <p:cNvSpPr/>
          <p:nvPr/>
        </p:nvSpPr>
        <p:spPr>
          <a:xfrm>
            <a:off x="941832" y="640080"/>
            <a:ext cx="155448" cy="155448"/>
          </a:xfrm>
          <a:prstGeom prst="rect">
            <a:avLst/>
          </a:prstGeom>
          <a:solidFill>
            <a:srgbClr val="85BB2F"/>
          </a:solidFill>
          <a:ln/>
        </p:spPr>
      </p:sp>
      <p:sp>
        <p:nvSpPr>
          <p:cNvPr id="4" name="Shape 2"/>
          <p:cNvSpPr/>
          <p:nvPr/>
        </p:nvSpPr>
        <p:spPr>
          <a:xfrm>
            <a:off x="1152144" y="640080"/>
            <a:ext cx="155448" cy="155448"/>
          </a:xfrm>
          <a:prstGeom prst="rect">
            <a:avLst/>
          </a:prstGeom>
          <a:solidFill>
            <a:srgbClr val="FECB02"/>
          </a:solidFill>
          <a:ln/>
        </p:spPr>
      </p:sp>
      <p:sp>
        <p:nvSpPr>
          <p:cNvPr id="5" name="Shape 3"/>
          <p:cNvSpPr/>
          <p:nvPr/>
        </p:nvSpPr>
        <p:spPr>
          <a:xfrm>
            <a:off x="1362456" y="640080"/>
            <a:ext cx="155448" cy="155448"/>
          </a:xfrm>
          <a:prstGeom prst="rect">
            <a:avLst/>
          </a:prstGeom>
          <a:solidFill>
            <a:srgbClr val="EE8100"/>
          </a:solidFill>
          <a:ln/>
        </p:spPr>
      </p:sp>
      <p:sp>
        <p:nvSpPr>
          <p:cNvPr id="6" name="Shape 4"/>
          <p:cNvSpPr/>
          <p:nvPr/>
        </p:nvSpPr>
        <p:spPr>
          <a:xfrm>
            <a:off x="1572768" y="640080"/>
            <a:ext cx="155448" cy="155448"/>
          </a:xfrm>
          <a:prstGeom prst="rect">
            <a:avLst/>
          </a:prstGeom>
          <a:solidFill>
            <a:srgbClr val="E63E11"/>
          </a:solidFill>
          <a:ln/>
        </p:spPr>
      </p:sp>
      <p:sp>
        <p:nvSpPr>
          <p:cNvPr id="7" name="Text 5"/>
          <p:cNvSpPr txBox="1"/>
          <p:nvPr/>
        </p:nvSpPr>
        <p:spPr>
          <a:xfrm>
            <a:off x="731520" y="1097280"/>
            <a:ext cx="7315200" cy="274320"/>
          </a:xfrm>
          <a:prstGeom prst="rect">
            <a:avLst/>
          </a:prstGeom>
          <a:noFill/>
          <a:ln/>
        </p:spPr>
        <p:txBody>
          <a:bodyPr wrap="square" lIns="0" tIns="0" rIns="0" bIns="0" rtlCol="0" anchor="t"/>
          <a:lstStyle/>
          <a:p>
            <a:pPr indent="0" marL="0">
              <a:buNone/>
            </a:pPr>
            <a:r>
              <a:rPr lang="en-US" sz="1100" b="1" spc="250" kern="0" dirty="0">
                <a:solidFill>
                  <a:srgbClr val="F5A623"/>
                </a:solidFill>
                <a:latin typeface="Calibri" pitchFamily="34" charset="0"/>
                <a:ea typeface="Calibri" pitchFamily="34" charset="-122"/>
                <a:cs typeface="Calibri" pitchFamily="34" charset="-120"/>
              </a:rPr>
              <a:t>BETWEEN PART 1 AND PART 2</a:t>
            </a:r>
            <a:endParaRPr lang="en-US" sz="1100" dirty="0"/>
          </a:p>
        </p:txBody>
      </p:sp>
      <p:sp>
        <p:nvSpPr>
          <p:cNvPr id="8" name="Text 6"/>
          <p:cNvSpPr txBox="1"/>
          <p:nvPr/>
        </p:nvSpPr>
        <p:spPr>
          <a:xfrm>
            <a:off x="731520" y="1554480"/>
            <a:ext cx="10515600" cy="12801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From “is it real?” to “for whom, and who decides?”</a:t>
            </a:r>
            <a:endParaRPr lang="en-US" sz="3600" dirty="0"/>
          </a:p>
        </p:txBody>
      </p:sp>
      <p:sp>
        <p:nvSpPr>
          <p:cNvPr id="9" name="Shape 7"/>
          <p:cNvSpPr/>
          <p:nvPr/>
        </p:nvSpPr>
        <p:spPr>
          <a:xfrm>
            <a:off x="731520" y="3154680"/>
            <a:ext cx="4663440" cy="1234440"/>
          </a:xfrm>
          <a:prstGeom prst="roundRect">
            <a:avLst>
              <a:gd name="adj" fmla="val 5926"/>
            </a:avLst>
          </a:prstGeom>
          <a:solidFill>
            <a:srgbClr val="1E6047"/>
          </a:solidFill>
          <a:ln/>
        </p:spPr>
      </p:sp>
      <p:sp>
        <p:nvSpPr>
          <p:cNvPr id="10" name="Text 8"/>
          <p:cNvSpPr txBox="1"/>
          <p:nvPr/>
        </p:nvSpPr>
        <p:spPr>
          <a:xfrm>
            <a:off x="960120" y="3337560"/>
            <a:ext cx="41148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PART 1 ASKED</a:t>
            </a:r>
            <a:endParaRPr lang="en-US" sz="1000" dirty="0"/>
          </a:p>
        </p:txBody>
      </p:sp>
      <p:sp>
        <p:nvSpPr>
          <p:cNvPr id="11" name="Text 9"/>
          <p:cNvSpPr txBox="1"/>
          <p:nvPr/>
        </p:nvSpPr>
        <p:spPr>
          <a:xfrm>
            <a:off x="960120" y="3611880"/>
            <a:ext cx="4206240" cy="685800"/>
          </a:xfrm>
          <a:prstGeom prst="rect">
            <a:avLst/>
          </a:prstGeom>
          <a:noFill/>
          <a:ln/>
        </p:spPr>
        <p:txBody>
          <a:bodyPr wrap="square" lIns="0" tIns="0" rIns="0" bIns="0" rtlCol="0" anchor="t"/>
          <a:lstStyle/>
          <a:p>
            <a:pPr indent="0" marL="0">
              <a:buNone/>
            </a:pPr>
            <a:r>
              <a:rPr lang="en-US" sz="1600" dirty="0">
                <a:solidFill>
                  <a:srgbClr val="FFFFFF"/>
                </a:solidFill>
                <a:latin typeface="Cambria" pitchFamily="34" charset="0"/>
                <a:ea typeface="Cambria" pitchFamily="34" charset="-122"/>
                <a:cs typeface="Cambria" pitchFamily="34" charset="-120"/>
              </a:rPr>
              <a:t>Is the problem real enough to keep building for?</a:t>
            </a:r>
            <a:endParaRPr lang="en-US" sz="1600" dirty="0"/>
          </a:p>
        </p:txBody>
      </p:sp>
      <p:sp>
        <p:nvSpPr>
          <p:cNvPr id="12" name="Text 10"/>
          <p:cNvSpPr txBox="1"/>
          <p:nvPr/>
        </p:nvSpPr>
        <p:spPr>
          <a:xfrm>
            <a:off x="5486400" y="3291840"/>
            <a:ext cx="1097280" cy="914400"/>
          </a:xfrm>
          <a:prstGeom prst="rect">
            <a:avLst/>
          </a:prstGeom>
          <a:noFill/>
          <a:ln/>
        </p:spPr>
        <p:txBody>
          <a:bodyPr wrap="square" lIns="0" tIns="0" rIns="0" bIns="0" rtlCol="0" anchor="ctr"/>
          <a:lstStyle/>
          <a:p>
            <a:pPr algn="ctr" indent="0" marL="0">
              <a:buNone/>
            </a:pPr>
            <a:r>
              <a:rPr lang="en-US" sz="4400" b="1" dirty="0">
                <a:solidFill>
                  <a:srgbClr val="F5A623"/>
                </a:solidFill>
                <a:latin typeface="Cambria" pitchFamily="34" charset="0"/>
                <a:ea typeface="Cambria" pitchFamily="34" charset="-122"/>
                <a:cs typeface="Cambria" pitchFamily="34" charset="-120"/>
              </a:rPr>
              <a:t>→</a:t>
            </a:r>
            <a:endParaRPr lang="en-US" sz="4400" dirty="0"/>
          </a:p>
        </p:txBody>
      </p:sp>
      <p:sp>
        <p:nvSpPr>
          <p:cNvPr id="13" name="Shape 11"/>
          <p:cNvSpPr/>
          <p:nvPr/>
        </p:nvSpPr>
        <p:spPr>
          <a:xfrm>
            <a:off x="6675120" y="3154680"/>
            <a:ext cx="4754880" cy="1234440"/>
          </a:xfrm>
          <a:prstGeom prst="roundRect">
            <a:avLst>
              <a:gd name="adj" fmla="val 5926"/>
            </a:avLst>
          </a:prstGeom>
          <a:solidFill>
            <a:srgbClr val="1E6047"/>
          </a:solidFill>
          <a:ln/>
        </p:spPr>
      </p:sp>
      <p:sp>
        <p:nvSpPr>
          <p:cNvPr id="14" name="Text 12"/>
          <p:cNvSpPr txBox="1"/>
          <p:nvPr/>
        </p:nvSpPr>
        <p:spPr>
          <a:xfrm>
            <a:off x="6903720" y="3337560"/>
            <a:ext cx="41148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PART 2 ASKS</a:t>
            </a:r>
            <a:endParaRPr lang="en-US" sz="1000" dirty="0"/>
          </a:p>
        </p:txBody>
      </p:sp>
      <p:sp>
        <p:nvSpPr>
          <p:cNvPr id="15" name="Text 13"/>
          <p:cNvSpPr txBox="1"/>
          <p:nvPr/>
        </p:nvSpPr>
        <p:spPr>
          <a:xfrm>
            <a:off x="6903720" y="3611880"/>
            <a:ext cx="4297680" cy="685800"/>
          </a:xfrm>
          <a:prstGeom prst="rect">
            <a:avLst/>
          </a:prstGeom>
          <a:noFill/>
          <a:ln/>
        </p:spPr>
        <p:txBody>
          <a:bodyPr wrap="square" lIns="0" tIns="0" rIns="0" bIns="0" rtlCol="0" anchor="t"/>
          <a:lstStyle/>
          <a:p>
            <a:pPr indent="0" marL="0">
              <a:buNone/>
            </a:pPr>
            <a:r>
              <a:rPr lang="en-US" sz="1600" dirty="0">
                <a:solidFill>
                  <a:srgbClr val="FFFFFF"/>
                </a:solidFill>
                <a:latin typeface="Cambria" pitchFamily="34" charset="0"/>
                <a:ea typeface="Cambria" pitchFamily="34" charset="-122"/>
                <a:cs typeface="Cambria" pitchFamily="34" charset="-120"/>
              </a:rPr>
              <a:t>Who do we serve first, and who can help or stop us?</a:t>
            </a:r>
            <a:endParaRPr lang="en-US" sz="1600" dirty="0"/>
          </a:p>
        </p:txBody>
      </p:sp>
      <p:sp>
        <p:nvSpPr>
          <p:cNvPr id="16" name="Text 14"/>
          <p:cNvSpPr txBox="1"/>
          <p:nvPr/>
        </p:nvSpPr>
        <p:spPr>
          <a:xfrm>
            <a:off x="731520" y="4800600"/>
            <a:ext cx="54864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WHAT CARRIES OVER</a:t>
            </a:r>
            <a:endParaRPr lang="en-US" sz="1000" dirty="0"/>
          </a:p>
        </p:txBody>
      </p:sp>
      <p:sp>
        <p:nvSpPr>
          <p:cNvPr id="17" name="Shape 15"/>
          <p:cNvSpPr/>
          <p:nvPr/>
        </p:nvSpPr>
        <p:spPr>
          <a:xfrm>
            <a:off x="731520" y="5166360"/>
            <a:ext cx="310896" cy="310896"/>
          </a:xfrm>
          <a:prstGeom prst="ellipse">
            <a:avLst/>
          </a:prstGeom>
          <a:solidFill>
            <a:srgbClr val="F5A623"/>
          </a:solidFill>
          <a:ln/>
        </p:spPr>
      </p:sp>
      <p:sp>
        <p:nvSpPr>
          <p:cNvPr id="18" name="Text 16"/>
          <p:cNvSpPr txBox="1"/>
          <p:nvPr/>
        </p:nvSpPr>
        <p:spPr>
          <a:xfrm>
            <a:off x="731520" y="5166360"/>
            <a:ext cx="310896" cy="310896"/>
          </a:xfrm>
          <a:prstGeom prst="rect">
            <a:avLst/>
          </a:prstGeom>
          <a:noFill/>
          <a:ln/>
        </p:spPr>
        <p:txBody>
          <a:bodyPr wrap="square" lIns="0" tIns="0" rIns="0" bIns="0" rtlCol="0" anchor="ctr"/>
          <a:lstStyle/>
          <a:p>
            <a:pPr algn="ctr" indent="0" marL="0">
              <a:buNone/>
            </a:pPr>
            <a:r>
              <a:rPr lang="en-US" sz="1300" b="1" dirty="0">
                <a:solidFill>
                  <a:srgbClr val="154B36"/>
                </a:solidFill>
                <a:latin typeface="Cambria" pitchFamily="34" charset="0"/>
                <a:ea typeface="Cambria" pitchFamily="34" charset="-122"/>
                <a:cs typeface="Cambria" pitchFamily="34" charset="-120"/>
              </a:rPr>
              <a:t>1</a:t>
            </a:r>
            <a:endParaRPr lang="en-US" sz="1300" dirty="0"/>
          </a:p>
        </p:txBody>
      </p:sp>
      <p:sp>
        <p:nvSpPr>
          <p:cNvPr id="19" name="Text 17"/>
          <p:cNvSpPr txBox="1"/>
          <p:nvPr/>
        </p:nvSpPr>
        <p:spPr>
          <a:xfrm>
            <a:off x="1188720" y="5120640"/>
            <a:ext cx="301752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three assumptions, above all channel and trust</a:t>
            </a:r>
            <a:endParaRPr lang="en-US" sz="1200" dirty="0"/>
          </a:p>
        </p:txBody>
      </p:sp>
      <p:sp>
        <p:nvSpPr>
          <p:cNvPr id="20" name="Shape 18"/>
          <p:cNvSpPr/>
          <p:nvPr/>
        </p:nvSpPr>
        <p:spPr>
          <a:xfrm>
            <a:off x="4389120" y="5166360"/>
            <a:ext cx="310896" cy="310896"/>
          </a:xfrm>
          <a:prstGeom prst="ellipse">
            <a:avLst/>
          </a:prstGeom>
          <a:solidFill>
            <a:srgbClr val="F5A623"/>
          </a:solidFill>
          <a:ln/>
        </p:spPr>
      </p:sp>
      <p:sp>
        <p:nvSpPr>
          <p:cNvPr id="21" name="Text 19"/>
          <p:cNvSpPr txBox="1"/>
          <p:nvPr/>
        </p:nvSpPr>
        <p:spPr>
          <a:xfrm>
            <a:off x="4389120" y="5166360"/>
            <a:ext cx="310896" cy="310896"/>
          </a:xfrm>
          <a:prstGeom prst="rect">
            <a:avLst/>
          </a:prstGeom>
          <a:noFill/>
          <a:ln/>
        </p:spPr>
        <p:txBody>
          <a:bodyPr wrap="square" lIns="0" tIns="0" rIns="0" bIns="0" rtlCol="0" anchor="ctr"/>
          <a:lstStyle/>
          <a:p>
            <a:pPr algn="ctr" indent="0" marL="0">
              <a:buNone/>
            </a:pPr>
            <a:r>
              <a:rPr lang="en-US" sz="1300" b="1" dirty="0">
                <a:solidFill>
                  <a:srgbClr val="154B36"/>
                </a:solidFill>
                <a:latin typeface="Cambria" pitchFamily="34" charset="0"/>
                <a:ea typeface="Cambria" pitchFamily="34" charset="-122"/>
                <a:cs typeface="Cambria" pitchFamily="34" charset="-120"/>
              </a:rPr>
              <a:t>2</a:t>
            </a:r>
            <a:endParaRPr lang="en-US" sz="1300" dirty="0"/>
          </a:p>
        </p:txBody>
      </p:sp>
      <p:sp>
        <p:nvSpPr>
          <p:cNvPr id="22" name="Text 20"/>
          <p:cNvSpPr txBox="1"/>
          <p:nvPr/>
        </p:nvSpPr>
        <p:spPr>
          <a:xfrm>
            <a:off x="4846320" y="5120640"/>
            <a:ext cx="301752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Interviewees who fit segment A inform both parts</a:t>
            </a:r>
            <a:endParaRPr lang="en-US" sz="1200" dirty="0"/>
          </a:p>
        </p:txBody>
      </p:sp>
      <p:sp>
        <p:nvSpPr>
          <p:cNvPr id="23" name="Shape 21"/>
          <p:cNvSpPr/>
          <p:nvPr/>
        </p:nvSpPr>
        <p:spPr>
          <a:xfrm>
            <a:off x="8046720" y="5166360"/>
            <a:ext cx="310896" cy="310896"/>
          </a:xfrm>
          <a:prstGeom prst="ellipse">
            <a:avLst/>
          </a:prstGeom>
          <a:solidFill>
            <a:srgbClr val="F5A623"/>
          </a:solidFill>
          <a:ln/>
        </p:spPr>
      </p:sp>
      <p:sp>
        <p:nvSpPr>
          <p:cNvPr id="24" name="Text 22"/>
          <p:cNvSpPr txBox="1"/>
          <p:nvPr/>
        </p:nvSpPr>
        <p:spPr>
          <a:xfrm>
            <a:off x="8046720" y="5166360"/>
            <a:ext cx="310896" cy="310896"/>
          </a:xfrm>
          <a:prstGeom prst="rect">
            <a:avLst/>
          </a:prstGeom>
          <a:noFill/>
          <a:ln/>
        </p:spPr>
        <p:txBody>
          <a:bodyPr wrap="square" lIns="0" tIns="0" rIns="0" bIns="0" rtlCol="0" anchor="ctr"/>
          <a:lstStyle/>
          <a:p>
            <a:pPr algn="ctr" indent="0" marL="0">
              <a:buNone/>
            </a:pPr>
            <a:r>
              <a:rPr lang="en-US" sz="1300" b="1" dirty="0">
                <a:solidFill>
                  <a:srgbClr val="154B36"/>
                </a:solidFill>
                <a:latin typeface="Cambria" pitchFamily="34" charset="0"/>
                <a:ea typeface="Cambria" pitchFamily="34" charset="-122"/>
                <a:cs typeface="Cambria" pitchFamily="34" charset="-120"/>
              </a:rPr>
              <a:t>3</a:t>
            </a:r>
            <a:endParaRPr lang="en-US" sz="1300" dirty="0"/>
          </a:p>
        </p:txBody>
      </p:sp>
      <p:sp>
        <p:nvSpPr>
          <p:cNvPr id="25" name="Text 23"/>
          <p:cNvSpPr txBox="1"/>
          <p:nvPr/>
        </p:nvSpPr>
        <p:spPr>
          <a:xfrm>
            <a:off x="8503920" y="5120640"/>
            <a:ext cx="301752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revised problem statement as the starting point</a:t>
            </a:r>
            <a:endParaRPr lang="en-US" sz="1200" dirty="0"/>
          </a:p>
        </p:txBody>
      </p:sp>
      <p:sp>
        <p:nvSpPr>
          <p:cNvPr id="26" name="Text 24"/>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C9D5CE"/>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PART 2 · ASSIGNMENT 2 · USER &amp; STAKEHOLDER VALIDATION · STEPS 1–2</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Three segments, one priority: shoppers already managing a condition</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Sources: Kenya STEPS 2015; ATNi / EAMA Kenya Market Assessment 2025. Behaviours are hypotheses from desk-research personas, not yet observed.</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8 / 13</a:t>
            </a:r>
            <a:endParaRPr lang="en-US" sz="900" dirty="0"/>
          </a:p>
        </p:txBody>
      </p:sp>
      <p:sp>
        <p:nvSpPr>
          <p:cNvPr id="12" name="Shape 10"/>
          <p:cNvSpPr/>
          <p:nvPr/>
        </p:nvSpPr>
        <p:spPr>
          <a:xfrm>
            <a:off x="2249424" y="1481328"/>
            <a:ext cx="3063240" cy="896112"/>
          </a:xfrm>
          <a:prstGeom prst="roundRect">
            <a:avLst>
              <a:gd name="adj" fmla="val 6122"/>
            </a:avLst>
          </a:prstGeom>
          <a:solidFill>
            <a:srgbClr val="154B36"/>
          </a:solidFill>
          <a:ln/>
        </p:spPr>
      </p:sp>
      <p:sp>
        <p:nvSpPr>
          <p:cNvPr id="13" name="Text 11"/>
          <p:cNvSpPr txBox="1"/>
          <p:nvPr/>
        </p:nvSpPr>
        <p:spPr>
          <a:xfrm>
            <a:off x="2377440" y="1517904"/>
            <a:ext cx="2807208" cy="8229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 · Condition managers</a:t>
            </a:r>
            <a:endParaRPr lang="en-US" sz="1200" dirty="0"/>
          </a:p>
          <a:p>
            <a:pPr indent="0" marL="0">
              <a:buNone/>
            </a:pPr>
            <a:r>
              <a:rPr lang="en-US" sz="1000" dirty="0">
                <a:solidFill>
                  <a:srgbClr val="FFFFFF"/>
                </a:solidFill>
                <a:latin typeface="Calibri" pitchFamily="34" charset="0"/>
                <a:ea typeface="Calibri" pitchFamily="34" charset="-122"/>
                <a:cs typeface="Calibri" pitchFamily="34" charset="-120"/>
              </a:rPr>
              <a:t>Adults ~45–60 advised to cut sugar or salt; shop online weekly</a:t>
            </a:r>
            <a:endParaRPr lang="en-US" sz="1200" dirty="0"/>
          </a:p>
          <a:p>
            <a:pPr indent="0" marL="0">
              <a:buNone/>
            </a:pPr>
            <a:r>
              <a:rPr lang="en-US" sz="950" i="1" dirty="0">
                <a:solidFill>
                  <a:srgbClr val="C9D5CE"/>
                </a:solidFill>
                <a:latin typeface="Calibri" pitchFamily="34" charset="0"/>
                <a:ea typeface="Calibri" pitchFamily="34" charset="-122"/>
                <a:cs typeface="Calibri" pitchFamily="34" charset="-120"/>
              </a:rPr>
              <a:t>23.8% raised BP · 3.1% diabetes (measured)</a:t>
            </a:r>
            <a:endParaRPr lang="en-US" sz="1200" dirty="0"/>
          </a:p>
        </p:txBody>
      </p:sp>
      <p:sp>
        <p:nvSpPr>
          <p:cNvPr id="14" name="Shape 12"/>
          <p:cNvSpPr/>
          <p:nvPr/>
        </p:nvSpPr>
        <p:spPr>
          <a:xfrm>
            <a:off x="5413248" y="1481328"/>
            <a:ext cx="3063240" cy="896112"/>
          </a:xfrm>
          <a:prstGeom prst="roundRect">
            <a:avLst>
              <a:gd name="adj" fmla="val 6122"/>
            </a:avLst>
          </a:prstGeom>
          <a:solidFill>
            <a:srgbClr val="FFFFFF"/>
          </a:solidFill>
          <a:ln w="9525">
            <a:solidFill>
              <a:srgbClr val="C9D5CE"/>
            </a:solidFill>
            <a:prstDash val="solid"/>
          </a:ln>
        </p:spPr>
      </p:sp>
      <p:sp>
        <p:nvSpPr>
          <p:cNvPr id="15" name="Text 13"/>
          <p:cNvSpPr txBox="1"/>
          <p:nvPr/>
        </p:nvSpPr>
        <p:spPr>
          <a:xfrm>
            <a:off x="5541264" y="1517904"/>
            <a:ext cx="2807208" cy="822960"/>
          </a:xfrm>
          <a:prstGeom prst="rect">
            <a:avLst/>
          </a:prstGeom>
          <a:noFill/>
          <a:ln/>
        </p:spPr>
        <p:txBody>
          <a:bodyPr wrap="square" lIns="0" tIns="0" rIns="0" bIns="0" rtlCol="0" anchor="ctr"/>
          <a:lstStyle/>
          <a:p>
            <a:pPr indent="0" marL="0">
              <a:buNone/>
            </a:pPr>
            <a:r>
              <a:rPr lang="en-US" sz="1300" b="1" dirty="0">
                <a:solidFill>
                  <a:srgbClr val="154B36"/>
                </a:solidFill>
                <a:latin typeface="Cambria" pitchFamily="34" charset="0"/>
                <a:ea typeface="Cambria" pitchFamily="34" charset="-122"/>
                <a:cs typeface="Cambria" pitchFamily="34" charset="-120"/>
              </a:rPr>
              <a:t>B · At risk, not diagnosed</a:t>
            </a:r>
            <a:endParaRPr lang="en-US" sz="1200" dirty="0"/>
          </a:p>
          <a:p>
            <a:pPr indent="0" marL="0">
              <a:buNone/>
            </a:pPr>
            <a:r>
              <a:rPr lang="en-US" sz="1000" dirty="0">
                <a:solidFill>
                  <a:srgbClr val="154B36"/>
                </a:solidFill>
                <a:latin typeface="Calibri" pitchFamily="34" charset="0"/>
                <a:ea typeface="Calibri" pitchFamily="34" charset="-122"/>
                <a:cs typeface="Calibri" pitchFamily="34" charset="-120"/>
              </a:rPr>
              <a:t>Adults with a known risk factor who want to prevent illness</a:t>
            </a:r>
            <a:endParaRPr lang="en-US" sz="1200" dirty="0"/>
          </a:p>
          <a:p>
            <a:pPr indent="0" marL="0">
              <a:buNone/>
            </a:pPr>
            <a:r>
              <a:rPr lang="en-US" sz="950" i="1" dirty="0">
                <a:solidFill>
                  <a:srgbClr val="5C6B63"/>
                </a:solidFill>
                <a:latin typeface="Calibri" pitchFamily="34" charset="0"/>
                <a:ea typeface="Calibri" pitchFamily="34" charset="-122"/>
                <a:cs typeface="Calibri" pitchFamily="34" charset="-120"/>
              </a:rPr>
              <a:t>27.9% of adults overweight or obese</a:t>
            </a:r>
            <a:endParaRPr lang="en-US" sz="1200" dirty="0"/>
          </a:p>
        </p:txBody>
      </p:sp>
      <p:sp>
        <p:nvSpPr>
          <p:cNvPr id="16" name="Shape 14"/>
          <p:cNvSpPr/>
          <p:nvPr/>
        </p:nvSpPr>
        <p:spPr>
          <a:xfrm>
            <a:off x="8577072" y="1481328"/>
            <a:ext cx="3063240" cy="896112"/>
          </a:xfrm>
          <a:prstGeom prst="roundRect">
            <a:avLst>
              <a:gd name="adj" fmla="val 6122"/>
            </a:avLst>
          </a:prstGeom>
          <a:solidFill>
            <a:srgbClr val="FFFFFF"/>
          </a:solidFill>
          <a:ln w="9525">
            <a:solidFill>
              <a:srgbClr val="C9D5CE"/>
            </a:solidFill>
            <a:prstDash val="solid"/>
          </a:ln>
        </p:spPr>
      </p:sp>
      <p:sp>
        <p:nvSpPr>
          <p:cNvPr id="17" name="Text 15"/>
          <p:cNvSpPr txBox="1"/>
          <p:nvPr/>
        </p:nvSpPr>
        <p:spPr>
          <a:xfrm>
            <a:off x="8705088" y="1517904"/>
            <a:ext cx="2807208" cy="822960"/>
          </a:xfrm>
          <a:prstGeom prst="rect">
            <a:avLst/>
          </a:prstGeom>
          <a:noFill/>
          <a:ln/>
        </p:spPr>
        <p:txBody>
          <a:bodyPr wrap="square" lIns="0" tIns="0" rIns="0" bIns="0" rtlCol="0" anchor="ctr"/>
          <a:lstStyle/>
          <a:p>
            <a:pPr indent="0" marL="0">
              <a:buNone/>
            </a:pPr>
            <a:r>
              <a:rPr lang="en-US" sz="1300" b="1" dirty="0">
                <a:solidFill>
                  <a:srgbClr val="154B36"/>
                </a:solidFill>
                <a:latin typeface="Cambria" pitchFamily="34" charset="0"/>
                <a:ea typeface="Cambria" pitchFamily="34" charset="-122"/>
                <a:cs typeface="Cambria" pitchFamily="34" charset="-120"/>
              </a:rPr>
              <a:t>C · Unaware majority</a:t>
            </a:r>
            <a:endParaRPr lang="en-US" sz="1200" dirty="0"/>
          </a:p>
          <a:p>
            <a:pPr indent="0" marL="0">
              <a:buNone/>
            </a:pPr>
            <a:r>
              <a:rPr lang="en-US" sz="1000" dirty="0">
                <a:solidFill>
                  <a:srgbClr val="154B36"/>
                </a:solidFill>
                <a:latin typeface="Calibri" pitchFamily="34" charset="0"/>
                <a:ea typeface="Calibri" pitchFamily="34" charset="-122"/>
                <a:cs typeface="Calibri" pitchFamily="34" charset="-120"/>
              </a:rPr>
              <a:t>Weekly online shoppers with no felt health risk</a:t>
            </a:r>
            <a:endParaRPr lang="en-US" sz="1200" dirty="0"/>
          </a:p>
          <a:p>
            <a:pPr indent="0" marL="0">
              <a:buNone/>
            </a:pPr>
            <a:r>
              <a:rPr lang="en-US" sz="950" i="1" dirty="0">
                <a:solidFill>
                  <a:srgbClr val="5C6B63"/>
                </a:solidFill>
                <a:latin typeface="Calibri" pitchFamily="34" charset="0"/>
                <a:ea typeface="Calibri" pitchFamily="34" charset="-122"/>
                <a:cs typeface="Calibri" pitchFamily="34" charset="-120"/>
              </a:rPr>
              <a:t>Only 6.0% meet fruit &amp; veg minimum</a:t>
            </a:r>
            <a:endParaRPr lang="en-US" sz="1200" dirty="0"/>
          </a:p>
        </p:txBody>
      </p:sp>
      <p:sp>
        <p:nvSpPr>
          <p:cNvPr id="18" name="Shape 16"/>
          <p:cNvSpPr/>
          <p:nvPr/>
        </p:nvSpPr>
        <p:spPr>
          <a:xfrm>
            <a:off x="4398264" y="1362456"/>
            <a:ext cx="804672" cy="237744"/>
          </a:xfrm>
          <a:prstGeom prst="roundRect">
            <a:avLst>
              <a:gd name="adj" fmla="val 46154"/>
            </a:avLst>
          </a:prstGeom>
          <a:solidFill>
            <a:srgbClr val="EE8100"/>
          </a:solidFill>
          <a:ln/>
        </p:spPr>
      </p:sp>
      <p:sp>
        <p:nvSpPr>
          <p:cNvPr id="19" name="Text 17"/>
          <p:cNvSpPr txBox="1"/>
          <p:nvPr/>
        </p:nvSpPr>
        <p:spPr>
          <a:xfrm>
            <a:off x="4398264" y="1362456"/>
            <a:ext cx="804672" cy="237744"/>
          </a:xfrm>
          <a:prstGeom prst="rect">
            <a:avLst/>
          </a:prstGeom>
          <a:noFill/>
          <a:ln/>
        </p:spPr>
        <p:txBody>
          <a:bodyPr wrap="square" lIns="0" tIns="0" rIns="0" bIns="0" rtlCol="0" anchor="ctr"/>
          <a:lstStyle/>
          <a:p>
            <a:pPr algn="ctr" indent="0" marL="0">
              <a:buNone/>
            </a:pPr>
            <a:r>
              <a:rPr lang="en-US" sz="900" b="1" spc="100" kern="0" dirty="0">
                <a:solidFill>
                  <a:srgbClr val="1F2A24"/>
                </a:solidFill>
                <a:latin typeface="Calibri" pitchFamily="34" charset="0"/>
                <a:ea typeface="Calibri" pitchFamily="34" charset="-122"/>
                <a:cs typeface="Calibri" pitchFamily="34" charset="-120"/>
              </a:rPr>
              <a:t>PRIORITY</a:t>
            </a:r>
            <a:endParaRPr lang="en-US" sz="900" dirty="0"/>
          </a:p>
        </p:txBody>
      </p:sp>
      <p:sp>
        <p:nvSpPr>
          <p:cNvPr id="20" name="Shape 18"/>
          <p:cNvSpPr/>
          <p:nvPr/>
        </p:nvSpPr>
        <p:spPr>
          <a:xfrm>
            <a:off x="548640" y="2450592"/>
            <a:ext cx="1600200" cy="548640"/>
          </a:xfrm>
          <a:prstGeom prst="roundRect">
            <a:avLst>
              <a:gd name="adj" fmla="val 8333"/>
            </a:avLst>
          </a:prstGeom>
          <a:solidFill>
            <a:srgbClr val="FFFFFF"/>
          </a:solidFill>
          <a:ln w="9525">
            <a:solidFill>
              <a:srgbClr val="C9D5CE"/>
            </a:solidFill>
            <a:prstDash val="solid"/>
          </a:ln>
        </p:spPr>
      </p:sp>
      <p:sp>
        <p:nvSpPr>
          <p:cNvPr id="21" name="Text 19"/>
          <p:cNvSpPr txBox="1"/>
          <p:nvPr/>
        </p:nvSpPr>
        <p:spPr>
          <a:xfrm>
            <a:off x="640080" y="2450592"/>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Problem severity and frequency</a:t>
            </a:r>
            <a:endParaRPr lang="en-US" sz="1000" dirty="0"/>
          </a:p>
        </p:txBody>
      </p:sp>
      <p:sp>
        <p:nvSpPr>
          <p:cNvPr id="22" name="Shape 20"/>
          <p:cNvSpPr/>
          <p:nvPr/>
        </p:nvSpPr>
        <p:spPr>
          <a:xfrm>
            <a:off x="2249424" y="2450592"/>
            <a:ext cx="3063240" cy="548640"/>
          </a:xfrm>
          <a:prstGeom prst="roundRect">
            <a:avLst>
              <a:gd name="adj" fmla="val 8333"/>
            </a:avLst>
          </a:prstGeom>
          <a:solidFill>
            <a:srgbClr val="E8F1EB"/>
          </a:solidFill>
          <a:ln w="15875">
            <a:solidFill>
              <a:srgbClr val="154B36"/>
            </a:solidFill>
            <a:prstDash val="solid"/>
          </a:ln>
        </p:spPr>
      </p:sp>
      <p:sp>
        <p:nvSpPr>
          <p:cNvPr id="23" name="Text 21"/>
          <p:cNvSpPr txBox="1"/>
          <p:nvPr/>
        </p:nvSpPr>
        <p:spPr>
          <a:xfrm>
            <a:off x="2359152" y="2450592"/>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High: every weekly basket; a wrong pick has a health cost</a:t>
            </a:r>
            <a:endParaRPr lang="en-US" sz="1000" dirty="0"/>
          </a:p>
        </p:txBody>
      </p:sp>
      <p:sp>
        <p:nvSpPr>
          <p:cNvPr id="24" name="Shape 22"/>
          <p:cNvSpPr/>
          <p:nvPr/>
        </p:nvSpPr>
        <p:spPr>
          <a:xfrm>
            <a:off x="5413248" y="2450592"/>
            <a:ext cx="3063240" cy="548640"/>
          </a:xfrm>
          <a:prstGeom prst="roundRect">
            <a:avLst>
              <a:gd name="adj" fmla="val 8333"/>
            </a:avLst>
          </a:prstGeom>
          <a:solidFill>
            <a:srgbClr val="FFFFFF"/>
          </a:solidFill>
          <a:ln w="9525">
            <a:solidFill>
              <a:srgbClr val="C9D5CE"/>
            </a:solidFill>
            <a:prstDash val="solid"/>
          </a:ln>
        </p:spPr>
      </p:sp>
      <p:sp>
        <p:nvSpPr>
          <p:cNvPr id="25" name="Text 23"/>
          <p:cNvSpPr txBox="1"/>
          <p:nvPr/>
        </p:nvSpPr>
        <p:spPr>
          <a:xfrm>
            <a:off x="5522976" y="2450592"/>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Medium: rising risk, but no rule to follow</a:t>
            </a:r>
            <a:endParaRPr lang="en-US" sz="1000" dirty="0"/>
          </a:p>
        </p:txBody>
      </p:sp>
      <p:sp>
        <p:nvSpPr>
          <p:cNvPr id="26" name="Shape 24"/>
          <p:cNvSpPr/>
          <p:nvPr/>
        </p:nvSpPr>
        <p:spPr>
          <a:xfrm>
            <a:off x="8577072" y="2450592"/>
            <a:ext cx="3063240" cy="548640"/>
          </a:xfrm>
          <a:prstGeom prst="roundRect">
            <a:avLst>
              <a:gd name="adj" fmla="val 8333"/>
            </a:avLst>
          </a:prstGeom>
          <a:solidFill>
            <a:srgbClr val="FFFFFF"/>
          </a:solidFill>
          <a:ln w="9525">
            <a:solidFill>
              <a:srgbClr val="C9D5CE"/>
            </a:solidFill>
            <a:prstDash val="solid"/>
          </a:ln>
        </p:spPr>
      </p:sp>
      <p:sp>
        <p:nvSpPr>
          <p:cNvPr id="27" name="Text 25"/>
          <p:cNvSpPr txBox="1"/>
          <p:nvPr/>
        </p:nvSpPr>
        <p:spPr>
          <a:xfrm>
            <a:off x="8686800" y="2450592"/>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Low felt: the problem exists but goes unnoticed</a:t>
            </a:r>
            <a:endParaRPr lang="en-US" sz="1000" dirty="0"/>
          </a:p>
        </p:txBody>
      </p:sp>
      <p:sp>
        <p:nvSpPr>
          <p:cNvPr id="28" name="Shape 26"/>
          <p:cNvSpPr/>
          <p:nvPr/>
        </p:nvSpPr>
        <p:spPr>
          <a:xfrm>
            <a:off x="548640" y="3035808"/>
            <a:ext cx="1600200" cy="548640"/>
          </a:xfrm>
          <a:prstGeom prst="roundRect">
            <a:avLst>
              <a:gd name="adj" fmla="val 8333"/>
            </a:avLst>
          </a:prstGeom>
          <a:solidFill>
            <a:srgbClr val="FFFFFF"/>
          </a:solidFill>
          <a:ln w="9525">
            <a:solidFill>
              <a:srgbClr val="C9D5CE"/>
            </a:solidFill>
            <a:prstDash val="solid"/>
          </a:ln>
        </p:spPr>
      </p:sp>
      <p:sp>
        <p:nvSpPr>
          <p:cNvPr id="29" name="Text 27"/>
          <p:cNvSpPr txBox="1"/>
          <p:nvPr/>
        </p:nvSpPr>
        <p:spPr>
          <a:xfrm>
            <a:off x="640080" y="3035808"/>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Current behaviour or workaround</a:t>
            </a:r>
            <a:endParaRPr lang="en-US" sz="1000" dirty="0"/>
          </a:p>
        </p:txBody>
      </p:sp>
      <p:sp>
        <p:nvSpPr>
          <p:cNvPr id="30" name="Shape 28"/>
          <p:cNvSpPr/>
          <p:nvPr/>
        </p:nvSpPr>
        <p:spPr>
          <a:xfrm>
            <a:off x="2249424" y="3035808"/>
            <a:ext cx="3063240" cy="548640"/>
          </a:xfrm>
          <a:prstGeom prst="roundRect">
            <a:avLst>
              <a:gd name="adj" fmla="val 8333"/>
            </a:avLst>
          </a:prstGeom>
          <a:solidFill>
            <a:srgbClr val="E8F1EB"/>
          </a:solidFill>
          <a:ln w="15875">
            <a:solidFill>
              <a:srgbClr val="154B36"/>
            </a:solidFill>
            <a:prstDash val="solid"/>
          </a:ln>
        </p:spPr>
      </p:sp>
      <p:sp>
        <p:nvSpPr>
          <p:cNvPr id="31" name="Text 29"/>
          <p:cNvSpPr txBox="1"/>
          <p:nvPr/>
        </p:nvSpPr>
        <p:spPr>
          <a:xfrm>
            <a:off x="2359152" y="3035808"/>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Memorised avoid-lists, small-print labels, asking family or a clinician</a:t>
            </a:r>
            <a:endParaRPr lang="en-US" sz="1000" dirty="0"/>
          </a:p>
        </p:txBody>
      </p:sp>
      <p:sp>
        <p:nvSpPr>
          <p:cNvPr id="32" name="Shape 30"/>
          <p:cNvSpPr/>
          <p:nvPr/>
        </p:nvSpPr>
        <p:spPr>
          <a:xfrm>
            <a:off x="5413248" y="3035808"/>
            <a:ext cx="3063240" cy="548640"/>
          </a:xfrm>
          <a:prstGeom prst="roundRect">
            <a:avLst>
              <a:gd name="adj" fmla="val 8333"/>
            </a:avLst>
          </a:prstGeom>
          <a:solidFill>
            <a:srgbClr val="FFFFFF"/>
          </a:solidFill>
          <a:ln w="9525">
            <a:solidFill>
              <a:srgbClr val="C9D5CE"/>
            </a:solidFill>
            <a:prstDash val="solid"/>
          </a:ln>
        </p:spPr>
      </p:sp>
      <p:sp>
        <p:nvSpPr>
          <p:cNvPr id="33" name="Text 31"/>
          <p:cNvSpPr txBox="1"/>
          <p:nvPr/>
        </p:nvSpPr>
        <p:spPr>
          <a:xfrm>
            <a:off x="5522976" y="3035808"/>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General “healthy” rules of thumb and pack claims</a:t>
            </a:r>
            <a:endParaRPr lang="en-US" sz="1000" dirty="0"/>
          </a:p>
        </p:txBody>
      </p:sp>
      <p:sp>
        <p:nvSpPr>
          <p:cNvPr id="34" name="Shape 32"/>
          <p:cNvSpPr/>
          <p:nvPr/>
        </p:nvSpPr>
        <p:spPr>
          <a:xfrm>
            <a:off x="8577072" y="3035808"/>
            <a:ext cx="3063240" cy="548640"/>
          </a:xfrm>
          <a:prstGeom prst="roundRect">
            <a:avLst>
              <a:gd name="adj" fmla="val 8333"/>
            </a:avLst>
          </a:prstGeom>
          <a:solidFill>
            <a:srgbClr val="FFFFFF"/>
          </a:solidFill>
          <a:ln w="9525">
            <a:solidFill>
              <a:srgbClr val="C9D5CE"/>
            </a:solidFill>
            <a:prstDash val="solid"/>
          </a:ln>
        </p:spPr>
      </p:sp>
      <p:sp>
        <p:nvSpPr>
          <p:cNvPr id="35" name="Text 33"/>
          <p:cNvSpPr txBox="1"/>
          <p:nvPr/>
        </p:nvSpPr>
        <p:spPr>
          <a:xfrm>
            <a:off x="8686800" y="3035808"/>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None: buys on price and habit</a:t>
            </a:r>
            <a:endParaRPr lang="en-US" sz="1000" dirty="0"/>
          </a:p>
        </p:txBody>
      </p:sp>
      <p:sp>
        <p:nvSpPr>
          <p:cNvPr id="36" name="Shape 34"/>
          <p:cNvSpPr/>
          <p:nvPr/>
        </p:nvSpPr>
        <p:spPr>
          <a:xfrm>
            <a:off x="548640" y="3621024"/>
            <a:ext cx="1600200" cy="548640"/>
          </a:xfrm>
          <a:prstGeom prst="roundRect">
            <a:avLst>
              <a:gd name="adj" fmla="val 8333"/>
            </a:avLst>
          </a:prstGeom>
          <a:solidFill>
            <a:srgbClr val="FFFFFF"/>
          </a:solidFill>
          <a:ln w="9525">
            <a:solidFill>
              <a:srgbClr val="C9D5CE"/>
            </a:solidFill>
            <a:prstDash val="solid"/>
          </a:ln>
        </p:spPr>
      </p:sp>
      <p:sp>
        <p:nvSpPr>
          <p:cNvPr id="37" name="Text 35"/>
          <p:cNvSpPr txBox="1"/>
          <p:nvPr/>
        </p:nvSpPr>
        <p:spPr>
          <a:xfrm>
            <a:off x="640080" y="3621024"/>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Access to alternatives</a:t>
            </a:r>
            <a:endParaRPr lang="en-US" sz="1000" dirty="0"/>
          </a:p>
        </p:txBody>
      </p:sp>
      <p:sp>
        <p:nvSpPr>
          <p:cNvPr id="38" name="Shape 36"/>
          <p:cNvSpPr/>
          <p:nvPr/>
        </p:nvSpPr>
        <p:spPr>
          <a:xfrm>
            <a:off x="2249424" y="3621024"/>
            <a:ext cx="3063240" cy="548640"/>
          </a:xfrm>
          <a:prstGeom prst="roundRect">
            <a:avLst>
              <a:gd name="adj" fmla="val 8333"/>
            </a:avLst>
          </a:prstGeom>
          <a:solidFill>
            <a:srgbClr val="E8F1EB"/>
          </a:solidFill>
          <a:ln w="15875">
            <a:solidFill>
              <a:srgbClr val="154B36"/>
            </a:solidFill>
            <a:prstDash val="solid"/>
          </a:ln>
        </p:spPr>
      </p:sp>
      <p:sp>
        <p:nvSpPr>
          <p:cNvPr id="39" name="Text 37"/>
          <p:cNvSpPr txBox="1"/>
          <p:nvPr/>
        </p:nvSpPr>
        <p:spPr>
          <a:xfrm>
            <a:off x="2359152" y="3621024"/>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Pack labels only; no online signal; added sugar not mandatory</a:t>
            </a:r>
            <a:endParaRPr lang="en-US" sz="1000" dirty="0"/>
          </a:p>
        </p:txBody>
      </p:sp>
      <p:sp>
        <p:nvSpPr>
          <p:cNvPr id="40" name="Shape 38"/>
          <p:cNvSpPr/>
          <p:nvPr/>
        </p:nvSpPr>
        <p:spPr>
          <a:xfrm>
            <a:off x="5413248" y="3621024"/>
            <a:ext cx="3063240" cy="548640"/>
          </a:xfrm>
          <a:prstGeom prst="roundRect">
            <a:avLst>
              <a:gd name="adj" fmla="val 8333"/>
            </a:avLst>
          </a:prstGeom>
          <a:solidFill>
            <a:srgbClr val="FFFFFF"/>
          </a:solidFill>
          <a:ln w="9525">
            <a:solidFill>
              <a:srgbClr val="C9D5CE"/>
            </a:solidFill>
            <a:prstDash val="solid"/>
          </a:ln>
        </p:spPr>
      </p:sp>
      <p:sp>
        <p:nvSpPr>
          <p:cNvPr id="41" name="Text 39"/>
          <p:cNvSpPr txBox="1"/>
          <p:nvPr/>
        </p:nvSpPr>
        <p:spPr>
          <a:xfrm>
            <a:off x="5522976" y="3621024"/>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Same, with no personalised guidance</a:t>
            </a:r>
            <a:endParaRPr lang="en-US" sz="1000" dirty="0"/>
          </a:p>
        </p:txBody>
      </p:sp>
      <p:sp>
        <p:nvSpPr>
          <p:cNvPr id="42" name="Shape 40"/>
          <p:cNvSpPr/>
          <p:nvPr/>
        </p:nvSpPr>
        <p:spPr>
          <a:xfrm>
            <a:off x="8577072" y="3621024"/>
            <a:ext cx="3063240" cy="548640"/>
          </a:xfrm>
          <a:prstGeom prst="roundRect">
            <a:avLst>
              <a:gd name="adj" fmla="val 8333"/>
            </a:avLst>
          </a:prstGeom>
          <a:solidFill>
            <a:srgbClr val="FFFFFF"/>
          </a:solidFill>
          <a:ln w="9525">
            <a:solidFill>
              <a:srgbClr val="C9D5CE"/>
            </a:solidFill>
            <a:prstDash val="solid"/>
          </a:ln>
        </p:spPr>
      </p:sp>
      <p:sp>
        <p:nvSpPr>
          <p:cNvPr id="43" name="Text 41"/>
          <p:cNvSpPr txBox="1"/>
          <p:nvPr/>
        </p:nvSpPr>
        <p:spPr>
          <a:xfrm>
            <a:off x="8686800" y="3621024"/>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Same; nothing prompts them to look</a:t>
            </a:r>
            <a:endParaRPr lang="en-US" sz="1000" dirty="0"/>
          </a:p>
        </p:txBody>
      </p:sp>
      <p:sp>
        <p:nvSpPr>
          <p:cNvPr id="44" name="Shape 42"/>
          <p:cNvSpPr/>
          <p:nvPr/>
        </p:nvSpPr>
        <p:spPr>
          <a:xfrm>
            <a:off x="548640" y="4206240"/>
            <a:ext cx="1600200" cy="548640"/>
          </a:xfrm>
          <a:prstGeom prst="roundRect">
            <a:avLst>
              <a:gd name="adj" fmla="val 8333"/>
            </a:avLst>
          </a:prstGeom>
          <a:solidFill>
            <a:srgbClr val="FFFFFF"/>
          </a:solidFill>
          <a:ln w="9525">
            <a:solidFill>
              <a:srgbClr val="C9D5CE"/>
            </a:solidFill>
            <a:prstDash val="solid"/>
          </a:ln>
        </p:spPr>
      </p:sp>
      <p:sp>
        <p:nvSpPr>
          <p:cNvPr id="45" name="Text 43"/>
          <p:cNvSpPr txBox="1"/>
          <p:nvPr/>
        </p:nvSpPr>
        <p:spPr>
          <a:xfrm>
            <a:off x="640080" y="4206240"/>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Role in the health system</a:t>
            </a:r>
            <a:endParaRPr lang="en-US" sz="1000" dirty="0"/>
          </a:p>
        </p:txBody>
      </p:sp>
      <p:sp>
        <p:nvSpPr>
          <p:cNvPr id="46" name="Shape 44"/>
          <p:cNvSpPr/>
          <p:nvPr/>
        </p:nvSpPr>
        <p:spPr>
          <a:xfrm>
            <a:off x="2249424" y="4206240"/>
            <a:ext cx="3063240" cy="548640"/>
          </a:xfrm>
          <a:prstGeom prst="roundRect">
            <a:avLst>
              <a:gd name="adj" fmla="val 8333"/>
            </a:avLst>
          </a:prstGeom>
          <a:solidFill>
            <a:srgbClr val="E8F1EB"/>
          </a:solidFill>
          <a:ln w="15875">
            <a:solidFill>
              <a:srgbClr val="154B36"/>
            </a:solidFill>
            <a:prstDash val="solid"/>
          </a:ln>
        </p:spPr>
      </p:sp>
      <p:sp>
        <p:nvSpPr>
          <p:cNvPr id="47" name="Text 45"/>
          <p:cNvSpPr txBox="1"/>
          <p:nvPr/>
        </p:nvSpPr>
        <p:spPr>
          <a:xfrm>
            <a:off x="2359152" y="4206240"/>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Secondary prevention: diagnosed, following advice</a:t>
            </a:r>
            <a:endParaRPr lang="en-US" sz="1000" dirty="0"/>
          </a:p>
        </p:txBody>
      </p:sp>
      <p:sp>
        <p:nvSpPr>
          <p:cNvPr id="48" name="Shape 46"/>
          <p:cNvSpPr/>
          <p:nvPr/>
        </p:nvSpPr>
        <p:spPr>
          <a:xfrm>
            <a:off x="5413248" y="4206240"/>
            <a:ext cx="3063240" cy="548640"/>
          </a:xfrm>
          <a:prstGeom prst="roundRect">
            <a:avLst>
              <a:gd name="adj" fmla="val 8333"/>
            </a:avLst>
          </a:prstGeom>
          <a:solidFill>
            <a:srgbClr val="FFFFFF"/>
          </a:solidFill>
          <a:ln w="9525">
            <a:solidFill>
              <a:srgbClr val="C9D5CE"/>
            </a:solidFill>
            <a:prstDash val="solid"/>
          </a:ln>
        </p:spPr>
      </p:sp>
      <p:sp>
        <p:nvSpPr>
          <p:cNvPr id="49" name="Text 47"/>
          <p:cNvSpPr txBox="1"/>
          <p:nvPr/>
        </p:nvSpPr>
        <p:spPr>
          <a:xfrm>
            <a:off x="5522976" y="4206240"/>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Primary prevention: the group national targets aim to reach</a:t>
            </a:r>
            <a:endParaRPr lang="en-US" sz="1000" dirty="0"/>
          </a:p>
        </p:txBody>
      </p:sp>
      <p:sp>
        <p:nvSpPr>
          <p:cNvPr id="50" name="Shape 48"/>
          <p:cNvSpPr/>
          <p:nvPr/>
        </p:nvSpPr>
        <p:spPr>
          <a:xfrm>
            <a:off x="8577072" y="4206240"/>
            <a:ext cx="3063240" cy="548640"/>
          </a:xfrm>
          <a:prstGeom prst="roundRect">
            <a:avLst>
              <a:gd name="adj" fmla="val 8333"/>
            </a:avLst>
          </a:prstGeom>
          <a:solidFill>
            <a:srgbClr val="FFFFFF"/>
          </a:solidFill>
          <a:ln w="9525">
            <a:solidFill>
              <a:srgbClr val="C9D5CE"/>
            </a:solidFill>
            <a:prstDash val="solid"/>
          </a:ln>
        </p:spPr>
      </p:sp>
      <p:sp>
        <p:nvSpPr>
          <p:cNvPr id="51" name="Text 49"/>
          <p:cNvSpPr txBox="1"/>
          <p:nvPr/>
        </p:nvSpPr>
        <p:spPr>
          <a:xfrm>
            <a:off x="8686800" y="4206240"/>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Primary prevention: the undiagnosed majority</a:t>
            </a:r>
            <a:endParaRPr lang="en-US" sz="1000" dirty="0"/>
          </a:p>
        </p:txBody>
      </p:sp>
      <p:sp>
        <p:nvSpPr>
          <p:cNvPr id="52" name="Shape 50"/>
          <p:cNvSpPr/>
          <p:nvPr/>
        </p:nvSpPr>
        <p:spPr>
          <a:xfrm>
            <a:off x="548640" y="4791456"/>
            <a:ext cx="1600200" cy="548640"/>
          </a:xfrm>
          <a:prstGeom prst="roundRect">
            <a:avLst>
              <a:gd name="adj" fmla="val 8333"/>
            </a:avLst>
          </a:prstGeom>
          <a:solidFill>
            <a:srgbClr val="FFFFFF"/>
          </a:solidFill>
          <a:ln w="9525">
            <a:solidFill>
              <a:srgbClr val="C9D5CE"/>
            </a:solidFill>
            <a:prstDash val="solid"/>
          </a:ln>
        </p:spPr>
      </p:sp>
      <p:sp>
        <p:nvSpPr>
          <p:cNvPr id="53" name="Text 51"/>
          <p:cNvSpPr txBox="1"/>
          <p:nvPr/>
        </p:nvSpPr>
        <p:spPr>
          <a:xfrm>
            <a:off x="640080" y="4791456"/>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Digital access and willingness to pay</a:t>
            </a:r>
            <a:endParaRPr lang="en-US" sz="1000" dirty="0"/>
          </a:p>
        </p:txBody>
      </p:sp>
      <p:sp>
        <p:nvSpPr>
          <p:cNvPr id="54" name="Shape 52"/>
          <p:cNvSpPr/>
          <p:nvPr/>
        </p:nvSpPr>
        <p:spPr>
          <a:xfrm>
            <a:off x="2249424" y="4791456"/>
            <a:ext cx="3063240" cy="548640"/>
          </a:xfrm>
          <a:prstGeom prst="roundRect">
            <a:avLst>
              <a:gd name="adj" fmla="val 8333"/>
            </a:avLst>
          </a:prstGeom>
          <a:solidFill>
            <a:srgbClr val="E8F1EB"/>
          </a:solidFill>
          <a:ln w="15875">
            <a:solidFill>
              <a:srgbClr val="154B36"/>
            </a:solidFill>
            <a:prstDash val="solid"/>
          </a:ln>
        </p:spPr>
      </p:sp>
      <p:sp>
        <p:nvSpPr>
          <p:cNvPr id="55" name="Text 53"/>
          <p:cNvSpPr txBox="1"/>
          <p:nvPr/>
        </p:nvSpPr>
        <p:spPr>
          <a:xfrm>
            <a:off x="2359152" y="4791456"/>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Already shops online; desktop vs app and payment to confirm</a:t>
            </a:r>
            <a:endParaRPr lang="en-US" sz="1000" dirty="0"/>
          </a:p>
        </p:txBody>
      </p:sp>
      <p:sp>
        <p:nvSpPr>
          <p:cNvPr id="56" name="Shape 54"/>
          <p:cNvSpPr/>
          <p:nvPr/>
        </p:nvSpPr>
        <p:spPr>
          <a:xfrm>
            <a:off x="5413248" y="4791456"/>
            <a:ext cx="3063240" cy="548640"/>
          </a:xfrm>
          <a:prstGeom prst="roundRect">
            <a:avLst>
              <a:gd name="adj" fmla="val 8333"/>
            </a:avLst>
          </a:prstGeom>
          <a:solidFill>
            <a:srgbClr val="FFFFFF"/>
          </a:solidFill>
          <a:ln w="9525">
            <a:solidFill>
              <a:srgbClr val="C9D5CE"/>
            </a:solidFill>
            <a:prstDash val="solid"/>
          </a:ln>
        </p:spPr>
      </p:sp>
      <p:sp>
        <p:nvSpPr>
          <p:cNvPr id="57" name="Text 55"/>
          <p:cNvSpPr txBox="1"/>
          <p:nvPr/>
        </p:nvSpPr>
        <p:spPr>
          <a:xfrm>
            <a:off x="5522976" y="4791456"/>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Likely confident; payment to confirm</a:t>
            </a:r>
            <a:endParaRPr lang="en-US" sz="1000" dirty="0"/>
          </a:p>
        </p:txBody>
      </p:sp>
      <p:sp>
        <p:nvSpPr>
          <p:cNvPr id="58" name="Shape 56"/>
          <p:cNvSpPr/>
          <p:nvPr/>
        </p:nvSpPr>
        <p:spPr>
          <a:xfrm>
            <a:off x="8577072" y="4791456"/>
            <a:ext cx="3063240" cy="548640"/>
          </a:xfrm>
          <a:prstGeom prst="roundRect">
            <a:avLst>
              <a:gd name="adj" fmla="val 8333"/>
            </a:avLst>
          </a:prstGeom>
          <a:solidFill>
            <a:srgbClr val="FFFFFF"/>
          </a:solidFill>
          <a:ln w="9525">
            <a:solidFill>
              <a:srgbClr val="C9D5CE"/>
            </a:solidFill>
            <a:prstDash val="solid"/>
          </a:ln>
        </p:spPr>
      </p:sp>
      <p:sp>
        <p:nvSpPr>
          <p:cNvPr id="59" name="Text 57"/>
          <p:cNvSpPr txBox="1"/>
          <p:nvPr/>
        </p:nvSpPr>
        <p:spPr>
          <a:xfrm>
            <a:off x="8686800" y="4791456"/>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Confident, but little pull to install</a:t>
            </a:r>
            <a:endParaRPr lang="en-US" sz="1000" dirty="0"/>
          </a:p>
        </p:txBody>
      </p:sp>
      <p:sp>
        <p:nvSpPr>
          <p:cNvPr id="60" name="Shape 58"/>
          <p:cNvSpPr/>
          <p:nvPr/>
        </p:nvSpPr>
        <p:spPr>
          <a:xfrm>
            <a:off x="548640" y="5440680"/>
            <a:ext cx="11091672" cy="676656"/>
          </a:xfrm>
          <a:prstGeom prst="roundRect">
            <a:avLst>
              <a:gd name="adj" fmla="val 8108"/>
            </a:avLst>
          </a:prstGeom>
          <a:solidFill>
            <a:srgbClr val="FFFFFF"/>
          </a:solidFill>
          <a:ln w="9525">
            <a:solidFill>
              <a:srgbClr val="C9D5CE"/>
            </a:solidFill>
            <a:prstDash val="solid"/>
          </a:ln>
        </p:spPr>
      </p:sp>
      <p:sp>
        <p:nvSpPr>
          <p:cNvPr id="61" name="Text 59"/>
          <p:cNvSpPr txBox="1"/>
          <p:nvPr/>
        </p:nvSpPr>
        <p:spPr>
          <a:xfrm>
            <a:off x="658368" y="5440680"/>
            <a:ext cx="1417320" cy="676656"/>
          </a:xfrm>
          <a:prstGeom prst="rect">
            <a:avLst/>
          </a:prstGeom>
          <a:noFill/>
          <a:ln/>
        </p:spPr>
        <p:txBody>
          <a:bodyPr wrap="square" lIns="0" tIns="0" rIns="0" bIns="0" rtlCol="0" anchor="ctr"/>
          <a:lstStyle/>
          <a:p>
            <a:pPr indent="0" marL="0">
              <a:buNone/>
            </a:pPr>
            <a:r>
              <a:rPr lang="en-US" sz="1000" b="1" spc="150" kern="0" dirty="0">
                <a:solidFill>
                  <a:srgbClr val="A85A00"/>
                </a:solidFill>
                <a:latin typeface="Calibri" pitchFamily="34" charset="0"/>
                <a:ea typeface="Calibri" pitchFamily="34" charset="-122"/>
                <a:cs typeface="Calibri" pitchFamily="34" charset="-120"/>
              </a:rPr>
              <a:t>WHY SEGMENT A</a:t>
            </a:r>
            <a:endParaRPr lang="en-US" sz="1000" dirty="0"/>
          </a:p>
        </p:txBody>
      </p:sp>
      <p:sp>
        <p:nvSpPr>
          <p:cNvPr id="62" name="Text 60"/>
          <p:cNvSpPr txBox="1"/>
          <p:nvPr/>
        </p:nvSpPr>
        <p:spPr>
          <a:xfrm>
            <a:off x="2359152" y="5458968"/>
            <a:ext cx="2843784" cy="640080"/>
          </a:xfrm>
          <a:prstGeom prst="rect">
            <a:avLst/>
          </a:prstGeom>
          <a:noFill/>
          <a:ln/>
        </p:spPr>
        <p:txBody>
          <a:bodyPr wrap="square" lIns="0" tIns="0" rIns="0" bIns="0" rtlCol="0" anchor="ctr"/>
          <a:lstStyle/>
          <a:p>
            <a:pPr indent="0" marL="0">
              <a:buNone/>
            </a:pPr>
            <a:r>
              <a:rPr lang="en-US" sz="950" b="1" dirty="0">
                <a:solidFill>
                  <a:srgbClr val="154B36"/>
                </a:solidFill>
                <a:latin typeface="Calibri" pitchFamily="34" charset="0"/>
                <a:ea typeface="Calibri" pitchFamily="34" charset="-122"/>
                <a:cs typeface="Calibri" pitchFamily="34" charset="-120"/>
              </a:rPr>
              <a:t>Strongest felt need. </a:t>
            </a:r>
            <a:pPr indent="0" marL="0">
              <a:buNone/>
            </a:pPr>
            <a:r>
              <a:rPr lang="en-US" sz="950" dirty="0">
                <a:solidFill>
                  <a:srgbClr val="1F2A24"/>
                </a:solidFill>
                <a:latin typeface="Calibri" pitchFamily="34" charset="0"/>
                <a:ea typeface="Calibri" pitchFamily="34" charset="-122"/>
                <a:cs typeface="Calibri" pitchFamily="34" charset="-120"/>
              </a:rPr>
              <a:t>They act on sugar or sodium every shop, and our thresholds mirror their rules.</a:t>
            </a:r>
            <a:endParaRPr lang="en-US" sz="950" dirty="0"/>
          </a:p>
        </p:txBody>
      </p:sp>
      <p:sp>
        <p:nvSpPr>
          <p:cNvPr id="63" name="Text 61"/>
          <p:cNvSpPr txBox="1"/>
          <p:nvPr/>
        </p:nvSpPr>
        <p:spPr>
          <a:xfrm>
            <a:off x="5522976" y="5458968"/>
            <a:ext cx="2843784" cy="640080"/>
          </a:xfrm>
          <a:prstGeom prst="rect">
            <a:avLst/>
          </a:prstGeom>
          <a:noFill/>
          <a:ln/>
        </p:spPr>
        <p:txBody>
          <a:bodyPr wrap="square" lIns="0" tIns="0" rIns="0" bIns="0" rtlCol="0" anchor="ctr"/>
          <a:lstStyle/>
          <a:p>
            <a:pPr indent="0" marL="0">
              <a:buNone/>
            </a:pPr>
            <a:r>
              <a:rPr lang="en-US" sz="950" b="1" dirty="0">
                <a:solidFill>
                  <a:srgbClr val="154B36"/>
                </a:solidFill>
                <a:latin typeface="Calibri" pitchFamily="34" charset="0"/>
                <a:ea typeface="Calibri" pitchFamily="34" charset="-122"/>
                <a:cs typeface="Calibri" pitchFamily="34" charset="-120"/>
              </a:rPr>
              <a:t>Poorest alternative. </a:t>
            </a:r>
            <a:pPr indent="0" marL="0">
              <a:buNone/>
            </a:pPr>
            <a:r>
              <a:rPr lang="en-US" sz="950" dirty="0">
                <a:solidFill>
                  <a:srgbClr val="1F2A24"/>
                </a:solidFill>
                <a:latin typeface="Calibri" pitchFamily="34" charset="0"/>
                <a:ea typeface="Calibri" pitchFamily="34" charset="-122"/>
                <a:cs typeface="Calibri" pitchFamily="34" charset="-120"/>
              </a:rPr>
              <a:t>Labels only, incomplete, and no signal on any Kenyan online store.</a:t>
            </a:r>
            <a:endParaRPr lang="en-US" sz="950" dirty="0"/>
          </a:p>
        </p:txBody>
      </p:sp>
      <p:sp>
        <p:nvSpPr>
          <p:cNvPr id="64" name="Text 62"/>
          <p:cNvSpPr txBox="1"/>
          <p:nvPr/>
        </p:nvSpPr>
        <p:spPr>
          <a:xfrm>
            <a:off x="8686800" y="5458968"/>
            <a:ext cx="2843784" cy="640080"/>
          </a:xfrm>
          <a:prstGeom prst="rect">
            <a:avLst/>
          </a:prstGeom>
          <a:noFill/>
          <a:ln/>
        </p:spPr>
        <p:txBody>
          <a:bodyPr wrap="square" lIns="0" tIns="0" rIns="0" bIns="0" rtlCol="0" anchor="ctr"/>
          <a:lstStyle/>
          <a:p>
            <a:pPr indent="0" marL="0">
              <a:buNone/>
            </a:pPr>
            <a:r>
              <a:rPr lang="en-US" sz="950" b="1" dirty="0">
                <a:solidFill>
                  <a:srgbClr val="154B36"/>
                </a:solidFill>
                <a:latin typeface="Calibri" pitchFamily="34" charset="0"/>
                <a:ea typeface="Calibri" pitchFamily="34" charset="-122"/>
                <a:cs typeface="Calibri" pitchFamily="34" charset="-120"/>
              </a:rPr>
              <a:t>Most testable. </a:t>
            </a:r>
            <a:pPr indent="0" marL="0">
              <a:buNone/>
            </a:pPr>
            <a:r>
              <a:rPr lang="en-US" sz="950" dirty="0">
                <a:solidFill>
                  <a:srgbClr val="1F2A24"/>
                </a:solidFill>
                <a:latin typeface="Calibri" pitchFamily="34" charset="0"/>
                <a:ea typeface="Calibri" pitchFamily="34" charset="-122"/>
                <a:cs typeface="Calibri" pitchFamily="34" charset="-120"/>
              </a:rPr>
              <a:t>They can retell their last shop; segment C cannot be interviewed about a problem it does not feel.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PART 2 · ASSIGNMENT 2 · USER &amp; STAKEHOLDER VALIDATION · STEP 3</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Validation: two conversations with priority-segment shoppers</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At least two conversations with people from segment A. Anonymise: no names, no diagnoses.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9 / 13</a:t>
            </a:r>
            <a:endParaRPr lang="en-US" sz="900" dirty="0"/>
          </a:p>
        </p:txBody>
      </p:sp>
      <p:sp>
        <p:nvSpPr>
          <p:cNvPr id="12" name="Shape 10"/>
          <p:cNvSpPr/>
          <p:nvPr/>
        </p:nvSpPr>
        <p:spPr>
          <a:xfrm>
            <a:off x="548640" y="1508760"/>
            <a:ext cx="5440680" cy="3611880"/>
          </a:xfrm>
          <a:prstGeom prst="roundRect">
            <a:avLst>
              <a:gd name="adj" fmla="val 2025"/>
            </a:avLst>
          </a:prstGeom>
          <a:solidFill>
            <a:srgbClr val="FFFFFF"/>
          </a:solidFill>
          <a:ln w="9525">
            <a:solidFill>
              <a:srgbClr val="C9D5CE"/>
            </a:solidFill>
            <a:prstDash val="solid"/>
          </a:ln>
        </p:spPr>
      </p:sp>
      <p:sp>
        <p:nvSpPr>
          <p:cNvPr id="13" name="Shape 11"/>
          <p:cNvSpPr/>
          <p:nvPr/>
        </p:nvSpPr>
        <p:spPr>
          <a:xfrm>
            <a:off x="685800" y="1645920"/>
            <a:ext cx="5166360" cy="384048"/>
          </a:xfrm>
          <a:prstGeom prst="roundRect">
            <a:avLst>
              <a:gd name="adj" fmla="val 11905"/>
            </a:avLst>
          </a:prstGeom>
          <a:solidFill>
            <a:srgbClr val="154B36"/>
          </a:solidFill>
          <a:ln/>
        </p:spPr>
      </p:sp>
      <p:sp>
        <p:nvSpPr>
          <p:cNvPr id="14" name="Text 12"/>
          <p:cNvSpPr txBox="1"/>
          <p:nvPr/>
        </p:nvSpPr>
        <p:spPr>
          <a:xfrm>
            <a:off x="822960" y="1645920"/>
            <a:ext cx="4846320"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V1  </a:t>
            </a:r>
            <a:pPr indent="0" marL="0">
              <a:buNone/>
            </a:pPr>
            <a:r>
              <a:rPr lang="en-US" sz="1000" dirty="0">
                <a:solidFill>
                  <a:srgbClr val="C9D5CE"/>
                </a:solidFill>
                <a:latin typeface="Calibri" pitchFamily="34" charset="0"/>
                <a:ea typeface="Calibri" pitchFamily="34" charset="-122"/>
                <a:cs typeface="Calibri" pitchFamily="34" charset="-120"/>
              </a:rPr>
              <a:t>age band · area · how they shop</a:t>
            </a:r>
            <a:endParaRPr lang="en-US" sz="1200" dirty="0"/>
          </a:p>
        </p:txBody>
      </p:sp>
      <p:sp>
        <p:nvSpPr>
          <p:cNvPr id="15" name="Text 13"/>
          <p:cNvSpPr txBox="1"/>
          <p:nvPr/>
        </p:nvSpPr>
        <p:spPr>
          <a:xfrm>
            <a:off x="685800" y="213055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What they currently do</a:t>
            </a:r>
            <a:endParaRPr lang="en-US" sz="1050" dirty="0"/>
          </a:p>
        </p:txBody>
      </p:sp>
      <p:sp>
        <p:nvSpPr>
          <p:cNvPr id="16" name="Shape 14"/>
          <p:cNvSpPr/>
          <p:nvPr/>
        </p:nvSpPr>
        <p:spPr>
          <a:xfrm>
            <a:off x="2240280" y="2130552"/>
            <a:ext cx="3611880" cy="530352"/>
          </a:xfrm>
          <a:prstGeom prst="roundRect">
            <a:avLst>
              <a:gd name="adj" fmla="val 10345"/>
            </a:avLst>
          </a:prstGeom>
          <a:solidFill>
            <a:srgbClr val="FDF0DC"/>
          </a:solidFill>
          <a:ln w="12700">
            <a:solidFill>
              <a:srgbClr val="EE8100"/>
            </a:solidFill>
            <a:prstDash val="dash"/>
          </a:ln>
        </p:spPr>
      </p:sp>
      <p:sp>
        <p:nvSpPr>
          <p:cNvPr id="17" name="Text 15"/>
          <p:cNvSpPr txBox="1"/>
          <p:nvPr/>
        </p:nvSpPr>
        <p:spPr>
          <a:xfrm>
            <a:off x="2350008" y="216712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18" name="Text 16"/>
          <p:cNvSpPr txBox="1"/>
          <p:nvPr/>
        </p:nvSpPr>
        <p:spPr>
          <a:xfrm>
            <a:off x="685800" y="272491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Biggest pain point</a:t>
            </a:r>
            <a:endParaRPr lang="en-US" sz="1050" dirty="0"/>
          </a:p>
        </p:txBody>
      </p:sp>
      <p:sp>
        <p:nvSpPr>
          <p:cNvPr id="19" name="Shape 17"/>
          <p:cNvSpPr/>
          <p:nvPr/>
        </p:nvSpPr>
        <p:spPr>
          <a:xfrm>
            <a:off x="2240280" y="2724912"/>
            <a:ext cx="3611880" cy="530352"/>
          </a:xfrm>
          <a:prstGeom prst="roundRect">
            <a:avLst>
              <a:gd name="adj" fmla="val 10345"/>
            </a:avLst>
          </a:prstGeom>
          <a:solidFill>
            <a:srgbClr val="FDF0DC"/>
          </a:solidFill>
          <a:ln w="12700">
            <a:solidFill>
              <a:srgbClr val="EE8100"/>
            </a:solidFill>
            <a:prstDash val="dash"/>
          </a:ln>
        </p:spPr>
      </p:sp>
      <p:sp>
        <p:nvSpPr>
          <p:cNvPr id="20" name="Text 18"/>
          <p:cNvSpPr txBox="1"/>
          <p:nvPr/>
        </p:nvSpPr>
        <p:spPr>
          <a:xfrm>
            <a:off x="2350008" y="276148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21" name="Text 19"/>
          <p:cNvSpPr txBox="1"/>
          <p:nvPr/>
        </p:nvSpPr>
        <p:spPr>
          <a:xfrm>
            <a:off x="685800" y="331927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Current alternative or workaround</a:t>
            </a:r>
            <a:endParaRPr lang="en-US" sz="1050" dirty="0"/>
          </a:p>
        </p:txBody>
      </p:sp>
      <p:sp>
        <p:nvSpPr>
          <p:cNvPr id="22" name="Shape 20"/>
          <p:cNvSpPr/>
          <p:nvPr/>
        </p:nvSpPr>
        <p:spPr>
          <a:xfrm>
            <a:off x="2240280" y="3319272"/>
            <a:ext cx="3611880" cy="530352"/>
          </a:xfrm>
          <a:prstGeom prst="roundRect">
            <a:avLst>
              <a:gd name="adj" fmla="val 10345"/>
            </a:avLst>
          </a:prstGeom>
          <a:solidFill>
            <a:srgbClr val="FDF0DC"/>
          </a:solidFill>
          <a:ln w="12700">
            <a:solidFill>
              <a:srgbClr val="EE8100"/>
            </a:solidFill>
            <a:prstDash val="dash"/>
          </a:ln>
        </p:spPr>
      </p:sp>
      <p:sp>
        <p:nvSpPr>
          <p:cNvPr id="23" name="Text 21"/>
          <p:cNvSpPr txBox="1"/>
          <p:nvPr/>
        </p:nvSpPr>
        <p:spPr>
          <a:xfrm>
            <a:off x="2350008" y="335584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24" name="Text 22"/>
          <p:cNvSpPr txBox="1"/>
          <p:nvPr/>
        </p:nvSpPr>
        <p:spPr>
          <a:xfrm>
            <a:off x="685800" y="391363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Why the problem matters to them</a:t>
            </a:r>
            <a:endParaRPr lang="en-US" sz="1050" dirty="0"/>
          </a:p>
        </p:txBody>
      </p:sp>
      <p:sp>
        <p:nvSpPr>
          <p:cNvPr id="25" name="Shape 23"/>
          <p:cNvSpPr/>
          <p:nvPr/>
        </p:nvSpPr>
        <p:spPr>
          <a:xfrm>
            <a:off x="2240280" y="3913632"/>
            <a:ext cx="3611880" cy="530352"/>
          </a:xfrm>
          <a:prstGeom prst="roundRect">
            <a:avLst>
              <a:gd name="adj" fmla="val 10345"/>
            </a:avLst>
          </a:prstGeom>
          <a:solidFill>
            <a:srgbClr val="FDF0DC"/>
          </a:solidFill>
          <a:ln w="12700">
            <a:solidFill>
              <a:srgbClr val="EE8100"/>
            </a:solidFill>
            <a:prstDash val="dash"/>
          </a:ln>
        </p:spPr>
      </p:sp>
      <p:sp>
        <p:nvSpPr>
          <p:cNvPr id="26" name="Text 24"/>
          <p:cNvSpPr txBox="1"/>
          <p:nvPr/>
        </p:nvSpPr>
        <p:spPr>
          <a:xfrm>
            <a:off x="2350008" y="395020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27" name="Text 25"/>
          <p:cNvSpPr txBox="1"/>
          <p:nvPr/>
        </p:nvSpPr>
        <p:spPr>
          <a:xfrm>
            <a:off x="685800" y="4507992"/>
            <a:ext cx="1463040" cy="530352"/>
          </a:xfrm>
          <a:prstGeom prst="rect">
            <a:avLst/>
          </a:prstGeom>
          <a:noFill/>
          <a:ln/>
        </p:spPr>
        <p:txBody>
          <a:bodyPr wrap="square" lIns="0" tIns="0" rIns="0" bIns="0" rtlCol="0" anchor="ctr"/>
          <a:lstStyle/>
          <a:p>
            <a:pPr indent="0" marL="0">
              <a:buNone/>
            </a:pPr>
            <a:r>
              <a:rPr lang="en-US" sz="1050" b="1" dirty="0">
                <a:solidFill>
                  <a:srgbClr val="A85A00"/>
                </a:solidFill>
                <a:latin typeface="Calibri" pitchFamily="34" charset="0"/>
                <a:ea typeface="Calibri" pitchFamily="34" charset="-122"/>
                <a:cs typeface="Calibri" pitchFamily="34" charset="-120"/>
              </a:rPr>
              <a:t>What contradicted our assumptions</a:t>
            </a:r>
            <a:endParaRPr lang="en-US" sz="1050" dirty="0"/>
          </a:p>
        </p:txBody>
      </p:sp>
      <p:sp>
        <p:nvSpPr>
          <p:cNvPr id="28" name="Shape 26"/>
          <p:cNvSpPr/>
          <p:nvPr/>
        </p:nvSpPr>
        <p:spPr>
          <a:xfrm>
            <a:off x="2240280" y="4507992"/>
            <a:ext cx="3611880" cy="530352"/>
          </a:xfrm>
          <a:prstGeom prst="roundRect">
            <a:avLst>
              <a:gd name="adj" fmla="val 10345"/>
            </a:avLst>
          </a:prstGeom>
          <a:solidFill>
            <a:srgbClr val="FDF0DC"/>
          </a:solidFill>
          <a:ln w="12700">
            <a:solidFill>
              <a:srgbClr val="EE8100"/>
            </a:solidFill>
            <a:prstDash val="dash"/>
          </a:ln>
        </p:spPr>
      </p:sp>
      <p:sp>
        <p:nvSpPr>
          <p:cNvPr id="29" name="Text 27"/>
          <p:cNvSpPr txBox="1"/>
          <p:nvPr/>
        </p:nvSpPr>
        <p:spPr>
          <a:xfrm>
            <a:off x="2350008" y="454456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30" name="Shape 28"/>
          <p:cNvSpPr/>
          <p:nvPr/>
        </p:nvSpPr>
        <p:spPr>
          <a:xfrm>
            <a:off x="6199632" y="1508760"/>
            <a:ext cx="5440680" cy="3611880"/>
          </a:xfrm>
          <a:prstGeom prst="roundRect">
            <a:avLst>
              <a:gd name="adj" fmla="val 2025"/>
            </a:avLst>
          </a:prstGeom>
          <a:solidFill>
            <a:srgbClr val="FFFFFF"/>
          </a:solidFill>
          <a:ln w="9525">
            <a:solidFill>
              <a:srgbClr val="C9D5CE"/>
            </a:solidFill>
            <a:prstDash val="solid"/>
          </a:ln>
        </p:spPr>
      </p:sp>
      <p:sp>
        <p:nvSpPr>
          <p:cNvPr id="31" name="Shape 29"/>
          <p:cNvSpPr/>
          <p:nvPr/>
        </p:nvSpPr>
        <p:spPr>
          <a:xfrm>
            <a:off x="6336792" y="1645920"/>
            <a:ext cx="5166360" cy="384048"/>
          </a:xfrm>
          <a:prstGeom prst="roundRect">
            <a:avLst>
              <a:gd name="adj" fmla="val 11905"/>
            </a:avLst>
          </a:prstGeom>
          <a:solidFill>
            <a:srgbClr val="154B36"/>
          </a:solidFill>
          <a:ln/>
        </p:spPr>
      </p:sp>
      <p:sp>
        <p:nvSpPr>
          <p:cNvPr id="32" name="Text 30"/>
          <p:cNvSpPr txBox="1"/>
          <p:nvPr/>
        </p:nvSpPr>
        <p:spPr>
          <a:xfrm>
            <a:off x="6473952" y="1645920"/>
            <a:ext cx="4846320"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V2  </a:t>
            </a:r>
            <a:pPr indent="0" marL="0">
              <a:buNone/>
            </a:pPr>
            <a:r>
              <a:rPr lang="en-US" sz="1000" dirty="0">
                <a:solidFill>
                  <a:srgbClr val="C9D5CE"/>
                </a:solidFill>
                <a:latin typeface="Calibri" pitchFamily="34" charset="0"/>
                <a:ea typeface="Calibri" pitchFamily="34" charset="-122"/>
                <a:cs typeface="Calibri" pitchFamily="34" charset="-120"/>
              </a:rPr>
              <a:t>age band · area · how they shop</a:t>
            </a:r>
            <a:endParaRPr lang="en-US" sz="1200" dirty="0"/>
          </a:p>
        </p:txBody>
      </p:sp>
      <p:sp>
        <p:nvSpPr>
          <p:cNvPr id="33" name="Text 31"/>
          <p:cNvSpPr txBox="1"/>
          <p:nvPr/>
        </p:nvSpPr>
        <p:spPr>
          <a:xfrm>
            <a:off x="6336792" y="213055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What they currently do</a:t>
            </a:r>
            <a:endParaRPr lang="en-US" sz="1050" dirty="0"/>
          </a:p>
        </p:txBody>
      </p:sp>
      <p:sp>
        <p:nvSpPr>
          <p:cNvPr id="34" name="Shape 32"/>
          <p:cNvSpPr/>
          <p:nvPr/>
        </p:nvSpPr>
        <p:spPr>
          <a:xfrm>
            <a:off x="7891272" y="2130552"/>
            <a:ext cx="3611880" cy="530352"/>
          </a:xfrm>
          <a:prstGeom prst="roundRect">
            <a:avLst>
              <a:gd name="adj" fmla="val 10345"/>
            </a:avLst>
          </a:prstGeom>
          <a:solidFill>
            <a:srgbClr val="FDF0DC"/>
          </a:solidFill>
          <a:ln w="12700">
            <a:solidFill>
              <a:srgbClr val="EE8100"/>
            </a:solidFill>
            <a:prstDash val="dash"/>
          </a:ln>
        </p:spPr>
      </p:sp>
      <p:sp>
        <p:nvSpPr>
          <p:cNvPr id="35" name="Text 33"/>
          <p:cNvSpPr txBox="1"/>
          <p:nvPr/>
        </p:nvSpPr>
        <p:spPr>
          <a:xfrm>
            <a:off x="8001000" y="216712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36" name="Text 34"/>
          <p:cNvSpPr txBox="1"/>
          <p:nvPr/>
        </p:nvSpPr>
        <p:spPr>
          <a:xfrm>
            <a:off x="6336792" y="272491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Biggest pain point</a:t>
            </a:r>
            <a:endParaRPr lang="en-US" sz="1050" dirty="0"/>
          </a:p>
        </p:txBody>
      </p:sp>
      <p:sp>
        <p:nvSpPr>
          <p:cNvPr id="37" name="Shape 35"/>
          <p:cNvSpPr/>
          <p:nvPr/>
        </p:nvSpPr>
        <p:spPr>
          <a:xfrm>
            <a:off x="7891272" y="2724912"/>
            <a:ext cx="3611880" cy="530352"/>
          </a:xfrm>
          <a:prstGeom prst="roundRect">
            <a:avLst>
              <a:gd name="adj" fmla="val 10345"/>
            </a:avLst>
          </a:prstGeom>
          <a:solidFill>
            <a:srgbClr val="FDF0DC"/>
          </a:solidFill>
          <a:ln w="12700">
            <a:solidFill>
              <a:srgbClr val="EE8100"/>
            </a:solidFill>
            <a:prstDash val="dash"/>
          </a:ln>
        </p:spPr>
      </p:sp>
      <p:sp>
        <p:nvSpPr>
          <p:cNvPr id="38" name="Text 36"/>
          <p:cNvSpPr txBox="1"/>
          <p:nvPr/>
        </p:nvSpPr>
        <p:spPr>
          <a:xfrm>
            <a:off x="8001000" y="276148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39" name="Text 37"/>
          <p:cNvSpPr txBox="1"/>
          <p:nvPr/>
        </p:nvSpPr>
        <p:spPr>
          <a:xfrm>
            <a:off x="6336792" y="331927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Current alternative or workaround</a:t>
            </a:r>
            <a:endParaRPr lang="en-US" sz="1050" dirty="0"/>
          </a:p>
        </p:txBody>
      </p:sp>
      <p:sp>
        <p:nvSpPr>
          <p:cNvPr id="40" name="Shape 38"/>
          <p:cNvSpPr/>
          <p:nvPr/>
        </p:nvSpPr>
        <p:spPr>
          <a:xfrm>
            <a:off x="7891272" y="3319272"/>
            <a:ext cx="3611880" cy="530352"/>
          </a:xfrm>
          <a:prstGeom prst="roundRect">
            <a:avLst>
              <a:gd name="adj" fmla="val 10345"/>
            </a:avLst>
          </a:prstGeom>
          <a:solidFill>
            <a:srgbClr val="FDF0DC"/>
          </a:solidFill>
          <a:ln w="12700">
            <a:solidFill>
              <a:srgbClr val="EE8100"/>
            </a:solidFill>
            <a:prstDash val="dash"/>
          </a:ln>
        </p:spPr>
      </p:sp>
      <p:sp>
        <p:nvSpPr>
          <p:cNvPr id="41" name="Text 39"/>
          <p:cNvSpPr txBox="1"/>
          <p:nvPr/>
        </p:nvSpPr>
        <p:spPr>
          <a:xfrm>
            <a:off x="8001000" y="335584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42" name="Text 40"/>
          <p:cNvSpPr txBox="1"/>
          <p:nvPr/>
        </p:nvSpPr>
        <p:spPr>
          <a:xfrm>
            <a:off x="6336792" y="391363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Why the problem matters to them</a:t>
            </a:r>
            <a:endParaRPr lang="en-US" sz="1050" dirty="0"/>
          </a:p>
        </p:txBody>
      </p:sp>
      <p:sp>
        <p:nvSpPr>
          <p:cNvPr id="43" name="Shape 41"/>
          <p:cNvSpPr/>
          <p:nvPr/>
        </p:nvSpPr>
        <p:spPr>
          <a:xfrm>
            <a:off x="7891272" y="3913632"/>
            <a:ext cx="3611880" cy="530352"/>
          </a:xfrm>
          <a:prstGeom prst="roundRect">
            <a:avLst>
              <a:gd name="adj" fmla="val 10345"/>
            </a:avLst>
          </a:prstGeom>
          <a:solidFill>
            <a:srgbClr val="FDF0DC"/>
          </a:solidFill>
          <a:ln w="12700">
            <a:solidFill>
              <a:srgbClr val="EE8100"/>
            </a:solidFill>
            <a:prstDash val="dash"/>
          </a:ln>
        </p:spPr>
      </p:sp>
      <p:sp>
        <p:nvSpPr>
          <p:cNvPr id="44" name="Text 42"/>
          <p:cNvSpPr txBox="1"/>
          <p:nvPr/>
        </p:nvSpPr>
        <p:spPr>
          <a:xfrm>
            <a:off x="8001000" y="395020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45" name="Text 43"/>
          <p:cNvSpPr txBox="1"/>
          <p:nvPr/>
        </p:nvSpPr>
        <p:spPr>
          <a:xfrm>
            <a:off x="6336792" y="4507992"/>
            <a:ext cx="1463040" cy="530352"/>
          </a:xfrm>
          <a:prstGeom prst="rect">
            <a:avLst/>
          </a:prstGeom>
          <a:noFill/>
          <a:ln/>
        </p:spPr>
        <p:txBody>
          <a:bodyPr wrap="square" lIns="0" tIns="0" rIns="0" bIns="0" rtlCol="0" anchor="ctr"/>
          <a:lstStyle/>
          <a:p>
            <a:pPr indent="0" marL="0">
              <a:buNone/>
            </a:pPr>
            <a:r>
              <a:rPr lang="en-US" sz="1050" b="1" dirty="0">
                <a:solidFill>
                  <a:srgbClr val="A85A00"/>
                </a:solidFill>
                <a:latin typeface="Calibri" pitchFamily="34" charset="0"/>
                <a:ea typeface="Calibri" pitchFamily="34" charset="-122"/>
                <a:cs typeface="Calibri" pitchFamily="34" charset="-120"/>
              </a:rPr>
              <a:t>What contradicted our assumptions</a:t>
            </a:r>
            <a:endParaRPr lang="en-US" sz="1050" dirty="0"/>
          </a:p>
        </p:txBody>
      </p:sp>
      <p:sp>
        <p:nvSpPr>
          <p:cNvPr id="46" name="Shape 44"/>
          <p:cNvSpPr/>
          <p:nvPr/>
        </p:nvSpPr>
        <p:spPr>
          <a:xfrm>
            <a:off x="7891272" y="4507992"/>
            <a:ext cx="3611880" cy="530352"/>
          </a:xfrm>
          <a:prstGeom prst="roundRect">
            <a:avLst>
              <a:gd name="adj" fmla="val 10345"/>
            </a:avLst>
          </a:prstGeom>
          <a:solidFill>
            <a:srgbClr val="FDF0DC"/>
          </a:solidFill>
          <a:ln w="12700">
            <a:solidFill>
              <a:srgbClr val="EE8100"/>
            </a:solidFill>
            <a:prstDash val="dash"/>
          </a:ln>
        </p:spPr>
      </p:sp>
      <p:sp>
        <p:nvSpPr>
          <p:cNvPr id="47" name="Text 45"/>
          <p:cNvSpPr txBox="1"/>
          <p:nvPr/>
        </p:nvSpPr>
        <p:spPr>
          <a:xfrm>
            <a:off x="8001000" y="454456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48" name="Shape 46"/>
          <p:cNvSpPr/>
          <p:nvPr/>
        </p:nvSpPr>
        <p:spPr>
          <a:xfrm>
            <a:off x="548640" y="5257800"/>
            <a:ext cx="11091672" cy="841248"/>
          </a:xfrm>
          <a:prstGeom prst="roundRect">
            <a:avLst>
              <a:gd name="adj" fmla="val 8696"/>
            </a:avLst>
          </a:prstGeom>
          <a:solidFill>
            <a:srgbClr val="154B36"/>
          </a:solidFill>
          <a:ln/>
        </p:spPr>
      </p:sp>
      <p:sp>
        <p:nvSpPr>
          <p:cNvPr id="49" name="Text 47"/>
          <p:cNvSpPr txBox="1"/>
          <p:nvPr/>
        </p:nvSpPr>
        <p:spPr>
          <a:xfrm>
            <a:off x="822960" y="5394960"/>
            <a:ext cx="36576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TEST AGAINST EACH CONVERSATION</a:t>
            </a:r>
            <a:endParaRPr lang="en-US" sz="1000" dirty="0"/>
          </a:p>
        </p:txBody>
      </p:sp>
      <p:sp>
        <p:nvSpPr>
          <p:cNvPr id="50" name="Shape 48"/>
          <p:cNvSpPr/>
          <p:nvPr/>
        </p:nvSpPr>
        <p:spPr>
          <a:xfrm>
            <a:off x="822960" y="5669280"/>
            <a:ext cx="3429000" cy="329184"/>
          </a:xfrm>
          <a:prstGeom prst="roundRect">
            <a:avLst>
              <a:gd name="adj" fmla="val 22222"/>
            </a:avLst>
          </a:prstGeom>
          <a:solidFill>
            <a:srgbClr val="1E6047"/>
          </a:solidFill>
          <a:ln w="6350">
            <a:solidFill>
              <a:srgbClr val="1E6047"/>
            </a:solidFill>
            <a:prstDash val="solid"/>
          </a:ln>
        </p:spPr>
      </p:sp>
      <p:sp>
        <p:nvSpPr>
          <p:cNvPr id="51" name="Text 49"/>
          <p:cNvSpPr txBox="1"/>
          <p:nvPr/>
        </p:nvSpPr>
        <p:spPr>
          <a:xfrm>
            <a:off x="932688" y="5669280"/>
            <a:ext cx="3246120"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Feels the problem on most weekly shops</a:t>
            </a:r>
            <a:endParaRPr lang="en-US" sz="1050" dirty="0"/>
          </a:p>
        </p:txBody>
      </p:sp>
      <p:sp>
        <p:nvSpPr>
          <p:cNvPr id="52" name="Shape 50"/>
          <p:cNvSpPr/>
          <p:nvPr/>
        </p:nvSpPr>
        <p:spPr>
          <a:xfrm>
            <a:off x="4434840" y="5669280"/>
            <a:ext cx="3429000" cy="329184"/>
          </a:xfrm>
          <a:prstGeom prst="roundRect">
            <a:avLst>
              <a:gd name="adj" fmla="val 22222"/>
            </a:avLst>
          </a:prstGeom>
          <a:solidFill>
            <a:srgbClr val="1E6047"/>
          </a:solidFill>
          <a:ln w="6350">
            <a:solidFill>
              <a:srgbClr val="1E6047"/>
            </a:solidFill>
            <a:prstDash val="solid"/>
          </a:ln>
        </p:spPr>
      </p:sp>
      <p:sp>
        <p:nvSpPr>
          <p:cNvPr id="53" name="Text 51"/>
          <p:cNvSpPr txBox="1"/>
          <p:nvPr/>
        </p:nvSpPr>
        <p:spPr>
          <a:xfrm>
            <a:off x="4544568" y="5669280"/>
            <a:ext cx="3246120"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Shops in a desktop browser, not just an app</a:t>
            </a:r>
            <a:endParaRPr lang="en-US" sz="1050" dirty="0"/>
          </a:p>
        </p:txBody>
      </p:sp>
      <p:sp>
        <p:nvSpPr>
          <p:cNvPr id="54" name="Shape 52"/>
          <p:cNvSpPr/>
          <p:nvPr/>
        </p:nvSpPr>
        <p:spPr>
          <a:xfrm>
            <a:off x="8046720" y="5669280"/>
            <a:ext cx="3429000" cy="329184"/>
          </a:xfrm>
          <a:prstGeom prst="roundRect">
            <a:avLst>
              <a:gd name="adj" fmla="val 22222"/>
            </a:avLst>
          </a:prstGeom>
          <a:solidFill>
            <a:srgbClr val="1E6047"/>
          </a:solidFill>
          <a:ln w="6350">
            <a:solidFill>
              <a:srgbClr val="1E6047"/>
            </a:solidFill>
            <a:prstDash val="solid"/>
          </a:ln>
        </p:spPr>
      </p:sp>
      <p:sp>
        <p:nvSpPr>
          <p:cNvPr id="55" name="Text 53"/>
          <p:cNvSpPr txBox="1"/>
          <p:nvPr/>
        </p:nvSpPr>
        <p:spPr>
          <a:xfrm>
            <a:off x="8156448" y="5669280"/>
            <a:ext cx="3246120"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Relies on outside advice today (clinician, family)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PART 2 · ASSIGNMENT 2 · USER &amp; STAKEHOLDER VALIDATION · STEP 4</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Seven stakeholders decide adoption, access and credibility</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Map positions are the team’s current judgement and will be tested in the first stakeholder conversations.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10 / 13</a:t>
            </a:r>
            <a:endParaRPr lang="en-US" sz="900" dirty="0"/>
          </a:p>
        </p:txBody>
      </p:sp>
      <p:sp>
        <p:nvSpPr>
          <p:cNvPr id="12" name="Shape 10"/>
          <p:cNvSpPr/>
          <p:nvPr/>
        </p:nvSpPr>
        <p:spPr>
          <a:xfrm>
            <a:off x="548640" y="1508760"/>
            <a:ext cx="5577840" cy="4572000"/>
          </a:xfrm>
          <a:prstGeom prst="roundRect">
            <a:avLst>
              <a:gd name="adj" fmla="val 1600"/>
            </a:avLst>
          </a:prstGeom>
          <a:solidFill>
            <a:srgbClr val="FFFFFF"/>
          </a:solidFill>
          <a:ln w="9525">
            <a:solidFill>
              <a:srgbClr val="C9D5CE"/>
            </a:solidFill>
            <a:prstDash val="solid"/>
          </a:ln>
        </p:spPr>
      </p:sp>
      <p:sp>
        <p:nvSpPr>
          <p:cNvPr id="13" name="Shape 11"/>
          <p:cNvSpPr/>
          <p:nvPr/>
        </p:nvSpPr>
        <p:spPr>
          <a:xfrm>
            <a:off x="868680" y="1783080"/>
            <a:ext cx="2514600" cy="1851660"/>
          </a:xfrm>
          <a:prstGeom prst="rect">
            <a:avLst/>
          </a:prstGeom>
          <a:solidFill>
            <a:srgbClr val="E8F1EB"/>
          </a:solidFill>
          <a:ln/>
        </p:spPr>
      </p:sp>
      <p:sp>
        <p:nvSpPr>
          <p:cNvPr id="14" name="Shape 12"/>
          <p:cNvSpPr/>
          <p:nvPr/>
        </p:nvSpPr>
        <p:spPr>
          <a:xfrm>
            <a:off x="3383280" y="1783080"/>
            <a:ext cx="2514600" cy="1851660"/>
          </a:xfrm>
          <a:prstGeom prst="rect">
            <a:avLst/>
          </a:prstGeom>
          <a:solidFill>
            <a:srgbClr val="F6E6DF"/>
          </a:solidFill>
          <a:ln/>
        </p:spPr>
      </p:sp>
      <p:sp>
        <p:nvSpPr>
          <p:cNvPr id="15" name="Shape 13"/>
          <p:cNvSpPr/>
          <p:nvPr/>
        </p:nvSpPr>
        <p:spPr>
          <a:xfrm>
            <a:off x="868680" y="3634740"/>
            <a:ext cx="2514600" cy="1851660"/>
          </a:xfrm>
          <a:prstGeom prst="rect">
            <a:avLst/>
          </a:prstGeom>
          <a:solidFill>
            <a:srgbClr val="F1F5F2"/>
          </a:solidFill>
          <a:ln/>
        </p:spPr>
      </p:sp>
      <p:sp>
        <p:nvSpPr>
          <p:cNvPr id="16" name="Shape 14"/>
          <p:cNvSpPr/>
          <p:nvPr/>
        </p:nvSpPr>
        <p:spPr>
          <a:xfrm>
            <a:off x="3383280" y="3634740"/>
            <a:ext cx="2514600" cy="1851660"/>
          </a:xfrm>
          <a:prstGeom prst="rect">
            <a:avLst/>
          </a:prstGeom>
          <a:solidFill>
            <a:srgbClr val="F1F5F2"/>
          </a:solidFill>
          <a:ln/>
        </p:spPr>
      </p:sp>
      <p:sp>
        <p:nvSpPr>
          <p:cNvPr id="17" name="Text 15"/>
          <p:cNvSpPr txBox="1"/>
          <p:nvPr/>
        </p:nvSpPr>
        <p:spPr>
          <a:xfrm>
            <a:off x="941832" y="1837944"/>
            <a:ext cx="1463040" cy="182880"/>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CHAMPIONS</a:t>
            </a:r>
            <a:endParaRPr lang="en-US" sz="850" dirty="0"/>
          </a:p>
        </p:txBody>
      </p:sp>
      <p:sp>
        <p:nvSpPr>
          <p:cNvPr id="18" name="Text 16"/>
          <p:cNvSpPr txBox="1"/>
          <p:nvPr/>
        </p:nvSpPr>
        <p:spPr>
          <a:xfrm>
            <a:off x="4361688" y="1837944"/>
            <a:ext cx="1463040" cy="182880"/>
          </a:xfrm>
          <a:prstGeom prst="rect">
            <a:avLst/>
          </a:prstGeom>
          <a:noFill/>
          <a:ln/>
        </p:spPr>
        <p:txBody>
          <a:bodyPr wrap="square" lIns="0" tIns="0" rIns="0" bIns="0" rtlCol="0" anchor="t"/>
          <a:lstStyle/>
          <a:p>
            <a:pPr algn="r" indent="0" marL="0">
              <a:buNone/>
            </a:pPr>
            <a:r>
              <a:rPr lang="en-US" sz="850" b="1" spc="150" kern="0" dirty="0">
                <a:solidFill>
                  <a:srgbClr val="5C6B63"/>
                </a:solidFill>
                <a:latin typeface="Calibri" pitchFamily="34" charset="0"/>
                <a:ea typeface="Calibri" pitchFamily="34" charset="-122"/>
                <a:cs typeface="Calibri" pitchFamily="34" charset="-120"/>
              </a:rPr>
              <a:t>GATEKEEPERS</a:t>
            </a:r>
            <a:endParaRPr lang="en-US" sz="850" dirty="0"/>
          </a:p>
        </p:txBody>
      </p:sp>
      <p:sp>
        <p:nvSpPr>
          <p:cNvPr id="19" name="Text 17"/>
          <p:cNvSpPr txBox="1"/>
          <p:nvPr/>
        </p:nvSpPr>
        <p:spPr>
          <a:xfrm>
            <a:off x="941832" y="5248656"/>
            <a:ext cx="1463040" cy="182880"/>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SUPPORTERS</a:t>
            </a:r>
            <a:endParaRPr lang="en-US" sz="850" dirty="0"/>
          </a:p>
        </p:txBody>
      </p:sp>
      <p:sp>
        <p:nvSpPr>
          <p:cNvPr id="20" name="Text 18"/>
          <p:cNvSpPr txBox="1"/>
          <p:nvPr/>
        </p:nvSpPr>
        <p:spPr>
          <a:xfrm>
            <a:off x="4361688" y="5248656"/>
            <a:ext cx="1463040" cy="182880"/>
          </a:xfrm>
          <a:prstGeom prst="rect">
            <a:avLst/>
          </a:prstGeom>
          <a:noFill/>
          <a:ln/>
        </p:spPr>
        <p:txBody>
          <a:bodyPr wrap="square" lIns="0" tIns="0" rIns="0" bIns="0" rtlCol="0" anchor="t"/>
          <a:lstStyle/>
          <a:p>
            <a:pPr algn="r" indent="0" marL="0">
              <a:buNone/>
            </a:pPr>
            <a:r>
              <a:rPr lang="en-US" sz="850" b="1" spc="150" kern="0" dirty="0">
                <a:solidFill>
                  <a:srgbClr val="5C6B63"/>
                </a:solidFill>
                <a:latin typeface="Calibri" pitchFamily="34" charset="0"/>
                <a:ea typeface="Calibri" pitchFamily="34" charset="-122"/>
                <a:cs typeface="Calibri" pitchFamily="34" charset="-120"/>
              </a:rPr>
              <a:t>WATCH</a:t>
            </a:r>
            <a:endParaRPr lang="en-US" sz="850" dirty="0"/>
          </a:p>
        </p:txBody>
      </p:sp>
      <p:sp>
        <p:nvSpPr>
          <p:cNvPr id="21" name="Text 19"/>
          <p:cNvSpPr txBox="1"/>
          <p:nvPr/>
        </p:nvSpPr>
        <p:spPr>
          <a:xfrm>
            <a:off x="868680" y="5577840"/>
            <a:ext cx="2468880" cy="201168"/>
          </a:xfrm>
          <a:prstGeom prst="rect">
            <a:avLst/>
          </a:prstGeom>
          <a:noFill/>
          <a:ln/>
        </p:spPr>
        <p:txBody>
          <a:bodyPr wrap="square" lIns="0" tIns="0" rIns="0" bIns="0" rtlCol="0" anchor="t"/>
          <a:lstStyle/>
          <a:p>
            <a:pPr indent="0" marL="0">
              <a:buNone/>
            </a:pPr>
            <a:r>
              <a:rPr lang="en-US" sz="950" b="1" dirty="0">
                <a:solidFill>
                  <a:srgbClr val="154B36"/>
                </a:solidFill>
                <a:latin typeface="Calibri" pitchFamily="34" charset="0"/>
                <a:ea typeface="Calibri" pitchFamily="34" charset="-122"/>
                <a:cs typeface="Calibri" pitchFamily="34" charset="-120"/>
              </a:rPr>
              <a:t>← HELPS the venture succeed</a:t>
            </a:r>
            <a:endParaRPr lang="en-US" sz="950" dirty="0"/>
          </a:p>
        </p:txBody>
      </p:sp>
      <p:sp>
        <p:nvSpPr>
          <p:cNvPr id="22" name="Text 20"/>
          <p:cNvSpPr txBox="1"/>
          <p:nvPr/>
        </p:nvSpPr>
        <p:spPr>
          <a:xfrm>
            <a:off x="3429000" y="5577840"/>
            <a:ext cx="2468880" cy="201168"/>
          </a:xfrm>
          <a:prstGeom prst="rect">
            <a:avLst/>
          </a:prstGeom>
          <a:noFill/>
          <a:ln/>
        </p:spPr>
        <p:txBody>
          <a:bodyPr wrap="square" lIns="0" tIns="0" rIns="0" bIns="0" rtlCol="0" anchor="t"/>
          <a:lstStyle/>
          <a:p>
            <a:pPr algn="r" indent="0" marL="0">
              <a:buNone/>
            </a:pPr>
            <a:r>
              <a:rPr lang="en-US" sz="950" b="1" dirty="0">
                <a:solidFill>
                  <a:srgbClr val="E63E11"/>
                </a:solidFill>
                <a:latin typeface="Calibri" pitchFamily="34" charset="0"/>
                <a:ea typeface="Calibri" pitchFamily="34" charset="-122"/>
                <a:cs typeface="Calibri" pitchFamily="34" charset="-120"/>
              </a:rPr>
              <a:t>COULD SLOW or block it →</a:t>
            </a:r>
            <a:endParaRPr lang="en-US" sz="950" dirty="0"/>
          </a:p>
        </p:txBody>
      </p:sp>
      <p:sp>
        <p:nvSpPr>
          <p:cNvPr id="23" name="Text 21"/>
          <p:cNvSpPr txBox="1"/>
          <p:nvPr/>
        </p:nvSpPr>
        <p:spPr>
          <a:xfrm>
            <a:off x="685800" y="1581912"/>
            <a:ext cx="1828800" cy="182880"/>
          </a:xfrm>
          <a:prstGeom prst="rect">
            <a:avLst/>
          </a:prstGeom>
          <a:noFill/>
          <a:ln/>
        </p:spPr>
        <p:txBody>
          <a:bodyPr wrap="square" lIns="0" tIns="0" rIns="0" bIns="0" rtlCol="0" anchor="t"/>
          <a:lstStyle/>
          <a:p>
            <a:pPr indent="0" marL="0">
              <a:buNone/>
            </a:pPr>
            <a:r>
              <a:rPr lang="en-US" sz="950" b="1" dirty="0">
                <a:solidFill>
                  <a:srgbClr val="5C6B63"/>
                </a:solidFill>
                <a:latin typeface="Calibri" pitchFamily="34" charset="0"/>
                <a:ea typeface="Calibri" pitchFamily="34" charset="-122"/>
                <a:cs typeface="Calibri" pitchFamily="34" charset="-120"/>
              </a:rPr>
              <a:t>↑ More influence</a:t>
            </a:r>
            <a:endParaRPr lang="en-US" sz="950" dirty="0"/>
          </a:p>
        </p:txBody>
      </p:sp>
      <p:sp>
        <p:nvSpPr>
          <p:cNvPr id="24" name="Shape 22"/>
          <p:cNvSpPr/>
          <p:nvPr/>
        </p:nvSpPr>
        <p:spPr>
          <a:xfrm>
            <a:off x="1348740" y="2064258"/>
            <a:ext cx="548640" cy="548640"/>
          </a:xfrm>
          <a:prstGeom prst="ellipse">
            <a:avLst/>
          </a:prstGeom>
          <a:solidFill>
            <a:srgbClr val="FFFFFF"/>
          </a:solidFill>
          <a:ln w="38100">
            <a:solidFill>
              <a:srgbClr val="EE8100"/>
            </a:solidFill>
            <a:prstDash val="solid"/>
          </a:ln>
        </p:spPr>
      </p:sp>
      <p:sp>
        <p:nvSpPr>
          <p:cNvPr id="25" name="Shape 23"/>
          <p:cNvSpPr/>
          <p:nvPr/>
        </p:nvSpPr>
        <p:spPr>
          <a:xfrm>
            <a:off x="1412748" y="2128266"/>
            <a:ext cx="420624" cy="420624"/>
          </a:xfrm>
          <a:prstGeom prst="ellipse">
            <a:avLst/>
          </a:prstGeom>
          <a:solidFill>
            <a:srgbClr val="038141"/>
          </a:solidFill>
          <a:ln/>
        </p:spPr>
      </p:sp>
      <p:sp>
        <p:nvSpPr>
          <p:cNvPr id="26" name="Text 24"/>
          <p:cNvSpPr txBox="1"/>
          <p:nvPr/>
        </p:nvSpPr>
        <p:spPr>
          <a:xfrm>
            <a:off x="1412748" y="212826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7" name="Text 25"/>
          <p:cNvSpPr txBox="1"/>
          <p:nvPr/>
        </p:nvSpPr>
        <p:spPr>
          <a:xfrm>
            <a:off x="845820" y="2603754"/>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Priority shopper</a:t>
            </a:r>
            <a:endParaRPr lang="en-US" sz="950" dirty="0"/>
          </a:p>
        </p:txBody>
      </p:sp>
      <p:sp>
        <p:nvSpPr>
          <p:cNvPr id="28" name="Shape 26"/>
          <p:cNvSpPr/>
          <p:nvPr/>
        </p:nvSpPr>
        <p:spPr>
          <a:xfrm>
            <a:off x="4818888" y="1990192"/>
            <a:ext cx="548640" cy="548640"/>
          </a:xfrm>
          <a:prstGeom prst="ellipse">
            <a:avLst/>
          </a:prstGeom>
          <a:solidFill>
            <a:srgbClr val="FFFFFF"/>
          </a:solidFill>
          <a:ln w="38100">
            <a:solidFill>
              <a:srgbClr val="EE8100"/>
            </a:solidFill>
            <a:prstDash val="solid"/>
          </a:ln>
        </p:spPr>
      </p:sp>
      <p:sp>
        <p:nvSpPr>
          <p:cNvPr id="29" name="Shape 27"/>
          <p:cNvSpPr/>
          <p:nvPr/>
        </p:nvSpPr>
        <p:spPr>
          <a:xfrm>
            <a:off x="4882896" y="2054200"/>
            <a:ext cx="420624" cy="420624"/>
          </a:xfrm>
          <a:prstGeom prst="ellipse">
            <a:avLst/>
          </a:prstGeom>
          <a:solidFill>
            <a:srgbClr val="E63E11"/>
          </a:solidFill>
          <a:ln/>
        </p:spPr>
      </p:sp>
      <p:sp>
        <p:nvSpPr>
          <p:cNvPr id="30" name="Text 28"/>
          <p:cNvSpPr txBox="1"/>
          <p:nvPr/>
        </p:nvSpPr>
        <p:spPr>
          <a:xfrm>
            <a:off x="4882896" y="20542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1" name="Text 29"/>
          <p:cNvSpPr txBox="1"/>
          <p:nvPr/>
        </p:nvSpPr>
        <p:spPr>
          <a:xfrm>
            <a:off x="4315968" y="2529688"/>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Naivas &amp; Carrefour</a:t>
            </a:r>
            <a:endParaRPr lang="en-US" sz="950" dirty="0"/>
          </a:p>
        </p:txBody>
      </p:sp>
      <p:sp>
        <p:nvSpPr>
          <p:cNvPr id="32" name="Shape 30"/>
          <p:cNvSpPr/>
          <p:nvPr/>
        </p:nvSpPr>
        <p:spPr>
          <a:xfrm>
            <a:off x="2253996" y="2916022"/>
            <a:ext cx="548640" cy="548640"/>
          </a:xfrm>
          <a:prstGeom prst="ellipse">
            <a:avLst/>
          </a:prstGeom>
          <a:solidFill>
            <a:srgbClr val="FFFFFF"/>
          </a:solidFill>
          <a:ln w="38100">
            <a:solidFill>
              <a:srgbClr val="EE8100"/>
            </a:solidFill>
            <a:prstDash val="solid"/>
          </a:ln>
        </p:spPr>
      </p:sp>
      <p:sp>
        <p:nvSpPr>
          <p:cNvPr id="33" name="Shape 31"/>
          <p:cNvSpPr/>
          <p:nvPr/>
        </p:nvSpPr>
        <p:spPr>
          <a:xfrm>
            <a:off x="2318004" y="2980030"/>
            <a:ext cx="420624" cy="420624"/>
          </a:xfrm>
          <a:prstGeom prst="ellipse">
            <a:avLst/>
          </a:prstGeom>
          <a:solidFill>
            <a:srgbClr val="038141"/>
          </a:solidFill>
          <a:ln/>
        </p:spPr>
      </p:sp>
      <p:sp>
        <p:nvSpPr>
          <p:cNvPr id="34" name="Text 32"/>
          <p:cNvSpPr txBox="1"/>
          <p:nvPr/>
        </p:nvSpPr>
        <p:spPr>
          <a:xfrm>
            <a:off x="2318004" y="298003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5" name="Text 33"/>
          <p:cNvSpPr txBox="1"/>
          <p:nvPr/>
        </p:nvSpPr>
        <p:spPr>
          <a:xfrm>
            <a:off x="1751076" y="3455518"/>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Clinicians &amp; KNDI</a:t>
            </a:r>
            <a:endParaRPr lang="en-US" sz="950" dirty="0"/>
          </a:p>
        </p:txBody>
      </p:sp>
      <p:sp>
        <p:nvSpPr>
          <p:cNvPr id="36" name="Shape 34"/>
          <p:cNvSpPr/>
          <p:nvPr/>
        </p:nvSpPr>
        <p:spPr>
          <a:xfrm>
            <a:off x="1513332" y="4016959"/>
            <a:ext cx="420624" cy="420624"/>
          </a:xfrm>
          <a:prstGeom prst="ellipse">
            <a:avLst/>
          </a:prstGeom>
          <a:solidFill>
            <a:srgbClr val="038141"/>
          </a:solidFill>
          <a:ln/>
        </p:spPr>
      </p:sp>
      <p:sp>
        <p:nvSpPr>
          <p:cNvPr id="37" name="Text 35"/>
          <p:cNvSpPr txBox="1"/>
          <p:nvPr/>
        </p:nvSpPr>
        <p:spPr>
          <a:xfrm>
            <a:off x="1513332" y="4016959"/>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8" name="Text 36"/>
          <p:cNvSpPr txBox="1"/>
          <p:nvPr/>
        </p:nvSpPr>
        <p:spPr>
          <a:xfrm>
            <a:off x="946404" y="4492447"/>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MoH &amp; Amref</a:t>
            </a:r>
            <a:endParaRPr lang="en-US" sz="950" dirty="0"/>
          </a:p>
        </p:txBody>
      </p:sp>
      <p:sp>
        <p:nvSpPr>
          <p:cNvPr id="39" name="Shape 37"/>
          <p:cNvSpPr/>
          <p:nvPr/>
        </p:nvSpPr>
        <p:spPr>
          <a:xfrm>
            <a:off x="4229100" y="3054096"/>
            <a:ext cx="420624" cy="420624"/>
          </a:xfrm>
          <a:prstGeom prst="ellipse">
            <a:avLst/>
          </a:prstGeom>
          <a:solidFill>
            <a:srgbClr val="E63E11"/>
          </a:solidFill>
          <a:ln/>
        </p:spPr>
      </p:sp>
      <p:sp>
        <p:nvSpPr>
          <p:cNvPr id="40" name="Text 38"/>
          <p:cNvSpPr txBox="1"/>
          <p:nvPr/>
        </p:nvSpPr>
        <p:spPr>
          <a:xfrm>
            <a:off x="4229100" y="30540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41" name="Text 39"/>
          <p:cNvSpPr txBox="1"/>
          <p:nvPr/>
        </p:nvSpPr>
        <p:spPr>
          <a:xfrm>
            <a:off x="3662172" y="3529584"/>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Chrome Web Store</a:t>
            </a:r>
            <a:endParaRPr lang="en-US" sz="950" dirty="0"/>
          </a:p>
        </p:txBody>
      </p:sp>
      <p:sp>
        <p:nvSpPr>
          <p:cNvPr id="42" name="Shape 40"/>
          <p:cNvSpPr/>
          <p:nvPr/>
        </p:nvSpPr>
        <p:spPr>
          <a:xfrm>
            <a:off x="3022092" y="4535424"/>
            <a:ext cx="420624" cy="420624"/>
          </a:xfrm>
          <a:prstGeom prst="ellipse">
            <a:avLst/>
          </a:prstGeom>
          <a:solidFill>
            <a:srgbClr val="F2A900"/>
          </a:solidFill>
          <a:ln/>
        </p:spPr>
      </p:sp>
      <p:sp>
        <p:nvSpPr>
          <p:cNvPr id="43" name="Text 41"/>
          <p:cNvSpPr txBox="1"/>
          <p:nvPr/>
        </p:nvSpPr>
        <p:spPr>
          <a:xfrm>
            <a:off x="3022092" y="4535424"/>
            <a:ext cx="420624" cy="420624"/>
          </a:xfrm>
          <a:prstGeom prst="rect">
            <a:avLst/>
          </a:prstGeom>
          <a:noFill/>
          <a:ln/>
        </p:spPr>
        <p:txBody>
          <a:bodyPr wrap="square" lIns="0" tIns="0" rIns="0" bIns="0" rtlCol="0" anchor="ctr"/>
          <a:lstStyle/>
          <a:p>
            <a:pPr algn="ctr" indent="0" marL="0">
              <a:buNone/>
            </a:pPr>
            <a:r>
              <a:rPr lang="en-US" sz="1400" b="1" dirty="0">
                <a:solidFill>
                  <a:srgbClr val="1F2A24"/>
                </a:solidFill>
                <a:latin typeface="Cambria" pitchFamily="34" charset="0"/>
                <a:ea typeface="Cambria" pitchFamily="34" charset="-122"/>
                <a:cs typeface="Cambria" pitchFamily="34" charset="-120"/>
              </a:rPr>
              <a:t>6</a:t>
            </a:r>
            <a:endParaRPr lang="en-US" sz="1400" dirty="0"/>
          </a:p>
        </p:txBody>
      </p:sp>
      <p:sp>
        <p:nvSpPr>
          <p:cNvPr id="44" name="Text 42"/>
          <p:cNvSpPr txBox="1"/>
          <p:nvPr/>
        </p:nvSpPr>
        <p:spPr>
          <a:xfrm>
            <a:off x="2455164" y="5010912"/>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Data sources &amp; brands</a:t>
            </a:r>
            <a:endParaRPr lang="en-US" sz="950" dirty="0"/>
          </a:p>
        </p:txBody>
      </p:sp>
      <p:sp>
        <p:nvSpPr>
          <p:cNvPr id="45" name="Shape 43"/>
          <p:cNvSpPr/>
          <p:nvPr/>
        </p:nvSpPr>
        <p:spPr>
          <a:xfrm>
            <a:off x="4933188" y="4053992"/>
            <a:ext cx="420624" cy="420624"/>
          </a:xfrm>
          <a:prstGeom prst="ellipse">
            <a:avLst/>
          </a:prstGeom>
          <a:solidFill>
            <a:srgbClr val="E63E11"/>
          </a:solidFill>
          <a:ln/>
        </p:spPr>
      </p:sp>
      <p:sp>
        <p:nvSpPr>
          <p:cNvPr id="46" name="Text 44"/>
          <p:cNvSpPr txBox="1"/>
          <p:nvPr/>
        </p:nvSpPr>
        <p:spPr>
          <a:xfrm>
            <a:off x="4933188" y="40539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47" name="Text 45"/>
          <p:cNvSpPr txBox="1"/>
          <p:nvPr/>
        </p:nvSpPr>
        <p:spPr>
          <a:xfrm>
            <a:off x="4366260" y="4529480"/>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Data Protection Comm.</a:t>
            </a:r>
            <a:endParaRPr lang="en-US" sz="950" dirty="0"/>
          </a:p>
        </p:txBody>
      </p:sp>
      <p:sp>
        <p:nvSpPr>
          <p:cNvPr id="48" name="Shape 46"/>
          <p:cNvSpPr/>
          <p:nvPr/>
        </p:nvSpPr>
        <p:spPr>
          <a:xfrm>
            <a:off x="2606040" y="1600200"/>
            <a:ext cx="146304" cy="146304"/>
          </a:xfrm>
          <a:prstGeom prst="ellipse">
            <a:avLst/>
          </a:prstGeom>
          <a:solidFill>
            <a:srgbClr val="FFFFFF"/>
          </a:solidFill>
          <a:ln w="25400">
            <a:solidFill>
              <a:srgbClr val="EE8100"/>
            </a:solidFill>
            <a:prstDash val="solid"/>
          </a:ln>
        </p:spPr>
      </p:sp>
      <p:sp>
        <p:nvSpPr>
          <p:cNvPr id="49" name="Text 47"/>
          <p:cNvSpPr txBox="1"/>
          <p:nvPr/>
        </p:nvSpPr>
        <p:spPr>
          <a:xfrm>
            <a:off x="2807208" y="1581912"/>
            <a:ext cx="109728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Top-3 critical</a:t>
            </a:r>
            <a:endParaRPr lang="en-US" sz="900" dirty="0"/>
          </a:p>
        </p:txBody>
      </p:sp>
      <p:sp>
        <p:nvSpPr>
          <p:cNvPr id="50" name="Shape 48"/>
          <p:cNvSpPr/>
          <p:nvPr/>
        </p:nvSpPr>
        <p:spPr>
          <a:xfrm>
            <a:off x="3886200" y="1600200"/>
            <a:ext cx="146304" cy="146304"/>
          </a:xfrm>
          <a:prstGeom prst="ellipse">
            <a:avLst/>
          </a:prstGeom>
          <a:solidFill>
            <a:srgbClr val="038141"/>
          </a:solidFill>
          <a:ln/>
        </p:spPr>
      </p:sp>
      <p:sp>
        <p:nvSpPr>
          <p:cNvPr id="51" name="Text 49"/>
          <p:cNvSpPr txBox="1"/>
          <p:nvPr/>
        </p:nvSpPr>
        <p:spPr>
          <a:xfrm>
            <a:off x="4087368" y="1581912"/>
            <a:ext cx="54864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Helps</a:t>
            </a:r>
            <a:endParaRPr lang="en-US" sz="900" dirty="0"/>
          </a:p>
        </p:txBody>
      </p:sp>
      <p:sp>
        <p:nvSpPr>
          <p:cNvPr id="52" name="Shape 50"/>
          <p:cNvSpPr/>
          <p:nvPr/>
        </p:nvSpPr>
        <p:spPr>
          <a:xfrm>
            <a:off x="4572000" y="1600200"/>
            <a:ext cx="146304" cy="146304"/>
          </a:xfrm>
          <a:prstGeom prst="ellipse">
            <a:avLst/>
          </a:prstGeom>
          <a:solidFill>
            <a:srgbClr val="F2A900"/>
          </a:solidFill>
          <a:ln/>
        </p:spPr>
      </p:sp>
      <p:sp>
        <p:nvSpPr>
          <p:cNvPr id="53" name="Text 51"/>
          <p:cNvSpPr txBox="1"/>
          <p:nvPr/>
        </p:nvSpPr>
        <p:spPr>
          <a:xfrm>
            <a:off x="4773168" y="1581912"/>
            <a:ext cx="54864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Mixed</a:t>
            </a:r>
            <a:endParaRPr lang="en-US" sz="900" dirty="0"/>
          </a:p>
        </p:txBody>
      </p:sp>
      <p:sp>
        <p:nvSpPr>
          <p:cNvPr id="54" name="Shape 52"/>
          <p:cNvSpPr/>
          <p:nvPr/>
        </p:nvSpPr>
        <p:spPr>
          <a:xfrm>
            <a:off x="5303520" y="1600200"/>
            <a:ext cx="146304" cy="146304"/>
          </a:xfrm>
          <a:prstGeom prst="ellipse">
            <a:avLst/>
          </a:prstGeom>
          <a:solidFill>
            <a:srgbClr val="E63E11"/>
          </a:solidFill>
          <a:ln/>
        </p:spPr>
      </p:sp>
      <p:sp>
        <p:nvSpPr>
          <p:cNvPr id="55" name="Text 53"/>
          <p:cNvSpPr txBox="1"/>
          <p:nvPr/>
        </p:nvSpPr>
        <p:spPr>
          <a:xfrm>
            <a:off x="5504688" y="1581912"/>
            <a:ext cx="82296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Could slow</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55080" y="1508760"/>
          <a:ext cx="5285232" cy="914400"/>
        </p:xfrm>
        <a:graphic>
          <a:graphicData uri="http://schemas.openxmlformats.org/drawingml/2006/table">
            <a:tbl>
              <a:tblPr/>
              <a:tblGrid>
                <a:gridCol w="365760"/>
                <a:gridCol w="1828800"/>
                <a:gridCol w="1417320"/>
                <a:gridCol w="1673352"/>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Stakeholder</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Role in the ecosystem</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Influence on the venture</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1</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24"/>
                          </a:solidFill>
                          <a:latin typeface="Calibri" pitchFamily="34" charset="0"/>
                          <a:ea typeface="Calibri" pitchFamily="34" charset="-122"/>
                          <a:cs typeface="Calibri" pitchFamily="34" charset="-120"/>
                        </a:rPr>
                        <a:t>Priority shopper (segment A)</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Primary user</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Adoption and continued use</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2</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24"/>
                          </a:solidFill>
                          <a:latin typeface="Calibri" pitchFamily="34" charset="0"/>
                          <a:ea typeface="Calibri" pitchFamily="34" charset="-122"/>
                          <a:cs typeface="Calibri" pitchFamily="34" charset="-120"/>
                        </a:rPr>
                        <a:t>Naivas Online &amp; Carrefour Kenya</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Storefronts the tool runs on</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Access; can break or block it</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3</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24"/>
                          </a:solidFill>
                          <a:latin typeface="Calibri" pitchFamily="34" charset="0"/>
                          <a:ea typeface="Calibri" pitchFamily="34" charset="-122"/>
                          <a:cs typeface="Calibri" pitchFamily="34" charset="-120"/>
                        </a:rPr>
                        <a:t>Clinicians &amp; dietitians (KNDI)</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Advisers and validators</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Trust, referral, threshold endorsement</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4</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Ministry of Health &amp; Amref</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Public-health partners</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Legitimacy, reach, funding route</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5</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Chrome Web Store (Google)</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Distribution channel</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Listing approval, permissions review</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6</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Data sources &amp; food brands</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Nutrition data supply</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Grade coverage and accuracy</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7</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Data Protection Commissioner</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Regulator</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Compliance on health-related data</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bl>
          </a:graphicData>
        </a:graphic>
      </p:graphicFrame>
      <p:sp>
        <p:nvSpPr>
          <p:cNvPr id="57" name="Shape 54"/>
          <p:cNvSpPr/>
          <p:nvPr/>
        </p:nvSpPr>
        <p:spPr>
          <a:xfrm>
            <a:off x="6355080" y="5532120"/>
            <a:ext cx="5285232" cy="548640"/>
          </a:xfrm>
          <a:prstGeom prst="roundRect">
            <a:avLst>
              <a:gd name="adj" fmla="val 10000"/>
            </a:avLst>
          </a:prstGeom>
          <a:solidFill>
            <a:srgbClr val="154B36"/>
          </a:solidFill>
          <a:ln/>
        </p:spPr>
      </p:sp>
      <p:sp>
        <p:nvSpPr>
          <p:cNvPr id="58" name="Text 55"/>
          <p:cNvSpPr txBox="1"/>
          <p:nvPr/>
        </p:nvSpPr>
        <p:spPr>
          <a:xfrm>
            <a:off x="6510528" y="5532120"/>
            <a:ext cx="5029200" cy="548640"/>
          </a:xfrm>
          <a:prstGeom prst="rect">
            <a:avLst/>
          </a:prstGeom>
          <a:noFill/>
          <a:ln/>
        </p:spPr>
        <p:txBody>
          <a:bodyPr wrap="square" lIns="0" tIns="0" rIns="0" bIns="0" rtlCol="0" anchor="ctr"/>
          <a:lstStyle/>
          <a:p>
            <a:pPr indent="0" marL="0">
              <a:buNone/>
            </a:pPr>
            <a:r>
              <a:rPr lang="en-US" sz="950" b="1" spc="150" kern="0" dirty="0">
                <a:solidFill>
                  <a:srgbClr val="F5A623"/>
                </a:solidFill>
                <a:latin typeface="Calibri" pitchFamily="34" charset="0"/>
                <a:ea typeface="Calibri" pitchFamily="34" charset="-122"/>
                <a:cs typeface="Calibri" pitchFamily="34" charset="-120"/>
              </a:rPr>
              <a:t>MOST CRITICAL  </a:t>
            </a:r>
            <a:pPr indent="0" marL="0">
              <a:buNone/>
            </a:pPr>
            <a:r>
              <a:rPr lang="en-US" sz="1050" dirty="0">
                <a:solidFill>
                  <a:srgbClr val="FFFFFF"/>
                </a:solidFill>
                <a:latin typeface="Calibri" pitchFamily="34" charset="0"/>
                <a:ea typeface="Calibri" pitchFamily="34" charset="-122"/>
                <a:cs typeface="Calibri" pitchFamily="34" charset="-120"/>
              </a:rPr>
              <a:t>1 Shopper (adoption)  ·  2 Retail platforms (access)  ·  3 Clinicians (trust)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PART 2 · ASSIGNMENT 2 · USER &amp; STAKEHOLDER VALIDATION · RISK, CHANGE, REFLECTION</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One stakeholder risk, one change, one honest reflection</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Shipped v1.1.0 datasets: Carrefour 3,094 of 6,698 and Naivas 1,609 of 3,820 records can display a grade; 5,660 of 10,518 are UNVERIFIED.</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11 / 13</a:t>
            </a:r>
            <a:endParaRPr lang="en-US" sz="900" dirty="0"/>
          </a:p>
        </p:txBody>
      </p:sp>
      <p:sp>
        <p:nvSpPr>
          <p:cNvPr id="12" name="Shape 10"/>
          <p:cNvSpPr/>
          <p:nvPr/>
        </p:nvSpPr>
        <p:spPr>
          <a:xfrm>
            <a:off x="548640" y="1508760"/>
            <a:ext cx="3566160" cy="4572000"/>
          </a:xfrm>
          <a:prstGeom prst="roundRect">
            <a:avLst>
              <a:gd name="adj" fmla="val 2051"/>
            </a:avLst>
          </a:prstGeom>
          <a:solidFill>
            <a:srgbClr val="FFFFFF"/>
          </a:solidFill>
          <a:ln w="9525">
            <a:solidFill>
              <a:srgbClr val="C9D5CE"/>
            </a:solidFill>
            <a:prstDash val="solid"/>
          </a:ln>
        </p:spPr>
      </p:sp>
      <p:sp>
        <p:nvSpPr>
          <p:cNvPr id="13" name="Shape 11"/>
          <p:cNvSpPr/>
          <p:nvPr/>
        </p:nvSpPr>
        <p:spPr>
          <a:xfrm>
            <a:off x="777240" y="1737360"/>
            <a:ext cx="2103120" cy="237744"/>
          </a:xfrm>
          <a:prstGeom prst="roundRect">
            <a:avLst>
              <a:gd name="adj" fmla="val 46154"/>
            </a:avLst>
          </a:prstGeom>
          <a:solidFill>
            <a:srgbClr val="FCEEE8"/>
          </a:solidFill>
          <a:ln/>
        </p:spPr>
      </p:sp>
      <p:sp>
        <p:nvSpPr>
          <p:cNvPr id="14" name="Text 12"/>
          <p:cNvSpPr txBox="1"/>
          <p:nvPr/>
        </p:nvSpPr>
        <p:spPr>
          <a:xfrm>
            <a:off x="777240" y="1737360"/>
            <a:ext cx="2103120" cy="237744"/>
          </a:xfrm>
          <a:prstGeom prst="rect">
            <a:avLst/>
          </a:prstGeom>
          <a:noFill/>
          <a:ln/>
        </p:spPr>
        <p:txBody>
          <a:bodyPr wrap="square" lIns="0" tIns="0" rIns="0" bIns="0" rtlCol="0" anchor="ctr"/>
          <a:lstStyle/>
          <a:p>
            <a:pPr algn="ctr" indent="0" marL="0">
              <a:buNone/>
            </a:pPr>
            <a:r>
              <a:rPr lang="en-US" sz="900" b="1" spc="100" kern="0" dirty="0">
                <a:solidFill>
                  <a:srgbClr val="E63E11"/>
                </a:solidFill>
                <a:latin typeface="Calibri" pitchFamily="34" charset="0"/>
                <a:ea typeface="Calibri" pitchFamily="34" charset="-122"/>
                <a:cs typeface="Calibri" pitchFamily="34" charset="-120"/>
              </a:rPr>
              <a:t>MAJOR STAKEHOLDER RISK</a:t>
            </a:r>
            <a:endParaRPr lang="en-US" sz="900" dirty="0"/>
          </a:p>
        </p:txBody>
      </p:sp>
      <p:sp>
        <p:nvSpPr>
          <p:cNvPr id="15" name="Text 13"/>
          <p:cNvSpPr txBox="1"/>
          <p:nvPr/>
        </p:nvSpPr>
        <p:spPr>
          <a:xfrm>
            <a:off x="777240" y="2148840"/>
            <a:ext cx="3108960" cy="777240"/>
          </a:xfrm>
          <a:prstGeom prst="rect">
            <a:avLst/>
          </a:prstGeom>
          <a:noFill/>
          <a:ln/>
        </p:spPr>
        <p:txBody>
          <a:bodyPr wrap="square" lIns="0" tIns="0" rIns="0" bIns="0" rtlCol="0" anchor="t"/>
          <a:lstStyle/>
          <a:p>
            <a:pPr indent="0" marL="0">
              <a:buNone/>
            </a:pPr>
            <a:r>
              <a:rPr lang="en-US" sz="1800" b="1" dirty="0">
                <a:solidFill>
                  <a:srgbClr val="154B36"/>
                </a:solidFill>
                <a:latin typeface="Cambria" pitchFamily="34" charset="0"/>
                <a:ea typeface="Cambria" pitchFamily="34" charset="-122"/>
                <a:cs typeface="Cambria" pitchFamily="34" charset="-120"/>
              </a:rPr>
              <a:t>Retailers hold the switch</a:t>
            </a:r>
            <a:endParaRPr lang="en-US" sz="1800" dirty="0"/>
          </a:p>
        </p:txBody>
      </p:sp>
      <p:sp>
        <p:nvSpPr>
          <p:cNvPr id="16" name="Text 14"/>
          <p:cNvSpPr txBox="1"/>
          <p:nvPr/>
        </p:nvSpPr>
        <p:spPr>
          <a:xfrm>
            <a:off x="777240" y="2788920"/>
            <a:ext cx="3108960" cy="114300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The tool reads Naivas and Carrefour pages without a partnership. A site redesign, or a retailer objecting to a third-party grade beside its products, could break or block it overnight.</a:t>
            </a:r>
            <a:endParaRPr lang="en-US" sz="1200" dirty="0"/>
          </a:p>
        </p:txBody>
      </p:sp>
      <p:sp>
        <p:nvSpPr>
          <p:cNvPr id="17" name="Shape 15"/>
          <p:cNvSpPr/>
          <p:nvPr/>
        </p:nvSpPr>
        <p:spPr>
          <a:xfrm>
            <a:off x="777240" y="4023360"/>
            <a:ext cx="3108960" cy="868680"/>
          </a:xfrm>
          <a:prstGeom prst="roundRect">
            <a:avLst>
              <a:gd name="adj" fmla="val 6316"/>
            </a:avLst>
          </a:prstGeom>
          <a:solidFill>
            <a:srgbClr val="F2F6F3"/>
          </a:solidFill>
          <a:ln/>
        </p:spPr>
      </p:sp>
      <p:sp>
        <p:nvSpPr>
          <p:cNvPr id="18" name="Text 16"/>
          <p:cNvSpPr txBox="1"/>
          <p:nvPr/>
        </p:nvSpPr>
        <p:spPr>
          <a:xfrm>
            <a:off x="914400" y="4023360"/>
            <a:ext cx="1051560" cy="868680"/>
          </a:xfrm>
          <a:prstGeom prst="rect">
            <a:avLst/>
          </a:prstGeom>
          <a:noFill/>
          <a:ln/>
        </p:spPr>
        <p:txBody>
          <a:bodyPr wrap="square" lIns="0" tIns="0" rIns="0" bIns="0" rtlCol="0" anchor="ctr"/>
          <a:lstStyle/>
          <a:p>
            <a:pPr indent="0" marL="0">
              <a:buNone/>
            </a:pPr>
            <a:r>
              <a:rPr lang="en-US" sz="3000" b="1" dirty="0">
                <a:solidFill>
                  <a:srgbClr val="A85A00"/>
                </a:solidFill>
                <a:latin typeface="Cambria" pitchFamily="34" charset="0"/>
                <a:ea typeface="Cambria" pitchFamily="34" charset="-122"/>
                <a:cs typeface="Cambria" pitchFamily="34" charset="-120"/>
              </a:rPr>
              <a:t>64%</a:t>
            </a:r>
            <a:endParaRPr lang="en-US" sz="3000" dirty="0"/>
          </a:p>
        </p:txBody>
      </p:sp>
      <p:sp>
        <p:nvSpPr>
          <p:cNvPr id="19" name="Text 17"/>
          <p:cNvSpPr txBox="1"/>
          <p:nvPr/>
        </p:nvSpPr>
        <p:spPr>
          <a:xfrm>
            <a:off x="1965960" y="4023360"/>
            <a:ext cx="1828800" cy="868680"/>
          </a:xfrm>
          <a:prstGeom prst="rect">
            <a:avLst/>
          </a:prstGeom>
          <a:noFill/>
          <a:ln/>
        </p:spPr>
        <p:txBody>
          <a:bodyPr wrap="square" lIns="0" tIns="0" rIns="0" bIns="0" rtlCol="0" anchor="ctr"/>
          <a:lstStyle/>
          <a:p>
            <a:pPr indent="0" marL="0">
              <a:buNone/>
            </a:pPr>
            <a:r>
              <a:rPr lang="en-US" sz="1050" dirty="0">
                <a:solidFill>
                  <a:srgbClr val="1F2A24"/>
                </a:solidFill>
                <a:latin typeface="Calibri" pitchFamily="34" charset="0"/>
                <a:ea typeface="Calibri" pitchFamily="34" charset="-122"/>
                <a:cs typeface="Calibri" pitchFamily="34" charset="-120"/>
              </a:rPr>
              <a:t>of our 10,518 product records sit behind one retailer, Carrefour Kenya</a:t>
            </a:r>
            <a:endParaRPr lang="en-US" sz="1050" dirty="0"/>
          </a:p>
        </p:txBody>
      </p:sp>
      <p:sp>
        <p:nvSpPr>
          <p:cNvPr id="20" name="Text 18"/>
          <p:cNvSpPr txBox="1"/>
          <p:nvPr/>
        </p:nvSpPr>
        <p:spPr>
          <a:xfrm>
            <a:off x="777240" y="5029200"/>
            <a:ext cx="3108960" cy="201168"/>
          </a:xfrm>
          <a:prstGeom prst="rect">
            <a:avLst/>
          </a:prstGeom>
          <a:noFill/>
          <a:ln/>
        </p:spPr>
        <p:txBody>
          <a:bodyPr wrap="square" lIns="0" tIns="0" rIns="0" bIns="0" rtlCol="0" anchor="t"/>
          <a:lstStyle/>
          <a:p>
            <a:pPr indent="0" marL="0">
              <a:buNone/>
            </a:pPr>
            <a:r>
              <a:rPr lang="en-US" sz="1000" b="1" spc="150" kern="0" dirty="0">
                <a:solidFill>
                  <a:srgbClr val="038141"/>
                </a:solidFill>
                <a:latin typeface="Calibri" pitchFamily="34" charset="0"/>
                <a:ea typeface="Calibri" pitchFamily="34" charset="-122"/>
                <a:cs typeface="Calibri" pitchFamily="34" charset="-120"/>
              </a:rPr>
              <a:t>MITIGATION</a:t>
            </a:r>
            <a:endParaRPr lang="en-US" sz="1000" dirty="0"/>
          </a:p>
        </p:txBody>
      </p:sp>
      <p:sp>
        <p:nvSpPr>
          <p:cNvPr id="21" name="Text 19"/>
          <p:cNvSpPr txBox="1"/>
          <p:nvPr/>
        </p:nvSpPr>
        <p:spPr>
          <a:xfrm>
            <a:off x="777240" y="5266944"/>
            <a:ext cx="3108960" cy="73152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Open a low-ask pilot conversation early, and keep each retailer’s adapter isolated so one change does not stop the other.</a:t>
            </a:r>
            <a:endParaRPr lang="en-US" sz="1100" dirty="0"/>
          </a:p>
        </p:txBody>
      </p:sp>
      <p:sp>
        <p:nvSpPr>
          <p:cNvPr id="22" name="Shape 20"/>
          <p:cNvSpPr/>
          <p:nvPr/>
        </p:nvSpPr>
        <p:spPr>
          <a:xfrm>
            <a:off x="4315968" y="1508760"/>
            <a:ext cx="3566160" cy="4572000"/>
          </a:xfrm>
          <a:prstGeom prst="roundRect">
            <a:avLst>
              <a:gd name="adj" fmla="val 2051"/>
            </a:avLst>
          </a:prstGeom>
          <a:solidFill>
            <a:srgbClr val="FFFFFF"/>
          </a:solidFill>
          <a:ln w="9525">
            <a:solidFill>
              <a:srgbClr val="C9D5CE"/>
            </a:solidFill>
            <a:prstDash val="solid"/>
          </a:ln>
        </p:spPr>
      </p:sp>
      <p:sp>
        <p:nvSpPr>
          <p:cNvPr id="23" name="Shape 21"/>
          <p:cNvSpPr/>
          <p:nvPr/>
        </p:nvSpPr>
        <p:spPr>
          <a:xfrm>
            <a:off x="4544568" y="1737360"/>
            <a:ext cx="2286000" cy="237744"/>
          </a:xfrm>
          <a:prstGeom prst="roundRect">
            <a:avLst>
              <a:gd name="adj" fmla="val 46154"/>
            </a:avLst>
          </a:prstGeom>
          <a:solidFill>
            <a:srgbClr val="E8F1EB"/>
          </a:solidFill>
          <a:ln/>
        </p:spPr>
      </p:sp>
      <p:sp>
        <p:nvSpPr>
          <p:cNvPr id="24" name="Text 22"/>
          <p:cNvSpPr txBox="1"/>
          <p:nvPr/>
        </p:nvSpPr>
        <p:spPr>
          <a:xfrm>
            <a:off x="4544568" y="1737360"/>
            <a:ext cx="2286000" cy="237744"/>
          </a:xfrm>
          <a:prstGeom prst="rect">
            <a:avLst/>
          </a:prstGeom>
          <a:noFill/>
          <a:ln/>
        </p:spPr>
        <p:txBody>
          <a:bodyPr wrap="square" lIns="0" tIns="0" rIns="0" bIns="0" rtlCol="0" anchor="ctr"/>
          <a:lstStyle/>
          <a:p>
            <a:pPr algn="ctr" indent="0" marL="0">
              <a:buNone/>
            </a:pPr>
            <a:r>
              <a:rPr lang="en-US" sz="900" b="1" spc="100" kern="0" dirty="0">
                <a:solidFill>
                  <a:srgbClr val="154B36"/>
                </a:solidFill>
                <a:latin typeface="Calibri" pitchFamily="34" charset="0"/>
                <a:ea typeface="Calibri" pitchFamily="34" charset="-122"/>
                <a:cs typeface="Calibri" pitchFamily="34" charset="-120"/>
              </a:rPr>
              <a:t>ONE CHANGE WE WOULD MAKE</a:t>
            </a:r>
            <a:endParaRPr lang="en-US" sz="900" dirty="0"/>
          </a:p>
        </p:txBody>
      </p:sp>
      <p:sp>
        <p:nvSpPr>
          <p:cNvPr id="25" name="Text 23"/>
          <p:cNvSpPr txBox="1"/>
          <p:nvPr/>
        </p:nvSpPr>
        <p:spPr>
          <a:xfrm>
            <a:off x="4544568" y="2148840"/>
            <a:ext cx="3108960" cy="777240"/>
          </a:xfrm>
          <a:prstGeom prst="rect">
            <a:avLst/>
          </a:prstGeom>
          <a:noFill/>
          <a:ln/>
        </p:spPr>
        <p:txBody>
          <a:bodyPr wrap="square" lIns="0" tIns="0" rIns="0" bIns="0" rtlCol="0" anchor="t"/>
          <a:lstStyle/>
          <a:p>
            <a:pPr indent="0" marL="0">
              <a:buNone/>
            </a:pPr>
            <a:r>
              <a:rPr lang="en-US" sz="1800" b="1" dirty="0">
                <a:solidFill>
                  <a:srgbClr val="154B36"/>
                </a:solidFill>
                <a:latin typeface="Cambria" pitchFamily="34" charset="0"/>
                <a:ea typeface="Cambria" pitchFamily="34" charset="-122"/>
                <a:cs typeface="Cambria" pitchFamily="34" charset="-120"/>
              </a:rPr>
              <a:t>Curate what segment A actually buys</a:t>
            </a:r>
            <a:endParaRPr lang="en-US" sz="1800" dirty="0"/>
          </a:p>
        </p:txBody>
      </p:sp>
      <p:sp>
        <p:nvSpPr>
          <p:cNvPr id="26" name="Text 24"/>
          <p:cNvSpPr txBox="1"/>
          <p:nvPr/>
        </p:nvSpPr>
        <p:spPr>
          <a:xfrm>
            <a:off x="4544568" y="2788920"/>
            <a:ext cx="3108960" cy="114300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Only 42–46% of catalog records can show a grade today. Ask each interviewee to show their last cart, then verify those products first, so the grade appears on the items they really buy.</a:t>
            </a:r>
            <a:endParaRPr lang="en-US" sz="1200" dirty="0"/>
          </a:p>
        </p:txBody>
      </p:sp>
      <p:sp>
        <p:nvSpPr>
          <p:cNvPr id="27" name="Text 25"/>
          <p:cNvSpPr txBox="1"/>
          <p:nvPr/>
        </p:nvSpPr>
        <p:spPr>
          <a:xfrm>
            <a:off x="4544568" y="4114800"/>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RECORDS THAT CAN SHOW A GRADE TODAY</a:t>
            </a:r>
            <a:endParaRPr lang="en-US" sz="1000" dirty="0"/>
          </a:p>
        </p:txBody>
      </p:sp>
      <p:sp>
        <p:nvSpPr>
          <p:cNvPr id="28" name="Text 26"/>
          <p:cNvSpPr txBox="1"/>
          <p:nvPr/>
        </p:nvSpPr>
        <p:spPr>
          <a:xfrm>
            <a:off x="4544568" y="4480560"/>
            <a:ext cx="822960" cy="329184"/>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Carrefour</a:t>
            </a:r>
            <a:endParaRPr lang="en-US" sz="1050" dirty="0"/>
          </a:p>
        </p:txBody>
      </p:sp>
      <p:sp>
        <p:nvSpPr>
          <p:cNvPr id="29" name="Shape 27"/>
          <p:cNvSpPr/>
          <p:nvPr/>
        </p:nvSpPr>
        <p:spPr>
          <a:xfrm>
            <a:off x="5413248" y="4480560"/>
            <a:ext cx="2148840" cy="329184"/>
          </a:xfrm>
          <a:prstGeom prst="roundRect">
            <a:avLst>
              <a:gd name="adj" fmla="val 11111"/>
            </a:avLst>
          </a:prstGeom>
          <a:solidFill>
            <a:srgbClr val="DDE6E0"/>
          </a:solidFill>
          <a:ln/>
        </p:spPr>
      </p:sp>
      <p:sp>
        <p:nvSpPr>
          <p:cNvPr id="30" name="Shape 28"/>
          <p:cNvSpPr/>
          <p:nvPr/>
        </p:nvSpPr>
        <p:spPr>
          <a:xfrm>
            <a:off x="5413248" y="4480560"/>
            <a:ext cx="988466" cy="329184"/>
          </a:xfrm>
          <a:prstGeom prst="roundRect">
            <a:avLst>
              <a:gd name="adj" fmla="val 11111"/>
            </a:avLst>
          </a:prstGeom>
          <a:solidFill>
            <a:srgbClr val="154B36"/>
          </a:solidFill>
          <a:ln/>
        </p:spPr>
      </p:sp>
      <p:sp>
        <p:nvSpPr>
          <p:cNvPr id="31" name="Text 29"/>
          <p:cNvSpPr txBox="1"/>
          <p:nvPr/>
        </p:nvSpPr>
        <p:spPr>
          <a:xfrm>
            <a:off x="5413248" y="4480560"/>
            <a:ext cx="98846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46%</a:t>
            </a:r>
            <a:endParaRPr lang="en-US" sz="1200" dirty="0"/>
          </a:p>
        </p:txBody>
      </p:sp>
      <p:sp>
        <p:nvSpPr>
          <p:cNvPr id="32" name="Text 30"/>
          <p:cNvSpPr txBox="1"/>
          <p:nvPr/>
        </p:nvSpPr>
        <p:spPr>
          <a:xfrm>
            <a:off x="4544568" y="5029200"/>
            <a:ext cx="822960" cy="329184"/>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Naivas</a:t>
            </a:r>
            <a:endParaRPr lang="en-US" sz="1050" dirty="0"/>
          </a:p>
        </p:txBody>
      </p:sp>
      <p:sp>
        <p:nvSpPr>
          <p:cNvPr id="33" name="Shape 31"/>
          <p:cNvSpPr/>
          <p:nvPr/>
        </p:nvSpPr>
        <p:spPr>
          <a:xfrm>
            <a:off x="5413248" y="5029200"/>
            <a:ext cx="2148840" cy="329184"/>
          </a:xfrm>
          <a:prstGeom prst="roundRect">
            <a:avLst>
              <a:gd name="adj" fmla="val 11111"/>
            </a:avLst>
          </a:prstGeom>
          <a:solidFill>
            <a:srgbClr val="DDE6E0"/>
          </a:solidFill>
          <a:ln/>
        </p:spPr>
      </p:sp>
      <p:sp>
        <p:nvSpPr>
          <p:cNvPr id="34" name="Shape 32"/>
          <p:cNvSpPr/>
          <p:nvPr/>
        </p:nvSpPr>
        <p:spPr>
          <a:xfrm>
            <a:off x="5413248" y="5029200"/>
            <a:ext cx="902513" cy="329184"/>
          </a:xfrm>
          <a:prstGeom prst="roundRect">
            <a:avLst>
              <a:gd name="adj" fmla="val 11111"/>
            </a:avLst>
          </a:prstGeom>
          <a:solidFill>
            <a:srgbClr val="154B36"/>
          </a:solidFill>
          <a:ln/>
        </p:spPr>
      </p:sp>
      <p:sp>
        <p:nvSpPr>
          <p:cNvPr id="35" name="Text 33"/>
          <p:cNvSpPr txBox="1"/>
          <p:nvPr/>
        </p:nvSpPr>
        <p:spPr>
          <a:xfrm>
            <a:off x="5413248" y="5029200"/>
            <a:ext cx="902513"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42%</a:t>
            </a:r>
            <a:endParaRPr lang="en-US" sz="1200" dirty="0"/>
          </a:p>
        </p:txBody>
      </p:sp>
      <p:sp>
        <p:nvSpPr>
          <p:cNvPr id="36" name="Text 34"/>
          <p:cNvSpPr txBox="1"/>
          <p:nvPr/>
        </p:nvSpPr>
        <p:spPr>
          <a:xfrm>
            <a:off x="4544568" y="5623560"/>
            <a:ext cx="3108960" cy="274320"/>
          </a:xfrm>
          <a:prstGeom prst="rect">
            <a:avLst/>
          </a:prstGeom>
          <a:noFill/>
          <a:ln/>
        </p:spPr>
        <p:txBody>
          <a:bodyPr wrap="square" lIns="0" tIns="0" rIns="0" bIns="0" rtlCol="0" anchor="t"/>
          <a:lstStyle/>
          <a:p>
            <a:pPr indent="0" marL="0">
              <a:buNone/>
            </a:pPr>
            <a:r>
              <a:rPr lang="en-US" sz="1000" i="1" dirty="0">
                <a:solidFill>
                  <a:srgbClr val="5C6B63"/>
                </a:solidFill>
                <a:latin typeface="Calibri" pitchFamily="34" charset="0"/>
                <a:ea typeface="Calibri" pitchFamily="34" charset="-122"/>
                <a:cs typeface="Calibri" pitchFamily="34" charset="-120"/>
              </a:rPr>
              <a:t>54% of all records are still unverified</a:t>
            </a:r>
            <a:endParaRPr lang="en-US" sz="1000" dirty="0"/>
          </a:p>
        </p:txBody>
      </p:sp>
      <p:sp>
        <p:nvSpPr>
          <p:cNvPr id="37" name="Shape 35"/>
          <p:cNvSpPr/>
          <p:nvPr/>
        </p:nvSpPr>
        <p:spPr>
          <a:xfrm>
            <a:off x="8083296" y="1508760"/>
            <a:ext cx="3566160" cy="4572000"/>
          </a:xfrm>
          <a:prstGeom prst="roundRect">
            <a:avLst>
              <a:gd name="adj" fmla="val 2051"/>
            </a:avLst>
          </a:prstGeom>
          <a:solidFill>
            <a:srgbClr val="154B36"/>
          </a:solidFill>
          <a:ln/>
        </p:spPr>
      </p:sp>
      <p:sp>
        <p:nvSpPr>
          <p:cNvPr id="38" name="Text 36"/>
          <p:cNvSpPr txBox="1"/>
          <p:nvPr/>
        </p:nvSpPr>
        <p:spPr>
          <a:xfrm>
            <a:off x="8311896" y="1755648"/>
            <a:ext cx="32004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FINAL REFLECTION  ·  WHAT HAS CHANGED?</a:t>
            </a:r>
            <a:endParaRPr lang="en-US" sz="1000" dirty="0"/>
          </a:p>
        </p:txBody>
      </p:sp>
      <p:sp>
        <p:nvSpPr>
          <p:cNvPr id="39" name="Text 37"/>
          <p:cNvSpPr txBox="1"/>
          <p:nvPr/>
        </p:nvSpPr>
        <p:spPr>
          <a:xfrm>
            <a:off x="8311896" y="2057400"/>
            <a:ext cx="310896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Working answer, before interviews</a:t>
            </a:r>
            <a:endParaRPr lang="en-US" sz="1300" dirty="0"/>
          </a:p>
        </p:txBody>
      </p:sp>
      <p:sp>
        <p:nvSpPr>
          <p:cNvPr id="40" name="Text 38"/>
          <p:cNvSpPr txBox="1"/>
          <p:nvPr/>
        </p:nvSpPr>
        <p:spPr>
          <a:xfrm>
            <a:off x="8311896" y="2423160"/>
            <a:ext cx="3108960" cy="1691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The user narrowed: from all online shoppers to shoppers already managing a condition.</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User and payer differ: shoppers benefit, but no payer is identified yet.</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Retailers moved from data source to gatekeeper.</a:t>
            </a:r>
            <a:endParaRPr lang="en-US" sz="1150" dirty="0"/>
          </a:p>
        </p:txBody>
      </p:sp>
      <p:sp>
        <p:nvSpPr>
          <p:cNvPr id="41" name="Shape 39"/>
          <p:cNvSpPr/>
          <p:nvPr/>
        </p:nvSpPr>
        <p:spPr>
          <a:xfrm>
            <a:off x="8311896" y="4206240"/>
            <a:ext cx="3108960" cy="1691640"/>
          </a:xfrm>
          <a:prstGeom prst="roundRect">
            <a:avLst>
              <a:gd name="adj" fmla="val 3243"/>
            </a:avLst>
          </a:prstGeom>
          <a:solidFill>
            <a:srgbClr val="1E6047"/>
          </a:solidFill>
          <a:ln w="12700">
            <a:solidFill>
              <a:srgbClr val="F5A623"/>
            </a:solidFill>
            <a:prstDash val="dash"/>
          </a:ln>
        </p:spPr>
      </p:sp>
      <p:sp>
        <p:nvSpPr>
          <p:cNvPr id="42" name="Text 40"/>
          <p:cNvSpPr txBox="1"/>
          <p:nvPr/>
        </p:nvSpPr>
        <p:spPr>
          <a:xfrm>
            <a:off x="8421624" y="4242816"/>
            <a:ext cx="2889504" cy="1618488"/>
          </a:xfrm>
          <a:prstGeom prst="rect">
            <a:avLst/>
          </a:prstGeom>
          <a:noFill/>
          <a:ln/>
        </p:spPr>
        <p:txBody>
          <a:bodyPr wrap="square" lIns="0" tIns="0" rIns="0" bIns="0" rtlCol="0" anchor="ctr"/>
          <a:lstStyle/>
          <a:p>
            <a:pPr algn="l" indent="0" marL="0">
              <a:buNone/>
            </a:pPr>
            <a:r>
              <a:rPr lang="en-US" sz="1100" i="1" dirty="0">
                <a:solidFill>
                  <a:srgbClr val="FFE2B0"/>
                </a:solidFill>
                <a:latin typeface="Calibri" pitchFamily="34" charset="0"/>
                <a:ea typeface="Calibri" pitchFamily="34" charset="-122"/>
                <a:cs typeface="Calibri" pitchFamily="34" charset="-120"/>
              </a:rPr>
              <a:t>INSERT what the interviews confirmed or contradicted, and whether the direction stands.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THE PLAN AND THE ASKS</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Four moves to finish validation, four partners to bring in</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Asks carried over from the NutriScore Checkout Tool deck (Gate 0 review, KNDI, data curation, Amref / MoH), re-sequenced behind the validation work.</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12 / 13</a:t>
            </a:r>
            <a:endParaRPr lang="en-US" sz="900" dirty="0"/>
          </a:p>
        </p:txBody>
      </p:sp>
      <p:sp>
        <p:nvSpPr>
          <p:cNvPr id="12" name="Text 10"/>
          <p:cNvSpPr txBox="1"/>
          <p:nvPr/>
        </p:nvSpPr>
        <p:spPr>
          <a:xfrm>
            <a:off x="548640" y="1508760"/>
            <a:ext cx="457200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NEXT FOUR MOVES</a:t>
            </a:r>
            <a:endParaRPr lang="en-US" sz="1000" dirty="0"/>
          </a:p>
        </p:txBody>
      </p:sp>
      <p:sp>
        <p:nvSpPr>
          <p:cNvPr id="13" name="Shape 11"/>
          <p:cNvSpPr/>
          <p:nvPr/>
        </p:nvSpPr>
        <p:spPr>
          <a:xfrm>
            <a:off x="548640" y="1810512"/>
            <a:ext cx="5257800" cy="960120"/>
          </a:xfrm>
          <a:prstGeom prst="roundRect">
            <a:avLst>
              <a:gd name="adj" fmla="val 7619"/>
            </a:avLst>
          </a:prstGeom>
          <a:solidFill>
            <a:srgbClr val="FFFFFF"/>
          </a:solidFill>
          <a:ln w="9525">
            <a:solidFill>
              <a:srgbClr val="C9D5CE"/>
            </a:solidFill>
            <a:prstDash val="solid"/>
          </a:ln>
        </p:spPr>
      </p:sp>
      <p:sp>
        <p:nvSpPr>
          <p:cNvPr id="14" name="Shape 12"/>
          <p:cNvSpPr/>
          <p:nvPr/>
        </p:nvSpPr>
        <p:spPr>
          <a:xfrm>
            <a:off x="749808" y="2057400"/>
            <a:ext cx="457200" cy="457200"/>
          </a:xfrm>
          <a:prstGeom prst="ellipse">
            <a:avLst/>
          </a:prstGeom>
          <a:solidFill>
            <a:srgbClr val="154B36"/>
          </a:solidFill>
          <a:ln/>
        </p:spPr>
      </p:sp>
      <p:sp>
        <p:nvSpPr>
          <p:cNvPr id="15" name="Text 13"/>
          <p:cNvSpPr txBox="1"/>
          <p:nvPr/>
        </p:nvSpPr>
        <p:spPr>
          <a:xfrm>
            <a:off x="749808"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6" name="Text 14"/>
          <p:cNvSpPr txBox="1"/>
          <p:nvPr/>
        </p:nvSpPr>
        <p:spPr>
          <a:xfrm>
            <a:off x="1417320" y="1938528"/>
            <a:ext cx="4206240" cy="292608"/>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Run the interviews</a:t>
            </a:r>
            <a:endParaRPr lang="en-US" sz="1350" dirty="0"/>
          </a:p>
        </p:txBody>
      </p:sp>
      <p:sp>
        <p:nvSpPr>
          <p:cNvPr id="17" name="Text 15"/>
          <p:cNvSpPr txBox="1"/>
          <p:nvPr/>
        </p:nvSpPr>
        <p:spPr>
          <a:xfrm>
            <a:off x="1417320" y="2267712"/>
            <a:ext cx="4206240" cy="45720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At least 3 problem interviews; at least 2 from segment A</a:t>
            </a:r>
            <a:endParaRPr lang="en-US" sz="1100" dirty="0"/>
          </a:p>
        </p:txBody>
      </p:sp>
      <p:sp>
        <p:nvSpPr>
          <p:cNvPr id="18" name="Shape 16"/>
          <p:cNvSpPr/>
          <p:nvPr/>
        </p:nvSpPr>
        <p:spPr>
          <a:xfrm>
            <a:off x="548640" y="2889504"/>
            <a:ext cx="5257800" cy="960120"/>
          </a:xfrm>
          <a:prstGeom prst="roundRect">
            <a:avLst>
              <a:gd name="adj" fmla="val 7619"/>
            </a:avLst>
          </a:prstGeom>
          <a:solidFill>
            <a:srgbClr val="FFFFFF"/>
          </a:solidFill>
          <a:ln w="9525">
            <a:solidFill>
              <a:srgbClr val="C9D5CE"/>
            </a:solidFill>
            <a:prstDash val="solid"/>
          </a:ln>
        </p:spPr>
      </p:sp>
      <p:sp>
        <p:nvSpPr>
          <p:cNvPr id="19" name="Shape 17"/>
          <p:cNvSpPr/>
          <p:nvPr/>
        </p:nvSpPr>
        <p:spPr>
          <a:xfrm>
            <a:off x="749808" y="3136392"/>
            <a:ext cx="457200" cy="457200"/>
          </a:xfrm>
          <a:prstGeom prst="ellipse">
            <a:avLst/>
          </a:prstGeom>
          <a:solidFill>
            <a:srgbClr val="154B36"/>
          </a:solidFill>
          <a:ln/>
        </p:spPr>
      </p:sp>
      <p:sp>
        <p:nvSpPr>
          <p:cNvPr id="20" name="Text 18"/>
          <p:cNvSpPr txBox="1"/>
          <p:nvPr/>
        </p:nvSpPr>
        <p:spPr>
          <a:xfrm>
            <a:off x="749808" y="31363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1" name="Text 19"/>
          <p:cNvSpPr txBox="1"/>
          <p:nvPr/>
        </p:nvSpPr>
        <p:spPr>
          <a:xfrm>
            <a:off x="1417320" y="3017520"/>
            <a:ext cx="4206240" cy="292608"/>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Fill every orange box</a:t>
            </a:r>
            <a:endParaRPr lang="en-US" sz="1350" dirty="0"/>
          </a:p>
        </p:txBody>
      </p:sp>
      <p:sp>
        <p:nvSpPr>
          <p:cNvPr id="22" name="Text 20"/>
          <p:cNvSpPr txBox="1"/>
          <p:nvPr/>
        </p:nvSpPr>
        <p:spPr>
          <a:xfrm>
            <a:off x="1417320" y="3346704"/>
            <a:ext cx="4206240" cy="45720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Then record the validation decision and the scorecard</a:t>
            </a:r>
            <a:endParaRPr lang="en-US" sz="1100" dirty="0"/>
          </a:p>
        </p:txBody>
      </p:sp>
      <p:sp>
        <p:nvSpPr>
          <p:cNvPr id="23" name="Shape 21"/>
          <p:cNvSpPr/>
          <p:nvPr/>
        </p:nvSpPr>
        <p:spPr>
          <a:xfrm>
            <a:off x="548640" y="3968496"/>
            <a:ext cx="5257800" cy="960120"/>
          </a:xfrm>
          <a:prstGeom prst="roundRect">
            <a:avLst>
              <a:gd name="adj" fmla="val 7619"/>
            </a:avLst>
          </a:prstGeom>
          <a:solidFill>
            <a:srgbClr val="FFFFFF"/>
          </a:solidFill>
          <a:ln w="9525">
            <a:solidFill>
              <a:srgbClr val="C9D5CE"/>
            </a:solidFill>
            <a:prstDash val="solid"/>
          </a:ln>
        </p:spPr>
      </p:sp>
      <p:sp>
        <p:nvSpPr>
          <p:cNvPr id="24" name="Shape 22"/>
          <p:cNvSpPr/>
          <p:nvPr/>
        </p:nvSpPr>
        <p:spPr>
          <a:xfrm>
            <a:off x="749808" y="4215384"/>
            <a:ext cx="457200" cy="457200"/>
          </a:xfrm>
          <a:prstGeom prst="ellipse">
            <a:avLst/>
          </a:prstGeom>
          <a:solidFill>
            <a:srgbClr val="154B36"/>
          </a:solidFill>
          <a:ln/>
        </p:spPr>
      </p:sp>
      <p:sp>
        <p:nvSpPr>
          <p:cNvPr id="25" name="Text 23"/>
          <p:cNvSpPr txBox="1"/>
          <p:nvPr/>
        </p:nvSpPr>
        <p:spPr>
          <a:xfrm>
            <a:off x="749808" y="42153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6" name="Text 24"/>
          <p:cNvSpPr txBox="1"/>
          <p:nvPr/>
        </p:nvSpPr>
        <p:spPr>
          <a:xfrm>
            <a:off x="1417320" y="4096512"/>
            <a:ext cx="4206240" cy="292608"/>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Confirm or change the priority segment</a:t>
            </a:r>
            <a:endParaRPr lang="en-US" sz="1350" dirty="0"/>
          </a:p>
        </p:txBody>
      </p:sp>
      <p:sp>
        <p:nvSpPr>
          <p:cNvPr id="27" name="Text 25"/>
          <p:cNvSpPr txBox="1"/>
          <p:nvPr/>
        </p:nvSpPr>
        <p:spPr>
          <a:xfrm>
            <a:off x="1417320" y="4425696"/>
            <a:ext cx="4206240" cy="45720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Let contradictions overrule our desk-research bet</a:t>
            </a:r>
            <a:endParaRPr lang="en-US" sz="1100" dirty="0"/>
          </a:p>
        </p:txBody>
      </p:sp>
      <p:sp>
        <p:nvSpPr>
          <p:cNvPr id="28" name="Shape 26"/>
          <p:cNvSpPr/>
          <p:nvPr/>
        </p:nvSpPr>
        <p:spPr>
          <a:xfrm>
            <a:off x="548640" y="5047488"/>
            <a:ext cx="5257800" cy="960120"/>
          </a:xfrm>
          <a:prstGeom prst="roundRect">
            <a:avLst>
              <a:gd name="adj" fmla="val 7619"/>
            </a:avLst>
          </a:prstGeom>
          <a:solidFill>
            <a:srgbClr val="FFFFFF"/>
          </a:solidFill>
          <a:ln w="9525">
            <a:solidFill>
              <a:srgbClr val="C9D5CE"/>
            </a:solidFill>
            <a:prstDash val="solid"/>
          </a:ln>
        </p:spPr>
      </p:sp>
      <p:sp>
        <p:nvSpPr>
          <p:cNvPr id="29" name="Shape 27"/>
          <p:cNvSpPr/>
          <p:nvPr/>
        </p:nvSpPr>
        <p:spPr>
          <a:xfrm>
            <a:off x="749808" y="5294376"/>
            <a:ext cx="457200" cy="457200"/>
          </a:xfrm>
          <a:prstGeom prst="ellipse">
            <a:avLst/>
          </a:prstGeom>
          <a:solidFill>
            <a:srgbClr val="154B36"/>
          </a:solidFill>
          <a:ln/>
        </p:spPr>
      </p:sp>
      <p:sp>
        <p:nvSpPr>
          <p:cNvPr id="30" name="Text 28"/>
          <p:cNvSpPr txBox="1"/>
          <p:nvPr/>
        </p:nvSpPr>
        <p:spPr>
          <a:xfrm>
            <a:off x="749808" y="52943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1" name="Text 29"/>
          <p:cNvSpPr txBox="1"/>
          <p:nvPr/>
        </p:nvSpPr>
        <p:spPr>
          <a:xfrm>
            <a:off x="1417320" y="5175504"/>
            <a:ext cx="4206240" cy="292608"/>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Open partner conversations</a:t>
            </a:r>
            <a:endParaRPr lang="en-US" sz="1350" dirty="0"/>
          </a:p>
        </p:txBody>
      </p:sp>
      <p:sp>
        <p:nvSpPr>
          <p:cNvPr id="32" name="Text 30"/>
          <p:cNvSpPr txBox="1"/>
          <p:nvPr/>
        </p:nvSpPr>
        <p:spPr>
          <a:xfrm>
            <a:off x="1417320" y="5504688"/>
            <a:ext cx="4206240" cy="45720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KNDI first for credibility, retailers second for access</a:t>
            </a:r>
            <a:endParaRPr lang="en-US" sz="1100" dirty="0"/>
          </a:p>
        </p:txBody>
      </p:sp>
      <p:sp>
        <p:nvSpPr>
          <p:cNvPr id="33" name="Shape 31"/>
          <p:cNvSpPr/>
          <p:nvPr/>
        </p:nvSpPr>
        <p:spPr>
          <a:xfrm>
            <a:off x="6035040" y="1508760"/>
            <a:ext cx="5605272" cy="4572000"/>
          </a:xfrm>
          <a:prstGeom prst="roundRect">
            <a:avLst>
              <a:gd name="adj" fmla="val 1600"/>
            </a:avLst>
          </a:prstGeom>
          <a:solidFill>
            <a:srgbClr val="154B36"/>
          </a:solidFill>
          <a:ln/>
        </p:spPr>
      </p:sp>
      <p:sp>
        <p:nvSpPr>
          <p:cNvPr id="34" name="Text 32"/>
          <p:cNvSpPr txBox="1"/>
          <p:nvPr/>
        </p:nvSpPr>
        <p:spPr>
          <a:xfrm>
            <a:off x="6309360" y="1737360"/>
            <a:ext cx="45720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WHERE WE NEED PARTNERSHIP</a:t>
            </a:r>
            <a:endParaRPr lang="en-US" sz="1000" dirty="0"/>
          </a:p>
        </p:txBody>
      </p:sp>
      <p:sp>
        <p:nvSpPr>
          <p:cNvPr id="35" name="Text 33"/>
          <p:cNvSpPr txBox="1"/>
          <p:nvPr/>
        </p:nvSpPr>
        <p:spPr>
          <a:xfrm>
            <a:off x="6309360" y="2103120"/>
            <a:ext cx="5120640" cy="292608"/>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Gate 0 review</a:t>
            </a:r>
            <a:endParaRPr lang="en-US" sz="1400" dirty="0"/>
          </a:p>
        </p:txBody>
      </p:sp>
      <p:sp>
        <p:nvSpPr>
          <p:cNvPr id="36" name="Text 34"/>
          <p:cNvSpPr txBox="1"/>
          <p:nvPr/>
        </p:nvSpPr>
        <p:spPr>
          <a:xfrm>
            <a:off x="6309360" y="2432304"/>
            <a:ext cx="5120640" cy="502920"/>
          </a:xfrm>
          <a:prstGeom prst="rect">
            <a:avLst/>
          </a:prstGeom>
          <a:noFill/>
          <a:ln/>
        </p:spPr>
        <p:txBody>
          <a:bodyPr wrap="square" lIns="0" tIns="0" rIns="0" bIns="0" rtlCol="0" anchor="t"/>
          <a:lstStyle/>
          <a:p>
            <a:pPr indent="0" marL="0">
              <a:buNone/>
            </a:pPr>
            <a:r>
              <a:rPr lang="en-US" sz="1150" dirty="0">
                <a:solidFill>
                  <a:srgbClr val="C9D5CE"/>
                </a:solidFill>
                <a:latin typeface="Calibri" pitchFamily="34" charset="0"/>
                <a:ea typeface="Calibri" pitchFamily="34" charset="-122"/>
                <a:cs typeface="Calibri" pitchFamily="34" charset="-120"/>
              </a:rPr>
              <a:t>JHUB Africa panel, judged on this evidence-first plan</a:t>
            </a:r>
            <a:endParaRPr lang="en-US" sz="1150" dirty="0"/>
          </a:p>
        </p:txBody>
      </p:sp>
      <p:sp>
        <p:nvSpPr>
          <p:cNvPr id="37" name="Text 35"/>
          <p:cNvSpPr txBox="1"/>
          <p:nvPr/>
        </p:nvSpPr>
        <p:spPr>
          <a:xfrm>
            <a:off x="6309360" y="3090672"/>
            <a:ext cx="5120640" cy="292608"/>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KNDI threshold validation</a:t>
            </a:r>
            <a:endParaRPr lang="en-US" sz="1400" dirty="0"/>
          </a:p>
        </p:txBody>
      </p:sp>
      <p:sp>
        <p:nvSpPr>
          <p:cNvPr id="38" name="Text 36"/>
          <p:cNvSpPr txBox="1"/>
          <p:nvPr/>
        </p:nvSpPr>
        <p:spPr>
          <a:xfrm>
            <a:off x="6309360" y="3419856"/>
            <a:ext cx="5120640" cy="502920"/>
          </a:xfrm>
          <a:prstGeom prst="rect">
            <a:avLst/>
          </a:prstGeom>
          <a:noFill/>
          <a:ln/>
        </p:spPr>
        <p:txBody>
          <a:bodyPr wrap="square" lIns="0" tIns="0" rIns="0" bIns="0" rtlCol="0" anchor="t"/>
          <a:lstStyle/>
          <a:p>
            <a:pPr indent="0" marL="0">
              <a:buNone/>
            </a:pPr>
            <a:r>
              <a:rPr lang="en-US" sz="1150" dirty="0">
                <a:solidFill>
                  <a:srgbClr val="C9D5CE"/>
                </a:solidFill>
                <a:latin typeface="Calibri" pitchFamily="34" charset="0"/>
                <a:ea typeface="Calibri" pitchFamily="34" charset="-122"/>
                <a:cs typeface="Calibri" pitchFamily="34" charset="-120"/>
              </a:rPr>
              <a:t>A review meeting and an endorsement letter before Web Store submission</a:t>
            </a:r>
            <a:endParaRPr lang="en-US" sz="1150" dirty="0"/>
          </a:p>
        </p:txBody>
      </p:sp>
      <p:sp>
        <p:nvSpPr>
          <p:cNvPr id="39" name="Text 37"/>
          <p:cNvSpPr txBox="1"/>
          <p:nvPr/>
        </p:nvSpPr>
        <p:spPr>
          <a:xfrm>
            <a:off x="6309360" y="4078224"/>
            <a:ext cx="5120640" cy="292608"/>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Data-curation support</a:t>
            </a:r>
            <a:endParaRPr lang="en-US" sz="1400" dirty="0"/>
          </a:p>
        </p:txBody>
      </p:sp>
      <p:sp>
        <p:nvSpPr>
          <p:cNvPr id="40" name="Text 38"/>
          <p:cNvSpPr txBox="1"/>
          <p:nvPr/>
        </p:nvSpPr>
        <p:spPr>
          <a:xfrm>
            <a:off x="6309360" y="4407408"/>
            <a:ext cx="5120640" cy="502920"/>
          </a:xfrm>
          <a:prstGeom prst="rect">
            <a:avLst/>
          </a:prstGeom>
          <a:noFill/>
          <a:ln/>
        </p:spPr>
        <p:txBody>
          <a:bodyPr wrap="square" lIns="0" tIns="0" rIns="0" bIns="0" rtlCol="0" anchor="t"/>
          <a:lstStyle/>
          <a:p>
            <a:pPr indent="0" marL="0">
              <a:buNone/>
            </a:pPr>
            <a:r>
              <a:rPr lang="en-US" sz="1150" dirty="0">
                <a:solidFill>
                  <a:srgbClr val="C9D5CE"/>
                </a:solidFill>
                <a:latin typeface="Calibri" pitchFamily="34" charset="0"/>
                <a:ea typeface="Calibri" pitchFamily="34" charset="-122"/>
                <a:cs typeface="Calibri" pitchFamily="34" charset="-120"/>
              </a:rPr>
              <a:t>Verify UNVERIFIED records, starting with what segment A buys</a:t>
            </a:r>
            <a:endParaRPr lang="en-US" sz="1150" dirty="0"/>
          </a:p>
        </p:txBody>
      </p:sp>
      <p:sp>
        <p:nvSpPr>
          <p:cNvPr id="41" name="Text 39"/>
          <p:cNvSpPr txBox="1"/>
          <p:nvPr/>
        </p:nvSpPr>
        <p:spPr>
          <a:xfrm>
            <a:off x="6309360" y="5065776"/>
            <a:ext cx="5120640" cy="292608"/>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Amref and Ministry of Health</a:t>
            </a:r>
            <a:endParaRPr lang="en-US" sz="1400" dirty="0"/>
          </a:p>
        </p:txBody>
      </p:sp>
      <p:sp>
        <p:nvSpPr>
          <p:cNvPr id="42" name="Text 40"/>
          <p:cNvSpPr txBox="1"/>
          <p:nvPr/>
        </p:nvSpPr>
        <p:spPr>
          <a:xfrm>
            <a:off x="6309360" y="5394960"/>
            <a:ext cx="5120640" cy="502920"/>
          </a:xfrm>
          <a:prstGeom prst="rect">
            <a:avLst/>
          </a:prstGeom>
          <a:noFill/>
          <a:ln/>
        </p:spPr>
        <p:txBody>
          <a:bodyPr wrap="square" lIns="0" tIns="0" rIns="0" bIns="0" rtlCol="0" anchor="t"/>
          <a:lstStyle/>
          <a:p>
            <a:pPr indent="0" marL="0">
              <a:buNone/>
            </a:pPr>
            <a:r>
              <a:rPr lang="en-US" sz="1150" dirty="0">
                <a:solidFill>
                  <a:srgbClr val="C9D5CE"/>
                </a:solidFill>
                <a:latin typeface="Calibri" pitchFamily="34" charset="0"/>
                <a:ea typeface="Calibri" pitchFamily="34" charset="-122"/>
                <a:cs typeface="Calibri" pitchFamily="34" charset="-120"/>
              </a:rPr>
              <a:t>Kenya Nutrient Profile Model alongside FSA-NPS; county-level NCD weighting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APPENDIX</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The desk evidence behind the hypotheses</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Sources: Kenya STEPS Survey 2015 (KNBS / Ministry of Health); shipped NutriScore v1.1.0 datasets (carrefour_products.json, naivas_products.json).</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13 / 13</a:t>
            </a:r>
            <a:endParaRPr lang="en-US" sz="900" dirty="0"/>
          </a:p>
        </p:txBody>
      </p:sp>
      <p:sp>
        <p:nvSpPr>
          <p:cNvPr id="12" name="Shape 10"/>
          <p:cNvSpPr/>
          <p:nvPr/>
        </p:nvSpPr>
        <p:spPr>
          <a:xfrm>
            <a:off x="548640" y="1508760"/>
            <a:ext cx="5440680" cy="4572000"/>
          </a:xfrm>
          <a:prstGeom prst="roundRect">
            <a:avLst>
              <a:gd name="adj" fmla="val 1600"/>
            </a:avLst>
          </a:prstGeom>
          <a:solidFill>
            <a:srgbClr val="FFFFFF"/>
          </a:solidFill>
          <a:ln w="9525">
            <a:solidFill>
              <a:srgbClr val="C9D5CE"/>
            </a:solidFill>
            <a:prstDash val="solid"/>
          </a:ln>
        </p:spPr>
      </p:sp>
      <p:sp>
        <p:nvSpPr>
          <p:cNvPr id="13" name="Text 11"/>
          <p:cNvSpPr txBox="1"/>
          <p:nvPr/>
        </p:nvSpPr>
        <p:spPr>
          <a:xfrm>
            <a:off x="777240" y="1719072"/>
            <a:ext cx="49377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SHARE OF KENYAN ADULTS (%), STEPS 2015</a:t>
            </a:r>
            <a:endParaRPr lang="en-US" sz="1000" dirty="0"/>
          </a:p>
        </p:txBody>
      </p:sp>
      <p:graphicFrame>
        <p:nvGraphicFramePr>
          <p:cNvPr id="14" name="Chart 0" descr=""/>
          <p:cNvGraphicFramePr/>
          <p:nvPr/>
        </p:nvGraphicFramePr>
        <p:xfrm>
          <a:off x="731520" y="2011680"/>
          <a:ext cx="5074920" cy="301752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777240" y="5166360"/>
            <a:ext cx="4937760" cy="77724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A large share of adults carry a diet-related risk, and almost none eat the minimum fruit and vegetables.</a:t>
            </a:r>
            <a:endParaRPr lang="en-US" sz="1200" dirty="0"/>
          </a:p>
        </p:txBody>
      </p:sp>
      <p:sp>
        <p:nvSpPr>
          <p:cNvPr id="16" name="Shape 13"/>
          <p:cNvSpPr/>
          <p:nvPr/>
        </p:nvSpPr>
        <p:spPr>
          <a:xfrm>
            <a:off x="6199632" y="1508760"/>
            <a:ext cx="5440680" cy="4572000"/>
          </a:xfrm>
          <a:prstGeom prst="roundRect">
            <a:avLst>
              <a:gd name="adj" fmla="val 1600"/>
            </a:avLst>
          </a:prstGeom>
          <a:solidFill>
            <a:srgbClr val="FFFFFF"/>
          </a:solidFill>
          <a:ln w="9525">
            <a:solidFill>
              <a:srgbClr val="C9D5CE"/>
            </a:solidFill>
            <a:prstDash val="solid"/>
          </a:ln>
        </p:spPr>
      </p:sp>
      <p:sp>
        <p:nvSpPr>
          <p:cNvPr id="17" name="Text 14"/>
          <p:cNvSpPr txBox="1"/>
          <p:nvPr/>
        </p:nvSpPr>
        <p:spPr>
          <a:xfrm>
            <a:off x="6428232" y="1719072"/>
            <a:ext cx="49377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RECORDS THAT CAN DISPLAY A GRADE (%), v1.1.0</a:t>
            </a:r>
            <a:endParaRPr lang="en-US" sz="1000" dirty="0"/>
          </a:p>
        </p:txBody>
      </p:sp>
      <p:graphicFrame>
        <p:nvGraphicFramePr>
          <p:cNvPr id="18" name="Chart 1" descr=""/>
          <p:cNvGraphicFramePr/>
          <p:nvPr/>
        </p:nvGraphicFramePr>
        <p:xfrm>
          <a:off x="6382512" y="2011680"/>
          <a:ext cx="5074920" cy="3017520"/>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6428232" y="5166360"/>
            <a:ext cx="4937760" cy="77724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The gap is catalog-wide: 5,660 of 10,518 records are still UNVERIFIED, which is why the one change we propose is data curation.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NutriScore Checkout Tool: Combined Master Strategy</dc:title>
  <dc:subject>PptxGenJS Presentation</dc:subject>
  <dc:creator>Kibet, NUT-04</dc:creator>
  <cp:lastModifiedBy>Kibet, NUT-04</cp:lastModifiedBy>
  <cp:revision>1</cp:revision>
  <dcterms:created xsi:type="dcterms:W3CDTF">2026-09-18T21:55:54Z</dcterms:created>
  <dcterms:modified xsi:type="dcterms:W3CDTF">2026-09-18T21:55:54Z</dcterms:modified>
</cp:coreProperties>
</file>